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media/image25.jpg" ContentType="image/jpg"/>
  <Override PartName="/ppt/media/image26.jpg" ContentType="image/jpg"/>
  <Override PartName="/ppt/media/image27.jpg" ContentType="image/jpg"/>
  <Override PartName="/ppt/notesSlides/notesSlide21.xml" ContentType="application/vnd.openxmlformats-officedocument.presentationml.notesSlide+xml"/>
  <Override PartName="/ppt/media/image38.jpg" ContentType="image/jpg"/>
  <Override PartName="/ppt/media/image43.jpg" ContentType="image/jpg"/>
  <Override PartName="/ppt/media/image44.jpg" ContentType="image/jpg"/>
  <Override PartName="/ppt/media/image56.jpg" ContentType="image/jpg"/>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4" r:id="rId2"/>
  </p:sldMasterIdLst>
  <p:notesMasterIdLst>
    <p:notesMasterId r:id="rId109"/>
  </p:notesMasterIdLst>
  <p:sldIdLst>
    <p:sldId id="257" r:id="rId3"/>
    <p:sldId id="2783" r:id="rId4"/>
    <p:sldId id="258" r:id="rId5"/>
    <p:sldId id="262" r:id="rId6"/>
    <p:sldId id="265" r:id="rId7"/>
    <p:sldId id="277" r:id="rId8"/>
    <p:sldId id="306" r:id="rId9"/>
    <p:sldId id="2742" r:id="rId10"/>
    <p:sldId id="2784" r:id="rId11"/>
    <p:sldId id="2778" r:id="rId12"/>
    <p:sldId id="325" r:id="rId13"/>
    <p:sldId id="2779" r:id="rId14"/>
    <p:sldId id="324" r:id="rId15"/>
    <p:sldId id="326" r:id="rId16"/>
    <p:sldId id="327" r:id="rId17"/>
    <p:sldId id="328" r:id="rId18"/>
    <p:sldId id="329" r:id="rId19"/>
    <p:sldId id="330" r:id="rId20"/>
    <p:sldId id="332" r:id="rId21"/>
    <p:sldId id="331" r:id="rId22"/>
    <p:sldId id="333" r:id="rId23"/>
    <p:sldId id="2790" r:id="rId24"/>
    <p:sldId id="2799" r:id="rId25"/>
    <p:sldId id="2794" r:id="rId26"/>
    <p:sldId id="2795" r:id="rId27"/>
    <p:sldId id="259" r:id="rId28"/>
    <p:sldId id="260" r:id="rId29"/>
    <p:sldId id="261" r:id="rId30"/>
    <p:sldId id="2796" r:id="rId31"/>
    <p:sldId id="263" r:id="rId32"/>
    <p:sldId id="264" r:id="rId33"/>
    <p:sldId id="2797" r:id="rId34"/>
    <p:sldId id="266" r:id="rId35"/>
    <p:sldId id="267" r:id="rId36"/>
    <p:sldId id="268" r:id="rId37"/>
    <p:sldId id="269" r:id="rId38"/>
    <p:sldId id="335" r:id="rId39"/>
    <p:sldId id="270" r:id="rId40"/>
    <p:sldId id="271" r:id="rId41"/>
    <p:sldId id="272" r:id="rId42"/>
    <p:sldId id="273" r:id="rId43"/>
    <p:sldId id="274" r:id="rId44"/>
    <p:sldId id="275" r:id="rId45"/>
    <p:sldId id="276" r:id="rId46"/>
    <p:sldId id="2798" r:id="rId47"/>
    <p:sldId id="2803" r:id="rId48"/>
    <p:sldId id="2800" r:id="rId49"/>
    <p:sldId id="2801" r:id="rId50"/>
    <p:sldId id="279" r:id="rId51"/>
    <p:sldId id="280" r:id="rId52"/>
    <p:sldId id="281" r:id="rId53"/>
    <p:sldId id="282" r:id="rId54"/>
    <p:sldId id="283" r:id="rId55"/>
    <p:sldId id="284" r:id="rId56"/>
    <p:sldId id="285" r:id="rId57"/>
    <p:sldId id="286" r:id="rId58"/>
    <p:sldId id="287" r:id="rId59"/>
    <p:sldId id="288" r:id="rId60"/>
    <p:sldId id="289" r:id="rId61"/>
    <p:sldId id="290" r:id="rId62"/>
    <p:sldId id="291" r:id="rId63"/>
    <p:sldId id="292" r:id="rId64"/>
    <p:sldId id="293" r:id="rId65"/>
    <p:sldId id="294" r:id="rId66"/>
    <p:sldId id="295" r:id="rId67"/>
    <p:sldId id="296" r:id="rId68"/>
    <p:sldId id="297" r:id="rId69"/>
    <p:sldId id="298" r:id="rId70"/>
    <p:sldId id="2804" r:id="rId71"/>
    <p:sldId id="2802" r:id="rId72"/>
    <p:sldId id="334" r:id="rId73"/>
    <p:sldId id="278" r:id="rId74"/>
    <p:sldId id="337" r:id="rId75"/>
    <p:sldId id="338" r:id="rId76"/>
    <p:sldId id="339" r:id="rId77"/>
    <p:sldId id="381" r:id="rId78"/>
    <p:sldId id="340" r:id="rId79"/>
    <p:sldId id="341" r:id="rId80"/>
    <p:sldId id="344" r:id="rId81"/>
    <p:sldId id="345" r:id="rId82"/>
    <p:sldId id="346" r:id="rId83"/>
    <p:sldId id="2785" r:id="rId84"/>
    <p:sldId id="347" r:id="rId85"/>
    <p:sldId id="348" r:id="rId86"/>
    <p:sldId id="349" r:id="rId87"/>
    <p:sldId id="350" r:id="rId88"/>
    <p:sldId id="405" r:id="rId89"/>
    <p:sldId id="406" r:id="rId90"/>
    <p:sldId id="2787" r:id="rId91"/>
    <p:sldId id="2788" r:id="rId92"/>
    <p:sldId id="2789" r:id="rId93"/>
    <p:sldId id="351" r:id="rId94"/>
    <p:sldId id="352" r:id="rId95"/>
    <p:sldId id="353" r:id="rId96"/>
    <p:sldId id="354" r:id="rId97"/>
    <p:sldId id="355" r:id="rId98"/>
    <p:sldId id="2791" r:id="rId99"/>
    <p:sldId id="2792" r:id="rId100"/>
    <p:sldId id="356" r:id="rId101"/>
    <p:sldId id="357" r:id="rId102"/>
    <p:sldId id="358" r:id="rId103"/>
    <p:sldId id="359" r:id="rId104"/>
    <p:sldId id="360" r:id="rId105"/>
    <p:sldId id="2781" r:id="rId106"/>
    <p:sldId id="2782" r:id="rId107"/>
    <p:sldId id="369" r:id="rId10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58"/>
  </p:normalViewPr>
  <p:slideViewPr>
    <p:cSldViewPr snapToGrid="0">
      <p:cViewPr varScale="1">
        <p:scale>
          <a:sx n="113" d="100"/>
          <a:sy n="113" d="100"/>
        </p:scale>
        <p:origin x="47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theme" Target="theme/theme1.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tableStyles" Target="tableStyles.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slide" Target="slides/slide104.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notesMaster" Target="notesMasters/notesMaster1.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presProps" Target="presProps.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F02B51-10FE-6340-A105-22A3D541ED9E}" type="datetimeFigureOut">
              <a:rPr kumimoji="1" lang="zh-CN" altLang="en-US" smtClean="0"/>
              <a:t>2025/3/5</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F1DB8D8-E72F-2447-AA5A-3E972E8DD867}" type="slidenum">
              <a:rPr kumimoji="1" lang="zh-CN" altLang="en-US" smtClean="0"/>
              <a:t>‹#›</a:t>
            </a:fld>
            <a:endParaRPr kumimoji="1" lang="zh-CN" altLang="en-US"/>
          </a:p>
        </p:txBody>
      </p:sp>
    </p:spTree>
    <p:extLst>
      <p:ext uri="{BB962C8B-B14F-4D97-AF65-F5344CB8AC3E}">
        <p14:creationId xmlns:p14="http://schemas.microsoft.com/office/powerpoint/2010/main" val="4761533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p2: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81" name="Google Shape;38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 name="Google Shape;87;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5" name="Google Shape;125;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7" name="Google Shape;217;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3" name="Google Shape;413;p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836040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g2bda363883b_0_1733:notes"/>
          <p:cNvSpPr txBox="1">
            <a:spLocks noGrp="1"/>
          </p:cNvSpPr>
          <p:nvPr>
            <p:ph type="body" idx="1"/>
          </p:nvPr>
        </p:nvSpPr>
        <p:spPr>
          <a:xfrm>
            <a:off x="685800" y="4343393"/>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0" name="Google Shape;500;g2bda363883b_0_17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p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51" name="Google Shape;551;p7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g2bda363883b_0_1503:notes"/>
          <p:cNvSpPr txBox="1">
            <a:spLocks noGrp="1"/>
          </p:cNvSpPr>
          <p:nvPr>
            <p:ph type="body" idx="1"/>
          </p:nvPr>
        </p:nvSpPr>
        <p:spPr>
          <a:xfrm>
            <a:off x="685800" y="4343393"/>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1" name="Google Shape;551;g2bda363883b_0_15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p:cNvGrpSpPr/>
        <p:nvPr/>
      </p:nvGrpSpPr>
      <p:grpSpPr>
        <a:xfrm>
          <a:off x="0" y="0"/>
          <a:ext cx="0" cy="0"/>
          <a:chOff x="0" y="0"/>
          <a:chExt cx="0" cy="0"/>
        </a:xfrm>
      </p:grpSpPr>
      <p:sp>
        <p:nvSpPr>
          <p:cNvPr id="545" name="Google Shape;545;p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46" name="Google Shape;546;p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p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56" name="Google Shape;556;p7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700929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p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62" name="Google Shape;562;p7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6479628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p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69" name="Google Shape;569;p7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2136689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p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76" name="Google Shape;576;p7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7046172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
        <p:cNvGrpSpPr/>
        <p:nvPr/>
      </p:nvGrpSpPr>
      <p:grpSpPr>
        <a:xfrm>
          <a:off x="0" y="0"/>
          <a:ext cx="0" cy="0"/>
          <a:chOff x="0" y="0"/>
          <a:chExt cx="0" cy="0"/>
        </a:xfrm>
      </p:grpSpPr>
      <p:sp>
        <p:nvSpPr>
          <p:cNvPr id="582" name="Google Shape;582;p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3" name="Google Shape;583;p7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8"/>
        <p:cNvGrpSpPr/>
        <p:nvPr/>
      </p:nvGrpSpPr>
      <p:grpSpPr>
        <a:xfrm>
          <a:off x="0" y="0"/>
          <a:ext cx="0" cy="0"/>
          <a:chOff x="0" y="0"/>
          <a:chExt cx="0" cy="0"/>
        </a:xfrm>
      </p:grpSpPr>
      <p:sp>
        <p:nvSpPr>
          <p:cNvPr id="599" name="Google Shape;599;p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0" name="Google Shape;600;p7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1"/>
        <p:cNvGrpSpPr/>
        <p:nvPr/>
      </p:nvGrpSpPr>
      <p:grpSpPr>
        <a:xfrm>
          <a:off x="0" y="0"/>
          <a:ext cx="0" cy="0"/>
          <a:chOff x="0" y="0"/>
          <a:chExt cx="0" cy="0"/>
        </a:xfrm>
      </p:grpSpPr>
      <p:sp>
        <p:nvSpPr>
          <p:cNvPr id="592" name="Google Shape;592;p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3" name="Google Shape;593;p7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p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8" name="Google Shape;608;p7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p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0" name="Google Shape;660;p8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278860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3"/>
        <p:cNvGrpSpPr/>
        <p:nvPr/>
      </p:nvGrpSpPr>
      <p:grpSpPr>
        <a:xfrm>
          <a:off x="0" y="0"/>
          <a:ext cx="0" cy="0"/>
          <a:chOff x="0" y="0"/>
          <a:chExt cx="0" cy="0"/>
        </a:xfrm>
      </p:grpSpPr>
      <p:sp>
        <p:nvSpPr>
          <p:cNvPr id="624" name="Google Shape;624;p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25" name="Google Shape;625;p8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352342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
        <p:cNvGrpSpPr/>
        <p:nvPr/>
      </p:nvGrpSpPr>
      <p:grpSpPr>
        <a:xfrm>
          <a:off x="0" y="0"/>
          <a:ext cx="0" cy="0"/>
          <a:chOff x="0" y="0"/>
          <a:chExt cx="0" cy="0"/>
        </a:xfrm>
      </p:grpSpPr>
      <p:sp>
        <p:nvSpPr>
          <p:cNvPr id="614" name="Google Shape;614;p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5" name="Google Shape;615;p7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8341074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4"/>
        <p:cNvGrpSpPr/>
        <p:nvPr/>
      </p:nvGrpSpPr>
      <p:grpSpPr>
        <a:xfrm>
          <a:off x="0" y="0"/>
          <a:ext cx="0" cy="0"/>
          <a:chOff x="0" y="0"/>
          <a:chExt cx="0" cy="0"/>
        </a:xfrm>
      </p:grpSpPr>
      <p:sp>
        <p:nvSpPr>
          <p:cNvPr id="645" name="Google Shape;645;p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6" name="Google Shape;646;p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p:cNvGrpSpPr/>
        <p:nvPr/>
      </p:nvGrpSpPr>
      <p:grpSpPr>
        <a:xfrm>
          <a:off x="0" y="0"/>
          <a:ext cx="0" cy="0"/>
          <a:chOff x="0" y="0"/>
          <a:chExt cx="0" cy="0"/>
        </a:xfrm>
      </p:grpSpPr>
      <p:sp>
        <p:nvSpPr>
          <p:cNvPr id="652" name="Google Shape;652;p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53" name="Google Shape;653;p8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p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0" name="Google Shape;660;p8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7"/>
        <p:cNvGrpSpPr/>
        <p:nvPr/>
      </p:nvGrpSpPr>
      <p:grpSpPr>
        <a:xfrm>
          <a:off x="0" y="0"/>
          <a:ext cx="0" cy="0"/>
          <a:chOff x="0" y="0"/>
          <a:chExt cx="0" cy="0"/>
        </a:xfrm>
      </p:grpSpPr>
      <p:sp>
        <p:nvSpPr>
          <p:cNvPr id="678" name="Google Shape;678;p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9" name="Google Shape;679;p8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5455858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p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5" name="Google Shape;665;p8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0"/>
        <p:cNvGrpSpPr/>
        <p:nvPr/>
      </p:nvGrpSpPr>
      <p:grpSpPr>
        <a:xfrm>
          <a:off x="0" y="0"/>
          <a:ext cx="0" cy="0"/>
          <a:chOff x="0" y="0"/>
          <a:chExt cx="0" cy="0"/>
        </a:xfrm>
      </p:grpSpPr>
      <p:sp>
        <p:nvSpPr>
          <p:cNvPr id="671" name="Google Shape;671;p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2" name="Google Shape;672;p8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9"/>
        <p:cNvGrpSpPr/>
        <p:nvPr/>
      </p:nvGrpSpPr>
      <p:grpSpPr>
        <a:xfrm>
          <a:off x="0" y="0"/>
          <a:ext cx="0" cy="0"/>
          <a:chOff x="0" y="0"/>
          <a:chExt cx="0" cy="0"/>
        </a:xfrm>
      </p:grpSpPr>
      <p:sp>
        <p:nvSpPr>
          <p:cNvPr id="690" name="Google Shape;690;p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1" name="Google Shape;691;p8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p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6" name="Google Shape;696;p9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p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6" name="Google Shape;706;p9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
        <p:cNvGrpSpPr/>
        <p:nvPr/>
      </p:nvGrpSpPr>
      <p:grpSpPr>
        <a:xfrm>
          <a:off x="0" y="0"/>
          <a:ext cx="0" cy="0"/>
          <a:chOff x="0" y="0"/>
          <a:chExt cx="0" cy="0"/>
        </a:xfrm>
      </p:grpSpPr>
      <p:sp>
        <p:nvSpPr>
          <p:cNvPr id="747" name="Google Shape;747;p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48" name="Google Shape;748;p9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04111122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4"/>
        <p:cNvGrpSpPr/>
        <p:nvPr/>
      </p:nvGrpSpPr>
      <p:grpSpPr>
        <a:xfrm>
          <a:off x="0" y="0"/>
          <a:ext cx="0" cy="0"/>
          <a:chOff x="0" y="0"/>
          <a:chExt cx="0" cy="0"/>
        </a:xfrm>
      </p:grpSpPr>
      <p:sp>
        <p:nvSpPr>
          <p:cNvPr id="715" name="Google Shape;715;p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6" name="Google Shape;716;p9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p:cNvGrpSpPr/>
        <p:nvPr/>
      </p:nvGrpSpPr>
      <p:grpSpPr>
        <a:xfrm>
          <a:off x="0" y="0"/>
          <a:ext cx="0" cy="0"/>
          <a:chOff x="0" y="0"/>
          <a:chExt cx="0" cy="0"/>
        </a:xfrm>
      </p:grpSpPr>
      <p:sp>
        <p:nvSpPr>
          <p:cNvPr id="723" name="Google Shape;723;p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24" name="Google Shape;724;p9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0"/>
        <p:cNvGrpSpPr/>
        <p:nvPr/>
      </p:nvGrpSpPr>
      <p:grpSpPr>
        <a:xfrm>
          <a:off x="0" y="0"/>
          <a:ext cx="0" cy="0"/>
          <a:chOff x="0" y="0"/>
          <a:chExt cx="0" cy="0"/>
        </a:xfrm>
      </p:grpSpPr>
      <p:sp>
        <p:nvSpPr>
          <p:cNvPr id="731" name="Google Shape;731;p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32" name="Google Shape;732;p9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8"/>
        <p:cNvGrpSpPr/>
        <p:nvPr/>
      </p:nvGrpSpPr>
      <p:grpSpPr>
        <a:xfrm>
          <a:off x="0" y="0"/>
          <a:ext cx="0" cy="0"/>
          <a:chOff x="0" y="0"/>
          <a:chExt cx="0" cy="0"/>
        </a:xfrm>
      </p:grpSpPr>
      <p:sp>
        <p:nvSpPr>
          <p:cNvPr id="739" name="Google Shape;739;p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40" name="Google Shape;740;p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g2bda363883b_0_1503:notes"/>
          <p:cNvSpPr txBox="1">
            <a:spLocks noGrp="1"/>
          </p:cNvSpPr>
          <p:nvPr>
            <p:ph type="body" idx="1"/>
          </p:nvPr>
        </p:nvSpPr>
        <p:spPr>
          <a:xfrm>
            <a:off x="685800" y="4343393"/>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1" name="Google Shape;551;g2bda363883b_0_15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3062695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g2bda363883b_0_1503:notes"/>
          <p:cNvSpPr txBox="1">
            <a:spLocks noGrp="1"/>
          </p:cNvSpPr>
          <p:nvPr>
            <p:ph type="body" idx="1"/>
          </p:nvPr>
        </p:nvSpPr>
        <p:spPr>
          <a:xfrm>
            <a:off x="685800" y="4343393"/>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1" name="Google Shape;551;g2bda363883b_0_15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4130794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
        <p:cNvGrpSpPr/>
        <p:nvPr/>
      </p:nvGrpSpPr>
      <p:grpSpPr>
        <a:xfrm>
          <a:off x="0" y="0"/>
          <a:ext cx="0" cy="0"/>
          <a:chOff x="0" y="0"/>
          <a:chExt cx="0" cy="0"/>
        </a:xfrm>
      </p:grpSpPr>
      <p:sp>
        <p:nvSpPr>
          <p:cNvPr id="747" name="Google Shape;747;p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48" name="Google Shape;748;p9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01127367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
        <p:cNvGrpSpPr/>
        <p:nvPr/>
      </p:nvGrpSpPr>
      <p:grpSpPr>
        <a:xfrm>
          <a:off x="0" y="0"/>
          <a:ext cx="0" cy="0"/>
          <a:chOff x="0" y="0"/>
          <a:chExt cx="0" cy="0"/>
        </a:xfrm>
      </p:grpSpPr>
      <p:sp>
        <p:nvSpPr>
          <p:cNvPr id="747" name="Google Shape;747;p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48" name="Google Shape;748;p9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1"/>
        <p:cNvGrpSpPr/>
        <p:nvPr/>
      </p:nvGrpSpPr>
      <p:grpSpPr>
        <a:xfrm>
          <a:off x="0" y="0"/>
          <a:ext cx="0" cy="0"/>
          <a:chOff x="0" y="0"/>
          <a:chExt cx="0" cy="0"/>
        </a:xfrm>
      </p:grpSpPr>
      <p:sp>
        <p:nvSpPr>
          <p:cNvPr id="752" name="Google Shape;752;p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53" name="Google Shape;753;p9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0"/>
        <p:cNvGrpSpPr/>
        <p:nvPr/>
      </p:nvGrpSpPr>
      <p:grpSpPr>
        <a:xfrm>
          <a:off x="0" y="0"/>
          <a:ext cx="0" cy="0"/>
          <a:chOff x="0" y="0"/>
          <a:chExt cx="0" cy="0"/>
        </a:xfrm>
      </p:grpSpPr>
      <p:sp>
        <p:nvSpPr>
          <p:cNvPr id="761" name="Google Shape;761;p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62" name="Google Shape;762;p9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8"/>
        <p:cNvGrpSpPr/>
        <p:nvPr/>
      </p:nvGrpSpPr>
      <p:grpSpPr>
        <a:xfrm>
          <a:off x="0" y="0"/>
          <a:ext cx="0" cy="0"/>
          <a:chOff x="0" y="0"/>
          <a:chExt cx="0" cy="0"/>
        </a:xfrm>
      </p:grpSpPr>
      <p:sp>
        <p:nvSpPr>
          <p:cNvPr id="769" name="Google Shape;769;p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70" name="Google Shape;770;p9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7"/>
        <p:cNvGrpSpPr/>
        <p:nvPr/>
      </p:nvGrpSpPr>
      <p:grpSpPr>
        <a:xfrm>
          <a:off x="0" y="0"/>
          <a:ext cx="0" cy="0"/>
          <a:chOff x="0" y="0"/>
          <a:chExt cx="0" cy="0"/>
        </a:xfrm>
      </p:grpSpPr>
      <p:sp>
        <p:nvSpPr>
          <p:cNvPr id="778" name="Google Shape;778;p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79" name="Google Shape;779;p10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7"/>
        <p:cNvGrpSpPr/>
        <p:nvPr/>
      </p:nvGrpSpPr>
      <p:grpSpPr>
        <a:xfrm>
          <a:off x="0" y="0"/>
          <a:ext cx="0" cy="0"/>
          <a:chOff x="0" y="0"/>
          <a:chExt cx="0" cy="0"/>
        </a:xfrm>
      </p:grpSpPr>
      <p:sp>
        <p:nvSpPr>
          <p:cNvPr id="788" name="Google Shape;788;p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89" name="Google Shape;789;p10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41594540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7"/>
        <p:cNvGrpSpPr/>
        <p:nvPr/>
      </p:nvGrpSpPr>
      <p:grpSpPr>
        <a:xfrm>
          <a:off x="0" y="0"/>
          <a:ext cx="0" cy="0"/>
          <a:chOff x="0" y="0"/>
          <a:chExt cx="0" cy="0"/>
        </a:xfrm>
      </p:grpSpPr>
      <p:sp>
        <p:nvSpPr>
          <p:cNvPr id="788" name="Google Shape;788;p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89" name="Google Shape;789;p10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2"/>
        <p:cNvGrpSpPr/>
        <p:nvPr/>
      </p:nvGrpSpPr>
      <p:grpSpPr>
        <a:xfrm>
          <a:off x="0" y="0"/>
          <a:ext cx="0" cy="0"/>
          <a:chOff x="0" y="0"/>
          <a:chExt cx="0" cy="0"/>
        </a:xfrm>
      </p:grpSpPr>
      <p:sp>
        <p:nvSpPr>
          <p:cNvPr id="793" name="Google Shape;793;p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94" name="Google Shape;794;p10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9"/>
        <p:cNvGrpSpPr/>
        <p:nvPr/>
      </p:nvGrpSpPr>
      <p:grpSpPr>
        <a:xfrm>
          <a:off x="0" y="0"/>
          <a:ext cx="0" cy="0"/>
          <a:chOff x="0" y="0"/>
          <a:chExt cx="0" cy="0"/>
        </a:xfrm>
      </p:grpSpPr>
      <p:sp>
        <p:nvSpPr>
          <p:cNvPr id="800" name="Google Shape;800;p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01" name="Google Shape;801;p10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p:cNvGrpSpPr/>
        <p:nvPr/>
      </p:nvGrpSpPr>
      <p:grpSpPr>
        <a:xfrm>
          <a:off x="0" y="0"/>
          <a:ext cx="0" cy="0"/>
          <a:chOff x="0" y="0"/>
          <a:chExt cx="0" cy="0"/>
        </a:xfrm>
      </p:grpSpPr>
      <p:sp>
        <p:nvSpPr>
          <p:cNvPr id="806" name="Google Shape;806;p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07" name="Google Shape;807;p10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0"/>
        <p:cNvGrpSpPr/>
        <p:nvPr/>
      </p:nvGrpSpPr>
      <p:grpSpPr>
        <a:xfrm>
          <a:off x="0" y="0"/>
          <a:ext cx="0" cy="0"/>
          <a:chOff x="0" y="0"/>
          <a:chExt cx="0" cy="0"/>
        </a:xfrm>
      </p:grpSpPr>
      <p:sp>
        <p:nvSpPr>
          <p:cNvPr id="811" name="Google Shape;811;p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12" name="Google Shape;812;p10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p:cNvGrpSpPr/>
        <p:nvPr/>
      </p:nvGrpSpPr>
      <p:grpSpPr>
        <a:xfrm>
          <a:off x="0" y="0"/>
          <a:ext cx="0" cy="0"/>
          <a:chOff x="0" y="0"/>
          <a:chExt cx="0" cy="0"/>
        </a:xfrm>
      </p:grpSpPr>
      <p:sp>
        <p:nvSpPr>
          <p:cNvPr id="806" name="Google Shape;806;p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07" name="Google Shape;807;p10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56810518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p:cNvGrpSpPr/>
        <p:nvPr/>
      </p:nvGrpSpPr>
      <p:grpSpPr>
        <a:xfrm>
          <a:off x="0" y="0"/>
          <a:ext cx="0" cy="0"/>
          <a:chOff x="0" y="0"/>
          <a:chExt cx="0" cy="0"/>
        </a:xfrm>
      </p:grpSpPr>
      <p:sp>
        <p:nvSpPr>
          <p:cNvPr id="806" name="Google Shape;806;p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07" name="Google Shape;807;p10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97640413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p:cNvGrpSpPr/>
        <p:nvPr/>
      </p:nvGrpSpPr>
      <p:grpSpPr>
        <a:xfrm>
          <a:off x="0" y="0"/>
          <a:ext cx="0" cy="0"/>
          <a:chOff x="0" y="0"/>
          <a:chExt cx="0" cy="0"/>
        </a:xfrm>
      </p:grpSpPr>
      <p:sp>
        <p:nvSpPr>
          <p:cNvPr id="871" name="Google Shape;871;p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2" name="Google Shape;872;p1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D1D5E4-5232-E7DB-63A4-94AACDBD9370}"/>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7C5C8E6A-B233-7549-383D-1E48B13BEF8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D0FF0E7C-2CCB-B559-3708-D1560FB937D4}"/>
              </a:ext>
            </a:extLst>
          </p:cNvPr>
          <p:cNvSpPr>
            <a:spLocks noGrp="1"/>
          </p:cNvSpPr>
          <p:nvPr>
            <p:ph type="dt" sz="half" idx="10"/>
          </p:nvPr>
        </p:nvSpPr>
        <p:spPr/>
        <p:txBody>
          <a:bodyPr/>
          <a:lstStyle/>
          <a:p>
            <a:fld id="{C4A26257-9246-8842-B978-A0AFDAA109C3}" type="datetimeFigureOut">
              <a:rPr kumimoji="1" lang="zh-CN" altLang="en-US" smtClean="0"/>
              <a:t>2025/3/5</a:t>
            </a:fld>
            <a:endParaRPr kumimoji="1" lang="zh-CN" altLang="en-US"/>
          </a:p>
        </p:txBody>
      </p:sp>
      <p:sp>
        <p:nvSpPr>
          <p:cNvPr id="5" name="页脚占位符 4">
            <a:extLst>
              <a:ext uri="{FF2B5EF4-FFF2-40B4-BE49-F238E27FC236}">
                <a16:creationId xmlns:a16="http://schemas.microsoft.com/office/drawing/2014/main" id="{E99C5329-491E-B5F9-B8F9-3A0E06E491DE}"/>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CEB478EF-58AC-B4EA-E478-433B8AE36AA2}"/>
              </a:ext>
            </a:extLst>
          </p:cNvPr>
          <p:cNvSpPr>
            <a:spLocks noGrp="1"/>
          </p:cNvSpPr>
          <p:nvPr>
            <p:ph type="sldNum" sz="quarter" idx="12"/>
          </p:nvPr>
        </p:nvSpPr>
        <p:spPr/>
        <p:txBody>
          <a:bodyPr/>
          <a:lstStyle/>
          <a:p>
            <a:fld id="{E62BDCE5-6C73-D64A-ACDB-DF8465C448B3}" type="slidenum">
              <a:rPr kumimoji="1" lang="zh-CN" altLang="en-US" smtClean="0"/>
              <a:t>‹#›</a:t>
            </a:fld>
            <a:endParaRPr kumimoji="1" lang="zh-CN" altLang="en-US"/>
          </a:p>
        </p:txBody>
      </p:sp>
    </p:spTree>
    <p:extLst>
      <p:ext uri="{BB962C8B-B14F-4D97-AF65-F5344CB8AC3E}">
        <p14:creationId xmlns:p14="http://schemas.microsoft.com/office/powerpoint/2010/main" val="24180371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FC5B23-9256-14BD-FCC2-008CB71E3250}"/>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D98D164E-3A1C-0AAC-7A6F-199AACAB5E98}"/>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51511225-3567-6A8F-84D1-850C055645FA}"/>
              </a:ext>
            </a:extLst>
          </p:cNvPr>
          <p:cNvSpPr>
            <a:spLocks noGrp="1"/>
          </p:cNvSpPr>
          <p:nvPr>
            <p:ph type="dt" sz="half" idx="10"/>
          </p:nvPr>
        </p:nvSpPr>
        <p:spPr/>
        <p:txBody>
          <a:bodyPr/>
          <a:lstStyle/>
          <a:p>
            <a:fld id="{C4A26257-9246-8842-B978-A0AFDAA109C3}" type="datetimeFigureOut">
              <a:rPr kumimoji="1" lang="zh-CN" altLang="en-US" smtClean="0"/>
              <a:t>2025/3/5</a:t>
            </a:fld>
            <a:endParaRPr kumimoji="1" lang="zh-CN" altLang="en-US"/>
          </a:p>
        </p:txBody>
      </p:sp>
      <p:sp>
        <p:nvSpPr>
          <p:cNvPr id="5" name="页脚占位符 4">
            <a:extLst>
              <a:ext uri="{FF2B5EF4-FFF2-40B4-BE49-F238E27FC236}">
                <a16:creationId xmlns:a16="http://schemas.microsoft.com/office/drawing/2014/main" id="{EF1CCC41-9589-367A-D7EC-04662B6BF42C}"/>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5FEC42DD-6E46-AD90-285B-5D3A8A336793}"/>
              </a:ext>
            </a:extLst>
          </p:cNvPr>
          <p:cNvSpPr>
            <a:spLocks noGrp="1"/>
          </p:cNvSpPr>
          <p:nvPr>
            <p:ph type="sldNum" sz="quarter" idx="12"/>
          </p:nvPr>
        </p:nvSpPr>
        <p:spPr/>
        <p:txBody>
          <a:bodyPr/>
          <a:lstStyle/>
          <a:p>
            <a:fld id="{E62BDCE5-6C73-D64A-ACDB-DF8465C448B3}" type="slidenum">
              <a:rPr kumimoji="1" lang="zh-CN" altLang="en-US" smtClean="0"/>
              <a:t>‹#›</a:t>
            </a:fld>
            <a:endParaRPr kumimoji="1" lang="zh-CN" altLang="en-US"/>
          </a:p>
        </p:txBody>
      </p:sp>
    </p:spTree>
    <p:extLst>
      <p:ext uri="{BB962C8B-B14F-4D97-AF65-F5344CB8AC3E}">
        <p14:creationId xmlns:p14="http://schemas.microsoft.com/office/powerpoint/2010/main" val="315437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8E2466-8723-5442-921B-11C20DD66BE8}"/>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11B5FC2A-12F8-3B0B-DC7F-50A313084B6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F14F373D-BA8C-DB64-B743-0A622F9AA454}"/>
              </a:ext>
            </a:extLst>
          </p:cNvPr>
          <p:cNvSpPr>
            <a:spLocks noGrp="1"/>
          </p:cNvSpPr>
          <p:nvPr>
            <p:ph type="dt" sz="half" idx="10"/>
          </p:nvPr>
        </p:nvSpPr>
        <p:spPr/>
        <p:txBody>
          <a:bodyPr/>
          <a:lstStyle/>
          <a:p>
            <a:fld id="{C4A26257-9246-8842-B978-A0AFDAA109C3}" type="datetimeFigureOut">
              <a:rPr kumimoji="1" lang="zh-CN" altLang="en-US" smtClean="0"/>
              <a:t>2025/3/5</a:t>
            </a:fld>
            <a:endParaRPr kumimoji="1" lang="zh-CN" altLang="en-US"/>
          </a:p>
        </p:txBody>
      </p:sp>
      <p:sp>
        <p:nvSpPr>
          <p:cNvPr id="5" name="页脚占位符 4">
            <a:extLst>
              <a:ext uri="{FF2B5EF4-FFF2-40B4-BE49-F238E27FC236}">
                <a16:creationId xmlns:a16="http://schemas.microsoft.com/office/drawing/2014/main" id="{84585639-7CA9-60B7-CD0B-8AE8B159A5E7}"/>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0DAD4F58-E01A-5CE8-C449-24B5EC8F357E}"/>
              </a:ext>
            </a:extLst>
          </p:cNvPr>
          <p:cNvSpPr>
            <a:spLocks noGrp="1"/>
          </p:cNvSpPr>
          <p:nvPr>
            <p:ph type="sldNum" sz="quarter" idx="12"/>
          </p:nvPr>
        </p:nvSpPr>
        <p:spPr/>
        <p:txBody>
          <a:bodyPr/>
          <a:lstStyle/>
          <a:p>
            <a:fld id="{E62BDCE5-6C73-D64A-ACDB-DF8465C448B3}" type="slidenum">
              <a:rPr kumimoji="1" lang="zh-CN" altLang="en-US" smtClean="0"/>
              <a:t>‹#›</a:t>
            </a:fld>
            <a:endParaRPr kumimoji="1" lang="zh-CN" altLang="en-US"/>
          </a:p>
        </p:txBody>
      </p:sp>
    </p:spTree>
    <p:extLst>
      <p:ext uri="{BB962C8B-B14F-4D97-AF65-F5344CB8AC3E}">
        <p14:creationId xmlns:p14="http://schemas.microsoft.com/office/powerpoint/2010/main" val="10834287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D8DB16-AA26-0034-8CA5-B0F8564D262C}"/>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087809ED-5871-8432-73F5-D3B0E17D5051}"/>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8B6E62E4-AEE4-F555-2E31-3709A242F634}"/>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92F4305D-0C94-3618-67B0-0F93DA7FC0DD}"/>
              </a:ext>
            </a:extLst>
          </p:cNvPr>
          <p:cNvSpPr>
            <a:spLocks noGrp="1"/>
          </p:cNvSpPr>
          <p:nvPr>
            <p:ph type="dt" sz="half" idx="10"/>
          </p:nvPr>
        </p:nvSpPr>
        <p:spPr/>
        <p:txBody>
          <a:bodyPr/>
          <a:lstStyle/>
          <a:p>
            <a:fld id="{C4A26257-9246-8842-B978-A0AFDAA109C3}" type="datetimeFigureOut">
              <a:rPr kumimoji="1" lang="zh-CN" altLang="en-US" smtClean="0"/>
              <a:t>2025/3/5</a:t>
            </a:fld>
            <a:endParaRPr kumimoji="1" lang="zh-CN" altLang="en-US"/>
          </a:p>
        </p:txBody>
      </p:sp>
      <p:sp>
        <p:nvSpPr>
          <p:cNvPr id="6" name="页脚占位符 5">
            <a:extLst>
              <a:ext uri="{FF2B5EF4-FFF2-40B4-BE49-F238E27FC236}">
                <a16:creationId xmlns:a16="http://schemas.microsoft.com/office/drawing/2014/main" id="{9C1E3A24-509C-5B57-5603-AE96023045BF}"/>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E72A164C-CD11-09AC-BAF7-E554F3528E8D}"/>
              </a:ext>
            </a:extLst>
          </p:cNvPr>
          <p:cNvSpPr>
            <a:spLocks noGrp="1"/>
          </p:cNvSpPr>
          <p:nvPr>
            <p:ph type="sldNum" sz="quarter" idx="12"/>
          </p:nvPr>
        </p:nvSpPr>
        <p:spPr/>
        <p:txBody>
          <a:bodyPr/>
          <a:lstStyle/>
          <a:p>
            <a:fld id="{E62BDCE5-6C73-D64A-ACDB-DF8465C448B3}" type="slidenum">
              <a:rPr kumimoji="1" lang="zh-CN" altLang="en-US" smtClean="0"/>
              <a:t>‹#›</a:t>
            </a:fld>
            <a:endParaRPr kumimoji="1" lang="zh-CN" altLang="en-US"/>
          </a:p>
        </p:txBody>
      </p:sp>
    </p:spTree>
    <p:extLst>
      <p:ext uri="{BB962C8B-B14F-4D97-AF65-F5344CB8AC3E}">
        <p14:creationId xmlns:p14="http://schemas.microsoft.com/office/powerpoint/2010/main" val="15857465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D1F5DC-9A7A-5EC5-0E82-739EE38B3FE4}"/>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6DA6D160-9329-A748-16DE-3D2F675577D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0582C4D3-7399-BF45-FD90-236CED87575F}"/>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E4EE859C-AD7B-31AE-8E39-EF80E90A8CB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0770797F-BF38-BF1F-DBAB-2DB5127DC1A5}"/>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000D0EBD-6CBC-EC1E-FB96-3EB0FB3BAE70}"/>
              </a:ext>
            </a:extLst>
          </p:cNvPr>
          <p:cNvSpPr>
            <a:spLocks noGrp="1"/>
          </p:cNvSpPr>
          <p:nvPr>
            <p:ph type="dt" sz="half" idx="10"/>
          </p:nvPr>
        </p:nvSpPr>
        <p:spPr/>
        <p:txBody>
          <a:bodyPr/>
          <a:lstStyle/>
          <a:p>
            <a:fld id="{C4A26257-9246-8842-B978-A0AFDAA109C3}" type="datetimeFigureOut">
              <a:rPr kumimoji="1" lang="zh-CN" altLang="en-US" smtClean="0"/>
              <a:t>2025/3/5</a:t>
            </a:fld>
            <a:endParaRPr kumimoji="1" lang="zh-CN" altLang="en-US"/>
          </a:p>
        </p:txBody>
      </p:sp>
      <p:sp>
        <p:nvSpPr>
          <p:cNvPr id="8" name="页脚占位符 7">
            <a:extLst>
              <a:ext uri="{FF2B5EF4-FFF2-40B4-BE49-F238E27FC236}">
                <a16:creationId xmlns:a16="http://schemas.microsoft.com/office/drawing/2014/main" id="{93CFB456-7FE5-6781-14C4-1C8DBB7D5E01}"/>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72E5A57B-6498-4CEE-C318-DC3F3312E605}"/>
              </a:ext>
            </a:extLst>
          </p:cNvPr>
          <p:cNvSpPr>
            <a:spLocks noGrp="1"/>
          </p:cNvSpPr>
          <p:nvPr>
            <p:ph type="sldNum" sz="quarter" idx="12"/>
          </p:nvPr>
        </p:nvSpPr>
        <p:spPr/>
        <p:txBody>
          <a:bodyPr/>
          <a:lstStyle/>
          <a:p>
            <a:fld id="{E62BDCE5-6C73-D64A-ACDB-DF8465C448B3}" type="slidenum">
              <a:rPr kumimoji="1" lang="zh-CN" altLang="en-US" smtClean="0"/>
              <a:t>‹#›</a:t>
            </a:fld>
            <a:endParaRPr kumimoji="1" lang="zh-CN" altLang="en-US"/>
          </a:p>
        </p:txBody>
      </p:sp>
    </p:spTree>
    <p:extLst>
      <p:ext uri="{BB962C8B-B14F-4D97-AF65-F5344CB8AC3E}">
        <p14:creationId xmlns:p14="http://schemas.microsoft.com/office/powerpoint/2010/main" val="12292615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606FEF-089D-A8BA-E4A6-A496DA8F9685}"/>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A6B6C455-21BB-EEFF-43A2-24F87E396D37}"/>
              </a:ext>
            </a:extLst>
          </p:cNvPr>
          <p:cNvSpPr>
            <a:spLocks noGrp="1"/>
          </p:cNvSpPr>
          <p:nvPr>
            <p:ph type="dt" sz="half" idx="10"/>
          </p:nvPr>
        </p:nvSpPr>
        <p:spPr/>
        <p:txBody>
          <a:bodyPr/>
          <a:lstStyle/>
          <a:p>
            <a:fld id="{C4A26257-9246-8842-B978-A0AFDAA109C3}" type="datetimeFigureOut">
              <a:rPr kumimoji="1" lang="zh-CN" altLang="en-US" smtClean="0"/>
              <a:t>2025/3/5</a:t>
            </a:fld>
            <a:endParaRPr kumimoji="1" lang="zh-CN" altLang="en-US"/>
          </a:p>
        </p:txBody>
      </p:sp>
      <p:sp>
        <p:nvSpPr>
          <p:cNvPr id="4" name="页脚占位符 3">
            <a:extLst>
              <a:ext uri="{FF2B5EF4-FFF2-40B4-BE49-F238E27FC236}">
                <a16:creationId xmlns:a16="http://schemas.microsoft.com/office/drawing/2014/main" id="{53D5ED1F-7425-3E20-8273-65E708B2779F}"/>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4FD74046-A70E-AF08-7206-907ED91450ED}"/>
              </a:ext>
            </a:extLst>
          </p:cNvPr>
          <p:cNvSpPr>
            <a:spLocks noGrp="1"/>
          </p:cNvSpPr>
          <p:nvPr>
            <p:ph type="sldNum" sz="quarter" idx="12"/>
          </p:nvPr>
        </p:nvSpPr>
        <p:spPr/>
        <p:txBody>
          <a:bodyPr/>
          <a:lstStyle/>
          <a:p>
            <a:fld id="{E62BDCE5-6C73-D64A-ACDB-DF8465C448B3}" type="slidenum">
              <a:rPr kumimoji="1" lang="zh-CN" altLang="en-US" smtClean="0"/>
              <a:t>‹#›</a:t>
            </a:fld>
            <a:endParaRPr kumimoji="1" lang="zh-CN" altLang="en-US"/>
          </a:p>
        </p:txBody>
      </p:sp>
    </p:spTree>
    <p:extLst>
      <p:ext uri="{BB962C8B-B14F-4D97-AF65-F5344CB8AC3E}">
        <p14:creationId xmlns:p14="http://schemas.microsoft.com/office/powerpoint/2010/main" val="193979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B3BEBA4-3BE0-F3DA-9B49-A0B3D90A9DFA}"/>
              </a:ext>
            </a:extLst>
          </p:cNvPr>
          <p:cNvSpPr>
            <a:spLocks noGrp="1"/>
          </p:cNvSpPr>
          <p:nvPr>
            <p:ph type="dt" sz="half" idx="10"/>
          </p:nvPr>
        </p:nvSpPr>
        <p:spPr/>
        <p:txBody>
          <a:bodyPr/>
          <a:lstStyle/>
          <a:p>
            <a:fld id="{C4A26257-9246-8842-B978-A0AFDAA109C3}" type="datetimeFigureOut">
              <a:rPr kumimoji="1" lang="zh-CN" altLang="en-US" smtClean="0"/>
              <a:t>2025/3/5</a:t>
            </a:fld>
            <a:endParaRPr kumimoji="1" lang="zh-CN" altLang="en-US"/>
          </a:p>
        </p:txBody>
      </p:sp>
      <p:sp>
        <p:nvSpPr>
          <p:cNvPr id="3" name="页脚占位符 2">
            <a:extLst>
              <a:ext uri="{FF2B5EF4-FFF2-40B4-BE49-F238E27FC236}">
                <a16:creationId xmlns:a16="http://schemas.microsoft.com/office/drawing/2014/main" id="{22ADA8F8-DD1C-5969-83B8-A62C938F2C62}"/>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0D1274BC-62A3-85BD-CAD4-AC12022B5EF3}"/>
              </a:ext>
            </a:extLst>
          </p:cNvPr>
          <p:cNvSpPr>
            <a:spLocks noGrp="1"/>
          </p:cNvSpPr>
          <p:nvPr>
            <p:ph type="sldNum" sz="quarter" idx="12"/>
          </p:nvPr>
        </p:nvSpPr>
        <p:spPr/>
        <p:txBody>
          <a:bodyPr/>
          <a:lstStyle/>
          <a:p>
            <a:fld id="{E62BDCE5-6C73-D64A-ACDB-DF8465C448B3}" type="slidenum">
              <a:rPr kumimoji="1" lang="zh-CN" altLang="en-US" smtClean="0"/>
              <a:t>‹#›</a:t>
            </a:fld>
            <a:endParaRPr kumimoji="1" lang="zh-CN" altLang="en-US"/>
          </a:p>
        </p:txBody>
      </p:sp>
    </p:spTree>
    <p:extLst>
      <p:ext uri="{BB962C8B-B14F-4D97-AF65-F5344CB8AC3E}">
        <p14:creationId xmlns:p14="http://schemas.microsoft.com/office/powerpoint/2010/main" val="1310690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577D3B-C27B-F88B-07D2-246A82C93174}"/>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DE2DBF61-1D66-F696-1360-95699548211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36F2A1B9-D8B8-8C5F-D9CF-E4ACBF0C23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909FBCA1-F48D-6B30-AAEA-DF7644A08E30}"/>
              </a:ext>
            </a:extLst>
          </p:cNvPr>
          <p:cNvSpPr>
            <a:spLocks noGrp="1"/>
          </p:cNvSpPr>
          <p:nvPr>
            <p:ph type="dt" sz="half" idx="10"/>
          </p:nvPr>
        </p:nvSpPr>
        <p:spPr/>
        <p:txBody>
          <a:bodyPr/>
          <a:lstStyle/>
          <a:p>
            <a:fld id="{C4A26257-9246-8842-B978-A0AFDAA109C3}" type="datetimeFigureOut">
              <a:rPr kumimoji="1" lang="zh-CN" altLang="en-US" smtClean="0"/>
              <a:t>2025/3/5</a:t>
            </a:fld>
            <a:endParaRPr kumimoji="1" lang="zh-CN" altLang="en-US"/>
          </a:p>
        </p:txBody>
      </p:sp>
      <p:sp>
        <p:nvSpPr>
          <p:cNvPr id="6" name="页脚占位符 5">
            <a:extLst>
              <a:ext uri="{FF2B5EF4-FFF2-40B4-BE49-F238E27FC236}">
                <a16:creationId xmlns:a16="http://schemas.microsoft.com/office/drawing/2014/main" id="{1429AF05-50BF-BD4C-374E-CE5041500B32}"/>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F4FD9535-BAE6-7A35-0D32-E422C9258935}"/>
              </a:ext>
            </a:extLst>
          </p:cNvPr>
          <p:cNvSpPr>
            <a:spLocks noGrp="1"/>
          </p:cNvSpPr>
          <p:nvPr>
            <p:ph type="sldNum" sz="quarter" idx="12"/>
          </p:nvPr>
        </p:nvSpPr>
        <p:spPr/>
        <p:txBody>
          <a:bodyPr/>
          <a:lstStyle/>
          <a:p>
            <a:fld id="{E62BDCE5-6C73-D64A-ACDB-DF8465C448B3}" type="slidenum">
              <a:rPr kumimoji="1" lang="zh-CN" altLang="en-US" smtClean="0"/>
              <a:t>‹#›</a:t>
            </a:fld>
            <a:endParaRPr kumimoji="1" lang="zh-CN" altLang="en-US"/>
          </a:p>
        </p:txBody>
      </p:sp>
    </p:spTree>
    <p:extLst>
      <p:ext uri="{BB962C8B-B14F-4D97-AF65-F5344CB8AC3E}">
        <p14:creationId xmlns:p14="http://schemas.microsoft.com/office/powerpoint/2010/main" val="2486839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2A3FE3-E1B2-746B-F850-80823739E46E}"/>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561287BE-BBC6-75D6-5951-101DD7219C2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6502B7F6-BF8D-6ACC-1072-E3059E7D64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41B2A830-3752-B51E-BE87-88741F52B661}"/>
              </a:ext>
            </a:extLst>
          </p:cNvPr>
          <p:cNvSpPr>
            <a:spLocks noGrp="1"/>
          </p:cNvSpPr>
          <p:nvPr>
            <p:ph type="dt" sz="half" idx="10"/>
          </p:nvPr>
        </p:nvSpPr>
        <p:spPr/>
        <p:txBody>
          <a:bodyPr/>
          <a:lstStyle/>
          <a:p>
            <a:fld id="{C4A26257-9246-8842-B978-A0AFDAA109C3}" type="datetimeFigureOut">
              <a:rPr kumimoji="1" lang="zh-CN" altLang="en-US" smtClean="0"/>
              <a:t>2025/3/5</a:t>
            </a:fld>
            <a:endParaRPr kumimoji="1" lang="zh-CN" altLang="en-US"/>
          </a:p>
        </p:txBody>
      </p:sp>
      <p:sp>
        <p:nvSpPr>
          <p:cNvPr id="6" name="页脚占位符 5">
            <a:extLst>
              <a:ext uri="{FF2B5EF4-FFF2-40B4-BE49-F238E27FC236}">
                <a16:creationId xmlns:a16="http://schemas.microsoft.com/office/drawing/2014/main" id="{0E8B761D-FC50-D582-E49F-3AABE127E426}"/>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2981F3A7-8F4F-EE16-F633-D274EB4C3CEF}"/>
              </a:ext>
            </a:extLst>
          </p:cNvPr>
          <p:cNvSpPr>
            <a:spLocks noGrp="1"/>
          </p:cNvSpPr>
          <p:nvPr>
            <p:ph type="sldNum" sz="quarter" idx="12"/>
          </p:nvPr>
        </p:nvSpPr>
        <p:spPr/>
        <p:txBody>
          <a:bodyPr/>
          <a:lstStyle/>
          <a:p>
            <a:fld id="{E62BDCE5-6C73-D64A-ACDB-DF8465C448B3}" type="slidenum">
              <a:rPr kumimoji="1" lang="zh-CN" altLang="en-US" smtClean="0"/>
              <a:t>‹#›</a:t>
            </a:fld>
            <a:endParaRPr kumimoji="1" lang="zh-CN" altLang="en-US"/>
          </a:p>
        </p:txBody>
      </p:sp>
    </p:spTree>
    <p:extLst>
      <p:ext uri="{BB962C8B-B14F-4D97-AF65-F5344CB8AC3E}">
        <p14:creationId xmlns:p14="http://schemas.microsoft.com/office/powerpoint/2010/main" val="20651102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165A38-BD7B-E784-F895-FA3C60B7D64B}"/>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27E3AB2E-B593-893A-76CB-6927EE5164A3}"/>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0EFB2AED-9018-6E45-9AF7-380B63132949}"/>
              </a:ext>
            </a:extLst>
          </p:cNvPr>
          <p:cNvSpPr>
            <a:spLocks noGrp="1"/>
          </p:cNvSpPr>
          <p:nvPr>
            <p:ph type="dt" sz="half" idx="10"/>
          </p:nvPr>
        </p:nvSpPr>
        <p:spPr/>
        <p:txBody>
          <a:bodyPr/>
          <a:lstStyle/>
          <a:p>
            <a:fld id="{C4A26257-9246-8842-B978-A0AFDAA109C3}" type="datetimeFigureOut">
              <a:rPr kumimoji="1" lang="zh-CN" altLang="en-US" smtClean="0"/>
              <a:t>2025/3/5</a:t>
            </a:fld>
            <a:endParaRPr kumimoji="1" lang="zh-CN" altLang="en-US"/>
          </a:p>
        </p:txBody>
      </p:sp>
      <p:sp>
        <p:nvSpPr>
          <p:cNvPr id="5" name="页脚占位符 4">
            <a:extLst>
              <a:ext uri="{FF2B5EF4-FFF2-40B4-BE49-F238E27FC236}">
                <a16:creationId xmlns:a16="http://schemas.microsoft.com/office/drawing/2014/main" id="{3A81BFDE-1FCA-6CC2-C71D-2700C960C2C0}"/>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9C913A11-EB70-A658-19B1-CF6E5E185871}"/>
              </a:ext>
            </a:extLst>
          </p:cNvPr>
          <p:cNvSpPr>
            <a:spLocks noGrp="1"/>
          </p:cNvSpPr>
          <p:nvPr>
            <p:ph type="sldNum" sz="quarter" idx="12"/>
          </p:nvPr>
        </p:nvSpPr>
        <p:spPr/>
        <p:txBody>
          <a:bodyPr/>
          <a:lstStyle/>
          <a:p>
            <a:fld id="{E62BDCE5-6C73-D64A-ACDB-DF8465C448B3}" type="slidenum">
              <a:rPr kumimoji="1" lang="zh-CN" altLang="en-US" smtClean="0"/>
              <a:t>‹#›</a:t>
            </a:fld>
            <a:endParaRPr kumimoji="1" lang="zh-CN" altLang="en-US"/>
          </a:p>
        </p:txBody>
      </p:sp>
    </p:spTree>
    <p:extLst>
      <p:ext uri="{BB962C8B-B14F-4D97-AF65-F5344CB8AC3E}">
        <p14:creationId xmlns:p14="http://schemas.microsoft.com/office/powerpoint/2010/main" val="2569486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545E0BF7-BF7F-4006-D03C-044F2D99C557}"/>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74483F35-BAC7-C2F3-990A-035B340E8994}"/>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4ABE566E-3DAB-8910-BD6F-FB9781F97BAF}"/>
              </a:ext>
            </a:extLst>
          </p:cNvPr>
          <p:cNvSpPr>
            <a:spLocks noGrp="1"/>
          </p:cNvSpPr>
          <p:nvPr>
            <p:ph type="dt" sz="half" idx="10"/>
          </p:nvPr>
        </p:nvSpPr>
        <p:spPr/>
        <p:txBody>
          <a:bodyPr/>
          <a:lstStyle/>
          <a:p>
            <a:fld id="{C4A26257-9246-8842-B978-A0AFDAA109C3}" type="datetimeFigureOut">
              <a:rPr kumimoji="1" lang="zh-CN" altLang="en-US" smtClean="0"/>
              <a:t>2025/3/5</a:t>
            </a:fld>
            <a:endParaRPr kumimoji="1" lang="zh-CN" altLang="en-US"/>
          </a:p>
        </p:txBody>
      </p:sp>
      <p:sp>
        <p:nvSpPr>
          <p:cNvPr id="5" name="页脚占位符 4">
            <a:extLst>
              <a:ext uri="{FF2B5EF4-FFF2-40B4-BE49-F238E27FC236}">
                <a16:creationId xmlns:a16="http://schemas.microsoft.com/office/drawing/2014/main" id="{F35E1501-836F-E074-950B-478C12919B91}"/>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17CA85FB-1245-E79B-CE1B-5F8C3044BED8}"/>
              </a:ext>
            </a:extLst>
          </p:cNvPr>
          <p:cNvSpPr>
            <a:spLocks noGrp="1"/>
          </p:cNvSpPr>
          <p:nvPr>
            <p:ph type="sldNum" sz="quarter" idx="12"/>
          </p:nvPr>
        </p:nvSpPr>
        <p:spPr/>
        <p:txBody>
          <a:bodyPr/>
          <a:lstStyle/>
          <a:p>
            <a:fld id="{E62BDCE5-6C73-D64A-ACDB-DF8465C448B3}" type="slidenum">
              <a:rPr kumimoji="1" lang="zh-CN" altLang="en-US" smtClean="0"/>
              <a:t>‹#›</a:t>
            </a:fld>
            <a:endParaRPr kumimoji="1" lang="zh-CN" altLang="en-US"/>
          </a:p>
        </p:txBody>
      </p:sp>
    </p:spTree>
    <p:extLst>
      <p:ext uri="{BB962C8B-B14F-4D97-AF65-F5344CB8AC3E}">
        <p14:creationId xmlns:p14="http://schemas.microsoft.com/office/powerpoint/2010/main" val="15923720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Title Only" type="obj">
  <p:cSld name="1_Title Only">
    <p:spTree>
      <p:nvGrpSpPr>
        <p:cNvPr id="1" name="Shape 17"/>
        <p:cNvGrpSpPr/>
        <p:nvPr/>
      </p:nvGrpSpPr>
      <p:grpSpPr>
        <a:xfrm>
          <a:off x="0" y="0"/>
          <a:ext cx="0" cy="0"/>
          <a:chOff x="0" y="0"/>
          <a:chExt cx="0" cy="0"/>
        </a:xfrm>
      </p:grpSpPr>
      <p:sp>
        <p:nvSpPr>
          <p:cNvPr id="18" name="Google Shape;18;p136"/>
          <p:cNvSpPr txBox="1">
            <a:spLocks noGrp="1"/>
          </p:cNvSpPr>
          <p:nvPr>
            <p:ph type="title"/>
          </p:nvPr>
        </p:nvSpPr>
        <p:spPr>
          <a:xfrm>
            <a:off x="838200" y="365125"/>
            <a:ext cx="10515600" cy="1325563"/>
          </a:xfrm>
          <a:prstGeom prst="rect">
            <a:avLst/>
          </a:prstGeom>
          <a:noFill/>
          <a:ln>
            <a:noFill/>
          </a:ln>
        </p:spPr>
        <p:txBody>
          <a:bodyPr spcFirstLastPara="1" wrap="square" lIns="0" tIns="0" rIns="0" bIns="0" anchor="ctr" anchorCtr="0">
            <a:normAutofit/>
          </a:bodyPr>
          <a:lstStyle>
            <a:lvl1pPr lvl="0" algn="l">
              <a:lnSpc>
                <a:spcPct val="90000"/>
              </a:lnSpc>
              <a:spcBef>
                <a:spcPts val="0"/>
              </a:spcBef>
              <a:spcAft>
                <a:spcPts val="0"/>
              </a:spcAft>
              <a:buSzPts val="3300"/>
              <a:buNone/>
              <a:defRPr sz="6133" b="0" i="0">
                <a:solidFill>
                  <a:srgbClr val="C71B00"/>
                </a:solidFill>
                <a:latin typeface="Arial"/>
                <a:ea typeface="Arial"/>
                <a:cs typeface="Arial"/>
                <a:sym typeface="Aria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9" name="Google Shape;19;p136"/>
          <p:cNvSpPr txBox="1">
            <a:spLocks noGrp="1"/>
          </p:cNvSpPr>
          <p:nvPr>
            <p:ph type="ftr" idx="11"/>
          </p:nvPr>
        </p:nvSpPr>
        <p:spPr>
          <a:xfrm>
            <a:off x="4038600" y="6356351"/>
            <a:ext cx="4114800" cy="365125"/>
          </a:xfrm>
          <a:prstGeom prst="rect">
            <a:avLst/>
          </a:prstGeom>
          <a:noFill/>
          <a:ln>
            <a:noFill/>
          </a:ln>
        </p:spPr>
        <p:txBody>
          <a:bodyPr spcFirstLastPara="1" wrap="square" lIns="0" tIns="0" rIns="0" bIns="0" anchor="ctr" anchorCtr="0">
            <a:noAutofit/>
          </a:bodyPr>
          <a:lstStyle>
            <a:lvl1pPr lvl="0" algn="ctr">
              <a:lnSpc>
                <a:spcPct val="100000"/>
              </a:lnSpc>
              <a:spcBef>
                <a:spcPts val="0"/>
              </a:spcBef>
              <a:spcAft>
                <a:spcPts val="0"/>
              </a:spcAft>
              <a:buSzPts val="1100"/>
              <a:buNone/>
              <a:defRPr sz="1333" b="0" i="0">
                <a:solidFill>
                  <a:schemeClr val="dk1"/>
                </a:solidFill>
                <a:latin typeface="Arial"/>
                <a:ea typeface="Arial"/>
                <a:cs typeface="Arial"/>
                <a:sym typeface="Aria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0" name="Google Shape;20;p136"/>
          <p:cNvSpPr txBox="1">
            <a:spLocks noGrp="1"/>
          </p:cNvSpPr>
          <p:nvPr>
            <p:ph type="dt" idx="10"/>
          </p:nvPr>
        </p:nvSpPr>
        <p:spPr>
          <a:xfrm>
            <a:off x="838200" y="6356351"/>
            <a:ext cx="2743200" cy="365125"/>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100"/>
              <a:buNone/>
              <a:defRPr>
                <a:solidFill>
                  <a:srgbClr val="888888"/>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1" name="Google Shape;21;p136"/>
          <p:cNvSpPr txBox="1">
            <a:spLocks noGrp="1"/>
          </p:cNvSpPr>
          <p:nvPr>
            <p:ph type="sldNum" idx="12"/>
          </p:nvPr>
        </p:nvSpPr>
        <p:spPr>
          <a:xfrm>
            <a:off x="8610600" y="6356351"/>
            <a:ext cx="2743200" cy="365125"/>
          </a:xfrm>
          <a:prstGeom prst="rect">
            <a:avLst/>
          </a:prstGeom>
          <a:noFill/>
          <a:ln>
            <a:noFill/>
          </a:ln>
        </p:spPr>
        <p:txBody>
          <a:bodyPr spcFirstLastPara="1" wrap="square" lIns="0" tIns="0" rIns="0" bIns="0" anchor="ctr" anchorCtr="0">
            <a:noAutofit/>
          </a:bodyPr>
          <a:lstStyle>
            <a:lvl1pPr marL="33866" marR="0" lvl="0" indent="0" algn="r">
              <a:lnSpc>
                <a:spcPct val="103000"/>
              </a:lnSpc>
              <a:spcBef>
                <a:spcPts val="0"/>
              </a:spcBef>
              <a:spcAft>
                <a:spcPts val="0"/>
              </a:spcAft>
              <a:buClr>
                <a:srgbClr val="000000"/>
              </a:buClr>
              <a:buSzPts val="1000"/>
              <a:buFont typeface="Arial"/>
              <a:buNone/>
              <a:defRPr sz="1333" b="0" i="0" u="none" strike="noStrike" cap="none">
                <a:solidFill>
                  <a:schemeClr val="dk1"/>
                </a:solidFill>
                <a:latin typeface="Arial"/>
                <a:ea typeface="Arial"/>
                <a:cs typeface="Arial"/>
                <a:sym typeface="Arial"/>
              </a:defRPr>
            </a:lvl1pPr>
            <a:lvl2pPr marL="33866" marR="0" lvl="1" indent="0" algn="r">
              <a:lnSpc>
                <a:spcPct val="103000"/>
              </a:lnSpc>
              <a:spcBef>
                <a:spcPts val="0"/>
              </a:spcBef>
              <a:spcAft>
                <a:spcPts val="0"/>
              </a:spcAft>
              <a:buClr>
                <a:srgbClr val="000000"/>
              </a:buClr>
              <a:buSzPts val="1000"/>
              <a:buFont typeface="Arial"/>
              <a:buNone/>
              <a:defRPr sz="1333" b="0" i="0" u="none" strike="noStrike" cap="none">
                <a:solidFill>
                  <a:schemeClr val="dk1"/>
                </a:solidFill>
                <a:latin typeface="Arial"/>
                <a:ea typeface="Arial"/>
                <a:cs typeface="Arial"/>
                <a:sym typeface="Arial"/>
              </a:defRPr>
            </a:lvl2pPr>
            <a:lvl3pPr marL="33866" marR="0" lvl="2" indent="0" algn="r">
              <a:lnSpc>
                <a:spcPct val="103000"/>
              </a:lnSpc>
              <a:spcBef>
                <a:spcPts val="0"/>
              </a:spcBef>
              <a:spcAft>
                <a:spcPts val="0"/>
              </a:spcAft>
              <a:buClr>
                <a:srgbClr val="000000"/>
              </a:buClr>
              <a:buSzPts val="1000"/>
              <a:buFont typeface="Arial"/>
              <a:buNone/>
              <a:defRPr sz="1333" b="0" i="0" u="none" strike="noStrike" cap="none">
                <a:solidFill>
                  <a:schemeClr val="dk1"/>
                </a:solidFill>
                <a:latin typeface="Arial"/>
                <a:ea typeface="Arial"/>
                <a:cs typeface="Arial"/>
                <a:sym typeface="Arial"/>
              </a:defRPr>
            </a:lvl3pPr>
            <a:lvl4pPr marL="33866" marR="0" lvl="3" indent="0" algn="r">
              <a:lnSpc>
                <a:spcPct val="103000"/>
              </a:lnSpc>
              <a:spcBef>
                <a:spcPts val="0"/>
              </a:spcBef>
              <a:spcAft>
                <a:spcPts val="0"/>
              </a:spcAft>
              <a:buClr>
                <a:srgbClr val="000000"/>
              </a:buClr>
              <a:buSzPts val="1000"/>
              <a:buFont typeface="Arial"/>
              <a:buNone/>
              <a:defRPr sz="1333" b="0" i="0" u="none" strike="noStrike" cap="none">
                <a:solidFill>
                  <a:schemeClr val="dk1"/>
                </a:solidFill>
                <a:latin typeface="Arial"/>
                <a:ea typeface="Arial"/>
                <a:cs typeface="Arial"/>
                <a:sym typeface="Arial"/>
              </a:defRPr>
            </a:lvl4pPr>
            <a:lvl5pPr marL="33866" marR="0" lvl="4" indent="0" algn="r">
              <a:lnSpc>
                <a:spcPct val="103000"/>
              </a:lnSpc>
              <a:spcBef>
                <a:spcPts val="0"/>
              </a:spcBef>
              <a:spcAft>
                <a:spcPts val="0"/>
              </a:spcAft>
              <a:buClr>
                <a:srgbClr val="000000"/>
              </a:buClr>
              <a:buSzPts val="1000"/>
              <a:buFont typeface="Arial"/>
              <a:buNone/>
              <a:defRPr sz="1333" b="0" i="0" u="none" strike="noStrike" cap="none">
                <a:solidFill>
                  <a:schemeClr val="dk1"/>
                </a:solidFill>
                <a:latin typeface="Arial"/>
                <a:ea typeface="Arial"/>
                <a:cs typeface="Arial"/>
                <a:sym typeface="Arial"/>
              </a:defRPr>
            </a:lvl5pPr>
            <a:lvl6pPr marL="33866" marR="0" lvl="5" indent="0" algn="r">
              <a:lnSpc>
                <a:spcPct val="103000"/>
              </a:lnSpc>
              <a:spcBef>
                <a:spcPts val="0"/>
              </a:spcBef>
              <a:spcAft>
                <a:spcPts val="0"/>
              </a:spcAft>
              <a:buClr>
                <a:srgbClr val="000000"/>
              </a:buClr>
              <a:buSzPts val="1000"/>
              <a:buFont typeface="Arial"/>
              <a:buNone/>
              <a:defRPr sz="1333" b="0" i="0" u="none" strike="noStrike" cap="none">
                <a:solidFill>
                  <a:schemeClr val="dk1"/>
                </a:solidFill>
                <a:latin typeface="Arial"/>
                <a:ea typeface="Arial"/>
                <a:cs typeface="Arial"/>
                <a:sym typeface="Arial"/>
              </a:defRPr>
            </a:lvl6pPr>
            <a:lvl7pPr marL="33866" marR="0" lvl="6" indent="0" algn="r">
              <a:lnSpc>
                <a:spcPct val="103000"/>
              </a:lnSpc>
              <a:spcBef>
                <a:spcPts val="0"/>
              </a:spcBef>
              <a:spcAft>
                <a:spcPts val="0"/>
              </a:spcAft>
              <a:buClr>
                <a:srgbClr val="000000"/>
              </a:buClr>
              <a:buSzPts val="1000"/>
              <a:buFont typeface="Arial"/>
              <a:buNone/>
              <a:defRPr sz="1333" b="0" i="0" u="none" strike="noStrike" cap="none">
                <a:solidFill>
                  <a:schemeClr val="dk1"/>
                </a:solidFill>
                <a:latin typeface="Arial"/>
                <a:ea typeface="Arial"/>
                <a:cs typeface="Arial"/>
                <a:sym typeface="Arial"/>
              </a:defRPr>
            </a:lvl7pPr>
            <a:lvl8pPr marL="33866" marR="0" lvl="7" indent="0" algn="r">
              <a:lnSpc>
                <a:spcPct val="103000"/>
              </a:lnSpc>
              <a:spcBef>
                <a:spcPts val="0"/>
              </a:spcBef>
              <a:spcAft>
                <a:spcPts val="0"/>
              </a:spcAft>
              <a:buClr>
                <a:srgbClr val="000000"/>
              </a:buClr>
              <a:buSzPts val="1000"/>
              <a:buFont typeface="Arial"/>
              <a:buNone/>
              <a:defRPr sz="1333" b="0" i="0" u="none" strike="noStrike" cap="none">
                <a:solidFill>
                  <a:schemeClr val="dk1"/>
                </a:solidFill>
                <a:latin typeface="Arial"/>
                <a:ea typeface="Arial"/>
                <a:cs typeface="Arial"/>
                <a:sym typeface="Arial"/>
              </a:defRPr>
            </a:lvl8pPr>
            <a:lvl9pPr marL="33866" marR="0" lvl="8" indent="0" algn="r">
              <a:lnSpc>
                <a:spcPct val="103000"/>
              </a:lnSpc>
              <a:spcBef>
                <a:spcPts val="0"/>
              </a:spcBef>
              <a:spcAft>
                <a:spcPts val="0"/>
              </a:spcAft>
              <a:buClr>
                <a:srgbClr val="000000"/>
              </a:buClr>
              <a:buSzPts val="1000"/>
              <a:buFont typeface="Arial"/>
              <a:buNone/>
              <a:defRPr sz="1333" b="0" i="0" u="none" strike="noStrike" cap="none">
                <a:solidFill>
                  <a:schemeClr val="dk1"/>
                </a:solidFill>
                <a:latin typeface="Arial"/>
                <a:ea typeface="Arial"/>
                <a:cs typeface="Arial"/>
                <a:sym typeface="Arial"/>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21172170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3"/>
        <p:cNvGrpSpPr/>
        <p:nvPr/>
      </p:nvGrpSpPr>
      <p:grpSpPr>
        <a:xfrm>
          <a:off x="0" y="0"/>
          <a:ext cx="0" cy="0"/>
          <a:chOff x="0" y="0"/>
          <a:chExt cx="0" cy="0"/>
        </a:xfrm>
      </p:grpSpPr>
      <p:sp>
        <p:nvSpPr>
          <p:cNvPr id="14" name="Google Shape;14;p117"/>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117"/>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609585" lvl="0" indent="-457189" algn="l">
              <a:lnSpc>
                <a:spcPct val="115000"/>
              </a:lnSpc>
              <a:spcBef>
                <a:spcPts val="0"/>
              </a:spcBef>
              <a:spcAft>
                <a:spcPts val="0"/>
              </a:spcAft>
              <a:buSzPts val="1800"/>
              <a:buChar char="●"/>
              <a:defRPr/>
            </a:lvl1pPr>
            <a:lvl2pPr marL="1219170" lvl="1" indent="-423323" algn="l">
              <a:lnSpc>
                <a:spcPct val="115000"/>
              </a:lnSpc>
              <a:spcBef>
                <a:spcPts val="0"/>
              </a:spcBef>
              <a:spcAft>
                <a:spcPts val="0"/>
              </a:spcAft>
              <a:buSzPts val="1400"/>
              <a:buChar char="○"/>
              <a:defRPr/>
            </a:lvl2pPr>
            <a:lvl3pPr marL="1828754" lvl="2" indent="-423323" algn="l">
              <a:lnSpc>
                <a:spcPct val="115000"/>
              </a:lnSpc>
              <a:spcBef>
                <a:spcPts val="0"/>
              </a:spcBef>
              <a:spcAft>
                <a:spcPts val="0"/>
              </a:spcAft>
              <a:buSzPts val="1400"/>
              <a:buChar char="■"/>
              <a:defRPr/>
            </a:lvl3pPr>
            <a:lvl4pPr marL="2438339" lvl="3" indent="-423323" algn="l">
              <a:lnSpc>
                <a:spcPct val="115000"/>
              </a:lnSpc>
              <a:spcBef>
                <a:spcPts val="0"/>
              </a:spcBef>
              <a:spcAft>
                <a:spcPts val="0"/>
              </a:spcAft>
              <a:buSzPts val="1400"/>
              <a:buChar char="●"/>
              <a:defRPr/>
            </a:lvl4pPr>
            <a:lvl5pPr marL="3047924" lvl="4" indent="-423323" algn="l">
              <a:lnSpc>
                <a:spcPct val="115000"/>
              </a:lnSpc>
              <a:spcBef>
                <a:spcPts val="0"/>
              </a:spcBef>
              <a:spcAft>
                <a:spcPts val="0"/>
              </a:spcAft>
              <a:buSzPts val="1400"/>
              <a:buChar char="○"/>
              <a:defRPr/>
            </a:lvl5pPr>
            <a:lvl6pPr marL="3657509" lvl="5" indent="-423323" algn="l">
              <a:lnSpc>
                <a:spcPct val="115000"/>
              </a:lnSpc>
              <a:spcBef>
                <a:spcPts val="0"/>
              </a:spcBef>
              <a:spcAft>
                <a:spcPts val="0"/>
              </a:spcAft>
              <a:buSzPts val="1400"/>
              <a:buChar char="■"/>
              <a:defRPr/>
            </a:lvl6pPr>
            <a:lvl7pPr marL="4267093" lvl="6" indent="-423323" algn="l">
              <a:lnSpc>
                <a:spcPct val="115000"/>
              </a:lnSpc>
              <a:spcBef>
                <a:spcPts val="0"/>
              </a:spcBef>
              <a:spcAft>
                <a:spcPts val="0"/>
              </a:spcAft>
              <a:buSzPts val="1400"/>
              <a:buChar char="●"/>
              <a:defRPr/>
            </a:lvl7pPr>
            <a:lvl8pPr marL="4876678" lvl="7" indent="-423323" algn="l">
              <a:lnSpc>
                <a:spcPct val="115000"/>
              </a:lnSpc>
              <a:spcBef>
                <a:spcPts val="0"/>
              </a:spcBef>
              <a:spcAft>
                <a:spcPts val="0"/>
              </a:spcAft>
              <a:buSzPts val="1400"/>
              <a:buChar char="○"/>
              <a:defRPr/>
            </a:lvl8pPr>
            <a:lvl9pPr marL="5486263" lvl="8" indent="-423323" algn="l">
              <a:lnSpc>
                <a:spcPct val="115000"/>
              </a:lnSpc>
              <a:spcBef>
                <a:spcPts val="0"/>
              </a:spcBef>
              <a:spcAft>
                <a:spcPts val="0"/>
              </a:spcAft>
              <a:buSzPts val="1400"/>
              <a:buChar char="■"/>
              <a:defRPr/>
            </a:lvl9pPr>
          </a:lstStyle>
          <a:p>
            <a:endParaRPr/>
          </a:p>
        </p:txBody>
      </p:sp>
      <p:sp>
        <p:nvSpPr>
          <p:cNvPr id="16" name="Google Shape;16;p117"/>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en-US" altLang="zh-CN" smtClean="0"/>
              <a:pPr/>
              <a:t>‹#›</a:t>
            </a:fld>
            <a:endParaRPr lang="zh-CN" altLang="en-US"/>
          </a:p>
        </p:txBody>
      </p:sp>
    </p:spTree>
    <p:extLst>
      <p:ext uri="{BB962C8B-B14F-4D97-AF65-F5344CB8AC3E}">
        <p14:creationId xmlns:p14="http://schemas.microsoft.com/office/powerpoint/2010/main" val="1164138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Two Content 1" userDrawn="1">
  <p:cSld name="Two Content 1">
    <p:bg>
      <p:bgPr>
        <a:solidFill>
          <a:schemeClr val="lt1"/>
        </a:solidFill>
        <a:effectLst/>
      </p:bgPr>
    </p:bg>
    <p:spTree>
      <p:nvGrpSpPr>
        <p:cNvPr id="1" name="Shape 50"/>
        <p:cNvGrpSpPr/>
        <p:nvPr/>
      </p:nvGrpSpPr>
      <p:grpSpPr>
        <a:xfrm>
          <a:off x="0" y="0"/>
          <a:ext cx="0" cy="0"/>
          <a:chOff x="0" y="0"/>
          <a:chExt cx="0" cy="0"/>
        </a:xfrm>
      </p:grpSpPr>
      <p:sp>
        <p:nvSpPr>
          <p:cNvPr id="97" name="Google Shape;97;p13"/>
          <p:cNvSpPr txBox="1">
            <a:spLocks noGrp="1"/>
          </p:cNvSpPr>
          <p:nvPr>
            <p:ph type="body" idx="1"/>
          </p:nvPr>
        </p:nvSpPr>
        <p:spPr>
          <a:xfrm>
            <a:off x="609599" y="1577341"/>
            <a:ext cx="11204028" cy="387798"/>
          </a:xfrm>
          <a:prstGeom prst="rect">
            <a:avLst/>
          </a:prstGeom>
          <a:noFill/>
          <a:ln>
            <a:noFill/>
          </a:ln>
        </p:spPr>
        <p:txBody>
          <a:bodyPr spcFirstLastPara="1" wrap="square" lIns="0" tIns="0" rIns="0" bIns="0" anchor="t" anchorCtr="0">
            <a:spAutoFit/>
          </a:bodyPr>
          <a:lstStyle>
            <a:lvl1pPr marL="609570" lvl="0" indent="-304784" algn="l" rtl="0">
              <a:spcBef>
                <a:spcPts val="0"/>
              </a:spcBef>
              <a:spcAft>
                <a:spcPts val="0"/>
              </a:spcAft>
              <a:buSzPts val="1800"/>
              <a:buNone/>
              <a:defRPr/>
            </a:lvl1pPr>
            <a:lvl2pPr marL="1219140" lvl="1" indent="-304784" algn="l" rtl="0">
              <a:spcBef>
                <a:spcPts val="1600"/>
              </a:spcBef>
              <a:spcAft>
                <a:spcPts val="0"/>
              </a:spcAft>
              <a:buSzPts val="1400"/>
              <a:buNone/>
              <a:defRPr/>
            </a:lvl2pPr>
            <a:lvl3pPr marL="1828709" lvl="2" indent="-304784" algn="l" rtl="0">
              <a:spcBef>
                <a:spcPts val="1600"/>
              </a:spcBef>
              <a:spcAft>
                <a:spcPts val="0"/>
              </a:spcAft>
              <a:buSzPts val="1400"/>
              <a:buNone/>
              <a:defRPr/>
            </a:lvl3pPr>
            <a:lvl4pPr marL="2438278" lvl="3" indent="-304784" algn="l" rtl="0">
              <a:spcBef>
                <a:spcPts val="1600"/>
              </a:spcBef>
              <a:spcAft>
                <a:spcPts val="0"/>
              </a:spcAft>
              <a:buSzPts val="1400"/>
              <a:buNone/>
              <a:defRPr/>
            </a:lvl4pPr>
            <a:lvl5pPr marL="3047848" lvl="4" indent="-304784" algn="l" rtl="0">
              <a:spcBef>
                <a:spcPts val="1600"/>
              </a:spcBef>
              <a:spcAft>
                <a:spcPts val="0"/>
              </a:spcAft>
              <a:buSzPts val="1400"/>
              <a:buNone/>
              <a:defRPr/>
            </a:lvl5pPr>
            <a:lvl6pPr marL="3657418" lvl="5" indent="-304784" algn="l" rtl="0">
              <a:spcBef>
                <a:spcPts val="1600"/>
              </a:spcBef>
              <a:spcAft>
                <a:spcPts val="0"/>
              </a:spcAft>
              <a:buSzPts val="1400"/>
              <a:buNone/>
              <a:defRPr/>
            </a:lvl6pPr>
            <a:lvl7pPr marL="4266987" lvl="6" indent="-304784" algn="l" rtl="0">
              <a:spcBef>
                <a:spcPts val="1600"/>
              </a:spcBef>
              <a:spcAft>
                <a:spcPts val="0"/>
              </a:spcAft>
              <a:buSzPts val="1400"/>
              <a:buNone/>
              <a:defRPr/>
            </a:lvl7pPr>
            <a:lvl8pPr marL="4876557" lvl="7" indent="-304784" algn="l" rtl="0">
              <a:spcBef>
                <a:spcPts val="1600"/>
              </a:spcBef>
              <a:spcAft>
                <a:spcPts val="0"/>
              </a:spcAft>
              <a:buSzPts val="1400"/>
              <a:buNone/>
              <a:defRPr/>
            </a:lvl8pPr>
            <a:lvl9pPr marL="5486126" lvl="8" indent="-304784" algn="l" rtl="0">
              <a:spcBef>
                <a:spcPts val="1600"/>
              </a:spcBef>
              <a:spcAft>
                <a:spcPts val="1600"/>
              </a:spcAft>
              <a:buSzPts val="1400"/>
              <a:buNone/>
              <a:defRPr/>
            </a:lvl9pPr>
          </a:lstStyle>
          <a:p>
            <a:endParaRPr dirty="0"/>
          </a:p>
        </p:txBody>
      </p:sp>
      <p:sp>
        <p:nvSpPr>
          <p:cNvPr id="99" name="Google Shape;99;p13"/>
          <p:cNvSpPr txBox="1">
            <a:spLocks noGrp="1"/>
          </p:cNvSpPr>
          <p:nvPr>
            <p:ph type="ftr" idx="11"/>
          </p:nvPr>
        </p:nvSpPr>
        <p:spPr>
          <a:xfrm>
            <a:off x="4145280" y="6377940"/>
            <a:ext cx="3901600" cy="184666"/>
          </a:xfrm>
          <a:prstGeom prst="rect">
            <a:avLst/>
          </a:prstGeom>
          <a:noFill/>
          <a:ln>
            <a:noFill/>
          </a:ln>
        </p:spPr>
        <p:txBody>
          <a:bodyPr spcFirstLastPara="1" wrap="square" lIns="0" tIns="0" rIns="0" bIns="0" anchor="t" anchorCtr="0">
            <a:spAutoFit/>
          </a:bodyPr>
          <a:lstStyle>
            <a:lvl1pPr lvl="0" algn="ctr" rtl="0">
              <a:spcBef>
                <a:spcPts val="0"/>
              </a:spcBef>
              <a:spcAft>
                <a:spcPts val="0"/>
              </a:spcAft>
              <a:buSzPts val="1400"/>
              <a:buNone/>
              <a:defRPr>
                <a:solidFill>
                  <a:srgbClr val="888888"/>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0" name="Google Shape;100;p13"/>
          <p:cNvSpPr txBox="1">
            <a:spLocks noGrp="1"/>
          </p:cNvSpPr>
          <p:nvPr>
            <p:ph type="dt" idx="10"/>
          </p:nvPr>
        </p:nvSpPr>
        <p:spPr>
          <a:xfrm>
            <a:off x="609600" y="6377940"/>
            <a:ext cx="2804000" cy="184666"/>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400"/>
              <a:buNone/>
              <a:defRPr>
                <a:solidFill>
                  <a:srgbClr val="888888"/>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1" name="Google Shape;101;p13"/>
          <p:cNvSpPr txBox="1">
            <a:spLocks noGrp="1"/>
          </p:cNvSpPr>
          <p:nvPr>
            <p:ph type="sldNum" idx="12"/>
          </p:nvPr>
        </p:nvSpPr>
        <p:spPr>
          <a:xfrm>
            <a:off x="459633" y="6505321"/>
            <a:ext cx="257200" cy="451534"/>
          </a:xfrm>
          <a:prstGeom prst="rect">
            <a:avLst/>
          </a:prstGeom>
          <a:noFill/>
          <a:ln>
            <a:noFill/>
          </a:ln>
        </p:spPr>
        <p:txBody>
          <a:bodyPr spcFirstLastPara="1" wrap="square" lIns="0" tIns="0" rIns="0" bIns="0" anchor="t" anchorCtr="0">
            <a:spAutoFit/>
          </a:bodyPr>
          <a:lstStyle>
            <a:lvl1pPr marL="33866" marR="0" lvl="0" indent="0" algn="l" rtl="0">
              <a:lnSpc>
                <a:spcPct val="100000"/>
              </a:lnSpc>
              <a:spcBef>
                <a:spcPts val="0"/>
              </a:spcBef>
              <a:buNone/>
              <a:defRPr sz="1467" b="0" i="0">
                <a:solidFill>
                  <a:schemeClr val="dk1"/>
                </a:solidFill>
                <a:latin typeface="Trebuchet MS"/>
                <a:ea typeface="Trebuchet MS"/>
                <a:cs typeface="Trebuchet MS"/>
                <a:sym typeface="Trebuchet MS"/>
              </a:defRPr>
            </a:lvl1pPr>
            <a:lvl2pPr marL="33866" marR="0" lvl="1" indent="0" algn="l" rtl="0">
              <a:lnSpc>
                <a:spcPct val="100000"/>
              </a:lnSpc>
              <a:spcBef>
                <a:spcPts val="0"/>
              </a:spcBef>
              <a:buNone/>
              <a:defRPr sz="1467" b="0" i="0">
                <a:solidFill>
                  <a:schemeClr val="dk1"/>
                </a:solidFill>
                <a:latin typeface="Trebuchet MS"/>
                <a:ea typeface="Trebuchet MS"/>
                <a:cs typeface="Trebuchet MS"/>
                <a:sym typeface="Trebuchet MS"/>
              </a:defRPr>
            </a:lvl2pPr>
            <a:lvl3pPr marL="33866" marR="0" lvl="2" indent="0" algn="l" rtl="0">
              <a:lnSpc>
                <a:spcPct val="100000"/>
              </a:lnSpc>
              <a:spcBef>
                <a:spcPts val="0"/>
              </a:spcBef>
              <a:buNone/>
              <a:defRPr sz="1467" b="0" i="0">
                <a:solidFill>
                  <a:schemeClr val="dk1"/>
                </a:solidFill>
                <a:latin typeface="Trebuchet MS"/>
                <a:ea typeface="Trebuchet MS"/>
                <a:cs typeface="Trebuchet MS"/>
                <a:sym typeface="Trebuchet MS"/>
              </a:defRPr>
            </a:lvl3pPr>
            <a:lvl4pPr marL="33866" marR="0" lvl="3" indent="0" algn="l" rtl="0">
              <a:lnSpc>
                <a:spcPct val="100000"/>
              </a:lnSpc>
              <a:spcBef>
                <a:spcPts val="0"/>
              </a:spcBef>
              <a:buNone/>
              <a:defRPr sz="1467" b="0" i="0">
                <a:solidFill>
                  <a:schemeClr val="dk1"/>
                </a:solidFill>
                <a:latin typeface="Trebuchet MS"/>
                <a:ea typeface="Trebuchet MS"/>
                <a:cs typeface="Trebuchet MS"/>
                <a:sym typeface="Trebuchet MS"/>
              </a:defRPr>
            </a:lvl4pPr>
            <a:lvl5pPr marL="33866" marR="0" lvl="4" indent="0" algn="l" rtl="0">
              <a:lnSpc>
                <a:spcPct val="100000"/>
              </a:lnSpc>
              <a:spcBef>
                <a:spcPts val="0"/>
              </a:spcBef>
              <a:buNone/>
              <a:defRPr sz="1467" b="0" i="0">
                <a:solidFill>
                  <a:schemeClr val="dk1"/>
                </a:solidFill>
                <a:latin typeface="Trebuchet MS"/>
                <a:ea typeface="Trebuchet MS"/>
                <a:cs typeface="Trebuchet MS"/>
                <a:sym typeface="Trebuchet MS"/>
              </a:defRPr>
            </a:lvl5pPr>
            <a:lvl6pPr marL="33866" marR="0" lvl="5" indent="0" algn="l" rtl="0">
              <a:lnSpc>
                <a:spcPct val="100000"/>
              </a:lnSpc>
              <a:spcBef>
                <a:spcPts val="0"/>
              </a:spcBef>
              <a:buNone/>
              <a:defRPr sz="1467" b="0" i="0">
                <a:solidFill>
                  <a:schemeClr val="dk1"/>
                </a:solidFill>
                <a:latin typeface="Trebuchet MS"/>
                <a:ea typeface="Trebuchet MS"/>
                <a:cs typeface="Trebuchet MS"/>
                <a:sym typeface="Trebuchet MS"/>
              </a:defRPr>
            </a:lvl6pPr>
            <a:lvl7pPr marL="33866" marR="0" lvl="6" indent="0" algn="l" rtl="0">
              <a:lnSpc>
                <a:spcPct val="100000"/>
              </a:lnSpc>
              <a:spcBef>
                <a:spcPts val="0"/>
              </a:spcBef>
              <a:buNone/>
              <a:defRPr sz="1467" b="0" i="0">
                <a:solidFill>
                  <a:schemeClr val="dk1"/>
                </a:solidFill>
                <a:latin typeface="Trebuchet MS"/>
                <a:ea typeface="Trebuchet MS"/>
                <a:cs typeface="Trebuchet MS"/>
                <a:sym typeface="Trebuchet MS"/>
              </a:defRPr>
            </a:lvl7pPr>
            <a:lvl8pPr marL="33866" marR="0" lvl="7" indent="0" algn="l" rtl="0">
              <a:lnSpc>
                <a:spcPct val="100000"/>
              </a:lnSpc>
              <a:spcBef>
                <a:spcPts val="0"/>
              </a:spcBef>
              <a:buNone/>
              <a:defRPr sz="1467" b="0" i="0">
                <a:solidFill>
                  <a:schemeClr val="dk1"/>
                </a:solidFill>
                <a:latin typeface="Trebuchet MS"/>
                <a:ea typeface="Trebuchet MS"/>
                <a:cs typeface="Trebuchet MS"/>
                <a:sym typeface="Trebuchet MS"/>
              </a:defRPr>
            </a:lvl8pPr>
            <a:lvl9pPr marL="33866" marR="0" lvl="8" indent="0" algn="l" rtl="0">
              <a:lnSpc>
                <a:spcPct val="100000"/>
              </a:lnSpc>
              <a:spcBef>
                <a:spcPts val="0"/>
              </a:spcBef>
              <a:buNone/>
              <a:defRPr sz="1467" b="0" i="0">
                <a:solidFill>
                  <a:schemeClr val="dk1"/>
                </a:solidFill>
                <a:latin typeface="Trebuchet MS"/>
                <a:ea typeface="Trebuchet MS"/>
                <a:cs typeface="Trebuchet MS"/>
                <a:sym typeface="Trebuchet MS"/>
              </a:defRPr>
            </a:lvl9pPr>
          </a:lstStyle>
          <a:p>
            <a:fld id="{00000000-1234-1234-1234-123412341234}" type="slidenum">
              <a:rPr lang="en" smtClean="0"/>
              <a:pPr/>
              <a:t>‹#›</a:t>
            </a:fld>
            <a:endParaRPr lang="en" sz="1333">
              <a:solidFill>
                <a:schemeClr val="dk2"/>
              </a:solidFill>
              <a:latin typeface="Arial"/>
              <a:ea typeface="Arial"/>
              <a:cs typeface="Arial"/>
              <a:sym typeface="Arial"/>
            </a:endParaRPr>
          </a:p>
        </p:txBody>
      </p:sp>
    </p:spTree>
    <p:extLst>
      <p:ext uri="{BB962C8B-B14F-4D97-AF65-F5344CB8AC3E}">
        <p14:creationId xmlns:p14="http://schemas.microsoft.com/office/powerpoint/2010/main" val="36654762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997668" y="1076198"/>
            <a:ext cx="8196661" cy="720197"/>
          </a:xfrm>
          <a:prstGeom prst="rect">
            <a:avLst/>
          </a:prstGeom>
        </p:spPr>
        <p:txBody>
          <a:bodyPr wrap="square" lIns="0" tIns="0" rIns="0" bIns="0">
            <a:spAutoFit/>
          </a:bodyPr>
          <a:lstStyle>
            <a:lvl1pPr>
              <a:defRPr sz="5200" b="1" i="0">
                <a:solidFill>
                  <a:srgbClr val="8C1414"/>
                </a:solidFill>
                <a:latin typeface="Georgia"/>
                <a:cs typeface="Georgia"/>
              </a:defRPr>
            </a:lvl1pPr>
          </a:lstStyle>
          <a:p>
            <a:endParaRPr/>
          </a:p>
        </p:txBody>
      </p:sp>
      <p:sp>
        <p:nvSpPr>
          <p:cNvPr id="3" name="Holder 3"/>
          <p:cNvSpPr>
            <a:spLocks noGrp="1"/>
          </p:cNvSpPr>
          <p:nvPr>
            <p:ph type="subTitle" idx="4"/>
          </p:nvPr>
        </p:nvSpPr>
        <p:spPr>
          <a:xfrm>
            <a:off x="1828800" y="3840481"/>
            <a:ext cx="8534400" cy="387798"/>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3/5/2025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9739087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997668" y="214133"/>
            <a:ext cx="8196661" cy="800219"/>
          </a:xfrm>
          <a:prstGeom prst="rect">
            <a:avLst/>
          </a:prstGeom>
        </p:spPr>
        <p:txBody>
          <a:bodyPr wrap="square" lIns="0" tIns="0" rIns="0" bIns="0">
            <a:spAutoFit/>
          </a:bodyPr>
          <a:lstStyle>
            <a:lvl1pPr>
              <a:defRPr sz="5200" b="1" i="0">
                <a:solidFill>
                  <a:srgbClr val="8C1414"/>
                </a:solidFill>
                <a:latin typeface="Georgia"/>
                <a:cs typeface="Georgia"/>
              </a:defRPr>
            </a:lvl1pPr>
          </a:lstStyle>
          <a:p>
            <a:endParaRPr/>
          </a:p>
        </p:txBody>
      </p:sp>
      <p:sp>
        <p:nvSpPr>
          <p:cNvPr id="3" name="Holder 3"/>
          <p:cNvSpPr>
            <a:spLocks noGrp="1"/>
          </p:cNvSpPr>
          <p:nvPr>
            <p:ph type="subTitle" idx="4"/>
          </p:nvPr>
        </p:nvSpPr>
        <p:spPr>
          <a:xfrm>
            <a:off x="1828800" y="3840481"/>
            <a:ext cx="8534400" cy="153888"/>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3/5/2025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5057647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12968" y="671226"/>
            <a:ext cx="11166065" cy="584775"/>
          </a:xfrm>
        </p:spPr>
        <p:txBody>
          <a:bodyPr lIns="0" tIns="0" rIns="0" bIns="0"/>
          <a:lstStyle>
            <a:lvl1pPr>
              <a:defRPr sz="3800" b="0" i="0">
                <a:solidFill>
                  <a:srgbClr val="8C1414"/>
                </a:solidFill>
                <a:latin typeface="Georgia"/>
                <a:cs typeface="Georgia"/>
              </a:defRPr>
            </a:lvl1pPr>
          </a:lstStyle>
          <a:p>
            <a:endParaRPr/>
          </a:p>
        </p:txBody>
      </p:sp>
      <p:sp>
        <p:nvSpPr>
          <p:cNvPr id="3" name="Holder 3"/>
          <p:cNvSpPr>
            <a:spLocks noGrp="1"/>
          </p:cNvSpPr>
          <p:nvPr>
            <p:ph type="body" idx="1"/>
          </p:nvPr>
        </p:nvSpPr>
        <p:spPr>
          <a:xfrm>
            <a:off x="406667" y="1476649"/>
            <a:ext cx="10035540" cy="205121"/>
          </a:xfrm>
        </p:spPr>
        <p:txBody>
          <a:bodyPr lIns="0" tIns="0" rIns="0" bIns="0"/>
          <a:lstStyle>
            <a:lvl1pPr>
              <a:defRPr sz="1333"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3/5/2025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1446624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512968" y="671226"/>
            <a:ext cx="11166065" cy="584775"/>
          </a:xfrm>
        </p:spPr>
        <p:txBody>
          <a:bodyPr lIns="0" tIns="0" rIns="0" bIns="0"/>
          <a:lstStyle>
            <a:lvl1pPr>
              <a:defRPr sz="3800" b="0" i="0">
                <a:solidFill>
                  <a:srgbClr val="8C1414"/>
                </a:solidFill>
                <a:latin typeface="Georgia"/>
                <a:cs typeface="Georgia"/>
              </a:defRPr>
            </a:lvl1pPr>
          </a:lstStyle>
          <a:p>
            <a:endParaRPr/>
          </a:p>
        </p:txBody>
      </p:sp>
      <p:sp>
        <p:nvSpPr>
          <p:cNvPr id="3" name="Holder 3"/>
          <p:cNvSpPr>
            <a:spLocks noGrp="1"/>
          </p:cNvSpPr>
          <p:nvPr>
            <p:ph sz="half" idx="2"/>
          </p:nvPr>
        </p:nvSpPr>
        <p:spPr>
          <a:xfrm>
            <a:off x="609600" y="1577340"/>
            <a:ext cx="5303520" cy="153888"/>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153888"/>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3/5/2025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5491758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512968" y="671226"/>
            <a:ext cx="11166065" cy="584775"/>
          </a:xfrm>
        </p:spPr>
        <p:txBody>
          <a:bodyPr lIns="0" tIns="0" rIns="0" bIns="0"/>
          <a:lstStyle>
            <a:lvl1pPr>
              <a:defRPr sz="3800" b="0" i="0">
                <a:solidFill>
                  <a:srgbClr val="8C1414"/>
                </a:solidFill>
                <a:latin typeface="Georgia"/>
                <a:cs typeface="Georgi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3/5/2025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276231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3/5/2025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1298111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1.png"/><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theme" Target="../theme/theme2.xml"/><Relationship Id="rId5" Type="http://schemas.openxmlformats.org/officeDocument/2006/relationships/slideLayout" Target="../slideLayouts/slideLayout20.xml"/><Relationship Id="rId4"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FCEA38B0-1A41-39D4-B6EE-BCD5B79C882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52977F4B-46AD-0A7F-0B7F-BC3368A7BF6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98C29044-6B1C-CF68-59C6-F5AB84A487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4A26257-9246-8842-B978-A0AFDAA109C3}" type="datetimeFigureOut">
              <a:rPr kumimoji="1" lang="zh-CN" altLang="en-US" smtClean="0"/>
              <a:t>2025/3/5</a:t>
            </a:fld>
            <a:endParaRPr kumimoji="1" lang="zh-CN" altLang="en-US"/>
          </a:p>
        </p:txBody>
      </p:sp>
      <p:sp>
        <p:nvSpPr>
          <p:cNvPr id="5" name="页脚占位符 4">
            <a:extLst>
              <a:ext uri="{FF2B5EF4-FFF2-40B4-BE49-F238E27FC236}">
                <a16:creationId xmlns:a16="http://schemas.microsoft.com/office/drawing/2014/main" id="{27BEBB8C-3BE3-0315-6E79-BC35ADCADD9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9CF7F58F-6C6D-CDC6-0B2B-E9447E4F8BB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2BDCE5-6C73-D64A-ACDB-DF8465C448B3}" type="slidenum">
              <a:rPr kumimoji="1" lang="zh-CN" altLang="en-US" smtClean="0"/>
              <a:t>‹#›</a:t>
            </a:fld>
            <a:endParaRPr kumimoji="1" lang="zh-CN" altLang="en-US"/>
          </a:p>
        </p:txBody>
      </p:sp>
    </p:spTree>
    <p:extLst>
      <p:ext uri="{BB962C8B-B14F-4D97-AF65-F5344CB8AC3E}">
        <p14:creationId xmlns:p14="http://schemas.microsoft.com/office/powerpoint/2010/main" val="21079396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401093" y="6462767"/>
            <a:ext cx="1735600" cy="220623"/>
          </a:xfrm>
          <a:prstGeom prst="rect">
            <a:avLst/>
          </a:prstGeom>
          <a:blipFill>
            <a:blip r:embed="rId7" cstate="print"/>
            <a:stretch>
              <a:fillRect/>
            </a:stretch>
          </a:blipFill>
        </p:spPr>
        <p:txBody>
          <a:bodyPr wrap="square" lIns="0" tIns="0" rIns="0" bIns="0" rtlCol="0"/>
          <a:lstStyle/>
          <a:p>
            <a:endParaRPr sz="2400"/>
          </a:p>
        </p:txBody>
      </p:sp>
      <p:sp>
        <p:nvSpPr>
          <p:cNvPr id="2" name="Holder 2"/>
          <p:cNvSpPr>
            <a:spLocks noGrp="1"/>
          </p:cNvSpPr>
          <p:nvPr>
            <p:ph type="title"/>
          </p:nvPr>
        </p:nvSpPr>
        <p:spPr>
          <a:xfrm>
            <a:off x="512968" y="671226"/>
            <a:ext cx="11166065" cy="438582"/>
          </a:xfrm>
          <a:prstGeom prst="rect">
            <a:avLst/>
          </a:prstGeom>
        </p:spPr>
        <p:txBody>
          <a:bodyPr wrap="square" lIns="0" tIns="0" rIns="0" bIns="0">
            <a:spAutoFit/>
          </a:bodyPr>
          <a:lstStyle>
            <a:lvl1pPr>
              <a:defRPr sz="2850" b="0" i="0">
                <a:solidFill>
                  <a:srgbClr val="8C1414"/>
                </a:solidFill>
                <a:latin typeface="Georgia"/>
                <a:cs typeface="Georgia"/>
              </a:defRPr>
            </a:lvl1pPr>
          </a:lstStyle>
          <a:p>
            <a:endParaRPr/>
          </a:p>
        </p:txBody>
      </p:sp>
      <p:sp>
        <p:nvSpPr>
          <p:cNvPr id="3" name="Holder 3"/>
          <p:cNvSpPr>
            <a:spLocks noGrp="1"/>
          </p:cNvSpPr>
          <p:nvPr>
            <p:ph type="body" idx="1"/>
          </p:nvPr>
        </p:nvSpPr>
        <p:spPr>
          <a:xfrm>
            <a:off x="406667" y="1476649"/>
            <a:ext cx="10035540" cy="153888"/>
          </a:xfrm>
          <a:prstGeom prst="rect">
            <a:avLst/>
          </a:prstGeom>
        </p:spPr>
        <p:txBody>
          <a:bodyPr wrap="square" lIns="0" tIns="0" rIns="0" bIns="0">
            <a:spAutoFit/>
          </a:bodyPr>
          <a:lstStyle>
            <a:lvl1pPr>
              <a:defRPr sz="10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4145280" y="6377941"/>
            <a:ext cx="3901440"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1"/>
            <a:ext cx="280416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3/5/2025</a:t>
            </a:fld>
            <a:endParaRPr lang="en-US"/>
          </a:p>
        </p:txBody>
      </p:sp>
      <p:sp>
        <p:nvSpPr>
          <p:cNvPr id="6" name="Holder 6"/>
          <p:cNvSpPr>
            <a:spLocks noGrp="1"/>
          </p:cNvSpPr>
          <p:nvPr>
            <p:ph type="sldNum" sz="quarter" idx="7"/>
          </p:nvPr>
        </p:nvSpPr>
        <p:spPr>
          <a:xfrm>
            <a:off x="8778240" y="6377941"/>
            <a:ext cx="280416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265593665"/>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Lst>
  <p:txStyles>
    <p:titleStyle>
      <a:lvl1pPr>
        <a:defRPr>
          <a:latin typeface="+mj-lt"/>
          <a:ea typeface="+mj-ea"/>
          <a:cs typeface="+mj-cs"/>
        </a:defRPr>
      </a:lvl1pPr>
    </p:titleStyle>
    <p:bodyStyle>
      <a:lvl1pPr marL="0">
        <a:defRPr>
          <a:latin typeface="+mn-lt"/>
          <a:ea typeface="+mn-ea"/>
          <a:cs typeface="+mn-cs"/>
        </a:defRPr>
      </a:lvl1pPr>
      <a:lvl2pPr marL="609585">
        <a:defRPr>
          <a:latin typeface="+mn-lt"/>
          <a:ea typeface="+mn-ea"/>
          <a:cs typeface="+mn-cs"/>
        </a:defRPr>
      </a:lvl2pPr>
      <a:lvl3pPr marL="1219170">
        <a:defRPr>
          <a:latin typeface="+mn-lt"/>
          <a:ea typeface="+mn-ea"/>
          <a:cs typeface="+mn-cs"/>
        </a:defRPr>
      </a:lvl3pPr>
      <a:lvl4pPr marL="1828754">
        <a:defRPr>
          <a:latin typeface="+mn-lt"/>
          <a:ea typeface="+mn-ea"/>
          <a:cs typeface="+mn-cs"/>
        </a:defRPr>
      </a:lvl4pPr>
      <a:lvl5pPr marL="2438339">
        <a:defRPr>
          <a:latin typeface="+mn-lt"/>
          <a:ea typeface="+mn-ea"/>
          <a:cs typeface="+mn-cs"/>
        </a:defRPr>
      </a:lvl5pPr>
      <a:lvl6pPr marL="3047924">
        <a:defRPr>
          <a:latin typeface="+mn-lt"/>
          <a:ea typeface="+mn-ea"/>
          <a:cs typeface="+mn-cs"/>
        </a:defRPr>
      </a:lvl6pPr>
      <a:lvl7pPr marL="3657509">
        <a:defRPr>
          <a:latin typeface="+mn-lt"/>
          <a:ea typeface="+mn-ea"/>
          <a:cs typeface="+mn-cs"/>
        </a:defRPr>
      </a:lvl7pPr>
      <a:lvl8pPr marL="4267093">
        <a:defRPr>
          <a:latin typeface="+mn-lt"/>
          <a:ea typeface="+mn-ea"/>
          <a:cs typeface="+mn-cs"/>
        </a:defRPr>
      </a:lvl8pPr>
      <a:lvl9pPr marL="4876678">
        <a:defRPr>
          <a:latin typeface="+mn-lt"/>
          <a:ea typeface="+mn-ea"/>
          <a:cs typeface="+mn-cs"/>
        </a:defRPr>
      </a:lvl9pPr>
    </p:bodyStyle>
    <p:otherStyle>
      <a:lvl1pPr marL="0">
        <a:defRPr>
          <a:latin typeface="+mn-lt"/>
          <a:ea typeface="+mn-ea"/>
          <a:cs typeface="+mn-cs"/>
        </a:defRPr>
      </a:lvl1pPr>
      <a:lvl2pPr marL="609585">
        <a:defRPr>
          <a:latin typeface="+mn-lt"/>
          <a:ea typeface="+mn-ea"/>
          <a:cs typeface="+mn-cs"/>
        </a:defRPr>
      </a:lvl2pPr>
      <a:lvl3pPr marL="1219170">
        <a:defRPr>
          <a:latin typeface="+mn-lt"/>
          <a:ea typeface="+mn-ea"/>
          <a:cs typeface="+mn-cs"/>
        </a:defRPr>
      </a:lvl3pPr>
      <a:lvl4pPr marL="1828754">
        <a:defRPr>
          <a:latin typeface="+mn-lt"/>
          <a:ea typeface="+mn-ea"/>
          <a:cs typeface="+mn-cs"/>
        </a:defRPr>
      </a:lvl4pPr>
      <a:lvl5pPr marL="2438339">
        <a:defRPr>
          <a:latin typeface="+mn-lt"/>
          <a:ea typeface="+mn-ea"/>
          <a:cs typeface="+mn-cs"/>
        </a:defRPr>
      </a:lvl5pPr>
      <a:lvl6pPr marL="3047924">
        <a:defRPr>
          <a:latin typeface="+mn-lt"/>
          <a:ea typeface="+mn-ea"/>
          <a:cs typeface="+mn-cs"/>
        </a:defRPr>
      </a:lvl6pPr>
      <a:lvl7pPr marL="3657509">
        <a:defRPr>
          <a:latin typeface="+mn-lt"/>
          <a:ea typeface="+mn-ea"/>
          <a:cs typeface="+mn-cs"/>
        </a:defRPr>
      </a:lvl7pPr>
      <a:lvl8pPr marL="4267093">
        <a:defRPr>
          <a:latin typeface="+mn-lt"/>
          <a:ea typeface="+mn-ea"/>
          <a:cs typeface="+mn-cs"/>
        </a:defRPr>
      </a:lvl8pPr>
      <a:lvl9pPr marL="4876678">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4.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hyperlink" Target="https://dl.acm.org/doi/abs/10.1145/1597735.1597738" TargetMode="External"/><Relationship Id="rId2" Type="http://schemas.openxmlformats.org/officeDocument/2006/relationships/notesSlide" Target="../notesSlides/notesSlide17.xml"/><Relationship Id="rId1" Type="http://schemas.openxmlformats.org/officeDocument/2006/relationships/slideLayout" Target="../slideLayouts/slideLayout13.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8" Type="http://schemas.openxmlformats.org/officeDocument/2006/relationships/hyperlink" Target="https://proceedings.neurips.cc/paper_files/paper/2022/hash/b1efde53be364a73914f58805a001731-Abstract-Conference.html" TargetMode="External"/><Relationship Id="rId3" Type="http://schemas.openxmlformats.org/officeDocument/2006/relationships/hyperlink" Target="https://link.springer.com/article/10.1007/BF00992696" TargetMode="External"/><Relationship Id="rId7" Type="http://schemas.openxmlformats.org/officeDocument/2006/relationships/hyperlink" Target="https://proceedings.neurips.cc/paper/2020/hash/1f89885d556929e98d3ef9b86448f951-Abstract.html" TargetMode="External"/><Relationship Id="rId2" Type="http://schemas.openxmlformats.org/officeDocument/2006/relationships/notesSlide" Target="../notesSlides/notesSlide18.xml"/><Relationship Id="rId1" Type="http://schemas.openxmlformats.org/officeDocument/2006/relationships/slideLayout" Target="../slideLayouts/slideLayout13.xml"/><Relationship Id="rId6" Type="http://schemas.openxmlformats.org/officeDocument/2006/relationships/hyperlink" Target="https://arxiv.org/abs/1909.08593" TargetMode="External"/><Relationship Id="rId5" Type="http://schemas.openxmlformats.org/officeDocument/2006/relationships/hyperlink" Target="https://arxiv.org/abs/1312.5602" TargetMode="External"/><Relationship Id="rId10" Type="http://schemas.openxmlformats.org/officeDocument/2006/relationships/image" Target="../media/image21.png"/><Relationship Id="rId4" Type="http://schemas.openxmlformats.org/officeDocument/2006/relationships/hyperlink" Target="https://login.cs.utexas.edu/sites/default/files/legacy_files/research/documents/1%20intro%20up%20to%20RL:TD.pdf" TargetMode="External"/><Relationship Id="rId9" Type="http://schemas.openxmlformats.org/officeDocument/2006/relationships/hyperlink" Target="https://arxiv.org/abs/1707.06347"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s://dl.acm.org/doi/abs/10.1145/3171221.3171289" TargetMode="External"/><Relationship Id="rId2" Type="http://schemas.openxmlformats.org/officeDocument/2006/relationships/notesSlide" Target="../notesSlides/notesSlide19.xml"/><Relationship Id="rId1" Type="http://schemas.openxmlformats.org/officeDocument/2006/relationships/slideLayout" Target="../slideLayouts/slideLayout13.xml"/><Relationship Id="rId5" Type="http://schemas.openxmlformats.org/officeDocument/2006/relationships/image" Target="../media/image23.png"/><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26.jp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26.jpg"/><Relationship Id="rId1" Type="http://schemas.openxmlformats.org/officeDocument/2006/relationships/slideLayout" Target="../slideLayouts/slideLayout12.xml"/><Relationship Id="rId4" Type="http://schemas.openxmlformats.org/officeDocument/2006/relationships/image" Target="../media/image25.jpg"/></Relationships>
</file>

<file path=ppt/slides/_rels/slide28.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26.jpg"/><Relationship Id="rId1" Type="http://schemas.openxmlformats.org/officeDocument/2006/relationships/slideLayout" Target="../slideLayouts/slideLayout12.xml"/><Relationship Id="rId4" Type="http://schemas.openxmlformats.org/officeDocument/2006/relationships/image" Target="../media/image25.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1.png"/><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34.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0.pn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31.png"/></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0.pn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31.png"/></Relationships>
</file>

<file path=ppt/slides/_rels/slide36.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32.png"/><Relationship Id="rId7" Type="http://schemas.openxmlformats.org/officeDocument/2006/relationships/image" Target="../media/image29.png"/><Relationship Id="rId2"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31.png"/><Relationship Id="rId4" Type="http://schemas.openxmlformats.org/officeDocument/2006/relationships/image" Target="../media/image33.png"/></Relationships>
</file>

<file path=ppt/slides/_rels/slide3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26.jpg"/><Relationship Id="rId1" Type="http://schemas.openxmlformats.org/officeDocument/2006/relationships/slideLayout" Target="../slideLayouts/slideLayout12.xml"/><Relationship Id="rId4" Type="http://schemas.openxmlformats.org/officeDocument/2006/relationships/image" Target="../media/image25.jpg"/></Relationships>
</file>

<file path=ppt/slides/_rels/slide39.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26.jpg"/><Relationship Id="rId1" Type="http://schemas.openxmlformats.org/officeDocument/2006/relationships/slideLayout" Target="../slideLayouts/slideLayout12.xml"/><Relationship Id="rId4" Type="http://schemas.openxmlformats.org/officeDocument/2006/relationships/image" Target="../media/image25.jpg"/></Relationships>
</file>

<file path=ppt/slides/_rels/slide4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8.jpg"/></Relationships>
</file>

<file path=ppt/slides/_rels/slide4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38.jpg"/><Relationship Id="rId5" Type="http://schemas.openxmlformats.org/officeDocument/2006/relationships/image" Target="../media/image40.png"/><Relationship Id="rId4" Type="http://schemas.openxmlformats.org/officeDocument/2006/relationships/image" Target="../media/image39.png"/></Relationships>
</file>

<file path=ppt/slides/_rels/slide44.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38.jpg"/><Relationship Id="rId5" Type="http://schemas.openxmlformats.org/officeDocument/2006/relationships/image" Target="../media/image40.png"/><Relationship Id="rId4" Type="http://schemas.openxmlformats.org/officeDocument/2006/relationships/image" Target="../media/image39.png"/></Relationships>
</file>

<file path=ppt/slides/_rels/slide45.xml.rels><?xml version="1.0" encoding="UTF-8" standalone="yes"?>
<Relationships xmlns="http://schemas.openxmlformats.org/package/2006/relationships"><Relationship Id="rId8" Type="http://schemas.openxmlformats.org/officeDocument/2006/relationships/image" Target="../media/image43.jpg"/><Relationship Id="rId3" Type="http://schemas.openxmlformats.org/officeDocument/2006/relationships/image" Target="../media/image41.png"/><Relationship Id="rId7" Type="http://schemas.openxmlformats.org/officeDocument/2006/relationships/image" Target="../media/image40.png"/><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39.png"/><Relationship Id="rId4" Type="http://schemas.openxmlformats.org/officeDocument/2006/relationships/image" Target="../media/image37.png"/></Relationships>
</file>

<file path=ppt/slides/_rels/slide46.xml.rels><?xml version="1.0" encoding="UTF-8" standalone="yes"?>
<Relationships xmlns="http://schemas.openxmlformats.org/package/2006/relationships"><Relationship Id="rId2" Type="http://schemas.openxmlformats.org/officeDocument/2006/relationships/image" Target="../media/image44.jpg"/><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6.xml"/></Relationships>
</file>

<file path=ppt/slides/_rels/slide5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7.png"/><Relationship Id="rId1" Type="http://schemas.openxmlformats.org/officeDocument/2006/relationships/slideLayout" Target="../slideLayouts/slideLayout17.xml"/></Relationships>
</file>

<file path=ppt/slides/_rels/slide5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7.png"/><Relationship Id="rId1" Type="http://schemas.openxmlformats.org/officeDocument/2006/relationships/slideLayout" Target="../slideLayouts/slideLayout17.xml"/></Relationships>
</file>

<file path=ppt/slides/_rels/slide5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7.png"/><Relationship Id="rId1" Type="http://schemas.openxmlformats.org/officeDocument/2006/relationships/slideLayout" Target="../slideLayouts/slideLayout17.xml"/><Relationship Id="rId4" Type="http://schemas.openxmlformats.org/officeDocument/2006/relationships/image" Target="../media/image48.png"/></Relationships>
</file>

<file path=ppt/slides/_rels/slide55.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51.png"/><Relationship Id="rId2" Type="http://schemas.openxmlformats.org/officeDocument/2006/relationships/image" Target="../media/image47.png"/><Relationship Id="rId1" Type="http://schemas.openxmlformats.org/officeDocument/2006/relationships/slideLayout" Target="../slideLayouts/slideLayout17.xml"/><Relationship Id="rId6" Type="http://schemas.openxmlformats.org/officeDocument/2006/relationships/image" Target="../media/image48.png"/><Relationship Id="rId5" Type="http://schemas.openxmlformats.org/officeDocument/2006/relationships/image" Target="../media/image46.png"/><Relationship Id="rId4" Type="http://schemas.openxmlformats.org/officeDocument/2006/relationships/image" Target="../media/image50.png"/></Relationships>
</file>

<file path=ppt/slides/_rels/slide56.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9.png"/><Relationship Id="rId7"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7.xml"/><Relationship Id="rId6" Type="http://schemas.openxmlformats.org/officeDocument/2006/relationships/image" Target="../media/image52.png"/><Relationship Id="rId5" Type="http://schemas.openxmlformats.org/officeDocument/2006/relationships/image" Target="../media/image46.png"/><Relationship Id="rId4" Type="http://schemas.openxmlformats.org/officeDocument/2006/relationships/image" Target="../media/image50.png"/></Relationships>
</file>

<file path=ppt/slides/_rels/slide57.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9.png"/><Relationship Id="rId7"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7.xml"/><Relationship Id="rId6" Type="http://schemas.openxmlformats.org/officeDocument/2006/relationships/image" Target="../media/image52.png"/><Relationship Id="rId5" Type="http://schemas.openxmlformats.org/officeDocument/2006/relationships/image" Target="../media/image46.png"/><Relationship Id="rId4" Type="http://schemas.openxmlformats.org/officeDocument/2006/relationships/image" Target="../media/image50.png"/></Relationships>
</file>

<file path=ppt/slides/_rels/slide58.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9.png"/><Relationship Id="rId7"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7.xml"/><Relationship Id="rId6" Type="http://schemas.openxmlformats.org/officeDocument/2006/relationships/image" Target="../media/image52.png"/><Relationship Id="rId5" Type="http://schemas.openxmlformats.org/officeDocument/2006/relationships/image" Target="../media/image46.png"/><Relationship Id="rId4" Type="http://schemas.openxmlformats.org/officeDocument/2006/relationships/image" Target="../media/image50.png"/><Relationship Id="rId9" Type="http://schemas.openxmlformats.org/officeDocument/2006/relationships/image" Target="../media/image53.png"/></Relationships>
</file>

<file path=ppt/slides/_rels/slide59.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9.png"/><Relationship Id="rId7"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7.xml"/><Relationship Id="rId6" Type="http://schemas.openxmlformats.org/officeDocument/2006/relationships/image" Target="../media/image52.png"/><Relationship Id="rId5" Type="http://schemas.openxmlformats.org/officeDocument/2006/relationships/image" Target="../media/image46.png"/><Relationship Id="rId4" Type="http://schemas.openxmlformats.org/officeDocument/2006/relationships/image" Target="../media/image50.png"/><Relationship Id="rId9" Type="http://schemas.openxmlformats.org/officeDocument/2006/relationships/image" Target="../media/image5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7.xml"/></Relationships>
</file>

<file path=ppt/slides/_rels/slide6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5.png"/><Relationship Id="rId1" Type="http://schemas.openxmlformats.org/officeDocument/2006/relationships/slideLayout" Target="../slideLayouts/slideLayout17.xml"/></Relationships>
</file>

<file path=ppt/slides/_rels/slide6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6.jpg"/><Relationship Id="rId1" Type="http://schemas.openxmlformats.org/officeDocument/2006/relationships/slideLayout" Target="../slideLayouts/slideLayout17.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4.png"/></Relationships>
</file>

<file path=ppt/slides/_rels/slide6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6.jpg"/><Relationship Id="rId1" Type="http://schemas.openxmlformats.org/officeDocument/2006/relationships/slideLayout" Target="../slideLayouts/slideLayout17.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4.png"/></Relationships>
</file>

<file path=ppt/slides/_rels/slide6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6.jpg"/><Relationship Id="rId1" Type="http://schemas.openxmlformats.org/officeDocument/2006/relationships/slideLayout" Target="../slideLayouts/slideLayout17.xml"/><Relationship Id="rId4" Type="http://schemas.openxmlformats.org/officeDocument/2006/relationships/image" Target="../media/image54.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0.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2" Type="http://schemas.openxmlformats.org/officeDocument/2006/relationships/image" Target="../media/image44.jpg"/><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6.xml"/><Relationship Id="rId1" Type="http://schemas.openxmlformats.org/officeDocument/2006/relationships/slideLayout" Target="../slideLayouts/slideLayout13.xml"/><Relationship Id="rId4" Type="http://schemas.openxmlformats.org/officeDocument/2006/relationships/image" Target="../media/image63.jpeg"/></Relationships>
</file>

<file path=ppt/slides/_rels/slide7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30.xml"/><Relationship Id="rId1" Type="http://schemas.openxmlformats.org/officeDocument/2006/relationships/slideLayout" Target="../slideLayouts/slideLayout13.xml"/><Relationship Id="rId4" Type="http://schemas.openxmlformats.org/officeDocument/2006/relationships/image" Target="../media/image67.png"/></Relationships>
</file>

<file path=ppt/slides/_rels/slide8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31.xml"/><Relationship Id="rId1" Type="http://schemas.openxmlformats.org/officeDocument/2006/relationships/slideLayout" Target="../slideLayouts/slideLayout13.xml"/><Relationship Id="rId4" Type="http://schemas.openxmlformats.org/officeDocument/2006/relationships/image" Target="../media/image68.png"/></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3" Type="http://schemas.openxmlformats.org/officeDocument/2006/relationships/hyperlink" Target="https://openai.com/research/faulty-reward-functions" TargetMode="External"/><Relationship Id="rId2" Type="http://schemas.openxmlformats.org/officeDocument/2006/relationships/notesSlide" Target="../notesSlides/notesSlide33.xml"/><Relationship Id="rId1" Type="http://schemas.openxmlformats.org/officeDocument/2006/relationships/slideLayout" Target="../slideLayouts/slideLayout13.xml"/><Relationship Id="rId5" Type="http://schemas.openxmlformats.org/officeDocument/2006/relationships/image" Target="../media/image70.gif"/><Relationship Id="rId4" Type="http://schemas.openxmlformats.org/officeDocument/2006/relationships/image" Target="../media/image69.png"/></Relationships>
</file>

<file path=ppt/slides/_rels/slide84.xml.rels><?xml version="1.0" encoding="UTF-8" standalone="yes"?>
<Relationships xmlns="http://schemas.openxmlformats.org/package/2006/relationships"><Relationship Id="rId3" Type="http://schemas.openxmlformats.org/officeDocument/2006/relationships/hyperlink" Target="https://news.ycombinator.com/item?id=34776508" TargetMode="External"/><Relationship Id="rId2" Type="http://schemas.openxmlformats.org/officeDocument/2006/relationships/notesSlide" Target="../notesSlides/notesSlide34.xml"/><Relationship Id="rId1" Type="http://schemas.openxmlformats.org/officeDocument/2006/relationships/slideLayout" Target="../slideLayouts/slideLayout13.xml"/><Relationship Id="rId5" Type="http://schemas.openxmlformats.org/officeDocument/2006/relationships/image" Target="../media/image72.png"/><Relationship Id="rId4" Type="http://schemas.openxmlformats.org/officeDocument/2006/relationships/image" Target="../media/image71.png"/></Relationships>
</file>

<file path=ppt/slides/_rels/slide85.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37.xml"/><Relationship Id="rId1" Type="http://schemas.openxmlformats.org/officeDocument/2006/relationships/slideLayout" Target="../slideLayouts/slideLayout14.xml"/></Relationships>
</file>

<file path=ppt/slides/_rels/slide88.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38.xml"/><Relationship Id="rId1" Type="http://schemas.openxmlformats.org/officeDocument/2006/relationships/slideLayout" Target="../slideLayouts/slideLayout14.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44.xml"/><Relationship Id="rId1" Type="http://schemas.openxmlformats.org/officeDocument/2006/relationships/slideLayout" Target="../slideLayouts/slideLayout13.xml"/><Relationship Id="rId4" Type="http://schemas.openxmlformats.org/officeDocument/2006/relationships/image" Target="../media/image81.png"/></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100.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47.xml"/><Relationship Id="rId1" Type="http://schemas.openxmlformats.org/officeDocument/2006/relationships/slideLayout" Target="../slideLayouts/slideLayout13.xml"/><Relationship Id="rId4" Type="http://schemas.openxmlformats.org/officeDocument/2006/relationships/image" Target="../media/image83.png"/></Relationships>
</file>

<file path=ppt/slides/_rels/slide101.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103.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106.xml.rels><?xml version="1.0" encoding="UTF-8" standalone="yes"?>
<Relationships xmlns="http://schemas.openxmlformats.org/package/2006/relationships"><Relationship Id="rId8" Type="http://schemas.openxmlformats.org/officeDocument/2006/relationships/hyperlink" Target="https://www.cs.princeton.edu/courses/archive/fall22/cos597G/lectures/lec18.pdf" TargetMode="External"/><Relationship Id="rId13" Type="http://schemas.openxmlformats.org/officeDocument/2006/relationships/hyperlink" Target="https://www.analyticsvidhya.com/blog/2020/05/what-is-tokenization-nlp/" TargetMode="External"/><Relationship Id="rId3" Type="http://schemas.openxmlformats.org/officeDocument/2006/relationships/hyperlink" Target="https://web.stanford.edu/class/cs224n/slides/cs224n-2022-lecture10-pretraining.pdf" TargetMode="External"/><Relationship Id="rId7" Type="http://schemas.openxmlformats.org/officeDocument/2006/relationships/hyperlink" Target="https://gist.github.com/rain-1/eebd5e5eb2784feecf450324e3341c8d" TargetMode="External"/><Relationship Id="rId12" Type="http://schemas.openxmlformats.org/officeDocument/2006/relationships/hyperlink" Target="https://uploads-ssl.webflow.com/5ac6b7f2924c656f2b13a88c/6435aabdc0a041194b243eef_Current%20Best%20Practices%20for%20Training%20LLMs%20from%20Scratch%20-%20Final.pdf" TargetMode="External"/><Relationship Id="rId2" Type="http://schemas.openxmlformats.org/officeDocument/2006/relationships/notesSlide" Target="../notesSlides/notesSlide53.xml"/><Relationship Id="rId16" Type="http://schemas.openxmlformats.org/officeDocument/2006/relationships/hyperlink" Target="https://openreview.net/forum?id=th63j8qHa6" TargetMode="External"/><Relationship Id="rId1" Type="http://schemas.openxmlformats.org/officeDocument/2006/relationships/slideLayout" Target="../slideLayouts/slideLayout13.xml"/><Relationship Id="rId6" Type="http://schemas.openxmlformats.org/officeDocument/2006/relationships/hyperlink" Target="https://www.databricks.com/dataaisummit/session/how-train-your-own-large-language-models/" TargetMode="External"/><Relationship Id="rId11" Type="http://schemas.openxmlformats.org/officeDocument/2006/relationships/hyperlink" Target="https://www.freecodecamp.org/news/train-algorithms-from-scratch-with-hugging-face/" TargetMode="External"/><Relationship Id="rId5" Type="http://schemas.openxmlformats.org/officeDocument/2006/relationships/hyperlink" Target="https://courses.grainger.illinois.edu/CS447/sp2023/Slides/Lecture27.pdf" TargetMode="External"/><Relationship Id="rId15" Type="http://schemas.openxmlformats.org/officeDocument/2006/relationships/hyperlink" Target="https://www.scribbledata.io/fine-tuning-large-language-models/" TargetMode="External"/><Relationship Id="rId10" Type="http://schemas.openxmlformats.org/officeDocument/2006/relationships/hyperlink" Target="http://www.phontron.com/slides/neubig23llms.pdf" TargetMode="External"/><Relationship Id="rId4" Type="http://schemas.openxmlformats.org/officeDocument/2006/relationships/hyperlink" Target="https://web.stanford.edu/class/cs224n/slides/cs224n-2023-lecture11-prompting-rlhf.pdf" TargetMode="External"/><Relationship Id="rId9" Type="http://schemas.openxmlformats.org/officeDocument/2006/relationships/hyperlink" Target="https://www.slideshare.net/SylvainGugger/fine-tuning-large-lms-243430468" TargetMode="External"/><Relationship Id="rId14" Type="http://schemas.openxmlformats.org/officeDocument/2006/relationships/hyperlink" Target="https://scholar.harvard.edu/binxuw/classes/machine-learning-scratch/materials/transformer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57625F-FFDB-0701-B73E-31CBCBD1B602}"/>
              </a:ext>
            </a:extLst>
          </p:cNvPr>
          <p:cNvSpPr>
            <a:spLocks noGrp="1"/>
          </p:cNvSpPr>
          <p:nvPr>
            <p:ph type="ctrTitle"/>
          </p:nvPr>
        </p:nvSpPr>
        <p:spPr>
          <a:xfrm>
            <a:off x="1524000" y="1122363"/>
            <a:ext cx="9555126" cy="2387600"/>
          </a:xfrm>
        </p:spPr>
        <p:txBody>
          <a:bodyPr>
            <a:normAutofit fontScale="90000"/>
          </a:bodyPr>
          <a:lstStyle/>
          <a:p>
            <a:r>
              <a:rPr lang="en-US" altLang="zh-CN" b="1" dirty="0">
                <a:latin typeface="Times New Roman" panose="02020603050405020304" pitchFamily="18" charset="0"/>
                <a:cs typeface="Times New Roman" panose="02020603050405020304" pitchFamily="18" charset="0"/>
              </a:rPr>
              <a:t>CSC6052/5051/4100/DDA6307/ MDS5110 </a:t>
            </a:r>
            <a:br>
              <a:rPr lang="en-US" altLang="zh-CN" b="1" dirty="0">
                <a:latin typeface="Times New Roman" panose="02020603050405020304" pitchFamily="18" charset="0"/>
                <a:cs typeface="Times New Roman" panose="02020603050405020304" pitchFamily="18" charset="0"/>
              </a:rPr>
            </a:br>
            <a:r>
              <a:rPr lang="en-US" altLang="zh-CN" b="1" dirty="0">
                <a:latin typeface="Times New Roman" panose="02020603050405020304" pitchFamily="18" charset="0"/>
                <a:cs typeface="Times New Roman" panose="02020603050405020304" pitchFamily="18" charset="0"/>
              </a:rPr>
              <a:t>Natural Language Processing</a:t>
            </a:r>
            <a:endParaRPr kumimoji="1" lang="zh-CN" altLang="en-US" b="1" dirty="0">
              <a:latin typeface="Times New Roman" panose="02020603050405020304" pitchFamily="18" charset="0"/>
              <a:cs typeface="Times New Roman" panose="02020603050405020304" pitchFamily="18" charset="0"/>
            </a:endParaRPr>
          </a:p>
        </p:txBody>
      </p:sp>
      <p:sp>
        <p:nvSpPr>
          <p:cNvPr id="3" name="副标题 2">
            <a:extLst>
              <a:ext uri="{FF2B5EF4-FFF2-40B4-BE49-F238E27FC236}">
                <a16:creationId xmlns:a16="http://schemas.microsoft.com/office/drawing/2014/main" id="{5B9CC006-2635-6469-CE7F-5AEE43C1908E}"/>
              </a:ext>
            </a:extLst>
          </p:cNvPr>
          <p:cNvSpPr>
            <a:spLocks noGrp="1"/>
          </p:cNvSpPr>
          <p:nvPr>
            <p:ph type="subTitle" idx="1"/>
          </p:nvPr>
        </p:nvSpPr>
        <p:spPr/>
        <p:txBody>
          <a:bodyPr>
            <a:normAutofit/>
          </a:bodyPr>
          <a:lstStyle/>
          <a:p>
            <a:r>
              <a:rPr kumimoji="1" lang="en-US" altLang="zh-CN" sz="4000" dirty="0">
                <a:solidFill>
                  <a:schemeClr val="tx2">
                    <a:lumMod val="50000"/>
                    <a:lumOff val="50000"/>
                  </a:schemeClr>
                </a:solidFill>
                <a:latin typeface="Times New Roman" panose="02020603050405020304" pitchFamily="18" charset="0"/>
                <a:cs typeface="Times New Roman" panose="02020603050405020304" pitchFamily="18" charset="0"/>
              </a:rPr>
              <a:t>Lecture 6-1: RLHF</a:t>
            </a:r>
            <a:endParaRPr kumimoji="1" lang="zh-CN" altLang="en-US" sz="4000" dirty="0">
              <a:solidFill>
                <a:schemeClr val="tx2">
                  <a:lumMod val="50000"/>
                  <a:lumOff val="50000"/>
                </a:schemeClr>
              </a:solidFill>
              <a:latin typeface="Times New Roman" panose="02020603050405020304" pitchFamily="18" charset="0"/>
              <a:cs typeface="Times New Roman" panose="02020603050405020304" pitchFamily="18" charset="0"/>
            </a:endParaRPr>
          </a:p>
        </p:txBody>
      </p:sp>
      <p:pic>
        <p:nvPicPr>
          <p:cNvPr id="4" name="Google Shape;378;p1">
            <a:extLst>
              <a:ext uri="{FF2B5EF4-FFF2-40B4-BE49-F238E27FC236}">
                <a16:creationId xmlns:a16="http://schemas.microsoft.com/office/drawing/2014/main" id="{1661E55C-9EDD-6409-D6A2-31512BAA6EA0}"/>
              </a:ext>
            </a:extLst>
          </p:cNvPr>
          <p:cNvPicPr preferRelativeResize="0"/>
          <p:nvPr/>
        </p:nvPicPr>
        <p:blipFill rotWithShape="1">
          <a:blip r:embed="rId2">
            <a:alphaModFix/>
          </a:blip>
          <a:srcRect/>
          <a:stretch/>
        </p:blipFill>
        <p:spPr>
          <a:xfrm>
            <a:off x="9539960" y="140257"/>
            <a:ext cx="2522194" cy="1247400"/>
          </a:xfrm>
          <a:prstGeom prst="rect">
            <a:avLst/>
          </a:prstGeom>
          <a:noFill/>
          <a:ln>
            <a:noFill/>
          </a:ln>
        </p:spPr>
      </p:pic>
      <p:sp>
        <p:nvSpPr>
          <p:cNvPr id="5" name="文本框 4">
            <a:extLst>
              <a:ext uri="{FF2B5EF4-FFF2-40B4-BE49-F238E27FC236}">
                <a16:creationId xmlns:a16="http://schemas.microsoft.com/office/drawing/2014/main" id="{46DF1335-DAA1-7BE1-7656-0D8C64095AE5}"/>
              </a:ext>
            </a:extLst>
          </p:cNvPr>
          <p:cNvSpPr txBox="1"/>
          <p:nvPr/>
        </p:nvSpPr>
        <p:spPr>
          <a:xfrm>
            <a:off x="4770534" y="5657671"/>
            <a:ext cx="3062057" cy="1200329"/>
          </a:xfrm>
          <a:prstGeom prst="rect">
            <a:avLst/>
          </a:prstGeom>
          <a:noFill/>
        </p:spPr>
        <p:txBody>
          <a:bodyPr wrap="none" rtlCol="0">
            <a:spAutoFit/>
          </a:bodyPr>
          <a:lstStyle/>
          <a:p>
            <a:pPr algn="ctr"/>
            <a:r>
              <a:rPr kumimoji="1" lang="en-US" altLang="zh-CN" sz="2400" dirty="0">
                <a:latin typeface="Times New Roman" panose="02020603050405020304" pitchFamily="18" charset="0"/>
                <a:cs typeface="Times New Roman" panose="02020603050405020304" pitchFamily="18" charset="0"/>
              </a:rPr>
              <a:t>Spring 2025</a:t>
            </a:r>
          </a:p>
          <a:p>
            <a:pPr algn="ctr"/>
            <a:r>
              <a:rPr kumimoji="1" lang="en-US" altLang="zh-CN" sz="2400" dirty="0" err="1">
                <a:latin typeface="Times New Roman" panose="02020603050405020304" pitchFamily="18" charset="0"/>
                <a:cs typeface="Times New Roman" panose="02020603050405020304" pitchFamily="18" charset="0"/>
              </a:rPr>
              <a:t>Benyou</a:t>
            </a:r>
            <a:r>
              <a:rPr kumimoji="1" lang="en-US" altLang="zh-CN" sz="2400" dirty="0">
                <a:latin typeface="Times New Roman" panose="02020603050405020304" pitchFamily="18" charset="0"/>
                <a:cs typeface="Times New Roman" panose="02020603050405020304" pitchFamily="18" charset="0"/>
              </a:rPr>
              <a:t> Wang</a:t>
            </a:r>
          </a:p>
          <a:p>
            <a:pPr algn="ctr"/>
            <a:r>
              <a:rPr kumimoji="1" lang="en-US" altLang="zh-CN" sz="2400" dirty="0">
                <a:latin typeface="Times New Roman" panose="02020603050405020304" pitchFamily="18" charset="0"/>
                <a:cs typeface="Times New Roman" panose="02020603050405020304" pitchFamily="18" charset="0"/>
              </a:rPr>
              <a:t>School of Data Science</a:t>
            </a:r>
            <a:endParaRPr kumimoji="1" lang="zh-C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27935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484F9-9E82-423A-9B36-7B855ADD4607}"/>
              </a:ext>
            </a:extLst>
          </p:cNvPr>
          <p:cNvSpPr>
            <a:spLocks noGrp="1"/>
          </p:cNvSpPr>
          <p:nvPr>
            <p:ph type="title"/>
          </p:nvPr>
        </p:nvSpPr>
        <p:spPr/>
        <p:txBody>
          <a:bodyPr/>
          <a:lstStyle/>
          <a:p>
            <a:r>
              <a:rPr lang="en-US" altLang="zh-CN" dirty="0"/>
              <a:t>Before Today’s lecture</a:t>
            </a:r>
            <a:endParaRPr lang="zh-CN" altLang="en-US" dirty="0"/>
          </a:p>
        </p:txBody>
      </p:sp>
      <p:pic>
        <p:nvPicPr>
          <p:cNvPr id="5" name="Content Placeholder 4">
            <a:extLst>
              <a:ext uri="{FF2B5EF4-FFF2-40B4-BE49-F238E27FC236}">
                <a16:creationId xmlns:a16="http://schemas.microsoft.com/office/drawing/2014/main" id="{DC66EBBB-CE00-4E7D-B237-702BB22087BC}"/>
              </a:ext>
            </a:extLst>
          </p:cNvPr>
          <p:cNvPicPr>
            <a:picLocks noGrp="1" noChangeAspect="1"/>
          </p:cNvPicPr>
          <p:nvPr>
            <p:ph idx="1"/>
          </p:nvPr>
        </p:nvPicPr>
        <p:blipFill>
          <a:blip r:embed="rId2"/>
          <a:stretch>
            <a:fillRect/>
          </a:stretch>
        </p:blipFill>
        <p:spPr>
          <a:xfrm>
            <a:off x="7504672" y="724199"/>
            <a:ext cx="3298794" cy="5571297"/>
          </a:xfrm>
        </p:spPr>
      </p:pic>
      <p:sp>
        <p:nvSpPr>
          <p:cNvPr id="6" name="Rectangle 5">
            <a:extLst>
              <a:ext uri="{FF2B5EF4-FFF2-40B4-BE49-F238E27FC236}">
                <a16:creationId xmlns:a16="http://schemas.microsoft.com/office/drawing/2014/main" id="{C39F9DEB-E373-4275-B076-D33038F17F10}"/>
              </a:ext>
            </a:extLst>
          </p:cNvPr>
          <p:cNvSpPr/>
          <p:nvPr/>
        </p:nvSpPr>
        <p:spPr>
          <a:xfrm>
            <a:off x="778933" y="2787471"/>
            <a:ext cx="6096000" cy="2031325"/>
          </a:xfrm>
          <a:prstGeom prst="rect">
            <a:avLst/>
          </a:prstGeom>
        </p:spPr>
        <p:txBody>
          <a:bodyPr>
            <a:spAutoFit/>
          </a:bodyPr>
          <a:lstStyle/>
          <a:p>
            <a:r>
              <a:rPr lang="en-US" altLang="zh-CN" dirty="0">
                <a:solidFill>
                  <a:srgbClr val="373737"/>
                </a:solidFill>
                <a:latin typeface="proxima-nova"/>
              </a:rPr>
              <a:t>NEW YORK, March 5, 2025 /PRNewswire/ -- ACM, the Association for Computing Machinery, today named </a:t>
            </a:r>
            <a:r>
              <a:rPr lang="en-US" altLang="zh-CN" b="1" dirty="0">
                <a:solidFill>
                  <a:srgbClr val="373737"/>
                </a:solidFill>
                <a:latin typeface="proxima-nova"/>
              </a:rPr>
              <a:t>Andrew G. </a:t>
            </a:r>
            <a:r>
              <a:rPr lang="en-US" altLang="zh-CN" b="1" dirty="0" err="1">
                <a:solidFill>
                  <a:srgbClr val="373737"/>
                </a:solidFill>
                <a:latin typeface="proxima-nova"/>
              </a:rPr>
              <a:t>Barto</a:t>
            </a:r>
            <a:r>
              <a:rPr lang="en-US" altLang="zh-CN" b="1" dirty="0">
                <a:solidFill>
                  <a:srgbClr val="373737"/>
                </a:solidFill>
                <a:latin typeface="proxima-nova"/>
              </a:rPr>
              <a:t> and Richard S. Sutton</a:t>
            </a:r>
            <a:r>
              <a:rPr lang="en-US" altLang="zh-CN" dirty="0">
                <a:solidFill>
                  <a:srgbClr val="373737"/>
                </a:solidFill>
                <a:latin typeface="proxima-nova"/>
              </a:rPr>
              <a:t> as the recipients of the 2024 ACM A.M. as they are </a:t>
            </a:r>
            <a:r>
              <a:rPr lang="en-US" altLang="zh-CN" b="1" dirty="0"/>
              <a:t>Recognized as Pioneers of Reinforcement Learning  </a:t>
            </a:r>
            <a:endParaRPr lang="en-US" altLang="zh-CN" dirty="0"/>
          </a:p>
          <a:p>
            <a:br>
              <a:rPr lang="en-US" altLang="zh-CN" dirty="0"/>
            </a:br>
            <a:endParaRPr lang="zh-CN" altLang="en-US" dirty="0"/>
          </a:p>
        </p:txBody>
      </p:sp>
    </p:spTree>
    <p:extLst>
      <p:ext uri="{BB962C8B-B14F-4D97-AF65-F5344CB8AC3E}">
        <p14:creationId xmlns:p14="http://schemas.microsoft.com/office/powerpoint/2010/main" val="24602560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2"/>
          <p:cNvSpPr txBox="1">
            <a:spLocks noGrp="1"/>
          </p:cNvSpPr>
          <p:nvPr>
            <p:ph type="title"/>
          </p:nvPr>
        </p:nvSpPr>
        <p:spPr>
          <a:xfrm>
            <a:off x="2364441" y="2917585"/>
            <a:ext cx="3794800" cy="969062"/>
          </a:xfrm>
          <a:prstGeom prst="rect">
            <a:avLst/>
          </a:prstGeom>
          <a:noFill/>
          <a:ln>
            <a:noFill/>
          </a:ln>
        </p:spPr>
        <p:txBody>
          <a:bodyPr spcFirstLastPara="1" vert="horz" wrap="square" lIns="0" tIns="12333" rIns="0" bIns="0" rtlCol="0" anchor="ctr" anchorCtr="0">
            <a:spAutoFit/>
          </a:bodyPr>
          <a:lstStyle/>
          <a:p>
            <a:pPr marL="16933">
              <a:lnSpc>
                <a:spcPct val="100000"/>
              </a:lnSpc>
              <a:spcBef>
                <a:spcPts val="133"/>
              </a:spcBef>
            </a:pPr>
            <a:r>
              <a:rPr lang="en-GB">
                <a:latin typeface="Times New Roman"/>
                <a:ea typeface="Times New Roman"/>
                <a:cs typeface="Times New Roman"/>
                <a:sym typeface="Times New Roman"/>
              </a:rPr>
              <a:t>To recap…</a:t>
            </a:r>
            <a:endParaRPr>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7"/>
          <p:cNvSpPr txBox="1">
            <a:spLocks noGrp="1"/>
          </p:cNvSpPr>
          <p:nvPr>
            <p:ph type="title"/>
          </p:nvPr>
        </p:nvSpPr>
        <p:spPr>
          <a:xfrm>
            <a:off x="415600" y="593367"/>
            <a:ext cx="11360800" cy="1222800"/>
          </a:xfrm>
          <a:prstGeom prst="rect">
            <a:avLst/>
          </a:prstGeom>
          <a:noFill/>
          <a:ln>
            <a:noFill/>
          </a:ln>
        </p:spPr>
        <p:txBody>
          <a:bodyPr spcFirstLastPara="1" vert="horz" wrap="square" lIns="121900" tIns="121900" rIns="121900" bIns="121900" rtlCol="0" anchor="t" anchorCtr="0">
            <a:normAutofit/>
          </a:bodyPr>
          <a:lstStyle/>
          <a:p>
            <a:pPr algn="ctr"/>
            <a:r>
              <a:rPr lang="en-US" altLang="zh-CN" sz="4000">
                <a:latin typeface="Times New Roman"/>
                <a:ea typeface="Times New Roman"/>
                <a:cs typeface="Times New Roman"/>
                <a:sym typeface="Times New Roman"/>
              </a:rPr>
              <a:t>Steps of LLM training</a:t>
            </a:r>
            <a:endParaRPr sz="4000">
              <a:latin typeface="Times New Roman"/>
              <a:ea typeface="Times New Roman"/>
              <a:cs typeface="Times New Roman"/>
              <a:sym typeface="Times New Roman"/>
            </a:endParaRPr>
          </a:p>
        </p:txBody>
      </p:sp>
      <p:sp>
        <p:nvSpPr>
          <p:cNvPr id="90" name="Google Shape;90;p7"/>
          <p:cNvSpPr/>
          <p:nvPr/>
        </p:nvSpPr>
        <p:spPr>
          <a:xfrm>
            <a:off x="2114500" y="5156200"/>
            <a:ext cx="2133600" cy="1222800"/>
          </a:xfrm>
          <a:prstGeom prst="roundRect">
            <a:avLst>
              <a:gd name="adj" fmla="val 16667"/>
            </a:avLst>
          </a:prstGeom>
          <a:solidFill>
            <a:srgbClr val="D9EAD3"/>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SzPts val="1400"/>
            </a:pPr>
            <a:r>
              <a:rPr lang="en-US" altLang="zh-CN" sz="1867">
                <a:solidFill>
                  <a:srgbClr val="000000"/>
                </a:solidFill>
                <a:latin typeface="Arial"/>
                <a:ea typeface="Arial"/>
                <a:cs typeface="Arial"/>
                <a:sym typeface="Arial"/>
              </a:rPr>
              <a:t>Tokenizer Training</a:t>
            </a:r>
            <a:endParaRPr sz="1867">
              <a:solidFill>
                <a:srgbClr val="000000"/>
              </a:solidFill>
              <a:latin typeface="Arial"/>
              <a:ea typeface="Arial"/>
              <a:cs typeface="Arial"/>
              <a:sym typeface="Arial"/>
            </a:endParaRPr>
          </a:p>
        </p:txBody>
      </p:sp>
      <p:sp>
        <p:nvSpPr>
          <p:cNvPr id="91" name="Google Shape;91;p7"/>
          <p:cNvSpPr/>
          <p:nvPr/>
        </p:nvSpPr>
        <p:spPr>
          <a:xfrm>
            <a:off x="4552900" y="5156200"/>
            <a:ext cx="2133600" cy="1222800"/>
          </a:xfrm>
          <a:prstGeom prst="roundRect">
            <a:avLst>
              <a:gd name="adj" fmla="val 16667"/>
            </a:avLst>
          </a:prstGeom>
          <a:solidFill>
            <a:srgbClr val="D9EAD3"/>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SzPts val="1400"/>
            </a:pPr>
            <a:r>
              <a:rPr lang="en-US" altLang="zh-CN" sz="1867">
                <a:solidFill>
                  <a:srgbClr val="000000"/>
                </a:solidFill>
                <a:latin typeface="Arial"/>
                <a:ea typeface="Arial"/>
                <a:cs typeface="Arial"/>
                <a:sym typeface="Arial"/>
              </a:rPr>
              <a:t>Self-supervised Pre-training</a:t>
            </a:r>
            <a:endParaRPr sz="1867">
              <a:solidFill>
                <a:srgbClr val="000000"/>
              </a:solidFill>
              <a:latin typeface="Arial"/>
              <a:ea typeface="Arial"/>
              <a:cs typeface="Arial"/>
              <a:sym typeface="Arial"/>
            </a:endParaRPr>
          </a:p>
        </p:txBody>
      </p:sp>
      <p:sp>
        <p:nvSpPr>
          <p:cNvPr id="92" name="Google Shape;92;p7"/>
          <p:cNvSpPr/>
          <p:nvPr/>
        </p:nvSpPr>
        <p:spPr>
          <a:xfrm>
            <a:off x="6991300" y="5156200"/>
            <a:ext cx="2133600" cy="1222800"/>
          </a:xfrm>
          <a:prstGeom prst="roundRect">
            <a:avLst>
              <a:gd name="adj" fmla="val 16667"/>
            </a:avLst>
          </a:prstGeom>
          <a:solidFill>
            <a:srgbClr val="D9EAD3"/>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SzPts val="1400"/>
            </a:pPr>
            <a:r>
              <a:rPr lang="en-US" altLang="zh-CN" sz="1867">
                <a:solidFill>
                  <a:srgbClr val="000000"/>
                </a:solidFill>
                <a:latin typeface="Arial"/>
                <a:ea typeface="Arial"/>
                <a:cs typeface="Arial"/>
                <a:sym typeface="Arial"/>
              </a:rPr>
              <a:t>Instruction Finetuning</a:t>
            </a:r>
            <a:endParaRPr sz="1867">
              <a:solidFill>
                <a:srgbClr val="000000"/>
              </a:solidFill>
              <a:latin typeface="Arial"/>
              <a:ea typeface="Arial"/>
              <a:cs typeface="Arial"/>
              <a:sym typeface="Arial"/>
            </a:endParaRPr>
          </a:p>
        </p:txBody>
      </p:sp>
      <p:sp>
        <p:nvSpPr>
          <p:cNvPr id="93" name="Google Shape;93;p7"/>
          <p:cNvSpPr/>
          <p:nvPr/>
        </p:nvSpPr>
        <p:spPr>
          <a:xfrm>
            <a:off x="9429700" y="5156200"/>
            <a:ext cx="2451200" cy="1222800"/>
          </a:xfrm>
          <a:prstGeom prst="roundRect">
            <a:avLst>
              <a:gd name="adj" fmla="val 16667"/>
            </a:avLst>
          </a:prstGeom>
          <a:solidFill>
            <a:srgbClr val="D9EAD3"/>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SzPts val="1400"/>
            </a:pPr>
            <a:r>
              <a:rPr lang="en-US" altLang="zh-CN" sz="1867">
                <a:solidFill>
                  <a:srgbClr val="000000"/>
                </a:solidFill>
                <a:latin typeface="Arial"/>
                <a:ea typeface="Arial"/>
                <a:cs typeface="Arial"/>
                <a:sym typeface="Arial"/>
              </a:rPr>
              <a:t>Reinforcement Learning from Human Feedback</a:t>
            </a:r>
            <a:endParaRPr sz="1867">
              <a:solidFill>
                <a:srgbClr val="000000"/>
              </a:solidFill>
              <a:latin typeface="Arial"/>
              <a:ea typeface="Arial"/>
              <a:cs typeface="Arial"/>
              <a:sym typeface="Arial"/>
            </a:endParaRPr>
          </a:p>
        </p:txBody>
      </p:sp>
      <p:cxnSp>
        <p:nvCxnSpPr>
          <p:cNvPr id="94" name="Google Shape;94;p7"/>
          <p:cNvCxnSpPr>
            <a:stCxn id="90" idx="3"/>
            <a:endCxn id="91" idx="1"/>
          </p:cNvCxnSpPr>
          <p:nvPr/>
        </p:nvCxnSpPr>
        <p:spPr>
          <a:xfrm>
            <a:off x="4248100" y="5767600"/>
            <a:ext cx="304800" cy="0"/>
          </a:xfrm>
          <a:prstGeom prst="straightConnector1">
            <a:avLst/>
          </a:prstGeom>
          <a:noFill/>
          <a:ln w="9525" cap="flat" cmpd="sng">
            <a:solidFill>
              <a:schemeClr val="dk2"/>
            </a:solidFill>
            <a:prstDash val="solid"/>
            <a:round/>
            <a:headEnd type="none" w="sm" len="sm"/>
            <a:tailEnd type="triangle" w="med" len="med"/>
          </a:ln>
        </p:spPr>
      </p:cxnSp>
      <p:cxnSp>
        <p:nvCxnSpPr>
          <p:cNvPr id="95" name="Google Shape;95;p7"/>
          <p:cNvCxnSpPr>
            <a:stCxn id="91" idx="3"/>
            <a:endCxn id="92" idx="1"/>
          </p:cNvCxnSpPr>
          <p:nvPr/>
        </p:nvCxnSpPr>
        <p:spPr>
          <a:xfrm>
            <a:off x="6686500" y="5767600"/>
            <a:ext cx="304800" cy="0"/>
          </a:xfrm>
          <a:prstGeom prst="straightConnector1">
            <a:avLst/>
          </a:prstGeom>
          <a:noFill/>
          <a:ln w="9525" cap="flat" cmpd="sng">
            <a:solidFill>
              <a:schemeClr val="dk2"/>
            </a:solidFill>
            <a:prstDash val="solid"/>
            <a:round/>
            <a:headEnd type="none" w="sm" len="sm"/>
            <a:tailEnd type="triangle" w="med" len="med"/>
          </a:ln>
        </p:spPr>
      </p:cxnSp>
      <p:cxnSp>
        <p:nvCxnSpPr>
          <p:cNvPr id="96" name="Google Shape;96;p7"/>
          <p:cNvCxnSpPr>
            <a:stCxn id="92" idx="3"/>
            <a:endCxn id="93" idx="1"/>
          </p:cNvCxnSpPr>
          <p:nvPr/>
        </p:nvCxnSpPr>
        <p:spPr>
          <a:xfrm>
            <a:off x="9124900" y="5767600"/>
            <a:ext cx="304800" cy="0"/>
          </a:xfrm>
          <a:prstGeom prst="straightConnector1">
            <a:avLst/>
          </a:prstGeom>
          <a:noFill/>
          <a:ln w="9525" cap="flat" cmpd="sng">
            <a:solidFill>
              <a:schemeClr val="dk2"/>
            </a:solidFill>
            <a:prstDash val="solid"/>
            <a:round/>
            <a:headEnd type="none" w="sm" len="sm"/>
            <a:tailEnd type="triangle" w="med" len="med"/>
          </a:ln>
        </p:spPr>
      </p:cxnSp>
      <p:pic>
        <p:nvPicPr>
          <p:cNvPr id="97" name="Google Shape;97;p7" descr="Cartoon Robot coloring page | Free Printable Coloring Pages"/>
          <p:cNvPicPr preferRelativeResize="0"/>
          <p:nvPr/>
        </p:nvPicPr>
        <p:blipFill rotWithShape="1">
          <a:blip r:embed="rId3">
            <a:alphaModFix/>
          </a:blip>
          <a:srcRect/>
          <a:stretch/>
        </p:blipFill>
        <p:spPr>
          <a:xfrm>
            <a:off x="415601" y="4878634"/>
            <a:ext cx="1264300" cy="1777933"/>
          </a:xfrm>
          <a:prstGeom prst="rect">
            <a:avLst/>
          </a:prstGeom>
          <a:noFill/>
          <a:ln>
            <a:noFill/>
          </a:ln>
        </p:spPr>
      </p:pic>
      <p:pic>
        <p:nvPicPr>
          <p:cNvPr id="98" name="Google Shape;98;p7" descr="The Making of a Cartoonish Character [Basic] | MediBang Paint - the free  digital painting and manga creation software"/>
          <p:cNvPicPr preferRelativeResize="0"/>
          <p:nvPr/>
        </p:nvPicPr>
        <p:blipFill rotWithShape="1">
          <a:blip r:embed="rId4">
            <a:alphaModFix/>
          </a:blip>
          <a:srcRect/>
          <a:stretch/>
        </p:blipFill>
        <p:spPr>
          <a:xfrm>
            <a:off x="53966" y="1304918"/>
            <a:ext cx="1987567" cy="1987567"/>
          </a:xfrm>
          <a:prstGeom prst="rect">
            <a:avLst/>
          </a:prstGeom>
          <a:noFill/>
          <a:ln>
            <a:noFill/>
          </a:ln>
        </p:spPr>
      </p:pic>
      <p:sp>
        <p:nvSpPr>
          <p:cNvPr id="99" name="Google Shape;99;p7"/>
          <p:cNvSpPr/>
          <p:nvPr/>
        </p:nvSpPr>
        <p:spPr>
          <a:xfrm>
            <a:off x="2114500" y="1687300"/>
            <a:ext cx="2133600" cy="1222800"/>
          </a:xfrm>
          <a:prstGeom prst="roundRect">
            <a:avLst>
              <a:gd name="adj" fmla="val 16667"/>
            </a:avLst>
          </a:prstGeom>
          <a:solidFill>
            <a:srgbClr val="FFE599"/>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SzPts val="1400"/>
            </a:pPr>
            <a:r>
              <a:rPr lang="en-US" altLang="zh-CN" sz="1867">
                <a:solidFill>
                  <a:srgbClr val="000000"/>
                </a:solidFill>
                <a:latin typeface="Arial"/>
                <a:ea typeface="Arial"/>
                <a:cs typeface="Arial"/>
                <a:sym typeface="Arial"/>
              </a:rPr>
              <a:t>Recognize</a:t>
            </a:r>
            <a:endParaRPr sz="1867">
              <a:solidFill>
                <a:srgbClr val="000000"/>
              </a:solidFill>
              <a:latin typeface="Arial"/>
              <a:ea typeface="Arial"/>
              <a:cs typeface="Arial"/>
              <a:sym typeface="Arial"/>
            </a:endParaRPr>
          </a:p>
          <a:p>
            <a:pPr algn="ctr">
              <a:buClr>
                <a:srgbClr val="000000"/>
              </a:buClr>
              <a:buSzPts val="1400"/>
            </a:pPr>
            <a:r>
              <a:rPr lang="en-US" altLang="zh-CN" sz="1867">
                <a:solidFill>
                  <a:srgbClr val="000000"/>
                </a:solidFill>
                <a:latin typeface="Arial"/>
                <a:ea typeface="Arial"/>
                <a:cs typeface="Arial"/>
                <a:sym typeface="Arial"/>
              </a:rPr>
              <a:t>Words</a:t>
            </a:r>
            <a:endParaRPr sz="1867">
              <a:solidFill>
                <a:srgbClr val="000000"/>
              </a:solidFill>
              <a:latin typeface="Arial"/>
              <a:ea typeface="Arial"/>
              <a:cs typeface="Arial"/>
              <a:sym typeface="Arial"/>
            </a:endParaRPr>
          </a:p>
        </p:txBody>
      </p:sp>
      <p:sp>
        <p:nvSpPr>
          <p:cNvPr id="100" name="Google Shape;100;p7"/>
          <p:cNvSpPr/>
          <p:nvPr/>
        </p:nvSpPr>
        <p:spPr>
          <a:xfrm>
            <a:off x="4552900" y="1687300"/>
            <a:ext cx="2133600" cy="1222800"/>
          </a:xfrm>
          <a:prstGeom prst="roundRect">
            <a:avLst>
              <a:gd name="adj" fmla="val 16667"/>
            </a:avLst>
          </a:prstGeom>
          <a:solidFill>
            <a:srgbClr val="FFE599"/>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SzPts val="1400"/>
            </a:pPr>
            <a:r>
              <a:rPr lang="en-US" altLang="zh-CN" sz="1867">
                <a:solidFill>
                  <a:srgbClr val="000000"/>
                </a:solidFill>
                <a:latin typeface="Arial"/>
                <a:ea typeface="Arial"/>
                <a:cs typeface="Arial"/>
                <a:sym typeface="Arial"/>
              </a:rPr>
              <a:t>TextBook Reading</a:t>
            </a:r>
            <a:endParaRPr sz="1867">
              <a:solidFill>
                <a:srgbClr val="000000"/>
              </a:solidFill>
              <a:latin typeface="Arial"/>
              <a:ea typeface="Arial"/>
              <a:cs typeface="Arial"/>
              <a:sym typeface="Arial"/>
            </a:endParaRPr>
          </a:p>
        </p:txBody>
      </p:sp>
      <p:sp>
        <p:nvSpPr>
          <p:cNvPr id="101" name="Google Shape;101;p7"/>
          <p:cNvSpPr/>
          <p:nvPr/>
        </p:nvSpPr>
        <p:spPr>
          <a:xfrm>
            <a:off x="6991300" y="1687300"/>
            <a:ext cx="2133600" cy="1222800"/>
          </a:xfrm>
          <a:prstGeom prst="roundRect">
            <a:avLst>
              <a:gd name="adj" fmla="val 16667"/>
            </a:avLst>
          </a:prstGeom>
          <a:solidFill>
            <a:srgbClr val="FFE599"/>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SzPts val="1400"/>
            </a:pPr>
            <a:r>
              <a:rPr lang="en-US" altLang="zh-CN" sz="1867">
                <a:solidFill>
                  <a:srgbClr val="000000"/>
                </a:solidFill>
                <a:latin typeface="Arial"/>
                <a:ea typeface="Arial"/>
                <a:cs typeface="Arial"/>
                <a:sym typeface="Arial"/>
              </a:rPr>
              <a:t>Doing Exercises</a:t>
            </a:r>
            <a:endParaRPr sz="1867">
              <a:solidFill>
                <a:srgbClr val="000000"/>
              </a:solidFill>
              <a:latin typeface="Arial"/>
              <a:ea typeface="Arial"/>
              <a:cs typeface="Arial"/>
              <a:sym typeface="Arial"/>
            </a:endParaRPr>
          </a:p>
        </p:txBody>
      </p:sp>
      <p:sp>
        <p:nvSpPr>
          <p:cNvPr id="102" name="Google Shape;102;p7"/>
          <p:cNvSpPr/>
          <p:nvPr/>
        </p:nvSpPr>
        <p:spPr>
          <a:xfrm>
            <a:off x="9429700" y="1687300"/>
            <a:ext cx="2451200" cy="1222800"/>
          </a:xfrm>
          <a:prstGeom prst="roundRect">
            <a:avLst>
              <a:gd name="adj" fmla="val 16667"/>
            </a:avLst>
          </a:prstGeom>
          <a:solidFill>
            <a:srgbClr val="FFE599"/>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SzPts val="1400"/>
            </a:pPr>
            <a:r>
              <a:rPr lang="en-US" altLang="zh-CN" sz="1867">
                <a:solidFill>
                  <a:srgbClr val="000000"/>
                </a:solidFill>
                <a:latin typeface="Arial"/>
                <a:ea typeface="Arial"/>
                <a:cs typeface="Arial"/>
                <a:sym typeface="Arial"/>
              </a:rPr>
              <a:t>Teachers’ feedback</a:t>
            </a:r>
            <a:endParaRPr sz="1867">
              <a:solidFill>
                <a:srgbClr val="000000"/>
              </a:solidFill>
              <a:latin typeface="Arial"/>
              <a:ea typeface="Arial"/>
              <a:cs typeface="Arial"/>
              <a:sym typeface="Arial"/>
            </a:endParaRPr>
          </a:p>
        </p:txBody>
      </p:sp>
      <p:cxnSp>
        <p:nvCxnSpPr>
          <p:cNvPr id="103" name="Google Shape;103;p7"/>
          <p:cNvCxnSpPr>
            <a:stCxn id="99" idx="3"/>
            <a:endCxn id="100" idx="1"/>
          </p:cNvCxnSpPr>
          <p:nvPr/>
        </p:nvCxnSpPr>
        <p:spPr>
          <a:xfrm>
            <a:off x="4248100" y="2298700"/>
            <a:ext cx="304800" cy="0"/>
          </a:xfrm>
          <a:prstGeom prst="straightConnector1">
            <a:avLst/>
          </a:prstGeom>
          <a:noFill/>
          <a:ln w="9525" cap="flat" cmpd="sng">
            <a:solidFill>
              <a:schemeClr val="dk2"/>
            </a:solidFill>
            <a:prstDash val="solid"/>
            <a:round/>
            <a:headEnd type="none" w="sm" len="sm"/>
            <a:tailEnd type="triangle" w="med" len="med"/>
          </a:ln>
        </p:spPr>
      </p:cxnSp>
      <p:cxnSp>
        <p:nvCxnSpPr>
          <p:cNvPr id="104" name="Google Shape;104;p7"/>
          <p:cNvCxnSpPr>
            <a:stCxn id="100" idx="3"/>
            <a:endCxn id="101" idx="1"/>
          </p:cNvCxnSpPr>
          <p:nvPr/>
        </p:nvCxnSpPr>
        <p:spPr>
          <a:xfrm>
            <a:off x="6686500" y="2298700"/>
            <a:ext cx="304800" cy="0"/>
          </a:xfrm>
          <a:prstGeom prst="straightConnector1">
            <a:avLst/>
          </a:prstGeom>
          <a:noFill/>
          <a:ln w="9525" cap="flat" cmpd="sng">
            <a:solidFill>
              <a:schemeClr val="dk2"/>
            </a:solidFill>
            <a:prstDash val="solid"/>
            <a:round/>
            <a:headEnd type="none" w="sm" len="sm"/>
            <a:tailEnd type="triangle" w="med" len="med"/>
          </a:ln>
        </p:spPr>
      </p:cxnSp>
      <p:cxnSp>
        <p:nvCxnSpPr>
          <p:cNvPr id="105" name="Google Shape;105;p7"/>
          <p:cNvCxnSpPr>
            <a:stCxn id="101" idx="3"/>
            <a:endCxn id="102" idx="1"/>
          </p:cNvCxnSpPr>
          <p:nvPr/>
        </p:nvCxnSpPr>
        <p:spPr>
          <a:xfrm>
            <a:off x="9124900" y="2298700"/>
            <a:ext cx="304800" cy="0"/>
          </a:xfrm>
          <a:prstGeom prst="straightConnector1">
            <a:avLst/>
          </a:prstGeom>
          <a:noFill/>
          <a:ln w="9525" cap="flat" cmpd="sng">
            <a:solidFill>
              <a:schemeClr val="dk2"/>
            </a:solidFill>
            <a:prstDash val="solid"/>
            <a:round/>
            <a:headEnd type="none" w="sm" len="sm"/>
            <a:tailEnd type="triangle" w="med" len="med"/>
          </a:ln>
        </p:spPr>
      </p:cxnSp>
      <p:pic>
        <p:nvPicPr>
          <p:cNvPr id="106" name="Google Shape;106;p7"/>
          <p:cNvPicPr preferRelativeResize="0"/>
          <p:nvPr/>
        </p:nvPicPr>
        <p:blipFill rotWithShape="1">
          <a:blip r:embed="rId5">
            <a:alphaModFix/>
          </a:blip>
          <a:srcRect/>
          <a:stretch/>
        </p:blipFill>
        <p:spPr>
          <a:xfrm>
            <a:off x="2231367" y="3083201"/>
            <a:ext cx="1899868" cy="1899868"/>
          </a:xfrm>
          <a:prstGeom prst="rect">
            <a:avLst/>
          </a:prstGeom>
          <a:noFill/>
          <a:ln>
            <a:noFill/>
          </a:ln>
        </p:spPr>
      </p:pic>
      <p:pic>
        <p:nvPicPr>
          <p:cNvPr id="107" name="Google Shape;107;p7"/>
          <p:cNvPicPr preferRelativeResize="0"/>
          <p:nvPr/>
        </p:nvPicPr>
        <p:blipFill rotWithShape="1">
          <a:blip r:embed="rId6">
            <a:alphaModFix/>
          </a:blip>
          <a:srcRect/>
          <a:stretch/>
        </p:blipFill>
        <p:spPr>
          <a:xfrm>
            <a:off x="4795100" y="3240049"/>
            <a:ext cx="1899867" cy="1424871"/>
          </a:xfrm>
          <a:prstGeom prst="rect">
            <a:avLst/>
          </a:prstGeom>
          <a:noFill/>
          <a:ln>
            <a:noFill/>
          </a:ln>
        </p:spPr>
      </p:pic>
      <p:pic>
        <p:nvPicPr>
          <p:cNvPr id="108" name="Google Shape;108;p7"/>
          <p:cNvPicPr preferRelativeResize="0"/>
          <p:nvPr/>
        </p:nvPicPr>
        <p:blipFill rotWithShape="1">
          <a:blip r:embed="rId7">
            <a:alphaModFix/>
          </a:blip>
          <a:srcRect/>
          <a:stretch/>
        </p:blipFill>
        <p:spPr>
          <a:xfrm>
            <a:off x="7466127" y="3190150"/>
            <a:ext cx="1183939" cy="1686017"/>
          </a:xfrm>
          <a:prstGeom prst="rect">
            <a:avLst/>
          </a:prstGeom>
          <a:noFill/>
          <a:ln>
            <a:noFill/>
          </a:ln>
        </p:spPr>
      </p:pic>
      <p:pic>
        <p:nvPicPr>
          <p:cNvPr id="109" name="Google Shape;109;p7"/>
          <p:cNvPicPr preferRelativeResize="0"/>
          <p:nvPr/>
        </p:nvPicPr>
        <p:blipFill rotWithShape="1">
          <a:blip r:embed="rId8">
            <a:alphaModFix/>
          </a:blip>
          <a:srcRect/>
          <a:stretch/>
        </p:blipFill>
        <p:spPr>
          <a:xfrm>
            <a:off x="9364934" y="3144183"/>
            <a:ext cx="2666900" cy="177793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10"/>
          <p:cNvSpPr txBox="1">
            <a:spLocks noGrp="1"/>
          </p:cNvSpPr>
          <p:nvPr>
            <p:ph type="title"/>
          </p:nvPr>
        </p:nvSpPr>
        <p:spPr>
          <a:xfrm>
            <a:off x="415600" y="352067"/>
            <a:ext cx="11360800" cy="763600"/>
          </a:xfrm>
          <a:prstGeom prst="rect">
            <a:avLst/>
          </a:prstGeom>
          <a:noFill/>
          <a:ln>
            <a:noFill/>
          </a:ln>
        </p:spPr>
        <p:txBody>
          <a:bodyPr spcFirstLastPara="1" vert="horz" wrap="square" lIns="121900" tIns="121900" rIns="121900" bIns="121900" rtlCol="0" anchor="t" anchorCtr="0">
            <a:normAutofit fontScale="90000"/>
          </a:bodyPr>
          <a:lstStyle/>
          <a:p>
            <a:pPr>
              <a:buSzPct val="111111"/>
            </a:pPr>
            <a:r>
              <a:rPr lang="zh-CN">
                <a:latin typeface="Times New Roman"/>
                <a:ea typeface="Times New Roman"/>
                <a:cs typeface="Times New Roman"/>
                <a:sym typeface="Times New Roman"/>
              </a:rPr>
              <a:t>Tokenization</a:t>
            </a:r>
            <a:endParaRPr>
              <a:latin typeface="Times New Roman"/>
              <a:ea typeface="Times New Roman"/>
              <a:cs typeface="Times New Roman"/>
              <a:sym typeface="Times New Roman"/>
            </a:endParaRPr>
          </a:p>
        </p:txBody>
      </p:sp>
      <p:pic>
        <p:nvPicPr>
          <p:cNvPr id="128" name="Google Shape;128;p10"/>
          <p:cNvPicPr preferRelativeResize="0"/>
          <p:nvPr/>
        </p:nvPicPr>
        <p:blipFill rotWithShape="1">
          <a:blip r:embed="rId3">
            <a:alphaModFix/>
          </a:blip>
          <a:srcRect/>
          <a:stretch/>
        </p:blipFill>
        <p:spPr>
          <a:xfrm>
            <a:off x="1885933" y="1189367"/>
            <a:ext cx="8281864" cy="547796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22"/>
          <p:cNvSpPr txBox="1">
            <a:spLocks noGrp="1"/>
          </p:cNvSpPr>
          <p:nvPr>
            <p:ph type="title"/>
          </p:nvPr>
        </p:nvSpPr>
        <p:spPr>
          <a:xfrm>
            <a:off x="415600" y="593367"/>
            <a:ext cx="11360800" cy="763600"/>
          </a:xfrm>
          <a:prstGeom prst="rect">
            <a:avLst/>
          </a:prstGeom>
          <a:noFill/>
          <a:ln>
            <a:noFill/>
          </a:ln>
        </p:spPr>
        <p:txBody>
          <a:bodyPr spcFirstLastPara="1" vert="horz" wrap="square" lIns="121900" tIns="121900" rIns="121900" bIns="121900" rtlCol="0" anchor="t" anchorCtr="0">
            <a:normAutofit fontScale="90000"/>
          </a:bodyPr>
          <a:lstStyle/>
          <a:p>
            <a:pPr>
              <a:buSzPct val="111111"/>
            </a:pPr>
            <a:r>
              <a:rPr lang="zh-CN">
                <a:latin typeface="Times New Roman"/>
                <a:ea typeface="Times New Roman"/>
                <a:cs typeface="Times New Roman"/>
                <a:sym typeface="Times New Roman"/>
              </a:rPr>
              <a:t>Pretraining for three types of architectures</a:t>
            </a:r>
            <a:endParaRPr>
              <a:latin typeface="Times New Roman"/>
              <a:ea typeface="Times New Roman"/>
              <a:cs typeface="Times New Roman"/>
              <a:sym typeface="Times New Roman"/>
            </a:endParaRPr>
          </a:p>
        </p:txBody>
      </p:sp>
      <p:sp>
        <p:nvSpPr>
          <p:cNvPr id="220" name="Google Shape;220;p22"/>
          <p:cNvSpPr txBox="1">
            <a:spLocks noGrp="1"/>
          </p:cNvSpPr>
          <p:nvPr>
            <p:ph type="body" idx="1"/>
          </p:nvPr>
        </p:nvSpPr>
        <p:spPr>
          <a:xfrm>
            <a:off x="415600" y="1356967"/>
            <a:ext cx="11360800" cy="4555200"/>
          </a:xfrm>
          <a:prstGeom prst="rect">
            <a:avLst/>
          </a:prstGeom>
          <a:noFill/>
          <a:ln>
            <a:noFill/>
          </a:ln>
        </p:spPr>
        <p:txBody>
          <a:bodyPr spcFirstLastPara="1" vert="horz" wrap="square" lIns="121900" tIns="121900" rIns="121900" bIns="121900" rtlCol="0" anchor="t" anchorCtr="0">
            <a:normAutofit/>
          </a:bodyPr>
          <a:lstStyle/>
          <a:p>
            <a:pPr marL="0" indent="0">
              <a:spcAft>
                <a:spcPts val="1600"/>
              </a:spcAft>
              <a:buNone/>
            </a:pPr>
            <a:r>
              <a:rPr lang="zh-CN">
                <a:solidFill>
                  <a:schemeClr val="dk1"/>
                </a:solidFill>
                <a:latin typeface="Times New Roman"/>
                <a:ea typeface="Times New Roman"/>
                <a:cs typeface="Times New Roman"/>
                <a:sym typeface="Times New Roman"/>
              </a:rPr>
              <a:t>The neural architecture influences the type of pretraining, and natural use cases.</a:t>
            </a:r>
            <a:endParaRPr>
              <a:solidFill>
                <a:schemeClr val="dk1"/>
              </a:solidFill>
              <a:latin typeface="Times New Roman"/>
              <a:ea typeface="Times New Roman"/>
              <a:cs typeface="Times New Roman"/>
              <a:sym typeface="Times New Roman"/>
            </a:endParaRPr>
          </a:p>
        </p:txBody>
      </p:sp>
      <p:pic>
        <p:nvPicPr>
          <p:cNvPr id="221" name="Google Shape;221;p22"/>
          <p:cNvPicPr preferRelativeResize="0"/>
          <p:nvPr/>
        </p:nvPicPr>
        <p:blipFill rotWithShape="1">
          <a:blip r:embed="rId3">
            <a:alphaModFix/>
          </a:blip>
          <a:srcRect/>
          <a:stretch/>
        </p:blipFill>
        <p:spPr>
          <a:xfrm>
            <a:off x="1066800" y="2048767"/>
            <a:ext cx="10058397" cy="466576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51"/>
          <p:cNvSpPr txBox="1">
            <a:spLocks noGrp="1"/>
          </p:cNvSpPr>
          <p:nvPr>
            <p:ph type="title"/>
          </p:nvPr>
        </p:nvSpPr>
        <p:spPr>
          <a:xfrm>
            <a:off x="415600" y="593367"/>
            <a:ext cx="11360800" cy="763600"/>
          </a:xfrm>
          <a:prstGeom prst="rect">
            <a:avLst/>
          </a:prstGeom>
          <a:noFill/>
          <a:ln>
            <a:noFill/>
          </a:ln>
        </p:spPr>
        <p:txBody>
          <a:bodyPr spcFirstLastPara="1" vert="horz" wrap="square" lIns="121900" tIns="121900" rIns="121900" bIns="121900" rtlCol="0" anchor="t" anchorCtr="0">
            <a:normAutofit fontScale="90000"/>
          </a:bodyPr>
          <a:lstStyle/>
          <a:p>
            <a:pPr>
              <a:buSzPct val="111111"/>
            </a:pPr>
            <a:r>
              <a:rPr lang="zh-CN">
                <a:latin typeface="Times New Roman"/>
                <a:ea typeface="Times New Roman"/>
                <a:cs typeface="Times New Roman"/>
                <a:sym typeface="Times New Roman"/>
              </a:rPr>
              <a:t>Instruction Finetuning Hypothesis</a:t>
            </a:r>
            <a:endParaRPr>
              <a:latin typeface="Times New Roman"/>
              <a:ea typeface="Times New Roman"/>
              <a:cs typeface="Times New Roman"/>
              <a:sym typeface="Times New Roman"/>
            </a:endParaRPr>
          </a:p>
        </p:txBody>
      </p:sp>
      <p:sp>
        <p:nvSpPr>
          <p:cNvPr id="416" name="Google Shape;416;p51"/>
          <p:cNvSpPr txBox="1">
            <a:spLocks noGrp="1"/>
          </p:cNvSpPr>
          <p:nvPr>
            <p:ph type="body" idx="1"/>
          </p:nvPr>
        </p:nvSpPr>
        <p:spPr>
          <a:xfrm>
            <a:off x="415600" y="1536633"/>
            <a:ext cx="11360800" cy="4555200"/>
          </a:xfrm>
          <a:prstGeom prst="rect">
            <a:avLst/>
          </a:prstGeom>
          <a:noFill/>
          <a:ln>
            <a:noFill/>
          </a:ln>
        </p:spPr>
        <p:txBody>
          <a:bodyPr spcFirstLastPara="1" vert="horz" wrap="square" lIns="121900" tIns="121900" rIns="121900" bIns="121900" rtlCol="0" anchor="t" anchorCtr="0">
            <a:normAutofit/>
          </a:bodyPr>
          <a:lstStyle/>
          <a:p>
            <a:pPr indent="-482588">
              <a:buClr>
                <a:schemeClr val="dk1"/>
              </a:buClr>
              <a:buSzPts val="2100"/>
            </a:pPr>
            <a:r>
              <a:rPr lang="en-US" altLang="zh-CN" b="1">
                <a:solidFill>
                  <a:schemeClr val="dk1"/>
                </a:solidFill>
                <a:latin typeface="Times New Roman"/>
                <a:ea typeface="Times New Roman"/>
                <a:cs typeface="Times New Roman"/>
                <a:sym typeface="Times New Roman"/>
              </a:rPr>
              <a:t>Superficial Alignment Hypothesis:</a:t>
            </a:r>
            <a:r>
              <a:rPr lang="zh-CN" altLang="en-US">
                <a:solidFill>
                  <a:schemeClr val="dk1"/>
                </a:solidFill>
                <a:latin typeface="Times New Roman"/>
                <a:ea typeface="Times New Roman"/>
                <a:cs typeface="Times New Roman"/>
                <a:sym typeface="Times New Roman"/>
              </a:rPr>
              <a:t> </a:t>
            </a:r>
            <a:endParaRPr>
              <a:solidFill>
                <a:schemeClr val="dk1"/>
              </a:solidFill>
              <a:latin typeface="Times New Roman"/>
              <a:ea typeface="Times New Roman"/>
              <a:cs typeface="Times New Roman"/>
              <a:sym typeface="Times New Roman"/>
            </a:endParaRPr>
          </a:p>
          <a:p>
            <a:pPr marL="0" indent="609585">
              <a:spcBef>
                <a:spcPts val="1600"/>
              </a:spcBef>
              <a:buNone/>
            </a:pPr>
            <a:r>
              <a:rPr lang="en-US" altLang="zh-CN" sz="2667">
                <a:solidFill>
                  <a:schemeClr val="dk1"/>
                </a:solidFill>
                <a:latin typeface="Times New Roman"/>
                <a:ea typeface="Times New Roman"/>
                <a:cs typeface="Times New Roman"/>
                <a:sym typeface="Times New Roman"/>
              </a:rPr>
              <a:t>task recognition (mostly knowledge agnostic, e.g., abstract extraction)</a:t>
            </a:r>
            <a:endParaRPr sz="2667">
              <a:solidFill>
                <a:schemeClr val="dk1"/>
              </a:solidFill>
              <a:latin typeface="Times New Roman"/>
              <a:ea typeface="Times New Roman"/>
              <a:cs typeface="Times New Roman"/>
              <a:sym typeface="Times New Roman"/>
            </a:endParaRPr>
          </a:p>
          <a:p>
            <a:pPr indent="-482588">
              <a:spcBef>
                <a:spcPts val="1600"/>
              </a:spcBef>
              <a:buClr>
                <a:schemeClr val="dk1"/>
              </a:buClr>
              <a:buSzPts val="2100"/>
            </a:pPr>
            <a:r>
              <a:rPr lang="en-US" altLang="zh-CN" b="1">
                <a:solidFill>
                  <a:schemeClr val="dk1"/>
                </a:solidFill>
                <a:latin typeface="Times New Roman"/>
                <a:ea typeface="Times New Roman"/>
                <a:cs typeface="Times New Roman"/>
                <a:sym typeface="Times New Roman"/>
              </a:rPr>
              <a:t>Knowledge Injection Hypothesis:</a:t>
            </a:r>
            <a:r>
              <a:rPr lang="zh-CN" altLang="en-US">
                <a:solidFill>
                  <a:schemeClr val="dk1"/>
                </a:solidFill>
                <a:latin typeface="Times New Roman"/>
                <a:ea typeface="Times New Roman"/>
                <a:cs typeface="Times New Roman"/>
                <a:sym typeface="Times New Roman"/>
              </a:rPr>
              <a:t> </a:t>
            </a:r>
            <a:endParaRPr>
              <a:solidFill>
                <a:schemeClr val="dk1"/>
              </a:solidFill>
              <a:latin typeface="Times New Roman"/>
              <a:ea typeface="Times New Roman"/>
              <a:cs typeface="Times New Roman"/>
              <a:sym typeface="Times New Roman"/>
            </a:endParaRPr>
          </a:p>
          <a:p>
            <a:pPr indent="0">
              <a:spcBef>
                <a:spcPts val="1600"/>
              </a:spcBef>
              <a:buNone/>
            </a:pPr>
            <a:r>
              <a:rPr lang="en-US" altLang="zh-CN" sz="2667">
                <a:solidFill>
                  <a:schemeClr val="dk1"/>
                </a:solidFill>
                <a:latin typeface="Times New Roman"/>
                <a:ea typeface="Times New Roman"/>
                <a:cs typeface="Times New Roman"/>
                <a:sym typeface="Times New Roman"/>
              </a:rPr>
              <a:t>task learning (mostly knowledge intensive, e.g., question-answering)</a:t>
            </a:r>
            <a:endParaRPr sz="2667">
              <a:solidFill>
                <a:schemeClr val="dk1"/>
              </a:solidFill>
              <a:latin typeface="Times New Roman"/>
              <a:ea typeface="Times New Roman"/>
              <a:cs typeface="Times New Roman"/>
              <a:sym typeface="Times New Roman"/>
            </a:endParaRPr>
          </a:p>
          <a:p>
            <a:pPr indent="-482588">
              <a:spcBef>
                <a:spcPts val="1600"/>
              </a:spcBef>
              <a:buClr>
                <a:schemeClr val="dk1"/>
              </a:buClr>
              <a:buSzPts val="2100"/>
            </a:pPr>
            <a:r>
              <a:rPr lang="en-US" altLang="zh-CN" b="1">
                <a:solidFill>
                  <a:schemeClr val="dk1"/>
                </a:solidFill>
                <a:latin typeface="Times New Roman"/>
                <a:ea typeface="Times New Roman"/>
                <a:cs typeface="Times New Roman"/>
                <a:sym typeface="Times New Roman"/>
              </a:rPr>
              <a:t>Flan Hypothesis:</a:t>
            </a:r>
            <a:r>
              <a:rPr lang="zh-CN" altLang="en-US">
                <a:solidFill>
                  <a:schemeClr val="dk1"/>
                </a:solidFill>
                <a:latin typeface="Times New Roman"/>
                <a:ea typeface="Times New Roman"/>
                <a:cs typeface="Times New Roman"/>
                <a:sym typeface="Times New Roman"/>
              </a:rPr>
              <a:t> </a:t>
            </a:r>
            <a:endParaRPr>
              <a:solidFill>
                <a:schemeClr val="dk1"/>
              </a:solidFill>
              <a:latin typeface="Times New Roman"/>
              <a:ea typeface="Times New Roman"/>
              <a:cs typeface="Times New Roman"/>
              <a:sym typeface="Times New Roman"/>
            </a:endParaRPr>
          </a:p>
          <a:p>
            <a:pPr indent="0">
              <a:spcBef>
                <a:spcPts val="1600"/>
              </a:spcBef>
              <a:spcAft>
                <a:spcPts val="1600"/>
              </a:spcAft>
              <a:buNone/>
            </a:pPr>
            <a:r>
              <a:rPr lang="en-US" altLang="zh-CN" sz="2667">
                <a:solidFill>
                  <a:schemeClr val="dk1"/>
                </a:solidFill>
                <a:latin typeface="Times New Roman"/>
                <a:ea typeface="Times New Roman"/>
                <a:cs typeface="Times New Roman"/>
                <a:sym typeface="Times New Roman"/>
              </a:rPr>
              <a:t>task generalization</a:t>
            </a:r>
            <a:endParaRPr sz="2667">
              <a:solidFill>
                <a:schemeClr val="dk1"/>
              </a:solidFill>
              <a:latin typeface="Times New Roman"/>
              <a:ea typeface="Times New Roman"/>
              <a:cs typeface="Times New Roman"/>
              <a:sym typeface="Times New Roman"/>
            </a:endParaRPr>
          </a:p>
        </p:txBody>
      </p:sp>
      <p:sp>
        <p:nvSpPr>
          <p:cNvPr id="417" name="Google Shape;417;p51"/>
          <p:cNvSpPr txBox="1"/>
          <p:nvPr/>
        </p:nvSpPr>
        <p:spPr>
          <a:xfrm>
            <a:off x="1536600" y="6159500"/>
            <a:ext cx="9118800" cy="533600"/>
          </a:xfrm>
          <a:prstGeom prst="rect">
            <a:avLst/>
          </a:prstGeom>
          <a:noFill/>
          <a:ln>
            <a:noFill/>
          </a:ln>
        </p:spPr>
        <p:txBody>
          <a:bodyPr spcFirstLastPara="1" wrap="square" lIns="121900" tIns="121900" rIns="121900" bIns="121900" anchor="t" anchorCtr="0">
            <a:noAutofit/>
          </a:bodyPr>
          <a:lstStyle/>
          <a:p>
            <a:pPr>
              <a:buClr>
                <a:srgbClr val="000000"/>
              </a:buClr>
              <a:buSzPts val="1000"/>
            </a:pPr>
            <a:r>
              <a:rPr lang="en-US" altLang="zh-CN" sz="1333">
                <a:solidFill>
                  <a:schemeClr val="accent3"/>
                </a:solidFill>
                <a:highlight>
                  <a:srgbClr val="FFFFFF"/>
                </a:highlight>
                <a:latin typeface="Times New Roman"/>
                <a:ea typeface="Times New Roman"/>
                <a:cs typeface="Times New Roman"/>
                <a:sym typeface="Times New Roman"/>
              </a:rPr>
              <a:t>Zhou, Chunting, et al. "Lima: Less is more for alignment." arXiv preprint arXiv:2305.11206 (2023).</a:t>
            </a:r>
            <a:endParaRPr sz="1333">
              <a:solidFill>
                <a:schemeClr val="accent3"/>
              </a:solidFill>
              <a:highlight>
                <a:srgbClr val="FFFFFF"/>
              </a:highlight>
              <a:latin typeface="Times New Roman"/>
              <a:ea typeface="Times New Roman"/>
              <a:cs typeface="Times New Roman"/>
              <a:sym typeface="Times New Roman"/>
            </a:endParaRPr>
          </a:p>
          <a:p>
            <a:pPr>
              <a:buClr>
                <a:srgbClr val="000000"/>
              </a:buClr>
              <a:buSzPts val="1000"/>
            </a:pPr>
            <a:r>
              <a:rPr lang="en-US" altLang="zh-CN" sz="1333">
                <a:solidFill>
                  <a:schemeClr val="accent3"/>
                </a:solidFill>
                <a:highlight>
                  <a:srgbClr val="FFFFFF"/>
                </a:highlight>
                <a:latin typeface="Times New Roman"/>
                <a:ea typeface="Times New Roman"/>
                <a:cs typeface="Times New Roman"/>
                <a:sym typeface="Times New Roman"/>
              </a:rPr>
              <a:t>Wei, Jason, et al. "Finetuned language models are zero-shot learners." arXiv preprint arXiv:2109.01652 (2021).</a:t>
            </a:r>
            <a:endParaRPr sz="1333">
              <a:solidFill>
                <a:schemeClr val="accent3"/>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4"/>
          <p:cNvSpPr txBox="1">
            <a:spLocks noGrp="1"/>
          </p:cNvSpPr>
          <p:nvPr>
            <p:ph type="title"/>
          </p:nvPr>
        </p:nvSpPr>
        <p:spPr>
          <a:xfrm>
            <a:off x="415600" y="593367"/>
            <a:ext cx="11360800" cy="763600"/>
          </a:xfrm>
          <a:prstGeom prst="rect">
            <a:avLst/>
          </a:prstGeom>
          <a:noFill/>
          <a:ln>
            <a:noFill/>
          </a:ln>
        </p:spPr>
        <p:txBody>
          <a:bodyPr spcFirstLastPara="1" vert="horz" wrap="square" lIns="121900" tIns="121900" rIns="121900" bIns="121900" rtlCol="0" anchor="t" anchorCtr="0">
            <a:normAutofit fontScale="90000"/>
          </a:bodyPr>
          <a:lstStyle/>
          <a:p>
            <a:pPr>
              <a:buSzPct val="111111"/>
            </a:pPr>
            <a:r>
              <a:rPr lang="en-US" altLang="zh-CN" dirty="0">
                <a:solidFill>
                  <a:srgbClr val="FF0000"/>
                </a:solidFill>
                <a:latin typeface="Times New Roman"/>
                <a:ea typeface="Times New Roman"/>
                <a:cs typeface="Times New Roman"/>
                <a:sym typeface="Times New Roman"/>
              </a:rPr>
              <a:t>Stages of  LLM training</a:t>
            </a:r>
            <a:endParaRPr dirty="0">
              <a:solidFill>
                <a:srgbClr val="FF0000"/>
              </a:solidFill>
              <a:latin typeface="Times New Roman"/>
              <a:ea typeface="Times New Roman"/>
              <a:cs typeface="Times New Roman"/>
              <a:sym typeface="Times New Roman"/>
            </a:endParaRPr>
          </a:p>
        </p:txBody>
      </p:sp>
      <p:sp>
        <p:nvSpPr>
          <p:cNvPr id="73" name="Google Shape;73;p4"/>
          <p:cNvSpPr txBox="1">
            <a:spLocks noGrp="1"/>
          </p:cNvSpPr>
          <p:nvPr>
            <p:ph type="body" idx="1"/>
          </p:nvPr>
        </p:nvSpPr>
        <p:spPr>
          <a:xfrm>
            <a:off x="415600" y="1536633"/>
            <a:ext cx="11360800" cy="4555200"/>
          </a:xfrm>
          <a:prstGeom prst="rect">
            <a:avLst/>
          </a:prstGeom>
          <a:noFill/>
          <a:ln>
            <a:noFill/>
          </a:ln>
        </p:spPr>
        <p:txBody>
          <a:bodyPr spcFirstLastPara="1" vert="horz" wrap="square" lIns="121900" tIns="121900" rIns="121900" bIns="121900" rtlCol="0" anchor="t" anchorCtr="0">
            <a:normAutofit/>
          </a:bodyPr>
          <a:lstStyle/>
          <a:p>
            <a:pPr marL="152396" indent="0">
              <a:buClr>
                <a:schemeClr val="dk1"/>
              </a:buClr>
              <a:buNone/>
            </a:pPr>
            <a:r>
              <a:rPr lang="zh-CN" dirty="0">
                <a:solidFill>
                  <a:schemeClr val="dk1"/>
                </a:solidFill>
                <a:latin typeface="Times New Roman"/>
                <a:ea typeface="Times New Roman"/>
                <a:cs typeface="Times New Roman"/>
                <a:sym typeface="Times New Roman"/>
              </a:rPr>
              <a:t>LLM training</a:t>
            </a:r>
            <a:endParaRPr dirty="0">
              <a:solidFill>
                <a:schemeClr val="dk1"/>
              </a:solidFill>
              <a:latin typeface="Times New Roman"/>
              <a:ea typeface="Times New Roman"/>
              <a:cs typeface="Times New Roman"/>
              <a:sym typeface="Times New Roman"/>
            </a:endParaRPr>
          </a:p>
          <a:p>
            <a:pPr lvl="1" indent="-457189">
              <a:buClr>
                <a:schemeClr val="dk1"/>
              </a:buClr>
              <a:buSzPts val="1800"/>
              <a:buFont typeface="Times New Roman"/>
              <a:buAutoNum type="alphaLcPeriod"/>
            </a:pPr>
            <a:r>
              <a:rPr lang="en-US" altLang="zh-CN" dirty="0">
                <a:solidFill>
                  <a:schemeClr val="dk1"/>
                </a:solidFill>
                <a:latin typeface="Times New Roman"/>
                <a:ea typeface="Times New Roman"/>
                <a:cs typeface="Times New Roman"/>
                <a:sym typeface="Times New Roman"/>
              </a:rPr>
              <a:t>LLM Pretraining (including Word Tokenization)</a:t>
            </a:r>
            <a:endParaRPr dirty="0">
              <a:solidFill>
                <a:schemeClr val="dk1"/>
              </a:solidFill>
              <a:latin typeface="Times New Roman"/>
              <a:ea typeface="Times New Roman"/>
              <a:cs typeface="Times New Roman"/>
              <a:sym typeface="Times New Roman"/>
            </a:endParaRPr>
          </a:p>
          <a:p>
            <a:pPr lvl="1" indent="-457189">
              <a:buClr>
                <a:schemeClr val="dk1"/>
              </a:buClr>
              <a:buSzPts val="1800"/>
              <a:buFont typeface="Times New Roman"/>
              <a:buAutoNum type="alphaLcPeriod"/>
            </a:pPr>
            <a:r>
              <a:rPr lang="en-US" altLang="zh-CN" dirty="0">
                <a:solidFill>
                  <a:schemeClr val="dk1"/>
                </a:solidFill>
                <a:latin typeface="Times New Roman"/>
                <a:ea typeface="Times New Roman"/>
                <a:cs typeface="Times New Roman"/>
                <a:sym typeface="Times New Roman"/>
              </a:rPr>
              <a:t>Instruction Finetuning</a:t>
            </a:r>
            <a:endParaRPr dirty="0">
              <a:solidFill>
                <a:schemeClr val="dk1"/>
              </a:solidFill>
              <a:latin typeface="Times New Roman"/>
              <a:ea typeface="Times New Roman"/>
              <a:cs typeface="Times New Roman"/>
              <a:sym typeface="Times New Roman"/>
            </a:endParaRPr>
          </a:p>
          <a:p>
            <a:pPr lvl="1" indent="-457189">
              <a:buClr>
                <a:schemeClr val="dk1"/>
              </a:buClr>
              <a:buSzPts val="1800"/>
              <a:buFont typeface="Times New Roman"/>
              <a:buAutoNum type="alphaLcPeriod"/>
            </a:pPr>
            <a:r>
              <a:rPr lang="en-US" altLang="zh-CN" b="1" dirty="0">
                <a:solidFill>
                  <a:schemeClr val="dk1"/>
                </a:solidFill>
                <a:latin typeface="Times New Roman"/>
                <a:ea typeface="Times New Roman"/>
                <a:cs typeface="Times New Roman"/>
                <a:sym typeface="Times New Roman"/>
              </a:rPr>
              <a:t>Reinforcement Learning from Human Feedback</a:t>
            </a:r>
            <a:endParaRPr b="1" dirty="0">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4"/>
          <p:cNvSpPr txBox="1">
            <a:spLocks noGrp="1"/>
          </p:cNvSpPr>
          <p:nvPr>
            <p:ph type="title"/>
          </p:nvPr>
        </p:nvSpPr>
        <p:spPr>
          <a:xfrm>
            <a:off x="415600" y="593367"/>
            <a:ext cx="11360800" cy="763600"/>
          </a:xfrm>
          <a:prstGeom prst="rect">
            <a:avLst/>
          </a:prstGeom>
          <a:noFill/>
          <a:ln>
            <a:noFill/>
          </a:ln>
        </p:spPr>
        <p:txBody>
          <a:bodyPr spcFirstLastPara="1" vert="horz" wrap="square" lIns="121900" tIns="121900" rIns="121900" bIns="121900" rtlCol="0" anchor="t" anchorCtr="0">
            <a:normAutofit fontScale="90000"/>
          </a:bodyPr>
          <a:lstStyle/>
          <a:p>
            <a:pPr>
              <a:buSzPct val="111111"/>
            </a:pPr>
            <a:r>
              <a:rPr lang="zh-CN" dirty="0">
                <a:solidFill>
                  <a:srgbClr val="FF0000"/>
                </a:solidFill>
                <a:latin typeface="Times New Roman"/>
                <a:ea typeface="Times New Roman"/>
                <a:cs typeface="Times New Roman"/>
                <a:sym typeface="Times New Roman"/>
              </a:rPr>
              <a:t>Outline</a:t>
            </a:r>
            <a:endParaRPr dirty="0">
              <a:solidFill>
                <a:srgbClr val="FF0000"/>
              </a:solidFill>
              <a:latin typeface="Times New Roman"/>
              <a:ea typeface="Times New Roman"/>
              <a:cs typeface="Times New Roman"/>
              <a:sym typeface="Times New Roman"/>
            </a:endParaRPr>
          </a:p>
        </p:txBody>
      </p:sp>
      <p:sp>
        <p:nvSpPr>
          <p:cNvPr id="73" name="Google Shape;73;p4"/>
          <p:cNvSpPr txBox="1">
            <a:spLocks noGrp="1"/>
          </p:cNvSpPr>
          <p:nvPr>
            <p:ph type="body" idx="1"/>
          </p:nvPr>
        </p:nvSpPr>
        <p:spPr>
          <a:xfrm>
            <a:off x="415600" y="1536633"/>
            <a:ext cx="11360800" cy="4555200"/>
          </a:xfrm>
          <a:prstGeom prst="rect">
            <a:avLst/>
          </a:prstGeom>
          <a:noFill/>
          <a:ln>
            <a:noFill/>
          </a:ln>
        </p:spPr>
        <p:txBody>
          <a:bodyPr spcFirstLastPara="1" vert="horz" wrap="square" lIns="121900" tIns="121900" rIns="121900" bIns="121900" rtlCol="0" anchor="t" anchorCtr="0">
            <a:normAutofit/>
          </a:bodyPr>
          <a:lstStyle/>
          <a:p>
            <a:pPr>
              <a:buClr>
                <a:schemeClr val="dk1"/>
              </a:buClr>
              <a:buFont typeface="Times New Roman"/>
              <a:buAutoNum type="arabicPeriod"/>
            </a:pPr>
            <a:r>
              <a:rPr lang="zh-CN" dirty="0">
                <a:solidFill>
                  <a:schemeClr val="dk1"/>
                </a:solidFill>
                <a:latin typeface="Times New Roman"/>
                <a:ea typeface="Times New Roman"/>
                <a:cs typeface="Times New Roman"/>
                <a:sym typeface="Times New Roman"/>
              </a:rPr>
              <a:t>LL</a:t>
            </a:r>
            <a:endParaRPr lang="zh-CN" altLang="en-US" dirty="0">
              <a:solidFill>
                <a:schemeClr val="dk1"/>
              </a:solidFill>
              <a:latin typeface="Times New Roman"/>
              <a:ea typeface="Times New Roman"/>
              <a:cs typeface="Times New Roman"/>
              <a:sym typeface="Times New Roman"/>
            </a:endParaRPr>
          </a:p>
          <a:p>
            <a:pPr lvl="1" indent="-457189">
              <a:buClr>
                <a:schemeClr val="dk1"/>
              </a:buClr>
              <a:buSzPts val="1800"/>
              <a:buFont typeface="Times New Roman"/>
              <a:buAutoNum type="alphaLcPeriod"/>
            </a:pPr>
            <a:r>
              <a:rPr lang="en-US" altLang="zh-CN" dirty="0">
                <a:solidFill>
                  <a:schemeClr val="dk1"/>
                </a:solidFill>
                <a:latin typeface="Times New Roman"/>
                <a:ea typeface="Times New Roman"/>
                <a:cs typeface="Times New Roman"/>
                <a:sym typeface="Times New Roman"/>
              </a:rPr>
              <a:t>LLM Pretraining (including Word Tokenization)</a:t>
            </a:r>
            <a:endParaRPr lang="en-US"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1010016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502" name="Google Shape;502;p66"/>
          <p:cNvSpPr txBox="1">
            <a:spLocks noGrp="1"/>
          </p:cNvSpPr>
          <p:nvPr>
            <p:ph type="title" idx="4294967295"/>
          </p:nvPr>
        </p:nvSpPr>
        <p:spPr>
          <a:xfrm>
            <a:off x="780000" y="526167"/>
            <a:ext cx="10632000" cy="4267615"/>
          </a:xfrm>
          <a:prstGeom prst="rect">
            <a:avLst/>
          </a:prstGeom>
          <a:noFill/>
          <a:ln>
            <a:noFill/>
          </a:ln>
        </p:spPr>
        <p:txBody>
          <a:bodyPr spcFirstLastPara="1" vert="horz" wrap="square" lIns="0" tIns="19467" rIns="0" bIns="0" rtlCol="0" anchor="t" anchorCtr="0">
            <a:spAutoFit/>
          </a:bodyPr>
          <a:lstStyle/>
          <a:p>
            <a:pPr marL="16933" algn="ctr">
              <a:buSzPts val="1100"/>
            </a:pPr>
            <a:r>
              <a:rPr lang="en" sz="3067" dirty="0">
                <a:solidFill>
                  <a:srgbClr val="000000"/>
                </a:solidFill>
                <a:latin typeface="Lato"/>
                <a:ea typeface="Lato"/>
                <a:cs typeface="Lato"/>
                <a:sym typeface="Lato"/>
              </a:rPr>
              <a:t>Stage 3: RLHF</a:t>
            </a:r>
            <a:endParaRPr sz="3067" dirty="0">
              <a:solidFill>
                <a:srgbClr val="000000"/>
              </a:solidFill>
              <a:latin typeface="Lato"/>
              <a:ea typeface="Lato"/>
              <a:cs typeface="Lato"/>
              <a:sym typeface="Lato"/>
            </a:endParaRPr>
          </a:p>
          <a:p>
            <a:pPr marL="16933" algn="ctr">
              <a:buSzPts val="1100"/>
            </a:pPr>
            <a:endParaRPr sz="3067" dirty="0">
              <a:solidFill>
                <a:srgbClr val="000000"/>
              </a:solidFill>
              <a:latin typeface="Lato"/>
              <a:ea typeface="Lato"/>
              <a:cs typeface="Lato"/>
              <a:sym typeface="Lato"/>
            </a:endParaRPr>
          </a:p>
          <a:p>
            <a:pPr>
              <a:buSzPts val="1100"/>
            </a:pPr>
            <a:endParaRPr sz="3067" dirty="0">
              <a:solidFill>
                <a:srgbClr val="000000"/>
              </a:solidFill>
              <a:latin typeface="Lato"/>
              <a:ea typeface="Lato"/>
              <a:cs typeface="Lato"/>
              <a:sym typeface="Lato"/>
            </a:endParaRPr>
          </a:p>
          <a:p>
            <a:pPr marL="16933">
              <a:buSzPts val="1100"/>
            </a:pPr>
            <a:endParaRPr sz="3067" dirty="0">
              <a:solidFill>
                <a:srgbClr val="000000"/>
              </a:solidFill>
              <a:latin typeface="Lato"/>
              <a:ea typeface="Lato"/>
              <a:cs typeface="Lato"/>
              <a:sym typeface="Lato"/>
            </a:endParaRPr>
          </a:p>
          <a:p>
            <a:pPr marL="16933" algn="ctr">
              <a:buSzPts val="1100"/>
            </a:pPr>
            <a:endParaRPr sz="3067" dirty="0">
              <a:solidFill>
                <a:srgbClr val="000000"/>
              </a:solidFill>
              <a:latin typeface="Lato"/>
              <a:ea typeface="Lato"/>
              <a:cs typeface="Lato"/>
              <a:sym typeface="Lato"/>
            </a:endParaRPr>
          </a:p>
          <a:p>
            <a:pPr marL="16933" algn="ctr">
              <a:buSzPts val="1100"/>
            </a:pPr>
            <a:endParaRPr sz="3067" dirty="0">
              <a:solidFill>
                <a:srgbClr val="000000"/>
              </a:solidFill>
              <a:latin typeface="Lato"/>
              <a:ea typeface="Lato"/>
              <a:cs typeface="Lato"/>
              <a:sym typeface="Lato"/>
            </a:endParaRPr>
          </a:p>
          <a:p>
            <a:pPr marL="16933" algn="ctr">
              <a:buSzPts val="1100"/>
            </a:pPr>
            <a:endParaRPr sz="3067" dirty="0">
              <a:solidFill>
                <a:srgbClr val="000000"/>
              </a:solidFill>
              <a:latin typeface="Lato"/>
              <a:ea typeface="Lato"/>
              <a:cs typeface="Lato"/>
              <a:sym typeface="Lato"/>
            </a:endParaRPr>
          </a:p>
          <a:p>
            <a:pPr marL="16933" algn="ctr">
              <a:buSzPts val="1100"/>
            </a:pPr>
            <a:endParaRPr sz="3067" dirty="0">
              <a:solidFill>
                <a:srgbClr val="000000"/>
              </a:solidFill>
              <a:latin typeface="Lato"/>
              <a:ea typeface="Lato"/>
              <a:cs typeface="Lato"/>
              <a:sym typeface="Lato"/>
            </a:endParaRPr>
          </a:p>
          <a:p>
            <a:pPr marL="16933" algn="ctr">
              <a:buSzPts val="1100"/>
            </a:pPr>
            <a:endParaRPr sz="3067" dirty="0">
              <a:solidFill>
                <a:srgbClr val="000000"/>
              </a:solidFill>
              <a:latin typeface="Lato"/>
              <a:ea typeface="Lato"/>
              <a:cs typeface="Lato"/>
              <a:sym typeface="Lato"/>
            </a:endParaRPr>
          </a:p>
          <a:p>
            <a:pPr>
              <a:buSzPts val="1100"/>
            </a:pPr>
            <a:endParaRPr sz="3067" dirty="0">
              <a:solidFill>
                <a:srgbClr val="000000"/>
              </a:solidFill>
              <a:latin typeface="Lato"/>
              <a:ea typeface="Lato"/>
              <a:cs typeface="Lato"/>
              <a:sym typeface="Lato"/>
            </a:endParaRPr>
          </a:p>
        </p:txBody>
      </p:sp>
      <p:pic>
        <p:nvPicPr>
          <p:cNvPr id="503" name="Google Shape;503;p66"/>
          <p:cNvPicPr preferRelativeResize="0"/>
          <p:nvPr/>
        </p:nvPicPr>
        <p:blipFill rotWithShape="1">
          <a:blip r:embed="rId3">
            <a:alphaModFix/>
          </a:blip>
          <a:srcRect b="82159"/>
          <a:stretch/>
        </p:blipFill>
        <p:spPr>
          <a:xfrm>
            <a:off x="664300" y="1595967"/>
            <a:ext cx="10863397" cy="904728"/>
          </a:xfrm>
          <a:prstGeom prst="rect">
            <a:avLst/>
          </a:prstGeom>
          <a:noFill/>
          <a:ln>
            <a:noFill/>
          </a:ln>
        </p:spPr>
      </p:pic>
      <p:pic>
        <p:nvPicPr>
          <p:cNvPr id="4098" name="Picture 2" descr="https://huggingface.co/datasets/huggingface/documentation-images/resolve/main/blog/rlhf/reward-model.png">
            <a:extLst>
              <a:ext uri="{FF2B5EF4-FFF2-40B4-BE49-F238E27FC236}">
                <a16:creationId xmlns:a16="http://schemas.microsoft.com/office/drawing/2014/main" id="{43375583-2E91-405B-B1D6-277AF6AFDE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5025" y="2438425"/>
            <a:ext cx="5081483" cy="3837764"/>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3DBC12ED-8AE4-412E-B2AF-DBF539DEC785}"/>
              </a:ext>
            </a:extLst>
          </p:cNvPr>
          <p:cNvSpPr/>
          <p:nvPr/>
        </p:nvSpPr>
        <p:spPr>
          <a:xfrm>
            <a:off x="2200563" y="6276189"/>
            <a:ext cx="8045792" cy="369332"/>
          </a:xfrm>
          <a:prstGeom prst="rect">
            <a:avLst/>
          </a:prstGeom>
        </p:spPr>
        <p:txBody>
          <a:bodyPr wrap="none">
            <a:spAutoFit/>
          </a:bodyPr>
          <a:lstStyle/>
          <a:p>
            <a:r>
              <a:rPr lang="en-US" altLang="zh-CN" dirty="0"/>
              <a:t>Learning to summarize from human feedback. https://arxiv.org/pdf/2009.01325</a:t>
            </a:r>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pic>
        <p:nvPicPr>
          <p:cNvPr id="553" name="Google Shape;553;p70"/>
          <p:cNvPicPr preferRelativeResize="0"/>
          <p:nvPr/>
        </p:nvPicPr>
        <p:blipFill rotWithShape="1">
          <a:blip r:embed="rId3">
            <a:alphaModFix/>
          </a:blip>
          <a:srcRect/>
          <a:stretch/>
        </p:blipFill>
        <p:spPr>
          <a:xfrm>
            <a:off x="2487818" y="203201"/>
            <a:ext cx="7115485" cy="64516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3" name="Google Shape;553;p74"/>
          <p:cNvSpPr txBox="1">
            <a:spLocks noGrp="1"/>
          </p:cNvSpPr>
          <p:nvPr>
            <p:ph type="title" idx="4294967295"/>
          </p:nvPr>
        </p:nvSpPr>
        <p:spPr>
          <a:xfrm>
            <a:off x="780000" y="526168"/>
            <a:ext cx="10632000" cy="7241186"/>
          </a:xfrm>
          <a:prstGeom prst="rect">
            <a:avLst/>
          </a:prstGeom>
          <a:noFill/>
          <a:ln>
            <a:noFill/>
          </a:ln>
        </p:spPr>
        <p:txBody>
          <a:bodyPr spcFirstLastPara="1" vert="horz" wrap="square" lIns="0" tIns="19467" rIns="0" bIns="0" rtlCol="0" anchor="t" anchorCtr="0">
            <a:spAutoFit/>
          </a:bodyPr>
          <a:lstStyle/>
          <a:p>
            <a:pPr marL="16933" algn="ctr">
              <a:buSzPts val="1100"/>
            </a:pPr>
            <a:r>
              <a:rPr lang="en" sz="3067">
                <a:solidFill>
                  <a:srgbClr val="000000"/>
                </a:solidFill>
                <a:latin typeface="Lato"/>
                <a:ea typeface="Lato"/>
                <a:cs typeface="Lato"/>
                <a:sym typeface="Lato"/>
              </a:rPr>
              <a:t>Benefit of RLHF</a:t>
            </a:r>
            <a:endParaRPr sz="3067">
              <a:solidFill>
                <a:srgbClr val="000000"/>
              </a:solidFill>
              <a:latin typeface="Lato"/>
              <a:ea typeface="Lato"/>
              <a:cs typeface="Lato"/>
              <a:sym typeface="Lato"/>
            </a:endParaRPr>
          </a:p>
          <a:p>
            <a:pPr marL="16933" algn="ctr">
              <a:buSzPts val="1100"/>
            </a:pPr>
            <a:endParaRPr sz="3067">
              <a:solidFill>
                <a:srgbClr val="000000"/>
              </a:solidFill>
              <a:latin typeface="Lato"/>
              <a:ea typeface="Lato"/>
              <a:cs typeface="Lato"/>
              <a:sym typeface="Lato"/>
            </a:endParaRPr>
          </a:p>
          <a:p>
            <a:pPr marL="16933" algn="ctr">
              <a:buSzPts val="1100"/>
            </a:pPr>
            <a:endParaRPr sz="3067">
              <a:solidFill>
                <a:srgbClr val="000000"/>
              </a:solidFill>
              <a:latin typeface="Lato"/>
              <a:ea typeface="Lato"/>
              <a:cs typeface="Lato"/>
              <a:sym typeface="Lato"/>
            </a:endParaRPr>
          </a:p>
          <a:p>
            <a:pPr marL="16933" algn="ctr">
              <a:buSzPts val="1100"/>
            </a:pPr>
            <a:endParaRPr sz="3067">
              <a:solidFill>
                <a:srgbClr val="000000"/>
              </a:solidFill>
              <a:latin typeface="Lato"/>
              <a:ea typeface="Lato"/>
              <a:cs typeface="Lato"/>
              <a:sym typeface="Lato"/>
            </a:endParaRPr>
          </a:p>
          <a:p>
            <a:pPr marL="16933" algn="ctr">
              <a:buSzPts val="1100"/>
            </a:pPr>
            <a:endParaRPr sz="3067">
              <a:solidFill>
                <a:srgbClr val="000000"/>
              </a:solidFill>
              <a:latin typeface="Lato"/>
              <a:ea typeface="Lato"/>
              <a:cs typeface="Lato"/>
              <a:sym typeface="Lato"/>
            </a:endParaRPr>
          </a:p>
          <a:p>
            <a:pPr marL="16933" algn="ctr">
              <a:buSzPts val="1100"/>
            </a:pPr>
            <a:endParaRPr sz="3067">
              <a:solidFill>
                <a:srgbClr val="000000"/>
              </a:solidFill>
              <a:latin typeface="Lato"/>
              <a:ea typeface="Lato"/>
              <a:cs typeface="Lato"/>
              <a:sym typeface="Lato"/>
            </a:endParaRPr>
          </a:p>
          <a:p>
            <a:pPr marL="16933" algn="ctr">
              <a:buSzPts val="1100"/>
            </a:pPr>
            <a:endParaRPr sz="3067">
              <a:solidFill>
                <a:srgbClr val="000000"/>
              </a:solidFill>
              <a:latin typeface="Lato"/>
              <a:ea typeface="Lato"/>
              <a:cs typeface="Lato"/>
              <a:sym typeface="Lato"/>
            </a:endParaRPr>
          </a:p>
          <a:p>
            <a:pPr marL="16933" algn="ctr">
              <a:buSzPts val="1100"/>
            </a:pPr>
            <a:endParaRPr sz="3067">
              <a:solidFill>
                <a:srgbClr val="000000"/>
              </a:solidFill>
              <a:latin typeface="Lato"/>
              <a:ea typeface="Lato"/>
              <a:cs typeface="Lato"/>
              <a:sym typeface="Lato"/>
            </a:endParaRPr>
          </a:p>
          <a:p>
            <a:pPr marL="16933" algn="ctr">
              <a:buSzPts val="1100"/>
            </a:pPr>
            <a:endParaRPr sz="3067">
              <a:solidFill>
                <a:srgbClr val="000000"/>
              </a:solidFill>
              <a:latin typeface="Lato"/>
              <a:ea typeface="Lato"/>
              <a:cs typeface="Lato"/>
              <a:sym typeface="Lato"/>
            </a:endParaRPr>
          </a:p>
          <a:p>
            <a:pPr marL="16933" algn="ctr">
              <a:buSzPts val="1100"/>
            </a:pPr>
            <a:endParaRPr sz="3067">
              <a:solidFill>
                <a:srgbClr val="000000"/>
              </a:solidFill>
              <a:latin typeface="Lato"/>
              <a:ea typeface="Lato"/>
              <a:cs typeface="Lato"/>
              <a:sym typeface="Lato"/>
            </a:endParaRPr>
          </a:p>
          <a:p>
            <a:pPr marL="16933" algn="ctr">
              <a:buSzPts val="1100"/>
            </a:pPr>
            <a:endParaRPr sz="3067">
              <a:solidFill>
                <a:srgbClr val="000000"/>
              </a:solidFill>
              <a:latin typeface="Lato"/>
              <a:ea typeface="Lato"/>
              <a:cs typeface="Lato"/>
              <a:sym typeface="Lato"/>
            </a:endParaRPr>
          </a:p>
          <a:p>
            <a:pPr marL="16933" algn="ctr">
              <a:buSzPts val="1100"/>
            </a:pPr>
            <a:endParaRPr sz="3067">
              <a:solidFill>
                <a:srgbClr val="000000"/>
              </a:solidFill>
              <a:latin typeface="Lato"/>
              <a:ea typeface="Lato"/>
              <a:cs typeface="Lato"/>
              <a:sym typeface="Lato"/>
            </a:endParaRPr>
          </a:p>
          <a:p>
            <a:pPr marL="16933" algn="ctr">
              <a:buSzPts val="1100"/>
            </a:pPr>
            <a:endParaRPr sz="3067">
              <a:solidFill>
                <a:srgbClr val="000000"/>
              </a:solidFill>
              <a:latin typeface="Lato"/>
              <a:ea typeface="Lato"/>
              <a:cs typeface="Lato"/>
              <a:sym typeface="Lato"/>
            </a:endParaRPr>
          </a:p>
          <a:p>
            <a:pPr marL="16933" algn="ctr">
              <a:buSzPts val="1100"/>
            </a:pPr>
            <a:endParaRPr sz="3067">
              <a:solidFill>
                <a:srgbClr val="000000"/>
              </a:solidFill>
              <a:latin typeface="Lato"/>
              <a:ea typeface="Lato"/>
              <a:cs typeface="Lato"/>
              <a:sym typeface="Lato"/>
            </a:endParaRPr>
          </a:p>
          <a:p>
            <a:pPr marL="16933" algn="ctr">
              <a:buSzPts val="1100"/>
            </a:pPr>
            <a:endParaRPr sz="3067">
              <a:solidFill>
                <a:srgbClr val="000000"/>
              </a:solidFill>
              <a:latin typeface="Lato"/>
              <a:ea typeface="Lato"/>
              <a:cs typeface="Lato"/>
              <a:sym typeface="Lato"/>
            </a:endParaRPr>
          </a:p>
          <a:p>
            <a:pPr marL="16933" algn="ctr">
              <a:buSzPts val="1100"/>
            </a:pPr>
            <a:endParaRPr sz="3067">
              <a:solidFill>
                <a:srgbClr val="000000"/>
              </a:solidFill>
              <a:latin typeface="Lato"/>
              <a:ea typeface="Lato"/>
              <a:cs typeface="Lato"/>
              <a:sym typeface="Lato"/>
            </a:endParaRPr>
          </a:p>
          <a:p>
            <a:pPr>
              <a:buSzPts val="1100"/>
            </a:pPr>
            <a:endParaRPr sz="3067">
              <a:solidFill>
                <a:srgbClr val="000000"/>
              </a:solidFill>
              <a:latin typeface="Lato"/>
              <a:ea typeface="Lato"/>
              <a:cs typeface="Lato"/>
              <a:sym typeface="Lato"/>
            </a:endParaRPr>
          </a:p>
        </p:txBody>
      </p:sp>
      <p:pic>
        <p:nvPicPr>
          <p:cNvPr id="554" name="Google Shape;554;p74"/>
          <p:cNvPicPr preferRelativeResize="0"/>
          <p:nvPr/>
        </p:nvPicPr>
        <p:blipFill rotWithShape="1">
          <a:blip r:embed="rId3">
            <a:alphaModFix/>
          </a:blip>
          <a:srcRect/>
          <a:stretch/>
        </p:blipFill>
        <p:spPr>
          <a:xfrm>
            <a:off x="2035317" y="1314934"/>
            <a:ext cx="8483233" cy="4509732"/>
          </a:xfrm>
          <a:prstGeom prst="rect">
            <a:avLst/>
          </a:prstGeom>
          <a:noFill/>
          <a:ln>
            <a:noFill/>
          </a:ln>
        </p:spPr>
      </p:pic>
      <p:sp>
        <p:nvSpPr>
          <p:cNvPr id="555" name="Google Shape;555;p74"/>
          <p:cNvSpPr txBox="1"/>
          <p:nvPr/>
        </p:nvSpPr>
        <p:spPr>
          <a:xfrm>
            <a:off x="1584733" y="6057767"/>
            <a:ext cx="9642800" cy="1270000"/>
          </a:xfrm>
          <a:prstGeom prst="rect">
            <a:avLst/>
          </a:prstGeom>
          <a:noFill/>
          <a:ln>
            <a:noFill/>
          </a:ln>
        </p:spPr>
        <p:txBody>
          <a:bodyPr spcFirstLastPara="1" wrap="square" lIns="121900" tIns="121900" rIns="121900" bIns="121900" anchor="t" anchorCtr="0">
            <a:noAutofit/>
          </a:bodyPr>
          <a:lstStyle/>
          <a:p>
            <a:r>
              <a:rPr lang="en" sz="1467">
                <a:solidFill>
                  <a:schemeClr val="dk2"/>
                </a:solidFill>
              </a:rPr>
              <a:t>Here are some examples of how ChatGPT improves over InstructGPT in responding to hypothetical and security questions.</a:t>
            </a:r>
            <a:endParaRPr sz="1467">
              <a:solidFill>
                <a:schemeClr val="dk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47"/>
        <p:cNvGrpSpPr/>
        <p:nvPr/>
      </p:nvGrpSpPr>
      <p:grpSpPr>
        <a:xfrm>
          <a:off x="0" y="0"/>
          <a:ext cx="0" cy="0"/>
          <a:chOff x="0" y="0"/>
          <a:chExt cx="0" cy="0"/>
        </a:xfrm>
      </p:grpSpPr>
      <p:sp>
        <p:nvSpPr>
          <p:cNvPr id="548" name="Google Shape;548;p69"/>
          <p:cNvSpPr txBox="1">
            <a:spLocks noGrp="1"/>
          </p:cNvSpPr>
          <p:nvPr>
            <p:ph type="title"/>
          </p:nvPr>
        </p:nvSpPr>
        <p:spPr>
          <a:xfrm>
            <a:off x="415600" y="2481000"/>
            <a:ext cx="11360800" cy="2281600"/>
          </a:xfrm>
          <a:prstGeom prst="rect">
            <a:avLst/>
          </a:prstGeom>
          <a:noFill/>
          <a:ln>
            <a:noFill/>
          </a:ln>
        </p:spPr>
        <p:txBody>
          <a:bodyPr spcFirstLastPara="1" vert="horz" wrap="square" lIns="121900" tIns="121900" rIns="121900" bIns="121900" rtlCol="0" anchor="t" anchorCtr="0">
            <a:normAutofit/>
          </a:bodyPr>
          <a:lstStyle/>
          <a:p>
            <a:pPr algn="ctr"/>
            <a:r>
              <a:rPr lang="en-US" altLang="zh-CN" sz="4533">
                <a:solidFill>
                  <a:srgbClr val="FF0000"/>
                </a:solidFill>
                <a:latin typeface="Times New Roman"/>
                <a:ea typeface="Times New Roman"/>
                <a:cs typeface="Times New Roman"/>
                <a:sym typeface="Times New Roman"/>
              </a:rPr>
              <a:t>Reinforcement Learning from Human Feedback</a:t>
            </a:r>
            <a:endParaRPr sz="4533">
              <a:solidFill>
                <a:srgbClr val="FF0000"/>
              </a:solidFill>
              <a:latin typeface="Times New Roman"/>
              <a:ea typeface="Times New Roman"/>
              <a:cs typeface="Times New Roman"/>
              <a:sym typeface="Times New Roman"/>
            </a:endParaRPr>
          </a:p>
          <a:p>
            <a:pPr algn="ctr"/>
            <a:r>
              <a:rPr lang="en-US" altLang="zh-CN" sz="4533">
                <a:solidFill>
                  <a:srgbClr val="FF0000"/>
                </a:solidFill>
                <a:latin typeface="Times New Roman"/>
                <a:ea typeface="Times New Roman"/>
                <a:cs typeface="Times New Roman"/>
                <a:sym typeface="Times New Roman"/>
              </a:rPr>
              <a:t>(RLHF)</a:t>
            </a:r>
            <a:endParaRPr sz="4533">
              <a:solidFill>
                <a:srgbClr val="FF0000"/>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p71"/>
          <p:cNvSpPr txBox="1">
            <a:spLocks noGrp="1"/>
          </p:cNvSpPr>
          <p:nvPr>
            <p:ph type="title"/>
          </p:nvPr>
        </p:nvSpPr>
        <p:spPr>
          <a:xfrm>
            <a:off x="415600" y="593367"/>
            <a:ext cx="11360800" cy="763600"/>
          </a:xfrm>
          <a:prstGeom prst="rect">
            <a:avLst/>
          </a:prstGeom>
          <a:noFill/>
          <a:ln>
            <a:noFill/>
          </a:ln>
        </p:spPr>
        <p:txBody>
          <a:bodyPr spcFirstLastPara="1" vert="horz" wrap="square" lIns="121900" tIns="121900" rIns="121900" bIns="121900" rtlCol="0" anchor="t" anchorCtr="0">
            <a:normAutofit fontScale="90000"/>
          </a:bodyPr>
          <a:lstStyle/>
          <a:p>
            <a:pPr>
              <a:buSzPct val="111111"/>
            </a:pPr>
            <a:r>
              <a:rPr lang="zh-CN">
                <a:latin typeface="Times New Roman"/>
                <a:ea typeface="Times New Roman"/>
                <a:cs typeface="Times New Roman"/>
                <a:sym typeface="Times New Roman"/>
              </a:rPr>
              <a:t>Motivation: Alignment</a:t>
            </a:r>
            <a:endParaRPr>
              <a:latin typeface="Times New Roman"/>
              <a:ea typeface="Times New Roman"/>
              <a:cs typeface="Times New Roman"/>
              <a:sym typeface="Times New Roman"/>
            </a:endParaRPr>
          </a:p>
        </p:txBody>
      </p:sp>
      <p:sp>
        <p:nvSpPr>
          <p:cNvPr id="559" name="Google Shape;559;p71"/>
          <p:cNvSpPr txBox="1">
            <a:spLocks noGrp="1"/>
          </p:cNvSpPr>
          <p:nvPr>
            <p:ph type="body" idx="1"/>
          </p:nvPr>
        </p:nvSpPr>
        <p:spPr>
          <a:xfrm>
            <a:off x="415600" y="1536633"/>
            <a:ext cx="11360800" cy="4555200"/>
          </a:xfrm>
          <a:prstGeom prst="rect">
            <a:avLst/>
          </a:prstGeom>
          <a:noFill/>
          <a:ln>
            <a:noFill/>
          </a:ln>
        </p:spPr>
        <p:txBody>
          <a:bodyPr spcFirstLastPara="1" vert="horz" wrap="square" lIns="121900" tIns="121900" rIns="121900" bIns="121900" rtlCol="0" anchor="t" anchorCtr="0">
            <a:normAutofit/>
          </a:bodyPr>
          <a:lstStyle/>
          <a:p>
            <a:pPr marL="0" indent="0">
              <a:spcAft>
                <a:spcPts val="1600"/>
              </a:spcAft>
              <a:buClr>
                <a:schemeClr val="dk1"/>
              </a:buClr>
              <a:buSzPts val="1100"/>
              <a:buNone/>
            </a:pPr>
            <a:r>
              <a:rPr lang="zh-CN">
                <a:solidFill>
                  <a:schemeClr val="dk1"/>
                </a:solidFill>
                <a:latin typeface="Times New Roman"/>
                <a:ea typeface="Times New Roman"/>
                <a:cs typeface="Times New Roman"/>
                <a:sym typeface="Times New Roman"/>
              </a:rPr>
              <a:t>The three H’s of Model Desiderata</a:t>
            </a:r>
            <a:endParaRPr>
              <a:latin typeface="Times New Roman"/>
              <a:ea typeface="Times New Roman"/>
              <a:cs typeface="Times New Roman"/>
              <a:sym typeface="Times New Roman"/>
            </a:endParaRPr>
          </a:p>
        </p:txBody>
      </p:sp>
    </p:spTree>
    <p:extLst>
      <p:ext uri="{BB962C8B-B14F-4D97-AF65-F5344CB8AC3E}">
        <p14:creationId xmlns:p14="http://schemas.microsoft.com/office/powerpoint/2010/main" val="23647171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sp>
        <p:nvSpPr>
          <p:cNvPr id="564" name="Google Shape;564;p72"/>
          <p:cNvSpPr txBox="1">
            <a:spLocks noGrp="1"/>
          </p:cNvSpPr>
          <p:nvPr>
            <p:ph type="title"/>
          </p:nvPr>
        </p:nvSpPr>
        <p:spPr>
          <a:xfrm>
            <a:off x="415600" y="593367"/>
            <a:ext cx="11360800" cy="763600"/>
          </a:xfrm>
          <a:prstGeom prst="rect">
            <a:avLst/>
          </a:prstGeom>
          <a:noFill/>
          <a:ln>
            <a:noFill/>
          </a:ln>
        </p:spPr>
        <p:txBody>
          <a:bodyPr spcFirstLastPara="1" vert="horz" wrap="square" lIns="121900" tIns="121900" rIns="121900" bIns="121900" rtlCol="0" anchor="t" anchorCtr="0">
            <a:normAutofit fontScale="90000"/>
          </a:bodyPr>
          <a:lstStyle/>
          <a:p>
            <a:pPr>
              <a:buSzPct val="111111"/>
            </a:pPr>
            <a:r>
              <a:rPr lang="zh-CN">
                <a:latin typeface="Times New Roman"/>
                <a:ea typeface="Times New Roman"/>
                <a:cs typeface="Times New Roman"/>
                <a:sym typeface="Times New Roman"/>
              </a:rPr>
              <a:t>Motivation: Alignment</a:t>
            </a:r>
            <a:endParaRPr>
              <a:latin typeface="Times New Roman"/>
              <a:ea typeface="Times New Roman"/>
              <a:cs typeface="Times New Roman"/>
              <a:sym typeface="Times New Roman"/>
            </a:endParaRPr>
          </a:p>
        </p:txBody>
      </p:sp>
      <p:sp>
        <p:nvSpPr>
          <p:cNvPr id="565" name="Google Shape;565;p72"/>
          <p:cNvSpPr txBox="1">
            <a:spLocks noGrp="1"/>
          </p:cNvSpPr>
          <p:nvPr>
            <p:ph type="body" idx="1"/>
          </p:nvPr>
        </p:nvSpPr>
        <p:spPr>
          <a:xfrm>
            <a:off x="415600" y="1536633"/>
            <a:ext cx="8639600" cy="4555200"/>
          </a:xfrm>
          <a:prstGeom prst="rect">
            <a:avLst/>
          </a:prstGeom>
          <a:noFill/>
          <a:ln>
            <a:noFill/>
          </a:ln>
        </p:spPr>
        <p:txBody>
          <a:bodyPr spcFirstLastPara="1" vert="horz" wrap="square" lIns="121900" tIns="121900" rIns="121900" bIns="121900" rtlCol="0" anchor="t" anchorCtr="0">
            <a:normAutofit/>
          </a:bodyPr>
          <a:lstStyle/>
          <a:p>
            <a:pPr marL="0" indent="0">
              <a:buNone/>
            </a:pPr>
            <a:r>
              <a:rPr lang="zh-CN">
                <a:solidFill>
                  <a:schemeClr val="dk1"/>
                </a:solidFill>
                <a:latin typeface="Times New Roman"/>
                <a:ea typeface="Times New Roman"/>
                <a:cs typeface="Times New Roman"/>
                <a:sym typeface="Times New Roman"/>
              </a:rPr>
              <a:t>The three H’s of Model Desiderata</a:t>
            </a:r>
            <a:endParaRPr>
              <a:solidFill>
                <a:schemeClr val="dk1"/>
              </a:solidFill>
              <a:latin typeface="Times New Roman"/>
              <a:ea typeface="Times New Roman"/>
              <a:cs typeface="Times New Roman"/>
              <a:sym typeface="Times New Roman"/>
            </a:endParaRPr>
          </a:p>
          <a:p>
            <a:pPr>
              <a:spcBef>
                <a:spcPts val="1600"/>
              </a:spcBef>
              <a:buClr>
                <a:schemeClr val="dk1"/>
              </a:buClr>
              <a:buFont typeface="Times New Roman"/>
              <a:buChar char="●"/>
            </a:pPr>
            <a:r>
              <a:rPr lang="zh-CN" b="1">
                <a:solidFill>
                  <a:schemeClr val="dk1"/>
                </a:solidFill>
                <a:latin typeface="Times New Roman"/>
                <a:ea typeface="Times New Roman"/>
                <a:cs typeface="Times New Roman"/>
                <a:sym typeface="Times New Roman"/>
              </a:rPr>
              <a:t>Helpful:</a:t>
            </a:r>
            <a:endParaRPr b="1">
              <a:solidFill>
                <a:schemeClr val="dk1"/>
              </a:solidFill>
              <a:latin typeface="Times New Roman"/>
              <a:ea typeface="Times New Roman"/>
              <a:cs typeface="Times New Roman"/>
              <a:sym typeface="Times New Roman"/>
            </a:endParaRPr>
          </a:p>
          <a:p>
            <a:pPr lvl="1">
              <a:buClr>
                <a:schemeClr val="dk1"/>
              </a:buClr>
              <a:buFont typeface="Times New Roman"/>
              <a:buChar char="○"/>
            </a:pPr>
            <a:r>
              <a:rPr lang="zh-CN">
                <a:solidFill>
                  <a:schemeClr val="dk1"/>
                </a:solidFill>
                <a:latin typeface="Times New Roman"/>
                <a:ea typeface="Times New Roman"/>
                <a:cs typeface="Times New Roman"/>
                <a:sym typeface="Times New Roman"/>
              </a:rPr>
              <a:t>The AI should help the user solve their task (e.g. answer their questions)</a:t>
            </a:r>
            <a:endParaRPr>
              <a:solidFill>
                <a:schemeClr val="dk1"/>
              </a:solidFill>
              <a:latin typeface="Times New Roman"/>
              <a:ea typeface="Times New Roman"/>
              <a:cs typeface="Times New Roman"/>
              <a:sym typeface="Times New Roman"/>
            </a:endParaRPr>
          </a:p>
          <a:p>
            <a:pPr marL="0" indent="0">
              <a:spcBef>
                <a:spcPts val="1600"/>
              </a:spcBef>
              <a:spcAft>
                <a:spcPts val="1600"/>
              </a:spcAft>
              <a:buNone/>
            </a:pPr>
            <a:endParaRPr>
              <a:solidFill>
                <a:schemeClr val="dk1"/>
              </a:solidFill>
              <a:latin typeface="Times New Roman"/>
              <a:ea typeface="Times New Roman"/>
              <a:cs typeface="Times New Roman"/>
              <a:sym typeface="Times New Roman"/>
            </a:endParaRPr>
          </a:p>
        </p:txBody>
      </p:sp>
      <p:pic>
        <p:nvPicPr>
          <p:cNvPr id="566" name="Google Shape;566;p72"/>
          <p:cNvPicPr preferRelativeResize="0"/>
          <p:nvPr/>
        </p:nvPicPr>
        <p:blipFill rotWithShape="1">
          <a:blip r:embed="rId3">
            <a:alphaModFix/>
          </a:blip>
          <a:srcRect/>
          <a:stretch/>
        </p:blipFill>
        <p:spPr>
          <a:xfrm>
            <a:off x="9258400" y="1560167"/>
            <a:ext cx="2730400" cy="2940431"/>
          </a:xfrm>
          <a:prstGeom prst="rect">
            <a:avLst/>
          </a:prstGeom>
          <a:noFill/>
          <a:ln>
            <a:noFill/>
          </a:ln>
        </p:spPr>
      </p:pic>
    </p:spTree>
    <p:extLst>
      <p:ext uri="{BB962C8B-B14F-4D97-AF65-F5344CB8AC3E}">
        <p14:creationId xmlns:p14="http://schemas.microsoft.com/office/powerpoint/2010/main" val="21526001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571" name="Google Shape;571;p73"/>
          <p:cNvSpPr txBox="1">
            <a:spLocks noGrp="1"/>
          </p:cNvSpPr>
          <p:nvPr>
            <p:ph type="title"/>
          </p:nvPr>
        </p:nvSpPr>
        <p:spPr>
          <a:xfrm>
            <a:off x="415600" y="593367"/>
            <a:ext cx="11360800" cy="763600"/>
          </a:xfrm>
          <a:prstGeom prst="rect">
            <a:avLst/>
          </a:prstGeom>
          <a:noFill/>
          <a:ln>
            <a:noFill/>
          </a:ln>
        </p:spPr>
        <p:txBody>
          <a:bodyPr spcFirstLastPara="1" vert="horz" wrap="square" lIns="121900" tIns="121900" rIns="121900" bIns="121900" rtlCol="0" anchor="t" anchorCtr="0">
            <a:normAutofit fontScale="90000"/>
          </a:bodyPr>
          <a:lstStyle/>
          <a:p>
            <a:pPr>
              <a:buSzPct val="111111"/>
            </a:pPr>
            <a:r>
              <a:rPr lang="zh-CN">
                <a:latin typeface="Times New Roman"/>
                <a:ea typeface="Times New Roman"/>
                <a:cs typeface="Times New Roman"/>
                <a:sym typeface="Times New Roman"/>
              </a:rPr>
              <a:t>Motivation: Alignment</a:t>
            </a:r>
            <a:endParaRPr>
              <a:latin typeface="Times New Roman"/>
              <a:ea typeface="Times New Roman"/>
              <a:cs typeface="Times New Roman"/>
              <a:sym typeface="Times New Roman"/>
            </a:endParaRPr>
          </a:p>
        </p:txBody>
      </p:sp>
      <p:sp>
        <p:nvSpPr>
          <p:cNvPr id="572" name="Google Shape;572;p73"/>
          <p:cNvSpPr txBox="1">
            <a:spLocks noGrp="1"/>
          </p:cNvSpPr>
          <p:nvPr>
            <p:ph type="body" idx="1"/>
          </p:nvPr>
        </p:nvSpPr>
        <p:spPr>
          <a:xfrm>
            <a:off x="415600" y="1536633"/>
            <a:ext cx="8639600" cy="4555200"/>
          </a:xfrm>
          <a:prstGeom prst="rect">
            <a:avLst/>
          </a:prstGeom>
          <a:noFill/>
          <a:ln>
            <a:noFill/>
          </a:ln>
        </p:spPr>
        <p:txBody>
          <a:bodyPr spcFirstLastPara="1" vert="horz" wrap="square" lIns="121900" tIns="121900" rIns="121900" bIns="121900" rtlCol="0" anchor="t" anchorCtr="0">
            <a:normAutofit/>
          </a:bodyPr>
          <a:lstStyle/>
          <a:p>
            <a:pPr marL="0" indent="0">
              <a:buNone/>
            </a:pPr>
            <a:r>
              <a:rPr lang="zh-CN">
                <a:solidFill>
                  <a:schemeClr val="dk1"/>
                </a:solidFill>
                <a:latin typeface="Times New Roman"/>
                <a:ea typeface="Times New Roman"/>
                <a:cs typeface="Times New Roman"/>
                <a:sym typeface="Times New Roman"/>
              </a:rPr>
              <a:t>The three H’s of Model Desiderata</a:t>
            </a:r>
            <a:endParaRPr>
              <a:solidFill>
                <a:schemeClr val="dk1"/>
              </a:solidFill>
              <a:latin typeface="Times New Roman"/>
              <a:ea typeface="Times New Roman"/>
              <a:cs typeface="Times New Roman"/>
              <a:sym typeface="Times New Roman"/>
            </a:endParaRPr>
          </a:p>
          <a:p>
            <a:pPr>
              <a:spcBef>
                <a:spcPts val="1600"/>
              </a:spcBef>
              <a:buClr>
                <a:schemeClr val="accent3"/>
              </a:buClr>
              <a:buFont typeface="Times New Roman"/>
              <a:buChar char="●"/>
            </a:pPr>
            <a:r>
              <a:rPr lang="zh-CN" b="1">
                <a:solidFill>
                  <a:schemeClr val="accent3"/>
                </a:solidFill>
                <a:latin typeface="Times New Roman"/>
                <a:ea typeface="Times New Roman"/>
                <a:cs typeface="Times New Roman"/>
                <a:sym typeface="Times New Roman"/>
              </a:rPr>
              <a:t>Helpful:</a:t>
            </a:r>
            <a:endParaRPr b="1">
              <a:solidFill>
                <a:schemeClr val="accent3"/>
              </a:solidFill>
              <a:latin typeface="Times New Roman"/>
              <a:ea typeface="Times New Roman"/>
              <a:cs typeface="Times New Roman"/>
              <a:sym typeface="Times New Roman"/>
            </a:endParaRPr>
          </a:p>
          <a:p>
            <a:pPr lvl="1">
              <a:buClr>
                <a:schemeClr val="accent3"/>
              </a:buClr>
              <a:buFont typeface="Times New Roman"/>
              <a:buChar char="○"/>
            </a:pPr>
            <a:r>
              <a:rPr lang="zh-CN">
                <a:solidFill>
                  <a:schemeClr val="accent3"/>
                </a:solidFill>
                <a:latin typeface="Times New Roman"/>
                <a:ea typeface="Times New Roman"/>
                <a:cs typeface="Times New Roman"/>
                <a:sym typeface="Times New Roman"/>
              </a:rPr>
              <a:t>The AI should help the user solve their task (e.g. answer their questions)</a:t>
            </a:r>
            <a:endParaRPr>
              <a:solidFill>
                <a:schemeClr val="accent3"/>
              </a:solidFill>
              <a:latin typeface="Times New Roman"/>
              <a:ea typeface="Times New Roman"/>
              <a:cs typeface="Times New Roman"/>
              <a:sym typeface="Times New Roman"/>
            </a:endParaRPr>
          </a:p>
          <a:p>
            <a:pPr>
              <a:buClr>
                <a:schemeClr val="dk1"/>
              </a:buClr>
              <a:buFont typeface="Times New Roman"/>
              <a:buChar char="●"/>
            </a:pPr>
            <a:r>
              <a:rPr lang="zh-CN" b="1">
                <a:solidFill>
                  <a:schemeClr val="dk1"/>
                </a:solidFill>
                <a:latin typeface="Times New Roman"/>
                <a:ea typeface="Times New Roman"/>
                <a:cs typeface="Times New Roman"/>
                <a:sym typeface="Times New Roman"/>
              </a:rPr>
              <a:t>Honest:</a:t>
            </a:r>
            <a:endParaRPr b="1">
              <a:solidFill>
                <a:schemeClr val="dk1"/>
              </a:solidFill>
              <a:latin typeface="Times New Roman"/>
              <a:ea typeface="Times New Roman"/>
              <a:cs typeface="Times New Roman"/>
              <a:sym typeface="Times New Roman"/>
            </a:endParaRPr>
          </a:p>
          <a:p>
            <a:pPr lvl="1">
              <a:buClr>
                <a:schemeClr val="dk1"/>
              </a:buClr>
              <a:buFont typeface="Times New Roman"/>
              <a:buChar char="○"/>
            </a:pPr>
            <a:r>
              <a:rPr lang="zh-CN">
                <a:solidFill>
                  <a:schemeClr val="dk1"/>
                </a:solidFill>
                <a:latin typeface="Times New Roman"/>
                <a:ea typeface="Times New Roman"/>
                <a:cs typeface="Times New Roman"/>
                <a:sym typeface="Times New Roman"/>
              </a:rPr>
              <a:t>The AI should give accurate information</a:t>
            </a:r>
            <a:endParaRPr>
              <a:solidFill>
                <a:schemeClr val="dk1"/>
              </a:solidFill>
              <a:latin typeface="Times New Roman"/>
              <a:ea typeface="Times New Roman"/>
              <a:cs typeface="Times New Roman"/>
              <a:sym typeface="Times New Roman"/>
            </a:endParaRPr>
          </a:p>
          <a:p>
            <a:pPr lvl="1">
              <a:buClr>
                <a:schemeClr val="dk1"/>
              </a:buClr>
              <a:buFont typeface="Times New Roman"/>
              <a:buChar char="○"/>
            </a:pPr>
            <a:r>
              <a:rPr lang="zh-CN">
                <a:solidFill>
                  <a:schemeClr val="dk1"/>
                </a:solidFill>
                <a:latin typeface="Times New Roman"/>
                <a:ea typeface="Times New Roman"/>
                <a:cs typeface="Times New Roman"/>
                <a:sym typeface="Times New Roman"/>
              </a:rPr>
              <a:t>The AI should express uncertainty when the model doesn’t know the answer, instead of hallucinating a wrong answer</a:t>
            </a:r>
            <a:endParaRPr>
              <a:solidFill>
                <a:schemeClr val="dk1"/>
              </a:solidFill>
              <a:latin typeface="Times New Roman"/>
              <a:ea typeface="Times New Roman"/>
              <a:cs typeface="Times New Roman"/>
              <a:sym typeface="Times New Roman"/>
            </a:endParaRPr>
          </a:p>
          <a:p>
            <a:pPr marL="0" indent="0">
              <a:spcBef>
                <a:spcPts val="1600"/>
              </a:spcBef>
              <a:spcAft>
                <a:spcPts val="1600"/>
              </a:spcAft>
              <a:buNone/>
            </a:pPr>
            <a:endParaRPr>
              <a:solidFill>
                <a:schemeClr val="dk1"/>
              </a:solidFill>
              <a:latin typeface="Times New Roman"/>
              <a:ea typeface="Times New Roman"/>
              <a:cs typeface="Times New Roman"/>
              <a:sym typeface="Times New Roman"/>
            </a:endParaRPr>
          </a:p>
        </p:txBody>
      </p:sp>
      <p:pic>
        <p:nvPicPr>
          <p:cNvPr id="573" name="Google Shape;573;p73"/>
          <p:cNvPicPr preferRelativeResize="0"/>
          <p:nvPr/>
        </p:nvPicPr>
        <p:blipFill rotWithShape="1">
          <a:blip r:embed="rId3">
            <a:alphaModFix/>
          </a:blip>
          <a:srcRect/>
          <a:stretch/>
        </p:blipFill>
        <p:spPr>
          <a:xfrm>
            <a:off x="9118600" y="1600201"/>
            <a:ext cx="2811835" cy="2790535"/>
          </a:xfrm>
          <a:prstGeom prst="rect">
            <a:avLst/>
          </a:prstGeom>
          <a:noFill/>
          <a:ln>
            <a:noFill/>
          </a:ln>
        </p:spPr>
      </p:pic>
    </p:spTree>
    <p:extLst>
      <p:ext uri="{BB962C8B-B14F-4D97-AF65-F5344CB8AC3E}">
        <p14:creationId xmlns:p14="http://schemas.microsoft.com/office/powerpoint/2010/main" val="34132595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77"/>
        <p:cNvGrpSpPr/>
        <p:nvPr/>
      </p:nvGrpSpPr>
      <p:grpSpPr>
        <a:xfrm>
          <a:off x="0" y="0"/>
          <a:ext cx="0" cy="0"/>
          <a:chOff x="0" y="0"/>
          <a:chExt cx="0" cy="0"/>
        </a:xfrm>
      </p:grpSpPr>
      <p:sp>
        <p:nvSpPr>
          <p:cNvPr id="578" name="Google Shape;578;p74"/>
          <p:cNvSpPr txBox="1">
            <a:spLocks noGrp="1"/>
          </p:cNvSpPr>
          <p:nvPr>
            <p:ph type="title"/>
          </p:nvPr>
        </p:nvSpPr>
        <p:spPr>
          <a:xfrm>
            <a:off x="415600" y="593367"/>
            <a:ext cx="11360800" cy="763600"/>
          </a:xfrm>
          <a:prstGeom prst="rect">
            <a:avLst/>
          </a:prstGeom>
          <a:noFill/>
          <a:ln>
            <a:noFill/>
          </a:ln>
        </p:spPr>
        <p:txBody>
          <a:bodyPr spcFirstLastPara="1" vert="horz" wrap="square" lIns="121900" tIns="121900" rIns="121900" bIns="121900" rtlCol="0" anchor="t" anchorCtr="0">
            <a:normAutofit fontScale="90000"/>
          </a:bodyPr>
          <a:lstStyle/>
          <a:p>
            <a:pPr>
              <a:buSzPct val="111111"/>
            </a:pPr>
            <a:r>
              <a:rPr lang="zh-CN">
                <a:latin typeface="Times New Roman"/>
                <a:ea typeface="Times New Roman"/>
                <a:cs typeface="Times New Roman"/>
                <a:sym typeface="Times New Roman"/>
              </a:rPr>
              <a:t>Motivation: Alignment</a:t>
            </a:r>
            <a:endParaRPr>
              <a:latin typeface="Times New Roman"/>
              <a:ea typeface="Times New Roman"/>
              <a:cs typeface="Times New Roman"/>
              <a:sym typeface="Times New Roman"/>
            </a:endParaRPr>
          </a:p>
        </p:txBody>
      </p:sp>
      <p:sp>
        <p:nvSpPr>
          <p:cNvPr id="579" name="Google Shape;579;p74"/>
          <p:cNvSpPr txBox="1">
            <a:spLocks noGrp="1"/>
          </p:cNvSpPr>
          <p:nvPr>
            <p:ph type="body" idx="1"/>
          </p:nvPr>
        </p:nvSpPr>
        <p:spPr>
          <a:xfrm>
            <a:off x="415600" y="1536633"/>
            <a:ext cx="8639600" cy="4555200"/>
          </a:xfrm>
          <a:prstGeom prst="rect">
            <a:avLst/>
          </a:prstGeom>
          <a:noFill/>
          <a:ln>
            <a:noFill/>
          </a:ln>
        </p:spPr>
        <p:txBody>
          <a:bodyPr spcFirstLastPara="1" vert="horz" wrap="square" lIns="121900" tIns="121900" rIns="121900" bIns="121900" rtlCol="0" anchor="t" anchorCtr="0">
            <a:normAutofit fontScale="92500" lnSpcReduction="20000"/>
          </a:bodyPr>
          <a:lstStyle/>
          <a:p>
            <a:pPr marL="0" indent="0">
              <a:buNone/>
            </a:pPr>
            <a:r>
              <a:rPr lang="zh-CN">
                <a:solidFill>
                  <a:schemeClr val="dk1"/>
                </a:solidFill>
                <a:latin typeface="Times New Roman"/>
                <a:ea typeface="Times New Roman"/>
                <a:cs typeface="Times New Roman"/>
                <a:sym typeface="Times New Roman"/>
              </a:rPr>
              <a:t>The three H’s of Model Desiderata</a:t>
            </a:r>
            <a:endParaRPr>
              <a:solidFill>
                <a:schemeClr val="dk1"/>
              </a:solidFill>
              <a:latin typeface="Times New Roman"/>
              <a:ea typeface="Times New Roman"/>
              <a:cs typeface="Times New Roman"/>
              <a:sym typeface="Times New Roman"/>
            </a:endParaRPr>
          </a:p>
          <a:p>
            <a:pPr>
              <a:spcBef>
                <a:spcPts val="1600"/>
              </a:spcBef>
              <a:buClr>
                <a:schemeClr val="accent3"/>
              </a:buClr>
              <a:buFont typeface="Times New Roman"/>
              <a:buChar char="●"/>
            </a:pPr>
            <a:r>
              <a:rPr lang="zh-CN" b="1">
                <a:solidFill>
                  <a:schemeClr val="accent3"/>
                </a:solidFill>
                <a:latin typeface="Times New Roman"/>
                <a:ea typeface="Times New Roman"/>
                <a:cs typeface="Times New Roman"/>
                <a:sym typeface="Times New Roman"/>
              </a:rPr>
              <a:t>Helpful:</a:t>
            </a:r>
            <a:endParaRPr b="1">
              <a:solidFill>
                <a:schemeClr val="accent3"/>
              </a:solidFill>
              <a:latin typeface="Times New Roman"/>
              <a:ea typeface="Times New Roman"/>
              <a:cs typeface="Times New Roman"/>
              <a:sym typeface="Times New Roman"/>
            </a:endParaRPr>
          </a:p>
          <a:p>
            <a:pPr lvl="1">
              <a:buClr>
                <a:schemeClr val="accent3"/>
              </a:buClr>
              <a:buFont typeface="Times New Roman"/>
              <a:buChar char="○"/>
            </a:pPr>
            <a:r>
              <a:rPr lang="zh-CN">
                <a:solidFill>
                  <a:schemeClr val="accent3"/>
                </a:solidFill>
                <a:latin typeface="Times New Roman"/>
                <a:ea typeface="Times New Roman"/>
                <a:cs typeface="Times New Roman"/>
                <a:sym typeface="Times New Roman"/>
              </a:rPr>
              <a:t>The AI should help the user solve their task (e.g. answer their questions)</a:t>
            </a:r>
            <a:endParaRPr>
              <a:solidFill>
                <a:schemeClr val="accent3"/>
              </a:solidFill>
              <a:latin typeface="Times New Roman"/>
              <a:ea typeface="Times New Roman"/>
              <a:cs typeface="Times New Roman"/>
              <a:sym typeface="Times New Roman"/>
            </a:endParaRPr>
          </a:p>
          <a:p>
            <a:pPr>
              <a:buClr>
                <a:schemeClr val="accent3"/>
              </a:buClr>
              <a:buFont typeface="Times New Roman"/>
              <a:buChar char="●"/>
            </a:pPr>
            <a:r>
              <a:rPr lang="zh-CN" b="1">
                <a:solidFill>
                  <a:schemeClr val="accent3"/>
                </a:solidFill>
                <a:latin typeface="Times New Roman"/>
                <a:ea typeface="Times New Roman"/>
                <a:cs typeface="Times New Roman"/>
                <a:sym typeface="Times New Roman"/>
              </a:rPr>
              <a:t>Honest:</a:t>
            </a:r>
            <a:endParaRPr b="1">
              <a:solidFill>
                <a:schemeClr val="accent3"/>
              </a:solidFill>
              <a:latin typeface="Times New Roman"/>
              <a:ea typeface="Times New Roman"/>
              <a:cs typeface="Times New Roman"/>
              <a:sym typeface="Times New Roman"/>
            </a:endParaRPr>
          </a:p>
          <a:p>
            <a:pPr lvl="1">
              <a:buClr>
                <a:schemeClr val="accent3"/>
              </a:buClr>
              <a:buFont typeface="Times New Roman"/>
              <a:buChar char="○"/>
            </a:pPr>
            <a:r>
              <a:rPr lang="zh-CN">
                <a:solidFill>
                  <a:schemeClr val="accent3"/>
                </a:solidFill>
                <a:latin typeface="Times New Roman"/>
                <a:ea typeface="Times New Roman"/>
                <a:cs typeface="Times New Roman"/>
                <a:sym typeface="Times New Roman"/>
              </a:rPr>
              <a:t>The AI should give accurate information</a:t>
            </a:r>
            <a:endParaRPr>
              <a:solidFill>
                <a:schemeClr val="accent3"/>
              </a:solidFill>
              <a:latin typeface="Times New Roman"/>
              <a:ea typeface="Times New Roman"/>
              <a:cs typeface="Times New Roman"/>
              <a:sym typeface="Times New Roman"/>
            </a:endParaRPr>
          </a:p>
          <a:p>
            <a:pPr lvl="1">
              <a:buClr>
                <a:schemeClr val="accent3"/>
              </a:buClr>
              <a:buFont typeface="Times New Roman"/>
              <a:buChar char="○"/>
            </a:pPr>
            <a:r>
              <a:rPr lang="zh-CN">
                <a:solidFill>
                  <a:schemeClr val="accent3"/>
                </a:solidFill>
                <a:latin typeface="Times New Roman"/>
                <a:ea typeface="Times New Roman"/>
                <a:cs typeface="Times New Roman"/>
                <a:sym typeface="Times New Roman"/>
              </a:rPr>
              <a:t>The AI should express uncertainty when the model doesn’t know the answer, instead of hallucinating a wrong answer</a:t>
            </a:r>
            <a:endParaRPr>
              <a:solidFill>
                <a:schemeClr val="accent3"/>
              </a:solidFill>
              <a:latin typeface="Times New Roman"/>
              <a:ea typeface="Times New Roman"/>
              <a:cs typeface="Times New Roman"/>
              <a:sym typeface="Times New Roman"/>
            </a:endParaRPr>
          </a:p>
          <a:p>
            <a:pPr>
              <a:buClr>
                <a:schemeClr val="dk1"/>
              </a:buClr>
              <a:buFont typeface="Times New Roman"/>
              <a:buChar char="●"/>
            </a:pPr>
            <a:r>
              <a:rPr lang="zh-CN" b="1">
                <a:solidFill>
                  <a:schemeClr val="dk1"/>
                </a:solidFill>
                <a:latin typeface="Times New Roman"/>
                <a:ea typeface="Times New Roman"/>
                <a:cs typeface="Times New Roman"/>
                <a:sym typeface="Times New Roman"/>
              </a:rPr>
              <a:t>Harmless:</a:t>
            </a:r>
            <a:endParaRPr b="1">
              <a:solidFill>
                <a:schemeClr val="dk1"/>
              </a:solidFill>
              <a:latin typeface="Times New Roman"/>
              <a:ea typeface="Times New Roman"/>
              <a:cs typeface="Times New Roman"/>
              <a:sym typeface="Times New Roman"/>
            </a:endParaRPr>
          </a:p>
          <a:p>
            <a:pPr lvl="1">
              <a:buClr>
                <a:schemeClr val="dk1"/>
              </a:buClr>
              <a:buFont typeface="Times New Roman"/>
              <a:buChar char="○"/>
            </a:pPr>
            <a:r>
              <a:rPr lang="zh-CN">
                <a:solidFill>
                  <a:schemeClr val="dk1"/>
                </a:solidFill>
                <a:latin typeface="Times New Roman"/>
                <a:ea typeface="Times New Roman"/>
                <a:cs typeface="Times New Roman"/>
                <a:sym typeface="Times New Roman"/>
              </a:rPr>
              <a:t>The AI should not cause physical, psychological, or social harm to people or the environment</a:t>
            </a:r>
            <a:endParaRPr>
              <a:solidFill>
                <a:schemeClr val="dk1"/>
              </a:solidFill>
              <a:latin typeface="Times New Roman"/>
              <a:ea typeface="Times New Roman"/>
              <a:cs typeface="Times New Roman"/>
              <a:sym typeface="Times New Roman"/>
            </a:endParaRPr>
          </a:p>
        </p:txBody>
      </p:sp>
      <p:pic>
        <p:nvPicPr>
          <p:cNvPr id="580" name="Google Shape;580;p74"/>
          <p:cNvPicPr preferRelativeResize="0"/>
          <p:nvPr/>
        </p:nvPicPr>
        <p:blipFill rotWithShape="1">
          <a:blip r:embed="rId3">
            <a:alphaModFix/>
          </a:blip>
          <a:srcRect/>
          <a:stretch/>
        </p:blipFill>
        <p:spPr>
          <a:xfrm>
            <a:off x="9258400" y="1560167"/>
            <a:ext cx="2730400" cy="3481260"/>
          </a:xfrm>
          <a:prstGeom prst="rect">
            <a:avLst/>
          </a:prstGeom>
          <a:noFill/>
          <a:ln>
            <a:noFill/>
          </a:ln>
        </p:spPr>
      </p:pic>
    </p:spTree>
    <p:extLst>
      <p:ext uri="{BB962C8B-B14F-4D97-AF65-F5344CB8AC3E}">
        <p14:creationId xmlns:p14="http://schemas.microsoft.com/office/powerpoint/2010/main" val="35409679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84"/>
        <p:cNvGrpSpPr/>
        <p:nvPr/>
      </p:nvGrpSpPr>
      <p:grpSpPr>
        <a:xfrm>
          <a:off x="0" y="0"/>
          <a:ext cx="0" cy="0"/>
          <a:chOff x="0" y="0"/>
          <a:chExt cx="0" cy="0"/>
        </a:xfrm>
      </p:grpSpPr>
      <p:sp>
        <p:nvSpPr>
          <p:cNvPr id="585" name="Google Shape;585;p75"/>
          <p:cNvSpPr txBox="1">
            <a:spLocks noGrp="1"/>
          </p:cNvSpPr>
          <p:nvPr>
            <p:ph type="title"/>
          </p:nvPr>
        </p:nvSpPr>
        <p:spPr>
          <a:xfrm>
            <a:off x="415600" y="593367"/>
            <a:ext cx="11360800" cy="763600"/>
          </a:xfrm>
          <a:prstGeom prst="rect">
            <a:avLst/>
          </a:prstGeom>
          <a:noFill/>
          <a:ln>
            <a:noFill/>
          </a:ln>
        </p:spPr>
        <p:txBody>
          <a:bodyPr spcFirstLastPara="1" vert="horz" wrap="square" lIns="121900" tIns="121900" rIns="121900" bIns="121900" rtlCol="0" anchor="t" anchorCtr="0">
            <a:normAutofit fontScale="90000"/>
          </a:bodyPr>
          <a:lstStyle/>
          <a:p>
            <a:pPr>
              <a:buSzPct val="111111"/>
            </a:pPr>
            <a:r>
              <a:rPr lang="zh-CN">
                <a:latin typeface="Times New Roman"/>
                <a:ea typeface="Times New Roman"/>
                <a:cs typeface="Times New Roman"/>
                <a:sym typeface="Times New Roman"/>
              </a:rPr>
              <a:t>Optimizing for human preferences</a:t>
            </a:r>
            <a:endParaRPr>
              <a:latin typeface="Times New Roman"/>
              <a:ea typeface="Times New Roman"/>
              <a:cs typeface="Times New Roman"/>
              <a:sym typeface="Times New Roman"/>
            </a:endParaRPr>
          </a:p>
        </p:txBody>
      </p:sp>
      <p:sp>
        <p:nvSpPr>
          <p:cNvPr id="586" name="Google Shape;586;p75"/>
          <p:cNvSpPr txBox="1">
            <a:spLocks noGrp="1"/>
          </p:cNvSpPr>
          <p:nvPr>
            <p:ph type="body" idx="1"/>
          </p:nvPr>
        </p:nvSpPr>
        <p:spPr>
          <a:xfrm>
            <a:off x="415600" y="1536633"/>
            <a:ext cx="11360800" cy="5016400"/>
          </a:xfrm>
          <a:prstGeom prst="rect">
            <a:avLst/>
          </a:prstGeom>
          <a:noFill/>
          <a:ln>
            <a:noFill/>
          </a:ln>
        </p:spPr>
        <p:txBody>
          <a:bodyPr spcFirstLastPara="1" vert="horz" wrap="square" lIns="121900" tIns="121900" rIns="121900" bIns="121900" rtlCol="0" anchor="t" anchorCtr="0">
            <a:normAutofit/>
          </a:bodyPr>
          <a:lstStyle/>
          <a:p>
            <a:pPr indent="-448722">
              <a:buClr>
                <a:schemeClr val="dk1"/>
              </a:buClr>
              <a:buSzPts val="1700"/>
              <a:buFont typeface="Times New Roman"/>
              <a:buChar char="●"/>
            </a:pPr>
            <a:r>
              <a:rPr lang="en-US" altLang="zh-CN" sz="2267" dirty="0">
                <a:solidFill>
                  <a:schemeClr val="dk1"/>
                </a:solidFill>
                <a:latin typeface="Times New Roman"/>
                <a:ea typeface="Times New Roman"/>
                <a:cs typeface="Times New Roman"/>
                <a:sym typeface="Times New Roman"/>
              </a:rPr>
              <a:t>for example, in summarization task given each LM sample </a:t>
            </a:r>
            <a:r>
              <a:rPr lang="en-US" altLang="zh-CN" sz="2267" i="1" dirty="0">
                <a:solidFill>
                  <a:schemeClr val="dk1"/>
                </a:solidFill>
                <a:latin typeface="Times New Roman"/>
                <a:ea typeface="Times New Roman"/>
                <a:cs typeface="Times New Roman"/>
                <a:sym typeface="Times New Roman"/>
              </a:rPr>
              <a:t>s</a:t>
            </a:r>
            <a:r>
              <a:rPr lang="en-US" altLang="zh-CN" sz="2267" dirty="0">
                <a:solidFill>
                  <a:schemeClr val="dk1"/>
                </a:solidFill>
                <a:latin typeface="Times New Roman"/>
                <a:ea typeface="Times New Roman"/>
                <a:cs typeface="Times New Roman"/>
                <a:sym typeface="Times New Roman"/>
              </a:rPr>
              <a:t>, </a:t>
            </a:r>
            <a:endParaRPr sz="2267" dirty="0">
              <a:solidFill>
                <a:schemeClr val="dk1"/>
              </a:solidFill>
              <a:latin typeface="Times New Roman"/>
              <a:ea typeface="Times New Roman"/>
              <a:cs typeface="Times New Roman"/>
              <a:sym typeface="Times New Roman"/>
            </a:endParaRPr>
          </a:p>
          <a:p>
            <a:pPr indent="-448722">
              <a:buClr>
                <a:schemeClr val="dk1"/>
              </a:buClr>
              <a:buSzPts val="1700"/>
              <a:buFont typeface="Times New Roman"/>
              <a:buChar char="●"/>
            </a:pPr>
            <a:r>
              <a:rPr lang="en-US" altLang="zh-CN" sz="2267" dirty="0">
                <a:solidFill>
                  <a:schemeClr val="dk1"/>
                </a:solidFill>
                <a:latin typeface="Times New Roman"/>
                <a:ea typeface="Times New Roman"/>
                <a:cs typeface="Times New Roman"/>
                <a:sym typeface="Times New Roman"/>
              </a:rPr>
              <a:t>we have a human reward of the summary: </a:t>
            </a:r>
            <a:r>
              <a:rPr lang="en-US" altLang="zh-CN" sz="2267" i="1" dirty="0">
                <a:solidFill>
                  <a:schemeClr val="dk1"/>
                </a:solidFill>
                <a:latin typeface="Times New Roman"/>
                <a:ea typeface="Times New Roman"/>
                <a:cs typeface="Times New Roman"/>
                <a:sym typeface="Times New Roman"/>
              </a:rPr>
              <a:t>R(s)</a:t>
            </a:r>
            <a:r>
              <a:rPr lang="en-US" altLang="zh-CN" sz="2267" dirty="0">
                <a:solidFill>
                  <a:schemeClr val="dk1"/>
                </a:solidFill>
                <a:latin typeface="Times New Roman"/>
                <a:ea typeface="Times New Roman"/>
                <a:cs typeface="Times New Roman"/>
                <a:sym typeface="Times New Roman"/>
              </a:rPr>
              <a:t>, higher is better.</a:t>
            </a:r>
            <a:endParaRPr sz="2267" dirty="0">
              <a:solidFill>
                <a:schemeClr val="dk1"/>
              </a:solidFill>
              <a:latin typeface="Times New Roman"/>
              <a:ea typeface="Times New Roman"/>
              <a:cs typeface="Times New Roman"/>
              <a:sym typeface="Times New Roman"/>
            </a:endParaRPr>
          </a:p>
          <a:p>
            <a:pPr marL="0" indent="0">
              <a:spcBef>
                <a:spcPts val="1600"/>
              </a:spcBef>
              <a:buNone/>
            </a:pPr>
            <a:endParaRPr sz="2267" dirty="0">
              <a:solidFill>
                <a:schemeClr val="dk1"/>
              </a:solidFill>
              <a:latin typeface="Times New Roman"/>
              <a:ea typeface="Times New Roman"/>
              <a:cs typeface="Times New Roman"/>
              <a:sym typeface="Times New Roman"/>
            </a:endParaRPr>
          </a:p>
          <a:p>
            <a:pPr marL="0" indent="0">
              <a:spcBef>
                <a:spcPts val="1600"/>
              </a:spcBef>
              <a:buNone/>
            </a:pPr>
            <a:endParaRPr sz="2267" dirty="0">
              <a:solidFill>
                <a:schemeClr val="dk1"/>
              </a:solidFill>
              <a:latin typeface="Times New Roman"/>
              <a:ea typeface="Times New Roman"/>
              <a:cs typeface="Times New Roman"/>
              <a:sym typeface="Times New Roman"/>
            </a:endParaRPr>
          </a:p>
          <a:p>
            <a:pPr marL="0" indent="0">
              <a:spcBef>
                <a:spcPts val="1600"/>
              </a:spcBef>
              <a:buNone/>
            </a:pPr>
            <a:endParaRPr sz="2267" dirty="0">
              <a:solidFill>
                <a:schemeClr val="dk1"/>
              </a:solidFill>
              <a:latin typeface="Times New Roman"/>
              <a:ea typeface="Times New Roman"/>
              <a:cs typeface="Times New Roman"/>
              <a:sym typeface="Times New Roman"/>
            </a:endParaRPr>
          </a:p>
          <a:p>
            <a:pPr marL="0" indent="0">
              <a:spcBef>
                <a:spcPts val="1600"/>
              </a:spcBef>
              <a:buNone/>
            </a:pPr>
            <a:endParaRPr sz="2267" dirty="0">
              <a:solidFill>
                <a:schemeClr val="dk1"/>
              </a:solidFill>
              <a:latin typeface="Times New Roman"/>
              <a:ea typeface="Times New Roman"/>
              <a:cs typeface="Times New Roman"/>
              <a:sym typeface="Times New Roman"/>
            </a:endParaRPr>
          </a:p>
          <a:p>
            <a:pPr marL="0" indent="0">
              <a:spcBef>
                <a:spcPts val="1600"/>
              </a:spcBef>
              <a:buNone/>
            </a:pPr>
            <a:endParaRPr sz="2267" dirty="0">
              <a:solidFill>
                <a:schemeClr val="dk1"/>
              </a:solidFill>
              <a:latin typeface="Times New Roman"/>
              <a:ea typeface="Times New Roman"/>
              <a:cs typeface="Times New Roman"/>
              <a:sym typeface="Times New Roman"/>
            </a:endParaRPr>
          </a:p>
          <a:p>
            <a:pPr indent="-448722">
              <a:spcBef>
                <a:spcPts val="1600"/>
              </a:spcBef>
              <a:buClr>
                <a:schemeClr val="dk1"/>
              </a:buClr>
              <a:buSzPts val="1700"/>
              <a:buFont typeface="Times New Roman"/>
              <a:buChar char="●"/>
            </a:pPr>
            <a:r>
              <a:rPr lang="en-US" altLang="zh-CN" sz="2267" dirty="0">
                <a:solidFill>
                  <a:schemeClr val="dk1"/>
                </a:solidFill>
                <a:latin typeface="Times New Roman"/>
                <a:ea typeface="Times New Roman"/>
                <a:cs typeface="Times New Roman"/>
                <a:sym typeface="Times New Roman"/>
              </a:rPr>
              <a:t>Now we want to maximize the expected reward of samples from our LM.</a:t>
            </a:r>
            <a:endParaRPr sz="2267" dirty="0">
              <a:solidFill>
                <a:schemeClr val="dk1"/>
              </a:solidFill>
              <a:latin typeface="Times New Roman"/>
              <a:ea typeface="Times New Roman"/>
              <a:cs typeface="Times New Roman"/>
              <a:sym typeface="Times New Roman"/>
            </a:endParaRPr>
          </a:p>
        </p:txBody>
      </p:sp>
      <p:pic>
        <p:nvPicPr>
          <p:cNvPr id="587" name="Google Shape;587;p75"/>
          <p:cNvPicPr preferRelativeResize="0"/>
          <p:nvPr/>
        </p:nvPicPr>
        <p:blipFill rotWithShape="1">
          <a:blip r:embed="rId3">
            <a:alphaModFix/>
          </a:blip>
          <a:srcRect/>
          <a:stretch/>
        </p:blipFill>
        <p:spPr>
          <a:xfrm>
            <a:off x="1311068" y="3183667"/>
            <a:ext cx="9248200" cy="2357167"/>
          </a:xfrm>
          <a:prstGeom prst="rect">
            <a:avLst/>
          </a:prstGeom>
          <a:noFill/>
          <a:ln>
            <a:noFill/>
          </a:ln>
        </p:spPr>
      </p:pic>
      <p:sp>
        <p:nvSpPr>
          <p:cNvPr id="588" name="Google Shape;588;p75"/>
          <p:cNvSpPr txBox="1"/>
          <p:nvPr/>
        </p:nvSpPr>
        <p:spPr>
          <a:xfrm>
            <a:off x="4760267" y="2672600"/>
            <a:ext cx="2763200" cy="252000"/>
          </a:xfrm>
          <a:prstGeom prst="rect">
            <a:avLst/>
          </a:prstGeom>
          <a:noFill/>
          <a:ln>
            <a:noFill/>
          </a:ln>
        </p:spPr>
        <p:txBody>
          <a:bodyPr spcFirstLastPara="1" wrap="square" lIns="121900" tIns="121900" rIns="121900" bIns="121900" anchor="t" anchorCtr="0">
            <a:noAutofit/>
          </a:bodyPr>
          <a:lstStyle/>
          <a:p>
            <a:pPr>
              <a:buClr>
                <a:srgbClr val="000000"/>
              </a:buClr>
              <a:buSzPts val="1400"/>
            </a:pPr>
            <a:r>
              <a:rPr lang="en-US" altLang="zh-CN" sz="1867">
                <a:solidFill>
                  <a:srgbClr val="000000"/>
                </a:solidFill>
                <a:latin typeface="Arial"/>
                <a:ea typeface="Arial"/>
                <a:cs typeface="Arial"/>
                <a:sym typeface="Arial"/>
              </a:rPr>
              <a:t>a </a:t>
            </a:r>
            <a:r>
              <a:rPr lang="en-US" altLang="zh-CN" sz="1867">
                <a:solidFill>
                  <a:schemeClr val="accent1"/>
                </a:solidFill>
                <a:latin typeface="Arial"/>
                <a:ea typeface="Arial"/>
                <a:cs typeface="Arial"/>
                <a:sym typeface="Arial"/>
              </a:rPr>
              <a:t>good </a:t>
            </a:r>
            <a:r>
              <a:rPr lang="en-US" altLang="zh-CN" sz="1867">
                <a:solidFill>
                  <a:srgbClr val="000000"/>
                </a:solidFill>
                <a:latin typeface="Arial"/>
                <a:ea typeface="Arial"/>
                <a:cs typeface="Arial"/>
                <a:sym typeface="Arial"/>
              </a:rPr>
              <a:t>response</a:t>
            </a:r>
            <a:endParaRPr sz="1867">
              <a:solidFill>
                <a:srgbClr val="000000"/>
              </a:solidFill>
              <a:latin typeface="Arial"/>
              <a:ea typeface="Arial"/>
              <a:cs typeface="Arial"/>
              <a:sym typeface="Arial"/>
            </a:endParaRPr>
          </a:p>
        </p:txBody>
      </p:sp>
      <p:sp>
        <p:nvSpPr>
          <p:cNvPr id="589" name="Google Shape;589;p75"/>
          <p:cNvSpPr txBox="1"/>
          <p:nvPr/>
        </p:nvSpPr>
        <p:spPr>
          <a:xfrm>
            <a:off x="8019333" y="2672600"/>
            <a:ext cx="2763200" cy="252000"/>
          </a:xfrm>
          <a:prstGeom prst="rect">
            <a:avLst/>
          </a:prstGeom>
          <a:noFill/>
          <a:ln>
            <a:noFill/>
          </a:ln>
        </p:spPr>
        <p:txBody>
          <a:bodyPr spcFirstLastPara="1" wrap="square" lIns="121900" tIns="121900" rIns="121900" bIns="121900" anchor="t" anchorCtr="0">
            <a:noAutofit/>
          </a:bodyPr>
          <a:lstStyle/>
          <a:p>
            <a:pPr>
              <a:buClr>
                <a:srgbClr val="000000"/>
              </a:buClr>
              <a:buSzPts val="1400"/>
            </a:pPr>
            <a:r>
              <a:rPr lang="en-US" altLang="zh-CN" sz="1867">
                <a:solidFill>
                  <a:srgbClr val="000000"/>
                </a:solidFill>
                <a:latin typeface="Arial"/>
                <a:ea typeface="Arial"/>
                <a:cs typeface="Arial"/>
                <a:sym typeface="Arial"/>
              </a:rPr>
              <a:t>a </a:t>
            </a:r>
            <a:r>
              <a:rPr lang="en-US" altLang="zh-CN" sz="1867">
                <a:solidFill>
                  <a:srgbClr val="FF0000"/>
                </a:solidFill>
                <a:latin typeface="Arial"/>
                <a:ea typeface="Arial"/>
                <a:cs typeface="Arial"/>
                <a:sym typeface="Arial"/>
              </a:rPr>
              <a:t>bad </a:t>
            </a:r>
            <a:r>
              <a:rPr lang="en-US" altLang="zh-CN" sz="1867">
                <a:solidFill>
                  <a:srgbClr val="000000"/>
                </a:solidFill>
                <a:latin typeface="Arial"/>
                <a:ea typeface="Arial"/>
                <a:cs typeface="Arial"/>
                <a:sym typeface="Arial"/>
              </a:rPr>
              <a:t>response</a:t>
            </a:r>
            <a:endParaRPr sz="1867">
              <a:solidFill>
                <a:srgbClr val="000000"/>
              </a:solidFill>
              <a:latin typeface="Arial"/>
              <a:ea typeface="Arial"/>
              <a:cs typeface="Arial"/>
              <a:sym typeface="Arial"/>
            </a:endParaRPr>
          </a:p>
        </p:txBody>
      </p:sp>
      <p:sp>
        <p:nvSpPr>
          <p:cNvPr id="590" name="Google Shape;590;p75"/>
          <p:cNvSpPr txBox="1"/>
          <p:nvPr/>
        </p:nvSpPr>
        <p:spPr>
          <a:xfrm>
            <a:off x="574833" y="2724533"/>
            <a:ext cx="3894400" cy="252000"/>
          </a:xfrm>
          <a:prstGeom prst="rect">
            <a:avLst/>
          </a:prstGeom>
          <a:noFill/>
          <a:ln>
            <a:noFill/>
          </a:ln>
        </p:spPr>
        <p:txBody>
          <a:bodyPr spcFirstLastPara="1" wrap="square" lIns="121900" tIns="121900" rIns="121900" bIns="121900" anchor="t" anchorCtr="0">
            <a:noAutofit/>
          </a:bodyPr>
          <a:lstStyle/>
          <a:p>
            <a:pPr>
              <a:buClr>
                <a:srgbClr val="000000"/>
              </a:buClr>
              <a:buSzPts val="1400"/>
            </a:pPr>
            <a:r>
              <a:rPr lang="en-US" altLang="zh-CN" sz="1867">
                <a:solidFill>
                  <a:srgbClr val="000000"/>
                </a:solidFill>
                <a:latin typeface="Arial"/>
                <a:ea typeface="Arial"/>
                <a:cs typeface="Arial"/>
                <a:sym typeface="Arial"/>
              </a:rPr>
              <a:t>A text need to be summerzied </a:t>
            </a:r>
            <a:endParaRPr sz="1867">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01"/>
        <p:cNvGrpSpPr/>
        <p:nvPr/>
      </p:nvGrpSpPr>
      <p:grpSpPr>
        <a:xfrm>
          <a:off x="0" y="0"/>
          <a:ext cx="0" cy="0"/>
          <a:chOff x="0" y="0"/>
          <a:chExt cx="0" cy="0"/>
        </a:xfrm>
      </p:grpSpPr>
      <p:sp>
        <p:nvSpPr>
          <p:cNvPr id="602" name="Google Shape;602;p77"/>
          <p:cNvSpPr txBox="1">
            <a:spLocks noGrp="1"/>
          </p:cNvSpPr>
          <p:nvPr>
            <p:ph type="title"/>
          </p:nvPr>
        </p:nvSpPr>
        <p:spPr>
          <a:xfrm>
            <a:off x="415600" y="593367"/>
            <a:ext cx="11360800" cy="763600"/>
          </a:xfrm>
          <a:prstGeom prst="rect">
            <a:avLst/>
          </a:prstGeom>
          <a:noFill/>
          <a:ln>
            <a:noFill/>
          </a:ln>
        </p:spPr>
        <p:txBody>
          <a:bodyPr spcFirstLastPara="1" vert="horz" wrap="square" lIns="121900" tIns="121900" rIns="121900" bIns="121900" rtlCol="0" anchor="t" anchorCtr="0">
            <a:normAutofit fontScale="90000"/>
          </a:bodyPr>
          <a:lstStyle/>
          <a:p>
            <a:pPr>
              <a:buSzPct val="111111"/>
            </a:pPr>
            <a:r>
              <a:rPr lang="zh-CN">
                <a:latin typeface="Times New Roman"/>
                <a:ea typeface="Times New Roman"/>
                <a:cs typeface="Times New Roman"/>
                <a:sym typeface="Times New Roman"/>
              </a:rPr>
              <a:t>How do we model human preferences?</a:t>
            </a:r>
            <a:endParaRPr>
              <a:latin typeface="Times New Roman"/>
              <a:ea typeface="Times New Roman"/>
              <a:cs typeface="Times New Roman"/>
              <a:sym typeface="Times New Roman"/>
            </a:endParaRPr>
          </a:p>
        </p:txBody>
      </p:sp>
      <p:sp>
        <p:nvSpPr>
          <p:cNvPr id="603" name="Google Shape;603;p77"/>
          <p:cNvSpPr txBox="1">
            <a:spLocks noGrp="1"/>
          </p:cNvSpPr>
          <p:nvPr>
            <p:ph type="body" idx="1"/>
          </p:nvPr>
        </p:nvSpPr>
        <p:spPr>
          <a:xfrm>
            <a:off x="415600" y="1536633"/>
            <a:ext cx="11360800" cy="1796000"/>
          </a:xfrm>
          <a:prstGeom prst="rect">
            <a:avLst/>
          </a:prstGeom>
          <a:noFill/>
          <a:ln>
            <a:noFill/>
          </a:ln>
        </p:spPr>
        <p:txBody>
          <a:bodyPr spcFirstLastPara="1" vert="horz" wrap="square" lIns="121900" tIns="121900" rIns="121900" bIns="121900" rtlCol="0" anchor="t" anchorCtr="0">
            <a:normAutofit fontScale="92500" lnSpcReduction="20000"/>
          </a:bodyPr>
          <a:lstStyle/>
          <a:p>
            <a:pPr marL="0" indent="0">
              <a:buSzPct val="108108"/>
              <a:buNone/>
            </a:pPr>
            <a:r>
              <a:rPr lang="zh-CN" b="1">
                <a:solidFill>
                  <a:schemeClr val="dk1"/>
                </a:solidFill>
                <a:latin typeface="Times New Roman"/>
                <a:ea typeface="Times New Roman"/>
                <a:cs typeface="Times New Roman"/>
                <a:sym typeface="Times New Roman"/>
              </a:rPr>
              <a:t>Problem 1:</a:t>
            </a:r>
            <a:r>
              <a:rPr lang="zh-CN">
                <a:solidFill>
                  <a:schemeClr val="dk1"/>
                </a:solidFill>
                <a:latin typeface="Times New Roman"/>
                <a:ea typeface="Times New Roman"/>
                <a:cs typeface="Times New Roman"/>
                <a:sym typeface="Times New Roman"/>
              </a:rPr>
              <a:t> human-in-the-loop is expensive!</a:t>
            </a:r>
            <a:endParaRPr>
              <a:solidFill>
                <a:schemeClr val="dk1"/>
              </a:solidFill>
              <a:latin typeface="Times New Roman"/>
              <a:ea typeface="Times New Roman"/>
              <a:cs typeface="Times New Roman"/>
              <a:sym typeface="Times New Roman"/>
            </a:endParaRPr>
          </a:p>
          <a:p>
            <a:pPr marL="0" indent="0">
              <a:spcBef>
                <a:spcPts val="1600"/>
              </a:spcBef>
              <a:spcAft>
                <a:spcPts val="1600"/>
              </a:spcAft>
              <a:buSzPct val="108108"/>
              <a:buNone/>
            </a:pPr>
            <a:r>
              <a:rPr lang="zh-CN" b="1">
                <a:solidFill>
                  <a:schemeClr val="dk1"/>
                </a:solidFill>
                <a:latin typeface="Times New Roman"/>
                <a:ea typeface="Times New Roman"/>
                <a:cs typeface="Times New Roman"/>
                <a:sym typeface="Times New Roman"/>
              </a:rPr>
              <a:t>Solution:</a:t>
            </a:r>
            <a:r>
              <a:rPr lang="zh-CN">
                <a:solidFill>
                  <a:schemeClr val="dk1"/>
                </a:solidFill>
                <a:latin typeface="Times New Roman"/>
                <a:ea typeface="Times New Roman"/>
                <a:cs typeface="Times New Roman"/>
                <a:sym typeface="Times New Roman"/>
              </a:rPr>
              <a:t> instead of directly asking humans for preferences, model their preferences as a separate (NLP) problem!</a:t>
            </a:r>
            <a:r>
              <a:rPr lang="zh-CN">
                <a:latin typeface="Times New Roman"/>
                <a:ea typeface="Times New Roman"/>
                <a:cs typeface="Times New Roman"/>
                <a:sym typeface="Times New Roman"/>
              </a:rPr>
              <a:t> [</a:t>
            </a:r>
            <a:r>
              <a:rPr lang="zh-CN" u="sng">
                <a:solidFill>
                  <a:schemeClr val="hlink"/>
                </a:solidFill>
                <a:latin typeface="Times New Roman"/>
                <a:ea typeface="Times New Roman"/>
                <a:cs typeface="Times New Roman"/>
                <a:sym typeface="Times New Roman"/>
                <a:hlinkClick r:id="rId3"/>
              </a:rPr>
              <a:t>Knox and Stone, 2009</a:t>
            </a:r>
            <a:r>
              <a:rPr lang="zh-CN">
                <a:latin typeface="Times New Roman"/>
                <a:ea typeface="Times New Roman"/>
                <a:cs typeface="Times New Roman"/>
                <a:sym typeface="Times New Roman"/>
              </a:rPr>
              <a:t>]</a:t>
            </a:r>
            <a:endParaRPr>
              <a:latin typeface="Times New Roman"/>
              <a:ea typeface="Times New Roman"/>
              <a:cs typeface="Times New Roman"/>
              <a:sym typeface="Times New Roman"/>
            </a:endParaRPr>
          </a:p>
        </p:txBody>
      </p:sp>
      <p:pic>
        <p:nvPicPr>
          <p:cNvPr id="604" name="Google Shape;604;p77"/>
          <p:cNvPicPr preferRelativeResize="0"/>
          <p:nvPr/>
        </p:nvPicPr>
        <p:blipFill rotWithShape="1">
          <a:blip r:embed="rId4">
            <a:alphaModFix/>
          </a:blip>
          <a:srcRect/>
          <a:stretch/>
        </p:blipFill>
        <p:spPr>
          <a:xfrm>
            <a:off x="2125135" y="3332633"/>
            <a:ext cx="5105400" cy="2210388"/>
          </a:xfrm>
          <a:prstGeom prst="rect">
            <a:avLst/>
          </a:prstGeom>
          <a:noFill/>
          <a:ln>
            <a:noFill/>
          </a:ln>
        </p:spPr>
      </p:pic>
      <p:sp>
        <p:nvSpPr>
          <p:cNvPr id="605" name="Google Shape;605;p77"/>
          <p:cNvSpPr txBox="1"/>
          <p:nvPr/>
        </p:nvSpPr>
        <p:spPr>
          <a:xfrm>
            <a:off x="8902700" y="3530600"/>
            <a:ext cx="2959200" cy="3048000"/>
          </a:xfrm>
          <a:prstGeom prst="rect">
            <a:avLst/>
          </a:prstGeom>
          <a:noFill/>
          <a:ln>
            <a:noFill/>
          </a:ln>
        </p:spPr>
        <p:txBody>
          <a:bodyPr spcFirstLastPara="1" wrap="square" lIns="121900" tIns="121900" rIns="121900" bIns="121900" anchor="t" anchorCtr="0">
            <a:noAutofit/>
          </a:bodyPr>
          <a:lstStyle/>
          <a:p>
            <a:pPr>
              <a:buClr>
                <a:srgbClr val="000000"/>
              </a:buClr>
              <a:buSzPts val="1600"/>
            </a:pPr>
            <a:r>
              <a:rPr lang="en-US" altLang="zh-CN" sz="2133">
                <a:solidFill>
                  <a:srgbClr val="FF0000"/>
                </a:solidFill>
                <a:latin typeface="Arial"/>
                <a:ea typeface="Arial"/>
                <a:cs typeface="Arial"/>
                <a:sym typeface="Arial"/>
              </a:rPr>
              <a:t>Train an RM to predict human preferences from an annotated dataset.</a:t>
            </a:r>
            <a:endParaRPr sz="2133">
              <a:solidFill>
                <a:srgbClr val="FF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94"/>
        <p:cNvGrpSpPr/>
        <p:nvPr/>
      </p:nvGrpSpPr>
      <p:grpSpPr>
        <a:xfrm>
          <a:off x="0" y="0"/>
          <a:ext cx="0" cy="0"/>
          <a:chOff x="0" y="0"/>
          <a:chExt cx="0" cy="0"/>
        </a:xfrm>
      </p:grpSpPr>
      <p:sp>
        <p:nvSpPr>
          <p:cNvPr id="595" name="Google Shape;595;p76"/>
          <p:cNvSpPr txBox="1">
            <a:spLocks noGrp="1"/>
          </p:cNvSpPr>
          <p:nvPr>
            <p:ph type="title"/>
          </p:nvPr>
        </p:nvSpPr>
        <p:spPr>
          <a:xfrm>
            <a:off x="415600" y="593367"/>
            <a:ext cx="11360800" cy="763600"/>
          </a:xfrm>
          <a:prstGeom prst="rect">
            <a:avLst/>
          </a:prstGeom>
          <a:noFill/>
          <a:ln>
            <a:noFill/>
          </a:ln>
        </p:spPr>
        <p:txBody>
          <a:bodyPr spcFirstLastPara="1" vert="horz" wrap="square" lIns="121900" tIns="121900" rIns="121900" bIns="121900" rtlCol="0" anchor="t" anchorCtr="0">
            <a:normAutofit fontScale="90000"/>
          </a:bodyPr>
          <a:lstStyle/>
          <a:p>
            <a:pPr>
              <a:buSzPct val="111111"/>
            </a:pPr>
            <a:r>
              <a:rPr lang="zh-CN">
                <a:latin typeface="Times New Roman"/>
                <a:ea typeface="Times New Roman"/>
                <a:cs typeface="Times New Roman"/>
                <a:sym typeface="Times New Roman"/>
              </a:rPr>
              <a:t>Reinforcement learning to the rescue</a:t>
            </a:r>
            <a:endParaRPr>
              <a:latin typeface="Times New Roman"/>
              <a:ea typeface="Times New Roman"/>
              <a:cs typeface="Times New Roman"/>
              <a:sym typeface="Times New Roman"/>
            </a:endParaRPr>
          </a:p>
        </p:txBody>
      </p:sp>
      <p:sp>
        <p:nvSpPr>
          <p:cNvPr id="596" name="Google Shape;596;p76"/>
          <p:cNvSpPr txBox="1">
            <a:spLocks noGrp="1"/>
          </p:cNvSpPr>
          <p:nvPr>
            <p:ph type="body" idx="1"/>
          </p:nvPr>
        </p:nvSpPr>
        <p:spPr>
          <a:xfrm>
            <a:off x="415600" y="1356967"/>
            <a:ext cx="7890400" cy="5101600"/>
          </a:xfrm>
          <a:prstGeom prst="rect">
            <a:avLst/>
          </a:prstGeom>
          <a:noFill/>
          <a:ln>
            <a:noFill/>
          </a:ln>
        </p:spPr>
        <p:txBody>
          <a:bodyPr spcFirstLastPara="1" vert="horz" wrap="square" lIns="121900" tIns="121900" rIns="121900" bIns="121900" rtlCol="0" anchor="t" anchorCtr="0">
            <a:normAutofit fontScale="92500" lnSpcReduction="20000"/>
          </a:bodyPr>
          <a:lstStyle/>
          <a:p>
            <a:pPr>
              <a:buClr>
                <a:schemeClr val="dk1"/>
              </a:buClr>
            </a:pPr>
            <a:r>
              <a:rPr lang="zh-CN">
                <a:solidFill>
                  <a:schemeClr val="dk1"/>
                </a:solidFill>
                <a:latin typeface="Times New Roman"/>
                <a:ea typeface="Times New Roman"/>
                <a:cs typeface="Times New Roman"/>
                <a:sym typeface="Times New Roman"/>
              </a:rPr>
              <a:t>The field of </a:t>
            </a:r>
            <a:r>
              <a:rPr lang="zh-CN" b="1">
                <a:solidFill>
                  <a:schemeClr val="dk1"/>
                </a:solidFill>
                <a:latin typeface="Times New Roman"/>
                <a:ea typeface="Times New Roman"/>
                <a:cs typeface="Times New Roman"/>
                <a:sym typeface="Times New Roman"/>
              </a:rPr>
              <a:t>reinforcement learning (RL)</a:t>
            </a:r>
            <a:r>
              <a:rPr lang="zh-CN">
                <a:solidFill>
                  <a:schemeClr val="dk1"/>
                </a:solidFill>
                <a:latin typeface="Times New Roman"/>
                <a:ea typeface="Times New Roman"/>
                <a:cs typeface="Times New Roman"/>
                <a:sym typeface="Times New Roman"/>
              </a:rPr>
              <a:t> has studied these (and related) problems for many years now [</a:t>
            </a:r>
            <a:r>
              <a:rPr lang="zh-CN" u="sng">
                <a:solidFill>
                  <a:schemeClr val="hlink"/>
                </a:solidFill>
                <a:latin typeface="Times New Roman"/>
                <a:ea typeface="Times New Roman"/>
                <a:cs typeface="Times New Roman"/>
                <a:sym typeface="Times New Roman"/>
                <a:hlinkClick r:id="rId3"/>
              </a:rPr>
              <a:t>Williams, 1992</a:t>
            </a:r>
            <a:r>
              <a:rPr lang="zh-CN">
                <a:solidFill>
                  <a:schemeClr val="dk1"/>
                </a:solidFill>
                <a:latin typeface="Times New Roman"/>
                <a:ea typeface="Times New Roman"/>
                <a:cs typeface="Times New Roman"/>
                <a:sym typeface="Times New Roman"/>
              </a:rPr>
              <a:t>; </a:t>
            </a:r>
            <a:r>
              <a:rPr lang="zh-CN" u="sng">
                <a:solidFill>
                  <a:schemeClr val="hlink"/>
                </a:solidFill>
                <a:latin typeface="Times New Roman"/>
                <a:ea typeface="Times New Roman"/>
                <a:cs typeface="Times New Roman"/>
                <a:sym typeface="Times New Roman"/>
                <a:hlinkClick r:id="rId4"/>
              </a:rPr>
              <a:t>Sutton and Barto, 1998</a:t>
            </a:r>
            <a:r>
              <a:rPr lang="zh-CN">
                <a:solidFill>
                  <a:schemeClr val="dk1"/>
                </a:solidFill>
                <a:latin typeface="Times New Roman"/>
                <a:ea typeface="Times New Roman"/>
                <a:cs typeface="Times New Roman"/>
                <a:sym typeface="Times New Roman"/>
              </a:rPr>
              <a:t>] </a:t>
            </a:r>
            <a:endParaRPr>
              <a:solidFill>
                <a:schemeClr val="dk1"/>
              </a:solidFill>
              <a:latin typeface="Times New Roman"/>
              <a:ea typeface="Times New Roman"/>
              <a:cs typeface="Times New Roman"/>
              <a:sym typeface="Times New Roman"/>
            </a:endParaRPr>
          </a:p>
          <a:p>
            <a:pPr>
              <a:buClr>
                <a:schemeClr val="dk1"/>
              </a:buClr>
              <a:buFont typeface="Times New Roman"/>
              <a:buChar char="●"/>
            </a:pPr>
            <a:r>
              <a:rPr lang="zh-CN">
                <a:solidFill>
                  <a:schemeClr val="dk1"/>
                </a:solidFill>
                <a:latin typeface="Times New Roman"/>
                <a:ea typeface="Times New Roman"/>
                <a:cs typeface="Times New Roman"/>
                <a:sym typeface="Times New Roman"/>
              </a:rPr>
              <a:t>Circa 2013: resurgence of interest in RL applied to deep learning, game-playing [</a:t>
            </a:r>
            <a:r>
              <a:rPr lang="zh-CN" u="sng">
                <a:solidFill>
                  <a:schemeClr val="hlink"/>
                </a:solidFill>
                <a:latin typeface="Times New Roman"/>
                <a:ea typeface="Times New Roman"/>
                <a:cs typeface="Times New Roman"/>
                <a:sym typeface="Times New Roman"/>
                <a:hlinkClick r:id="rId5"/>
              </a:rPr>
              <a:t>Mnih et al., 2013</a:t>
            </a:r>
            <a:r>
              <a:rPr lang="zh-CN">
                <a:solidFill>
                  <a:schemeClr val="dk1"/>
                </a:solidFill>
                <a:latin typeface="Times New Roman"/>
                <a:ea typeface="Times New Roman"/>
                <a:cs typeface="Times New Roman"/>
                <a:sym typeface="Times New Roman"/>
              </a:rPr>
              <a:t>] </a:t>
            </a:r>
            <a:endParaRPr>
              <a:solidFill>
                <a:schemeClr val="dk1"/>
              </a:solidFill>
              <a:latin typeface="Times New Roman"/>
              <a:ea typeface="Times New Roman"/>
              <a:cs typeface="Times New Roman"/>
              <a:sym typeface="Times New Roman"/>
            </a:endParaRPr>
          </a:p>
          <a:p>
            <a:pPr>
              <a:buClr>
                <a:schemeClr val="dk1"/>
              </a:buClr>
              <a:buFont typeface="Times New Roman"/>
              <a:buChar char="●"/>
            </a:pPr>
            <a:r>
              <a:rPr lang="zh-CN">
                <a:solidFill>
                  <a:schemeClr val="dk1"/>
                </a:solidFill>
                <a:latin typeface="Times New Roman"/>
                <a:ea typeface="Times New Roman"/>
                <a:cs typeface="Times New Roman"/>
                <a:sym typeface="Times New Roman"/>
              </a:rPr>
              <a:t>But the interest in applying RL to modern LMs is an even newer phenomenon [</a:t>
            </a:r>
            <a:r>
              <a:rPr lang="zh-CN" u="sng">
                <a:solidFill>
                  <a:schemeClr val="hlink"/>
                </a:solidFill>
                <a:latin typeface="Times New Roman"/>
                <a:ea typeface="Times New Roman"/>
                <a:cs typeface="Times New Roman"/>
                <a:sym typeface="Times New Roman"/>
                <a:hlinkClick r:id="rId6"/>
              </a:rPr>
              <a:t>Ziegler et al., 2019</a:t>
            </a:r>
            <a:r>
              <a:rPr lang="zh-CN">
                <a:solidFill>
                  <a:schemeClr val="dk1"/>
                </a:solidFill>
                <a:latin typeface="Times New Roman"/>
                <a:ea typeface="Times New Roman"/>
                <a:cs typeface="Times New Roman"/>
                <a:sym typeface="Times New Roman"/>
              </a:rPr>
              <a:t>; </a:t>
            </a:r>
            <a:r>
              <a:rPr lang="zh-CN" u="sng">
                <a:solidFill>
                  <a:schemeClr val="hlink"/>
                </a:solidFill>
                <a:latin typeface="Times New Roman"/>
                <a:ea typeface="Times New Roman"/>
                <a:cs typeface="Times New Roman"/>
                <a:sym typeface="Times New Roman"/>
                <a:hlinkClick r:id="rId7"/>
              </a:rPr>
              <a:t>Stiennon et al., 2020</a:t>
            </a:r>
            <a:r>
              <a:rPr lang="zh-CN">
                <a:solidFill>
                  <a:schemeClr val="dk1"/>
                </a:solidFill>
                <a:latin typeface="Times New Roman"/>
                <a:ea typeface="Times New Roman"/>
                <a:cs typeface="Times New Roman"/>
                <a:sym typeface="Times New Roman"/>
              </a:rPr>
              <a:t>; </a:t>
            </a:r>
            <a:r>
              <a:rPr lang="zh-CN" u="sng">
                <a:solidFill>
                  <a:schemeClr val="hlink"/>
                </a:solidFill>
                <a:latin typeface="Times New Roman"/>
                <a:ea typeface="Times New Roman"/>
                <a:cs typeface="Times New Roman"/>
                <a:sym typeface="Times New Roman"/>
                <a:hlinkClick r:id="rId8"/>
              </a:rPr>
              <a:t>Ouyang et al., 2022</a:t>
            </a:r>
            <a:r>
              <a:rPr lang="zh-CN">
                <a:solidFill>
                  <a:schemeClr val="dk1"/>
                </a:solidFill>
                <a:latin typeface="Times New Roman"/>
                <a:ea typeface="Times New Roman"/>
                <a:cs typeface="Times New Roman"/>
                <a:sym typeface="Times New Roman"/>
              </a:rPr>
              <a:t>]. Why? </a:t>
            </a:r>
            <a:endParaRPr>
              <a:solidFill>
                <a:schemeClr val="dk1"/>
              </a:solidFill>
              <a:latin typeface="Times New Roman"/>
              <a:ea typeface="Times New Roman"/>
              <a:cs typeface="Times New Roman"/>
              <a:sym typeface="Times New Roman"/>
            </a:endParaRPr>
          </a:p>
          <a:p>
            <a:pPr lvl="1">
              <a:buClr>
                <a:schemeClr val="dk1"/>
              </a:buClr>
              <a:buFont typeface="Times New Roman"/>
              <a:buChar char="○"/>
            </a:pPr>
            <a:r>
              <a:rPr lang="zh-CN">
                <a:solidFill>
                  <a:schemeClr val="dk1"/>
                </a:solidFill>
                <a:latin typeface="Times New Roman"/>
                <a:ea typeface="Times New Roman"/>
                <a:cs typeface="Times New Roman"/>
                <a:sym typeface="Times New Roman"/>
              </a:rPr>
              <a:t>RL w/ LMs has commonly been viewed as very hard to get right (still is!) </a:t>
            </a:r>
            <a:endParaRPr>
              <a:solidFill>
                <a:schemeClr val="dk1"/>
              </a:solidFill>
              <a:latin typeface="Times New Roman"/>
              <a:ea typeface="Times New Roman"/>
              <a:cs typeface="Times New Roman"/>
              <a:sym typeface="Times New Roman"/>
            </a:endParaRPr>
          </a:p>
          <a:p>
            <a:pPr lvl="1">
              <a:buClr>
                <a:schemeClr val="dk1"/>
              </a:buClr>
              <a:buFont typeface="Times New Roman"/>
              <a:buChar char="○"/>
            </a:pPr>
            <a:r>
              <a:rPr lang="zh-CN">
                <a:solidFill>
                  <a:schemeClr val="dk1"/>
                </a:solidFill>
                <a:latin typeface="Times New Roman"/>
                <a:ea typeface="Times New Roman"/>
                <a:cs typeface="Times New Roman"/>
                <a:sym typeface="Times New Roman"/>
              </a:rPr>
              <a:t>Newer advances in RL algorithms that work for large neural models, including language models (e.g. PPO; [</a:t>
            </a:r>
            <a:r>
              <a:rPr lang="zh-CN" u="sng">
                <a:solidFill>
                  <a:schemeClr val="hlink"/>
                </a:solidFill>
                <a:latin typeface="Times New Roman"/>
                <a:ea typeface="Times New Roman"/>
                <a:cs typeface="Times New Roman"/>
                <a:sym typeface="Times New Roman"/>
                <a:hlinkClick r:id="rId9"/>
              </a:rPr>
              <a:t>Schulman et al., 2017</a:t>
            </a:r>
            <a:r>
              <a:rPr lang="zh-CN">
                <a:solidFill>
                  <a:schemeClr val="dk1"/>
                </a:solidFill>
                <a:latin typeface="Times New Roman"/>
                <a:ea typeface="Times New Roman"/>
                <a:cs typeface="Times New Roman"/>
                <a:sym typeface="Times New Roman"/>
              </a:rPr>
              <a:t>])</a:t>
            </a:r>
            <a:endParaRPr>
              <a:solidFill>
                <a:schemeClr val="dk1"/>
              </a:solidFill>
              <a:latin typeface="Times New Roman"/>
              <a:ea typeface="Times New Roman"/>
              <a:cs typeface="Times New Roman"/>
              <a:sym typeface="Times New Roman"/>
            </a:endParaRPr>
          </a:p>
        </p:txBody>
      </p:sp>
      <p:pic>
        <p:nvPicPr>
          <p:cNvPr id="597" name="Google Shape;597;p76"/>
          <p:cNvPicPr preferRelativeResize="0"/>
          <p:nvPr/>
        </p:nvPicPr>
        <p:blipFill rotWithShape="1">
          <a:blip r:embed="rId10">
            <a:alphaModFix/>
          </a:blip>
          <a:srcRect/>
          <a:stretch/>
        </p:blipFill>
        <p:spPr>
          <a:xfrm>
            <a:off x="8509201" y="1169767"/>
            <a:ext cx="3479601" cy="492205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09"/>
        <p:cNvGrpSpPr/>
        <p:nvPr/>
      </p:nvGrpSpPr>
      <p:grpSpPr>
        <a:xfrm>
          <a:off x="0" y="0"/>
          <a:ext cx="0" cy="0"/>
          <a:chOff x="0" y="0"/>
          <a:chExt cx="0" cy="0"/>
        </a:xfrm>
      </p:grpSpPr>
      <p:sp>
        <p:nvSpPr>
          <p:cNvPr id="610" name="Google Shape;610;p78"/>
          <p:cNvSpPr txBox="1">
            <a:spLocks noGrp="1"/>
          </p:cNvSpPr>
          <p:nvPr>
            <p:ph type="title"/>
          </p:nvPr>
        </p:nvSpPr>
        <p:spPr>
          <a:xfrm>
            <a:off x="415600" y="593367"/>
            <a:ext cx="11360800" cy="763600"/>
          </a:xfrm>
          <a:prstGeom prst="rect">
            <a:avLst/>
          </a:prstGeom>
          <a:noFill/>
          <a:ln>
            <a:noFill/>
          </a:ln>
        </p:spPr>
        <p:txBody>
          <a:bodyPr spcFirstLastPara="1" vert="horz" wrap="square" lIns="121900" tIns="121900" rIns="121900" bIns="121900" rtlCol="0" anchor="t" anchorCtr="0">
            <a:normAutofit fontScale="90000"/>
          </a:bodyPr>
          <a:lstStyle/>
          <a:p>
            <a:pPr>
              <a:buSzPct val="111111"/>
            </a:pPr>
            <a:r>
              <a:rPr lang="zh-CN">
                <a:latin typeface="Times New Roman"/>
                <a:ea typeface="Times New Roman"/>
                <a:cs typeface="Times New Roman"/>
                <a:sym typeface="Times New Roman"/>
              </a:rPr>
              <a:t>How do we model human preferences?</a:t>
            </a:r>
            <a:endParaRPr>
              <a:latin typeface="Times New Roman"/>
              <a:ea typeface="Times New Roman"/>
              <a:cs typeface="Times New Roman"/>
              <a:sym typeface="Times New Roman"/>
            </a:endParaRPr>
          </a:p>
        </p:txBody>
      </p:sp>
      <p:sp>
        <p:nvSpPr>
          <p:cNvPr id="611" name="Google Shape;611;p78"/>
          <p:cNvSpPr txBox="1">
            <a:spLocks noGrp="1"/>
          </p:cNvSpPr>
          <p:nvPr>
            <p:ph type="body" idx="1"/>
          </p:nvPr>
        </p:nvSpPr>
        <p:spPr>
          <a:xfrm>
            <a:off x="415600" y="1458567"/>
            <a:ext cx="11360800" cy="1796000"/>
          </a:xfrm>
          <a:prstGeom prst="rect">
            <a:avLst/>
          </a:prstGeom>
          <a:noFill/>
          <a:ln>
            <a:noFill/>
          </a:ln>
        </p:spPr>
        <p:txBody>
          <a:bodyPr spcFirstLastPara="1" vert="horz" wrap="square" lIns="121900" tIns="121900" rIns="121900" bIns="121900" rtlCol="0" anchor="t" anchorCtr="0">
            <a:normAutofit fontScale="92500" lnSpcReduction="10000"/>
          </a:bodyPr>
          <a:lstStyle/>
          <a:p>
            <a:pPr marL="0" indent="0">
              <a:lnSpc>
                <a:spcPct val="100000"/>
              </a:lnSpc>
              <a:buNone/>
            </a:pPr>
            <a:r>
              <a:rPr lang="zh-CN" b="1">
                <a:solidFill>
                  <a:schemeClr val="dk1"/>
                </a:solidFill>
                <a:latin typeface="Times New Roman"/>
                <a:ea typeface="Times New Roman"/>
                <a:cs typeface="Times New Roman"/>
                <a:sym typeface="Times New Roman"/>
              </a:rPr>
              <a:t>Problem 2:</a:t>
            </a:r>
            <a:r>
              <a:rPr lang="zh-CN">
                <a:solidFill>
                  <a:schemeClr val="dk1"/>
                </a:solidFill>
                <a:latin typeface="Times New Roman"/>
                <a:ea typeface="Times New Roman"/>
                <a:cs typeface="Times New Roman"/>
                <a:sym typeface="Times New Roman"/>
              </a:rPr>
              <a:t> human judgments are noisy and miscalibrated!</a:t>
            </a:r>
            <a:endParaRPr>
              <a:solidFill>
                <a:schemeClr val="dk1"/>
              </a:solidFill>
              <a:latin typeface="Times New Roman"/>
              <a:ea typeface="Times New Roman"/>
              <a:cs typeface="Times New Roman"/>
              <a:sym typeface="Times New Roman"/>
            </a:endParaRPr>
          </a:p>
          <a:p>
            <a:pPr marL="0" indent="0">
              <a:lnSpc>
                <a:spcPct val="100000"/>
              </a:lnSpc>
              <a:spcBef>
                <a:spcPts val="1600"/>
              </a:spcBef>
              <a:spcAft>
                <a:spcPts val="1600"/>
              </a:spcAft>
              <a:buNone/>
            </a:pPr>
            <a:r>
              <a:rPr lang="zh-CN" b="1">
                <a:solidFill>
                  <a:schemeClr val="dk1"/>
                </a:solidFill>
                <a:latin typeface="Times New Roman"/>
                <a:ea typeface="Times New Roman"/>
                <a:cs typeface="Times New Roman"/>
                <a:sym typeface="Times New Roman"/>
              </a:rPr>
              <a:t>Solution:</a:t>
            </a:r>
            <a:r>
              <a:rPr lang="zh-CN">
                <a:solidFill>
                  <a:schemeClr val="dk1"/>
                </a:solidFill>
                <a:latin typeface="Times New Roman"/>
                <a:ea typeface="Times New Roman"/>
                <a:cs typeface="Times New Roman"/>
                <a:sym typeface="Times New Roman"/>
              </a:rPr>
              <a:t> instead of asking for direct ratings, ask for pairwise comparisons, which can be more reliable [</a:t>
            </a:r>
            <a:r>
              <a:rPr lang="zh-CN" u="sng">
                <a:solidFill>
                  <a:schemeClr val="hlink"/>
                </a:solidFill>
                <a:latin typeface="Times New Roman"/>
                <a:ea typeface="Times New Roman"/>
                <a:cs typeface="Times New Roman"/>
                <a:sym typeface="Times New Roman"/>
                <a:hlinkClick r:id="rId3"/>
              </a:rPr>
              <a:t>Clark et al., 2018</a:t>
            </a:r>
            <a:r>
              <a:rPr lang="zh-CN">
                <a:solidFill>
                  <a:schemeClr val="dk1"/>
                </a:solidFill>
                <a:latin typeface="Times New Roman"/>
                <a:ea typeface="Times New Roman"/>
                <a:cs typeface="Times New Roman"/>
                <a:sym typeface="Times New Roman"/>
              </a:rPr>
              <a:t>]</a:t>
            </a:r>
            <a:endParaRPr>
              <a:latin typeface="Times New Roman"/>
              <a:ea typeface="Times New Roman"/>
              <a:cs typeface="Times New Roman"/>
              <a:sym typeface="Times New Roman"/>
            </a:endParaRPr>
          </a:p>
        </p:txBody>
      </p:sp>
      <p:pic>
        <p:nvPicPr>
          <p:cNvPr id="6" name="Google Shape;612;p78">
            <a:extLst>
              <a:ext uri="{FF2B5EF4-FFF2-40B4-BE49-F238E27FC236}">
                <a16:creationId xmlns:a16="http://schemas.microsoft.com/office/drawing/2014/main" id="{E2DE3B44-047D-4FFC-9FF5-4AEEDBF15958}"/>
              </a:ext>
            </a:extLst>
          </p:cNvPr>
          <p:cNvPicPr preferRelativeResize="0"/>
          <p:nvPr/>
        </p:nvPicPr>
        <p:blipFill rotWithShape="1">
          <a:blip r:embed="rId4">
            <a:alphaModFix/>
          </a:blip>
          <a:srcRect t="41797" r="59608"/>
          <a:stretch/>
        </p:blipFill>
        <p:spPr>
          <a:xfrm>
            <a:off x="4572000" y="5181681"/>
            <a:ext cx="2768601" cy="1429920"/>
          </a:xfrm>
          <a:prstGeom prst="rect">
            <a:avLst/>
          </a:prstGeom>
          <a:noFill/>
          <a:ln>
            <a:noFill/>
          </a:ln>
        </p:spPr>
      </p:pic>
      <p:grpSp>
        <p:nvGrpSpPr>
          <p:cNvPr id="3" name="Group 2">
            <a:extLst>
              <a:ext uri="{FF2B5EF4-FFF2-40B4-BE49-F238E27FC236}">
                <a16:creationId xmlns:a16="http://schemas.microsoft.com/office/drawing/2014/main" id="{DB346CF9-B010-4AA9-BEB0-74B08C4E413F}"/>
              </a:ext>
            </a:extLst>
          </p:cNvPr>
          <p:cNvGrpSpPr/>
          <p:nvPr/>
        </p:nvGrpSpPr>
        <p:grpSpPr>
          <a:xfrm>
            <a:off x="940565" y="3079441"/>
            <a:ext cx="10310869" cy="2102240"/>
            <a:chOff x="940565" y="3079441"/>
            <a:chExt cx="10310869" cy="2102240"/>
          </a:xfrm>
        </p:grpSpPr>
        <p:pic>
          <p:nvPicPr>
            <p:cNvPr id="612" name="Google Shape;612;p78"/>
            <p:cNvPicPr preferRelativeResize="0"/>
            <p:nvPr/>
          </p:nvPicPr>
          <p:blipFill rotWithShape="1">
            <a:blip r:embed="rId4">
              <a:alphaModFix/>
            </a:blip>
            <a:srcRect b="45639"/>
            <a:stretch/>
          </p:blipFill>
          <p:spPr>
            <a:xfrm>
              <a:off x="940565" y="3079441"/>
              <a:ext cx="10310869" cy="2009026"/>
            </a:xfrm>
            <a:prstGeom prst="rect">
              <a:avLst/>
            </a:prstGeom>
            <a:noFill/>
            <a:ln>
              <a:noFill/>
            </a:ln>
          </p:spPr>
        </p:pic>
        <p:pic>
          <p:nvPicPr>
            <p:cNvPr id="2" name="Picture 1">
              <a:extLst>
                <a:ext uri="{FF2B5EF4-FFF2-40B4-BE49-F238E27FC236}">
                  <a16:creationId xmlns:a16="http://schemas.microsoft.com/office/drawing/2014/main" id="{CEF42218-F85D-4BA5-B045-EC15274491C6}"/>
                </a:ext>
              </a:extLst>
            </p:cNvPr>
            <p:cNvPicPr>
              <a:picLocks noChangeAspect="1"/>
            </p:cNvPicPr>
            <p:nvPr/>
          </p:nvPicPr>
          <p:blipFill>
            <a:blip r:embed="rId5"/>
            <a:stretch>
              <a:fillRect/>
            </a:stretch>
          </p:blipFill>
          <p:spPr>
            <a:xfrm>
              <a:off x="4124325" y="4629231"/>
              <a:ext cx="895350" cy="552450"/>
            </a:xfrm>
            <a:prstGeom prst="rect">
              <a:avLst/>
            </a:prstGeom>
          </p:spPr>
        </p:pic>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3EB27-7439-4F28-8646-CBE91778273D}"/>
              </a:ext>
            </a:extLst>
          </p:cNvPr>
          <p:cNvSpPr>
            <a:spLocks noGrp="1"/>
          </p:cNvSpPr>
          <p:nvPr>
            <p:ph type="title"/>
          </p:nvPr>
        </p:nvSpPr>
        <p:spPr/>
        <p:txBody>
          <a:bodyPr>
            <a:normAutofit fontScale="90000"/>
          </a:bodyPr>
          <a:lstStyle/>
          <a:p>
            <a:r>
              <a:rPr lang="en-US" altLang="zh-CN" dirty="0"/>
              <a:t>An overall picture of RLHF</a:t>
            </a:r>
            <a:endParaRPr lang="zh-CN" altLang="en-US" dirty="0"/>
          </a:p>
        </p:txBody>
      </p:sp>
      <p:pic>
        <p:nvPicPr>
          <p:cNvPr id="4" name="Picture 3">
            <a:extLst>
              <a:ext uri="{FF2B5EF4-FFF2-40B4-BE49-F238E27FC236}">
                <a16:creationId xmlns:a16="http://schemas.microsoft.com/office/drawing/2014/main" id="{45076539-A479-4257-B57F-5F186845F8E6}"/>
              </a:ext>
            </a:extLst>
          </p:cNvPr>
          <p:cNvPicPr>
            <a:picLocks noChangeAspect="1"/>
          </p:cNvPicPr>
          <p:nvPr/>
        </p:nvPicPr>
        <p:blipFill>
          <a:blip r:embed="rId2"/>
          <a:stretch>
            <a:fillRect/>
          </a:stretch>
        </p:blipFill>
        <p:spPr>
          <a:xfrm>
            <a:off x="2129589" y="1415203"/>
            <a:ext cx="8752974" cy="4849430"/>
          </a:xfrm>
          <a:prstGeom prst="rect">
            <a:avLst/>
          </a:prstGeom>
        </p:spPr>
      </p:pic>
      <p:sp>
        <p:nvSpPr>
          <p:cNvPr id="5" name="Rectangle 4">
            <a:extLst>
              <a:ext uri="{FF2B5EF4-FFF2-40B4-BE49-F238E27FC236}">
                <a16:creationId xmlns:a16="http://schemas.microsoft.com/office/drawing/2014/main" id="{22D79CD4-E310-45D1-9A56-BBD2040BF437}"/>
              </a:ext>
            </a:extLst>
          </p:cNvPr>
          <p:cNvSpPr/>
          <p:nvPr/>
        </p:nvSpPr>
        <p:spPr>
          <a:xfrm>
            <a:off x="2200563" y="6276189"/>
            <a:ext cx="8045792" cy="369332"/>
          </a:xfrm>
          <a:prstGeom prst="rect">
            <a:avLst/>
          </a:prstGeom>
        </p:spPr>
        <p:txBody>
          <a:bodyPr wrap="none">
            <a:spAutoFit/>
          </a:bodyPr>
          <a:lstStyle/>
          <a:p>
            <a:r>
              <a:rPr lang="en-US" altLang="zh-CN" dirty="0"/>
              <a:t>Learning to summarize from human feedback. https://arxiv.org/pdf/2009.01325</a:t>
            </a:r>
            <a:endParaRPr lang="zh-CN" altLang="en-US" dirty="0"/>
          </a:p>
        </p:txBody>
      </p:sp>
    </p:spTree>
    <p:extLst>
      <p:ext uri="{BB962C8B-B14F-4D97-AF65-F5344CB8AC3E}">
        <p14:creationId xmlns:p14="http://schemas.microsoft.com/office/powerpoint/2010/main" val="34560264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p84"/>
          <p:cNvSpPr txBox="1">
            <a:spLocks noGrp="1"/>
          </p:cNvSpPr>
          <p:nvPr>
            <p:ph type="title"/>
          </p:nvPr>
        </p:nvSpPr>
        <p:spPr>
          <a:xfrm>
            <a:off x="415600" y="2481000"/>
            <a:ext cx="11360800" cy="2281600"/>
          </a:xfrm>
          <a:prstGeom prst="rect">
            <a:avLst/>
          </a:prstGeom>
          <a:noFill/>
          <a:ln>
            <a:noFill/>
          </a:ln>
        </p:spPr>
        <p:txBody>
          <a:bodyPr spcFirstLastPara="1" vert="horz" wrap="square" lIns="121900" tIns="121900" rIns="121900" bIns="121900" rtlCol="0" anchor="t" anchorCtr="0">
            <a:normAutofit/>
          </a:bodyPr>
          <a:lstStyle/>
          <a:p>
            <a:pPr algn="ctr"/>
            <a:r>
              <a:rPr lang="en-US" altLang="zh-CN" sz="4533" dirty="0">
                <a:solidFill>
                  <a:srgbClr val="FF0000"/>
                </a:solidFill>
                <a:latin typeface="Times New Roman"/>
                <a:ea typeface="Times New Roman"/>
                <a:cs typeface="Times New Roman"/>
                <a:sym typeface="Times New Roman"/>
              </a:rPr>
              <a:t>RLHF in </a:t>
            </a:r>
            <a:r>
              <a:rPr lang="en-US" altLang="zh-CN" sz="4533" dirty="0" err="1">
                <a:solidFill>
                  <a:srgbClr val="FF0000"/>
                </a:solidFill>
                <a:latin typeface="Times New Roman"/>
                <a:ea typeface="Times New Roman"/>
                <a:cs typeface="Times New Roman"/>
                <a:sym typeface="Times New Roman"/>
              </a:rPr>
              <a:t>InstructGPT</a:t>
            </a:r>
            <a:endParaRPr sz="4533" dirty="0">
              <a:solidFill>
                <a:srgbClr val="FF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0944655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7" y="667109"/>
            <a:ext cx="10845800" cy="571096"/>
          </a:xfrm>
          <a:prstGeom prst="rect">
            <a:avLst/>
          </a:prstGeom>
        </p:spPr>
        <p:txBody>
          <a:bodyPr spcFirstLastPara="1" vert="horz" wrap="square" lIns="0" tIns="22013" rIns="0" bIns="0" rtlCol="0" anchor="ctr" anchorCtr="0">
            <a:spAutoFit/>
          </a:bodyPr>
          <a:lstStyle/>
          <a:p>
            <a:pPr marL="16933">
              <a:lnSpc>
                <a:spcPct val="100000"/>
              </a:lnSpc>
              <a:spcBef>
                <a:spcPts val="173"/>
              </a:spcBef>
            </a:pPr>
            <a:r>
              <a:rPr sz="3400" spc="13" dirty="0"/>
              <a:t>RLHF: Reinforcement Learning From </a:t>
            </a:r>
            <a:r>
              <a:rPr sz="3400" spc="20" dirty="0"/>
              <a:t>Human</a:t>
            </a:r>
            <a:r>
              <a:rPr sz="3400" spc="-100" dirty="0"/>
              <a:t> </a:t>
            </a:r>
            <a:r>
              <a:rPr sz="3400" spc="13" dirty="0"/>
              <a:t>Feedback</a:t>
            </a:r>
            <a:endParaRPr sz="34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329164" y="1592056"/>
            <a:ext cx="2073341" cy="3571553"/>
          </a:xfrm>
          <a:prstGeom prst="rect">
            <a:avLst/>
          </a:prstGeom>
          <a:blipFill>
            <a:blip r:embed="rId2" cstate="print"/>
            <a:stretch>
              <a:fillRect/>
            </a:stretch>
          </a:blipFill>
        </p:spPr>
        <p:txBody>
          <a:bodyPr wrap="square" lIns="0" tIns="0" rIns="0" bIns="0" rtlCol="0"/>
          <a:lstStyle/>
          <a:p>
            <a:endParaRPr sz="2400"/>
          </a:p>
        </p:txBody>
      </p:sp>
      <p:sp>
        <p:nvSpPr>
          <p:cNvPr id="3" name="object 3"/>
          <p:cNvSpPr txBox="1">
            <a:spLocks noGrp="1"/>
          </p:cNvSpPr>
          <p:nvPr>
            <p:ph type="title"/>
          </p:nvPr>
        </p:nvSpPr>
        <p:spPr>
          <a:xfrm>
            <a:off x="512967" y="667109"/>
            <a:ext cx="10845800" cy="571096"/>
          </a:xfrm>
          <a:prstGeom prst="rect">
            <a:avLst/>
          </a:prstGeom>
        </p:spPr>
        <p:txBody>
          <a:bodyPr spcFirstLastPara="1" vert="horz" wrap="square" lIns="0" tIns="22013" rIns="0" bIns="0" rtlCol="0" anchor="ctr" anchorCtr="0">
            <a:spAutoFit/>
          </a:bodyPr>
          <a:lstStyle/>
          <a:p>
            <a:pPr marL="16933">
              <a:lnSpc>
                <a:spcPct val="100000"/>
              </a:lnSpc>
              <a:spcBef>
                <a:spcPts val="173"/>
              </a:spcBef>
            </a:pPr>
            <a:r>
              <a:rPr sz="3400" spc="13" dirty="0"/>
              <a:t>RLHF: Reinforcement Learning From </a:t>
            </a:r>
            <a:r>
              <a:rPr sz="3400" spc="20" dirty="0"/>
              <a:t>Human</a:t>
            </a:r>
            <a:r>
              <a:rPr sz="3400" spc="-100" dirty="0"/>
              <a:t> </a:t>
            </a:r>
            <a:r>
              <a:rPr sz="3400" spc="13" dirty="0"/>
              <a:t>Feedback</a:t>
            </a:r>
            <a:endParaRPr sz="3400"/>
          </a:p>
        </p:txBody>
      </p:sp>
      <p:sp>
        <p:nvSpPr>
          <p:cNvPr id="4" name="object 4"/>
          <p:cNvSpPr txBox="1"/>
          <p:nvPr/>
        </p:nvSpPr>
        <p:spPr>
          <a:xfrm>
            <a:off x="351367" y="6113487"/>
            <a:ext cx="6554893" cy="187231"/>
          </a:xfrm>
          <a:prstGeom prst="rect">
            <a:avLst/>
          </a:prstGeom>
        </p:spPr>
        <p:txBody>
          <a:bodyPr vert="horz" wrap="square" lIns="0" tIns="2540" rIns="0" bIns="0" rtlCol="0">
            <a:spAutoFit/>
          </a:bodyPr>
          <a:lstStyle/>
          <a:p>
            <a:pPr marL="16933">
              <a:spcBef>
                <a:spcPts val="20"/>
              </a:spcBef>
            </a:pPr>
            <a:r>
              <a:rPr sz="1200" b="1" spc="-20" dirty="0">
                <a:solidFill>
                  <a:srgbClr val="8C1414"/>
                </a:solidFill>
                <a:latin typeface="Arial"/>
                <a:cs typeface="Arial"/>
              </a:rPr>
              <a:t>Training </a:t>
            </a:r>
            <a:r>
              <a:rPr sz="1200" b="1" spc="-7" dirty="0">
                <a:solidFill>
                  <a:srgbClr val="8C1414"/>
                </a:solidFill>
                <a:latin typeface="Arial"/>
                <a:cs typeface="Arial"/>
              </a:rPr>
              <a:t>language models </a:t>
            </a:r>
            <a:r>
              <a:rPr sz="1200" b="1" dirty="0">
                <a:solidFill>
                  <a:srgbClr val="8C1414"/>
                </a:solidFill>
                <a:latin typeface="Arial"/>
                <a:cs typeface="Arial"/>
              </a:rPr>
              <a:t>to follow </a:t>
            </a:r>
            <a:r>
              <a:rPr sz="1200" b="1" spc="-7" dirty="0">
                <a:solidFill>
                  <a:srgbClr val="8C1414"/>
                </a:solidFill>
                <a:latin typeface="Arial"/>
                <a:cs typeface="Arial"/>
              </a:rPr>
              <a:t>instructions with human </a:t>
            </a:r>
            <a:r>
              <a:rPr sz="1200" b="1" dirty="0">
                <a:solidFill>
                  <a:srgbClr val="8C1414"/>
                </a:solidFill>
                <a:latin typeface="Arial"/>
                <a:cs typeface="Arial"/>
              </a:rPr>
              <a:t>feedback, </a:t>
            </a:r>
            <a:r>
              <a:rPr sz="1200" b="1" spc="-7" dirty="0">
                <a:solidFill>
                  <a:srgbClr val="8C1414"/>
                </a:solidFill>
                <a:latin typeface="Arial"/>
                <a:cs typeface="Arial"/>
              </a:rPr>
              <a:t>Ouyang et. al.</a:t>
            </a:r>
            <a:r>
              <a:rPr sz="1200" b="1" spc="47" dirty="0">
                <a:solidFill>
                  <a:srgbClr val="8C1414"/>
                </a:solidFill>
                <a:latin typeface="Arial"/>
                <a:cs typeface="Arial"/>
              </a:rPr>
              <a:t> </a:t>
            </a:r>
            <a:r>
              <a:rPr sz="1200" b="1" spc="-7" dirty="0">
                <a:solidFill>
                  <a:srgbClr val="8C1414"/>
                </a:solidFill>
                <a:latin typeface="Arial"/>
                <a:cs typeface="Arial"/>
              </a:rPr>
              <a:t>2022</a:t>
            </a:r>
            <a:endParaRPr sz="1200">
              <a:latin typeface="Arial"/>
              <a:cs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810015" y="1560167"/>
            <a:ext cx="2232021" cy="4209331"/>
          </a:xfrm>
          <a:prstGeom prst="rect">
            <a:avLst/>
          </a:prstGeom>
          <a:blipFill>
            <a:blip r:embed="rId2" cstate="print"/>
            <a:stretch>
              <a:fillRect/>
            </a:stretch>
          </a:blipFill>
        </p:spPr>
        <p:txBody>
          <a:bodyPr wrap="square" lIns="0" tIns="0" rIns="0" bIns="0" rtlCol="0"/>
          <a:lstStyle/>
          <a:p>
            <a:endParaRPr sz="2400"/>
          </a:p>
        </p:txBody>
      </p:sp>
      <p:sp>
        <p:nvSpPr>
          <p:cNvPr id="3" name="object 3"/>
          <p:cNvSpPr/>
          <p:nvPr/>
        </p:nvSpPr>
        <p:spPr>
          <a:xfrm>
            <a:off x="1329164" y="1592056"/>
            <a:ext cx="2073341" cy="3571553"/>
          </a:xfrm>
          <a:prstGeom prst="rect">
            <a:avLst/>
          </a:prstGeom>
          <a:blipFill>
            <a:blip r:embed="rId3" cstate="print"/>
            <a:stretch>
              <a:fillRect/>
            </a:stretch>
          </a:blipFill>
        </p:spPr>
        <p:txBody>
          <a:bodyPr wrap="square" lIns="0" tIns="0" rIns="0" bIns="0" rtlCol="0"/>
          <a:lstStyle/>
          <a:p>
            <a:endParaRPr sz="2400"/>
          </a:p>
        </p:txBody>
      </p:sp>
      <p:sp>
        <p:nvSpPr>
          <p:cNvPr id="4" name="object 4"/>
          <p:cNvSpPr txBox="1">
            <a:spLocks noGrp="1"/>
          </p:cNvSpPr>
          <p:nvPr>
            <p:ph type="title"/>
          </p:nvPr>
        </p:nvSpPr>
        <p:spPr>
          <a:xfrm>
            <a:off x="512967" y="667109"/>
            <a:ext cx="10845800" cy="571096"/>
          </a:xfrm>
          <a:prstGeom prst="rect">
            <a:avLst/>
          </a:prstGeom>
        </p:spPr>
        <p:txBody>
          <a:bodyPr spcFirstLastPara="1" vert="horz" wrap="square" lIns="0" tIns="22013" rIns="0" bIns="0" rtlCol="0" anchor="ctr" anchorCtr="0">
            <a:spAutoFit/>
          </a:bodyPr>
          <a:lstStyle/>
          <a:p>
            <a:pPr marL="16933">
              <a:lnSpc>
                <a:spcPct val="100000"/>
              </a:lnSpc>
              <a:spcBef>
                <a:spcPts val="173"/>
              </a:spcBef>
            </a:pPr>
            <a:r>
              <a:rPr sz="3400" spc="13" dirty="0"/>
              <a:t>RLHF: Reinforcement Learning From </a:t>
            </a:r>
            <a:r>
              <a:rPr sz="3400" spc="20" dirty="0"/>
              <a:t>Human</a:t>
            </a:r>
            <a:r>
              <a:rPr sz="3400" spc="-100" dirty="0"/>
              <a:t> </a:t>
            </a:r>
            <a:r>
              <a:rPr sz="3400" spc="13" dirty="0"/>
              <a:t>Feedback</a:t>
            </a:r>
            <a:endParaRPr sz="3400"/>
          </a:p>
        </p:txBody>
      </p:sp>
      <p:sp>
        <p:nvSpPr>
          <p:cNvPr id="5" name="object 5"/>
          <p:cNvSpPr txBox="1"/>
          <p:nvPr/>
        </p:nvSpPr>
        <p:spPr>
          <a:xfrm>
            <a:off x="351367" y="6113487"/>
            <a:ext cx="6554893" cy="187231"/>
          </a:xfrm>
          <a:prstGeom prst="rect">
            <a:avLst/>
          </a:prstGeom>
        </p:spPr>
        <p:txBody>
          <a:bodyPr vert="horz" wrap="square" lIns="0" tIns="2540" rIns="0" bIns="0" rtlCol="0">
            <a:spAutoFit/>
          </a:bodyPr>
          <a:lstStyle/>
          <a:p>
            <a:pPr marL="16933">
              <a:spcBef>
                <a:spcPts val="20"/>
              </a:spcBef>
            </a:pPr>
            <a:r>
              <a:rPr sz="1200" b="1" spc="-20" dirty="0">
                <a:solidFill>
                  <a:srgbClr val="8C1414"/>
                </a:solidFill>
                <a:latin typeface="Arial"/>
                <a:cs typeface="Arial"/>
              </a:rPr>
              <a:t>Training </a:t>
            </a:r>
            <a:r>
              <a:rPr sz="1200" b="1" spc="-7" dirty="0">
                <a:solidFill>
                  <a:srgbClr val="8C1414"/>
                </a:solidFill>
                <a:latin typeface="Arial"/>
                <a:cs typeface="Arial"/>
              </a:rPr>
              <a:t>language models </a:t>
            </a:r>
            <a:r>
              <a:rPr sz="1200" b="1" dirty="0">
                <a:solidFill>
                  <a:srgbClr val="8C1414"/>
                </a:solidFill>
                <a:latin typeface="Arial"/>
                <a:cs typeface="Arial"/>
              </a:rPr>
              <a:t>to follow </a:t>
            </a:r>
            <a:r>
              <a:rPr sz="1200" b="1" spc="-7" dirty="0">
                <a:solidFill>
                  <a:srgbClr val="8C1414"/>
                </a:solidFill>
                <a:latin typeface="Arial"/>
                <a:cs typeface="Arial"/>
              </a:rPr>
              <a:t>instructions with human </a:t>
            </a:r>
            <a:r>
              <a:rPr sz="1200" b="1" dirty="0">
                <a:solidFill>
                  <a:srgbClr val="8C1414"/>
                </a:solidFill>
                <a:latin typeface="Arial"/>
                <a:cs typeface="Arial"/>
              </a:rPr>
              <a:t>feedback, </a:t>
            </a:r>
            <a:r>
              <a:rPr sz="1200" b="1" spc="-7" dirty="0">
                <a:solidFill>
                  <a:srgbClr val="8C1414"/>
                </a:solidFill>
                <a:latin typeface="Arial"/>
                <a:cs typeface="Arial"/>
              </a:rPr>
              <a:t>Ouyang et. al.</a:t>
            </a:r>
            <a:r>
              <a:rPr sz="1200" b="1" spc="47" dirty="0">
                <a:solidFill>
                  <a:srgbClr val="8C1414"/>
                </a:solidFill>
                <a:latin typeface="Arial"/>
                <a:cs typeface="Arial"/>
              </a:rPr>
              <a:t> </a:t>
            </a:r>
            <a:r>
              <a:rPr sz="1200" b="1" spc="-7" dirty="0">
                <a:solidFill>
                  <a:srgbClr val="8C1414"/>
                </a:solidFill>
                <a:latin typeface="Arial"/>
                <a:cs typeface="Arial"/>
              </a:rPr>
              <a:t>2022</a:t>
            </a:r>
            <a:endParaRPr sz="1200">
              <a:latin typeface="Arial"/>
              <a:cs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810015" y="1560167"/>
            <a:ext cx="2232021" cy="4209331"/>
          </a:xfrm>
          <a:prstGeom prst="rect">
            <a:avLst/>
          </a:prstGeom>
          <a:blipFill>
            <a:blip r:embed="rId2" cstate="print"/>
            <a:stretch>
              <a:fillRect/>
            </a:stretch>
          </a:blipFill>
        </p:spPr>
        <p:txBody>
          <a:bodyPr wrap="square" lIns="0" tIns="0" rIns="0" bIns="0" rtlCol="0"/>
          <a:lstStyle/>
          <a:p>
            <a:endParaRPr sz="2400"/>
          </a:p>
        </p:txBody>
      </p:sp>
      <p:sp>
        <p:nvSpPr>
          <p:cNvPr id="3" name="object 3"/>
          <p:cNvSpPr/>
          <p:nvPr/>
        </p:nvSpPr>
        <p:spPr>
          <a:xfrm>
            <a:off x="8393591" y="1560167"/>
            <a:ext cx="2421479" cy="4209331"/>
          </a:xfrm>
          <a:prstGeom prst="rect">
            <a:avLst/>
          </a:prstGeom>
          <a:blipFill>
            <a:blip r:embed="rId3" cstate="print"/>
            <a:stretch>
              <a:fillRect/>
            </a:stretch>
          </a:blipFill>
        </p:spPr>
        <p:txBody>
          <a:bodyPr wrap="square" lIns="0" tIns="0" rIns="0" bIns="0" rtlCol="0"/>
          <a:lstStyle/>
          <a:p>
            <a:endParaRPr sz="2400"/>
          </a:p>
        </p:txBody>
      </p:sp>
      <p:sp>
        <p:nvSpPr>
          <p:cNvPr id="4" name="object 4"/>
          <p:cNvSpPr/>
          <p:nvPr/>
        </p:nvSpPr>
        <p:spPr>
          <a:xfrm>
            <a:off x="1329164" y="1592056"/>
            <a:ext cx="2073341" cy="3571553"/>
          </a:xfrm>
          <a:prstGeom prst="rect">
            <a:avLst/>
          </a:prstGeom>
          <a:blipFill>
            <a:blip r:embed="rId4" cstate="print"/>
            <a:stretch>
              <a:fillRect/>
            </a:stretch>
          </a:blipFill>
        </p:spPr>
        <p:txBody>
          <a:bodyPr wrap="square" lIns="0" tIns="0" rIns="0" bIns="0" rtlCol="0"/>
          <a:lstStyle/>
          <a:p>
            <a:endParaRPr sz="2400"/>
          </a:p>
        </p:txBody>
      </p:sp>
      <p:sp>
        <p:nvSpPr>
          <p:cNvPr id="5" name="object 5"/>
          <p:cNvSpPr txBox="1">
            <a:spLocks noGrp="1"/>
          </p:cNvSpPr>
          <p:nvPr>
            <p:ph type="title"/>
          </p:nvPr>
        </p:nvSpPr>
        <p:spPr>
          <a:xfrm>
            <a:off x="512967" y="667109"/>
            <a:ext cx="10845800" cy="571096"/>
          </a:xfrm>
          <a:prstGeom prst="rect">
            <a:avLst/>
          </a:prstGeom>
        </p:spPr>
        <p:txBody>
          <a:bodyPr spcFirstLastPara="1" vert="horz" wrap="square" lIns="0" tIns="22013" rIns="0" bIns="0" rtlCol="0" anchor="ctr" anchorCtr="0">
            <a:spAutoFit/>
          </a:bodyPr>
          <a:lstStyle/>
          <a:p>
            <a:pPr marL="16933">
              <a:lnSpc>
                <a:spcPct val="100000"/>
              </a:lnSpc>
              <a:spcBef>
                <a:spcPts val="173"/>
              </a:spcBef>
            </a:pPr>
            <a:r>
              <a:rPr sz="3400" spc="13" dirty="0"/>
              <a:t>RLHF: Reinforcement Learning From </a:t>
            </a:r>
            <a:r>
              <a:rPr sz="3400" spc="20" dirty="0"/>
              <a:t>Human</a:t>
            </a:r>
            <a:r>
              <a:rPr sz="3400" spc="-100" dirty="0"/>
              <a:t> </a:t>
            </a:r>
            <a:r>
              <a:rPr sz="3400" spc="13" dirty="0"/>
              <a:t>Feedback</a:t>
            </a:r>
            <a:endParaRPr sz="3400"/>
          </a:p>
        </p:txBody>
      </p:sp>
      <p:sp>
        <p:nvSpPr>
          <p:cNvPr id="6" name="object 6"/>
          <p:cNvSpPr txBox="1"/>
          <p:nvPr/>
        </p:nvSpPr>
        <p:spPr>
          <a:xfrm>
            <a:off x="351367" y="6113487"/>
            <a:ext cx="6554893" cy="187231"/>
          </a:xfrm>
          <a:prstGeom prst="rect">
            <a:avLst/>
          </a:prstGeom>
        </p:spPr>
        <p:txBody>
          <a:bodyPr vert="horz" wrap="square" lIns="0" tIns="2540" rIns="0" bIns="0" rtlCol="0">
            <a:spAutoFit/>
          </a:bodyPr>
          <a:lstStyle/>
          <a:p>
            <a:pPr marL="16933">
              <a:spcBef>
                <a:spcPts val="20"/>
              </a:spcBef>
            </a:pPr>
            <a:r>
              <a:rPr sz="1200" b="1" spc="-20" dirty="0">
                <a:solidFill>
                  <a:srgbClr val="8C1414"/>
                </a:solidFill>
                <a:latin typeface="Arial"/>
                <a:cs typeface="Arial"/>
              </a:rPr>
              <a:t>Training </a:t>
            </a:r>
            <a:r>
              <a:rPr sz="1200" b="1" spc="-7" dirty="0">
                <a:solidFill>
                  <a:srgbClr val="8C1414"/>
                </a:solidFill>
                <a:latin typeface="Arial"/>
                <a:cs typeface="Arial"/>
              </a:rPr>
              <a:t>language models </a:t>
            </a:r>
            <a:r>
              <a:rPr sz="1200" b="1" dirty="0">
                <a:solidFill>
                  <a:srgbClr val="8C1414"/>
                </a:solidFill>
                <a:latin typeface="Arial"/>
                <a:cs typeface="Arial"/>
              </a:rPr>
              <a:t>to follow </a:t>
            </a:r>
            <a:r>
              <a:rPr sz="1200" b="1" spc="-7" dirty="0">
                <a:solidFill>
                  <a:srgbClr val="8C1414"/>
                </a:solidFill>
                <a:latin typeface="Arial"/>
                <a:cs typeface="Arial"/>
              </a:rPr>
              <a:t>instructions with human </a:t>
            </a:r>
            <a:r>
              <a:rPr sz="1200" b="1" dirty="0">
                <a:solidFill>
                  <a:srgbClr val="8C1414"/>
                </a:solidFill>
                <a:latin typeface="Arial"/>
                <a:cs typeface="Arial"/>
              </a:rPr>
              <a:t>feedback, </a:t>
            </a:r>
            <a:r>
              <a:rPr sz="1200" b="1" spc="-7" dirty="0">
                <a:solidFill>
                  <a:srgbClr val="8C1414"/>
                </a:solidFill>
                <a:latin typeface="Arial"/>
                <a:cs typeface="Arial"/>
              </a:rPr>
              <a:t>Ouyang et. al.</a:t>
            </a:r>
            <a:r>
              <a:rPr sz="1200" b="1" spc="47" dirty="0">
                <a:solidFill>
                  <a:srgbClr val="8C1414"/>
                </a:solidFill>
                <a:latin typeface="Arial"/>
                <a:cs typeface="Arial"/>
              </a:rPr>
              <a:t> </a:t>
            </a:r>
            <a:r>
              <a:rPr sz="1200" b="1" spc="-7" dirty="0">
                <a:solidFill>
                  <a:srgbClr val="8C1414"/>
                </a:solidFill>
                <a:latin typeface="Arial"/>
                <a:cs typeface="Arial"/>
              </a:rPr>
              <a:t>2022</a:t>
            </a:r>
            <a:endParaRPr sz="1200">
              <a:latin typeface="Arial"/>
              <a:cs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810015" y="1560167"/>
            <a:ext cx="2232021" cy="4209331"/>
          </a:xfrm>
          <a:prstGeom prst="rect">
            <a:avLst/>
          </a:prstGeom>
          <a:blipFill>
            <a:blip r:embed="rId2" cstate="print"/>
            <a:stretch>
              <a:fillRect/>
            </a:stretch>
          </a:blipFill>
        </p:spPr>
        <p:txBody>
          <a:bodyPr wrap="square" lIns="0" tIns="0" rIns="0" bIns="0" rtlCol="0"/>
          <a:lstStyle/>
          <a:p>
            <a:endParaRPr sz="2400"/>
          </a:p>
        </p:txBody>
      </p:sp>
      <p:sp>
        <p:nvSpPr>
          <p:cNvPr id="3" name="object 3"/>
          <p:cNvSpPr/>
          <p:nvPr/>
        </p:nvSpPr>
        <p:spPr>
          <a:xfrm>
            <a:off x="8393591" y="1560167"/>
            <a:ext cx="2421479" cy="4209331"/>
          </a:xfrm>
          <a:prstGeom prst="rect">
            <a:avLst/>
          </a:prstGeom>
          <a:blipFill>
            <a:blip r:embed="rId3" cstate="print"/>
            <a:stretch>
              <a:fillRect/>
            </a:stretch>
          </a:blipFill>
        </p:spPr>
        <p:txBody>
          <a:bodyPr wrap="square" lIns="0" tIns="0" rIns="0" bIns="0" rtlCol="0"/>
          <a:lstStyle/>
          <a:p>
            <a:endParaRPr sz="2400"/>
          </a:p>
        </p:txBody>
      </p:sp>
      <p:sp>
        <p:nvSpPr>
          <p:cNvPr id="4" name="object 4"/>
          <p:cNvSpPr/>
          <p:nvPr/>
        </p:nvSpPr>
        <p:spPr>
          <a:xfrm>
            <a:off x="1329164" y="1592056"/>
            <a:ext cx="2073341" cy="3571553"/>
          </a:xfrm>
          <a:prstGeom prst="rect">
            <a:avLst/>
          </a:prstGeom>
          <a:blipFill>
            <a:blip r:embed="rId4" cstate="print"/>
            <a:stretch>
              <a:fillRect/>
            </a:stretch>
          </a:blipFill>
        </p:spPr>
        <p:txBody>
          <a:bodyPr wrap="square" lIns="0" tIns="0" rIns="0" bIns="0" rtlCol="0"/>
          <a:lstStyle/>
          <a:p>
            <a:endParaRPr sz="2400"/>
          </a:p>
        </p:txBody>
      </p:sp>
      <p:sp>
        <p:nvSpPr>
          <p:cNvPr id="5" name="object 5"/>
          <p:cNvSpPr/>
          <p:nvPr/>
        </p:nvSpPr>
        <p:spPr>
          <a:xfrm>
            <a:off x="4827102" y="1496434"/>
            <a:ext cx="2324100" cy="4157133"/>
          </a:xfrm>
          <a:custGeom>
            <a:avLst/>
            <a:gdLst/>
            <a:ahLst/>
            <a:cxnLst/>
            <a:rect l="l" t="t" r="r" b="b"/>
            <a:pathLst>
              <a:path w="1743075" h="3117850">
                <a:moveTo>
                  <a:pt x="0" y="0"/>
                </a:moveTo>
                <a:lnTo>
                  <a:pt x="1742699" y="0"/>
                </a:lnTo>
                <a:lnTo>
                  <a:pt x="1742699" y="3117299"/>
                </a:lnTo>
                <a:lnTo>
                  <a:pt x="0" y="3117299"/>
                </a:lnTo>
                <a:lnTo>
                  <a:pt x="0" y="0"/>
                </a:lnTo>
                <a:close/>
              </a:path>
            </a:pathLst>
          </a:custGeom>
          <a:ln w="76199">
            <a:solidFill>
              <a:srgbClr val="FF0000"/>
            </a:solidFill>
          </a:ln>
        </p:spPr>
        <p:txBody>
          <a:bodyPr wrap="square" lIns="0" tIns="0" rIns="0" bIns="0" rtlCol="0"/>
          <a:lstStyle/>
          <a:p>
            <a:endParaRPr sz="2400"/>
          </a:p>
        </p:txBody>
      </p:sp>
      <p:sp>
        <p:nvSpPr>
          <p:cNvPr id="6" name="object 6"/>
          <p:cNvSpPr txBox="1">
            <a:spLocks noGrp="1"/>
          </p:cNvSpPr>
          <p:nvPr>
            <p:ph type="title"/>
          </p:nvPr>
        </p:nvSpPr>
        <p:spPr>
          <a:xfrm>
            <a:off x="512968" y="667109"/>
            <a:ext cx="11124353" cy="571096"/>
          </a:xfrm>
          <a:prstGeom prst="rect">
            <a:avLst/>
          </a:prstGeom>
        </p:spPr>
        <p:txBody>
          <a:bodyPr spcFirstLastPara="1" vert="horz" wrap="square" lIns="0" tIns="22013" rIns="0" bIns="0" rtlCol="0" anchor="ctr" anchorCtr="0">
            <a:spAutoFit/>
          </a:bodyPr>
          <a:lstStyle/>
          <a:p>
            <a:pPr marL="16933">
              <a:lnSpc>
                <a:spcPct val="100000"/>
              </a:lnSpc>
              <a:spcBef>
                <a:spcPts val="173"/>
              </a:spcBef>
            </a:pPr>
            <a:r>
              <a:rPr sz="3400" spc="13" dirty="0"/>
              <a:t>RLHF: Learning </a:t>
            </a:r>
            <a:r>
              <a:rPr sz="3400" spc="20" dirty="0"/>
              <a:t>a </a:t>
            </a:r>
            <a:r>
              <a:rPr sz="3400" b="1" spc="13" dirty="0">
                <a:latin typeface="Georgia"/>
                <a:cs typeface="Georgia"/>
              </a:rPr>
              <a:t>reward </a:t>
            </a:r>
            <a:r>
              <a:rPr sz="3400" b="1" spc="20" dirty="0">
                <a:latin typeface="Georgia"/>
                <a:cs typeface="Georgia"/>
              </a:rPr>
              <a:t>model </a:t>
            </a:r>
            <a:r>
              <a:rPr sz="3400" spc="13" dirty="0"/>
              <a:t>from human</a:t>
            </a:r>
            <a:r>
              <a:rPr sz="3400" spc="-27" dirty="0"/>
              <a:t> </a:t>
            </a:r>
            <a:r>
              <a:rPr sz="3400" spc="7" dirty="0"/>
              <a:t>feedback</a:t>
            </a:r>
            <a:endParaRPr sz="3400">
              <a:latin typeface="Georgia"/>
              <a:cs typeface="Georgia"/>
            </a:endParaRPr>
          </a:p>
        </p:txBody>
      </p:sp>
      <p:sp>
        <p:nvSpPr>
          <p:cNvPr id="7" name="object 7"/>
          <p:cNvSpPr txBox="1"/>
          <p:nvPr/>
        </p:nvSpPr>
        <p:spPr>
          <a:xfrm>
            <a:off x="351367" y="6113487"/>
            <a:ext cx="6554893" cy="187231"/>
          </a:xfrm>
          <a:prstGeom prst="rect">
            <a:avLst/>
          </a:prstGeom>
        </p:spPr>
        <p:txBody>
          <a:bodyPr vert="horz" wrap="square" lIns="0" tIns="2540" rIns="0" bIns="0" rtlCol="0">
            <a:spAutoFit/>
          </a:bodyPr>
          <a:lstStyle/>
          <a:p>
            <a:pPr marL="16933">
              <a:spcBef>
                <a:spcPts val="20"/>
              </a:spcBef>
            </a:pPr>
            <a:r>
              <a:rPr sz="1200" b="1" spc="-20" dirty="0">
                <a:solidFill>
                  <a:srgbClr val="8C1414"/>
                </a:solidFill>
                <a:latin typeface="Arial"/>
                <a:cs typeface="Arial"/>
              </a:rPr>
              <a:t>Training </a:t>
            </a:r>
            <a:r>
              <a:rPr sz="1200" b="1" spc="-7" dirty="0">
                <a:solidFill>
                  <a:srgbClr val="8C1414"/>
                </a:solidFill>
                <a:latin typeface="Arial"/>
                <a:cs typeface="Arial"/>
              </a:rPr>
              <a:t>language models </a:t>
            </a:r>
            <a:r>
              <a:rPr sz="1200" b="1" dirty="0">
                <a:solidFill>
                  <a:srgbClr val="8C1414"/>
                </a:solidFill>
                <a:latin typeface="Arial"/>
                <a:cs typeface="Arial"/>
              </a:rPr>
              <a:t>to follow </a:t>
            </a:r>
            <a:r>
              <a:rPr sz="1200" b="1" spc="-7" dirty="0">
                <a:solidFill>
                  <a:srgbClr val="8C1414"/>
                </a:solidFill>
                <a:latin typeface="Arial"/>
                <a:cs typeface="Arial"/>
              </a:rPr>
              <a:t>instructions with human </a:t>
            </a:r>
            <a:r>
              <a:rPr sz="1200" b="1" dirty="0">
                <a:solidFill>
                  <a:srgbClr val="8C1414"/>
                </a:solidFill>
                <a:latin typeface="Arial"/>
                <a:cs typeface="Arial"/>
              </a:rPr>
              <a:t>feedback, </a:t>
            </a:r>
            <a:r>
              <a:rPr sz="1200" b="1" spc="-7" dirty="0">
                <a:solidFill>
                  <a:srgbClr val="8C1414"/>
                </a:solidFill>
                <a:latin typeface="Arial"/>
                <a:cs typeface="Arial"/>
              </a:rPr>
              <a:t>Ouyang et. al.</a:t>
            </a:r>
            <a:r>
              <a:rPr sz="1200" b="1" spc="47" dirty="0">
                <a:solidFill>
                  <a:srgbClr val="8C1414"/>
                </a:solidFill>
                <a:latin typeface="Arial"/>
                <a:cs typeface="Arial"/>
              </a:rPr>
              <a:t> </a:t>
            </a:r>
            <a:r>
              <a:rPr sz="1200" b="1" spc="-7" dirty="0">
                <a:solidFill>
                  <a:srgbClr val="8C1414"/>
                </a:solidFill>
                <a:latin typeface="Arial"/>
                <a:cs typeface="Arial"/>
              </a:rPr>
              <a:t>2022</a:t>
            </a:r>
            <a:endParaRPr sz="1200">
              <a:latin typeface="Arial"/>
              <a:cs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8" y="667109"/>
            <a:ext cx="11124353" cy="571096"/>
          </a:xfrm>
          <a:prstGeom prst="rect">
            <a:avLst/>
          </a:prstGeom>
        </p:spPr>
        <p:txBody>
          <a:bodyPr spcFirstLastPara="1" vert="horz" wrap="square" lIns="0" tIns="22013" rIns="0" bIns="0" rtlCol="0" anchor="ctr" anchorCtr="0">
            <a:spAutoFit/>
          </a:bodyPr>
          <a:lstStyle/>
          <a:p>
            <a:pPr marL="16933">
              <a:lnSpc>
                <a:spcPct val="100000"/>
              </a:lnSpc>
              <a:spcBef>
                <a:spcPts val="173"/>
              </a:spcBef>
            </a:pPr>
            <a:r>
              <a:rPr sz="3400" spc="13" dirty="0"/>
              <a:t>RLHF: Learning </a:t>
            </a:r>
            <a:r>
              <a:rPr sz="3400" spc="20" dirty="0"/>
              <a:t>a </a:t>
            </a:r>
            <a:r>
              <a:rPr sz="3400" b="1" spc="13" dirty="0">
                <a:latin typeface="Georgia"/>
                <a:cs typeface="Georgia"/>
              </a:rPr>
              <a:t>reward </a:t>
            </a:r>
            <a:r>
              <a:rPr sz="3400" b="1" spc="20" dirty="0">
                <a:latin typeface="Georgia"/>
                <a:cs typeface="Georgia"/>
              </a:rPr>
              <a:t>model </a:t>
            </a:r>
            <a:r>
              <a:rPr sz="3400" spc="13" dirty="0"/>
              <a:t>from human</a:t>
            </a:r>
            <a:r>
              <a:rPr sz="3400" spc="-27" dirty="0"/>
              <a:t> </a:t>
            </a:r>
            <a:r>
              <a:rPr sz="3400" spc="7" dirty="0"/>
              <a:t>feedback</a:t>
            </a:r>
            <a:endParaRPr sz="3400">
              <a:latin typeface="Georgia"/>
              <a:cs typeface="Georgi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12968" y="673257"/>
            <a:ext cx="11124353" cy="545448"/>
          </a:xfrm>
          <a:prstGeom prst="rect">
            <a:avLst/>
          </a:prstGeom>
        </p:spPr>
        <p:txBody>
          <a:bodyPr vert="horz" wrap="square" lIns="0" tIns="22013" rIns="0" bIns="0" rtlCol="0">
            <a:spAutoFit/>
          </a:bodyPr>
          <a:lstStyle/>
          <a:p>
            <a:pPr marL="16933">
              <a:spcBef>
                <a:spcPts val="173"/>
              </a:spcBef>
            </a:pPr>
            <a:r>
              <a:rPr sz="3400" spc="13" dirty="0">
                <a:solidFill>
                  <a:srgbClr val="8C1414"/>
                </a:solidFill>
                <a:latin typeface="Georgia"/>
                <a:cs typeface="Georgia"/>
              </a:rPr>
              <a:t>RLHF: Learning </a:t>
            </a:r>
            <a:r>
              <a:rPr sz="3400" spc="20" dirty="0">
                <a:solidFill>
                  <a:srgbClr val="8C1414"/>
                </a:solidFill>
                <a:latin typeface="Georgia"/>
                <a:cs typeface="Georgia"/>
              </a:rPr>
              <a:t>a </a:t>
            </a:r>
            <a:r>
              <a:rPr sz="3400" b="1" spc="13" dirty="0">
                <a:solidFill>
                  <a:srgbClr val="8C1414"/>
                </a:solidFill>
                <a:latin typeface="Georgia"/>
                <a:cs typeface="Georgia"/>
              </a:rPr>
              <a:t>reward </a:t>
            </a:r>
            <a:r>
              <a:rPr sz="3400" b="1" spc="20" dirty="0">
                <a:solidFill>
                  <a:srgbClr val="8C1414"/>
                </a:solidFill>
                <a:latin typeface="Georgia"/>
                <a:cs typeface="Georgia"/>
              </a:rPr>
              <a:t>model </a:t>
            </a:r>
            <a:r>
              <a:rPr sz="3400" spc="13" dirty="0">
                <a:solidFill>
                  <a:srgbClr val="8C1414"/>
                </a:solidFill>
                <a:latin typeface="Georgia"/>
                <a:cs typeface="Georgia"/>
              </a:rPr>
              <a:t>from human</a:t>
            </a:r>
            <a:r>
              <a:rPr sz="3400" spc="-27" dirty="0">
                <a:solidFill>
                  <a:srgbClr val="8C1414"/>
                </a:solidFill>
                <a:latin typeface="Georgia"/>
                <a:cs typeface="Georgia"/>
              </a:rPr>
              <a:t> </a:t>
            </a:r>
            <a:r>
              <a:rPr sz="3400" spc="7" dirty="0">
                <a:solidFill>
                  <a:srgbClr val="8C1414"/>
                </a:solidFill>
                <a:latin typeface="Georgia"/>
                <a:cs typeface="Georgia"/>
              </a:rPr>
              <a:t>feedback</a:t>
            </a:r>
            <a:endParaRPr sz="3400">
              <a:latin typeface="Georgia"/>
              <a:cs typeface="Georgia"/>
            </a:endParaRPr>
          </a:p>
        </p:txBody>
      </p:sp>
      <p:sp>
        <p:nvSpPr>
          <p:cNvPr id="3" name="object 3"/>
          <p:cNvSpPr txBox="1"/>
          <p:nvPr/>
        </p:nvSpPr>
        <p:spPr>
          <a:xfrm>
            <a:off x="635518" y="1534195"/>
            <a:ext cx="6831753" cy="345330"/>
          </a:xfrm>
          <a:prstGeom prst="rect">
            <a:avLst/>
          </a:prstGeom>
        </p:spPr>
        <p:txBody>
          <a:bodyPr vert="horz" wrap="square" lIns="0" tIns="16933" rIns="0" bIns="0" rtlCol="0">
            <a:spAutoFit/>
          </a:bodyPr>
          <a:lstStyle/>
          <a:p>
            <a:pPr marL="16933">
              <a:spcBef>
                <a:spcPts val="133"/>
              </a:spcBef>
            </a:pPr>
            <a:r>
              <a:rPr sz="2133" spc="-7" dirty="0">
                <a:solidFill>
                  <a:srgbClr val="8C1414"/>
                </a:solidFill>
                <a:latin typeface="Arial"/>
                <a:cs typeface="Arial"/>
              </a:rPr>
              <a:t>Feedback </a:t>
            </a:r>
            <a:r>
              <a:rPr sz="2133" dirty="0">
                <a:solidFill>
                  <a:srgbClr val="8C1414"/>
                </a:solidFill>
                <a:latin typeface="Arial"/>
                <a:cs typeface="Arial"/>
              </a:rPr>
              <a:t>comes </a:t>
            </a:r>
            <a:r>
              <a:rPr sz="2133" spc="-7" dirty="0">
                <a:solidFill>
                  <a:srgbClr val="8C1414"/>
                </a:solidFill>
                <a:latin typeface="Arial"/>
                <a:cs typeface="Arial"/>
              </a:rPr>
              <a:t>as </a:t>
            </a:r>
            <a:r>
              <a:rPr sz="2133" b="1" spc="-7" dirty="0">
                <a:solidFill>
                  <a:srgbClr val="8C1414"/>
                </a:solidFill>
                <a:latin typeface="Arial"/>
                <a:cs typeface="Arial"/>
              </a:rPr>
              <a:t>preferences over model</a:t>
            </a:r>
            <a:r>
              <a:rPr sz="2133" b="1" spc="-73" dirty="0">
                <a:solidFill>
                  <a:srgbClr val="8C1414"/>
                </a:solidFill>
                <a:latin typeface="Arial"/>
                <a:cs typeface="Arial"/>
              </a:rPr>
              <a:t> </a:t>
            </a:r>
            <a:r>
              <a:rPr sz="2133" b="1" spc="-7" dirty="0">
                <a:solidFill>
                  <a:srgbClr val="8C1414"/>
                </a:solidFill>
                <a:latin typeface="Arial"/>
                <a:cs typeface="Arial"/>
              </a:rPr>
              <a:t>samples:</a:t>
            </a:r>
            <a:endParaRPr sz="2133">
              <a:latin typeface="Arial"/>
              <a:cs typeface="Arial"/>
            </a:endParaRPr>
          </a:p>
        </p:txBody>
      </p:sp>
      <p:sp>
        <p:nvSpPr>
          <p:cNvPr id="4" name="object 4"/>
          <p:cNvSpPr/>
          <p:nvPr/>
        </p:nvSpPr>
        <p:spPr>
          <a:xfrm>
            <a:off x="7650801" y="1530633"/>
            <a:ext cx="2547265" cy="424532"/>
          </a:xfrm>
          <a:prstGeom prst="rect">
            <a:avLst/>
          </a:prstGeom>
          <a:blipFill>
            <a:blip r:embed="rId2" cstate="print"/>
            <a:stretch>
              <a:fillRect/>
            </a:stretch>
          </a:blipFill>
        </p:spPr>
        <p:txBody>
          <a:bodyPr wrap="square" lIns="0" tIns="0" rIns="0" bIns="0" rtlCol="0"/>
          <a:lstStyle/>
          <a:p>
            <a:endParaRPr sz="24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8" y="679933"/>
            <a:ext cx="11124353" cy="545448"/>
          </a:xfrm>
          <a:prstGeom prst="rect">
            <a:avLst/>
          </a:prstGeom>
        </p:spPr>
        <p:txBody>
          <a:bodyPr vert="horz" wrap="square" lIns="0" tIns="22013" rIns="0" bIns="0" rtlCol="0" anchor="ctr">
            <a:spAutoFit/>
          </a:bodyPr>
          <a:lstStyle/>
          <a:p>
            <a:pPr marL="16933">
              <a:lnSpc>
                <a:spcPct val="100000"/>
              </a:lnSpc>
              <a:spcBef>
                <a:spcPts val="173"/>
              </a:spcBef>
            </a:pPr>
            <a:r>
              <a:rPr sz="3400" spc="13" dirty="0"/>
              <a:t>RLHF: Learning </a:t>
            </a:r>
            <a:r>
              <a:rPr sz="3400" spc="20" dirty="0"/>
              <a:t>a </a:t>
            </a:r>
            <a:r>
              <a:rPr sz="3400" b="1" spc="13" dirty="0">
                <a:latin typeface="Georgia"/>
                <a:cs typeface="Georgia"/>
              </a:rPr>
              <a:t>reward </a:t>
            </a:r>
            <a:r>
              <a:rPr sz="3400" b="1" spc="20" dirty="0">
                <a:latin typeface="Georgia"/>
                <a:cs typeface="Georgia"/>
              </a:rPr>
              <a:t>model </a:t>
            </a:r>
            <a:r>
              <a:rPr sz="3400" spc="13" dirty="0"/>
              <a:t>from human</a:t>
            </a:r>
            <a:r>
              <a:rPr sz="3400" spc="-27" dirty="0"/>
              <a:t> </a:t>
            </a:r>
            <a:r>
              <a:rPr sz="3400" spc="7" dirty="0"/>
              <a:t>feedback</a:t>
            </a:r>
            <a:endParaRPr sz="3400">
              <a:latin typeface="Georgia"/>
              <a:cs typeface="Georgia"/>
            </a:endParaRPr>
          </a:p>
        </p:txBody>
      </p:sp>
      <p:sp>
        <p:nvSpPr>
          <p:cNvPr id="3" name="object 3"/>
          <p:cNvSpPr txBox="1"/>
          <p:nvPr/>
        </p:nvSpPr>
        <p:spPr>
          <a:xfrm>
            <a:off x="635518" y="1534195"/>
            <a:ext cx="6831753" cy="345330"/>
          </a:xfrm>
          <a:prstGeom prst="rect">
            <a:avLst/>
          </a:prstGeom>
        </p:spPr>
        <p:txBody>
          <a:bodyPr vert="horz" wrap="square" lIns="0" tIns="16933" rIns="0" bIns="0" rtlCol="0">
            <a:spAutoFit/>
          </a:bodyPr>
          <a:lstStyle/>
          <a:p>
            <a:pPr marL="16933">
              <a:spcBef>
                <a:spcPts val="133"/>
              </a:spcBef>
            </a:pPr>
            <a:r>
              <a:rPr sz="2133" spc="-7" dirty="0">
                <a:solidFill>
                  <a:srgbClr val="8C1414"/>
                </a:solidFill>
                <a:latin typeface="Arial"/>
                <a:cs typeface="Arial"/>
              </a:rPr>
              <a:t>Feedback </a:t>
            </a:r>
            <a:r>
              <a:rPr sz="2133" dirty="0">
                <a:solidFill>
                  <a:srgbClr val="8C1414"/>
                </a:solidFill>
                <a:latin typeface="Arial"/>
                <a:cs typeface="Arial"/>
              </a:rPr>
              <a:t>comes </a:t>
            </a:r>
            <a:r>
              <a:rPr sz="2133" spc="-7" dirty="0">
                <a:solidFill>
                  <a:srgbClr val="8C1414"/>
                </a:solidFill>
                <a:latin typeface="Arial"/>
                <a:cs typeface="Arial"/>
              </a:rPr>
              <a:t>as </a:t>
            </a:r>
            <a:r>
              <a:rPr sz="2133" b="1" spc="-7" dirty="0">
                <a:solidFill>
                  <a:srgbClr val="8C1414"/>
                </a:solidFill>
                <a:latin typeface="Arial"/>
                <a:cs typeface="Arial"/>
              </a:rPr>
              <a:t>preferences over model</a:t>
            </a:r>
            <a:r>
              <a:rPr sz="2133" b="1" spc="-73" dirty="0">
                <a:solidFill>
                  <a:srgbClr val="8C1414"/>
                </a:solidFill>
                <a:latin typeface="Arial"/>
                <a:cs typeface="Arial"/>
              </a:rPr>
              <a:t> </a:t>
            </a:r>
            <a:r>
              <a:rPr sz="2133" b="1" spc="-7" dirty="0">
                <a:solidFill>
                  <a:srgbClr val="8C1414"/>
                </a:solidFill>
                <a:latin typeface="Arial"/>
                <a:cs typeface="Arial"/>
              </a:rPr>
              <a:t>samples:</a:t>
            </a:r>
            <a:endParaRPr sz="2133">
              <a:latin typeface="Arial"/>
              <a:cs typeface="Arial"/>
            </a:endParaRPr>
          </a:p>
        </p:txBody>
      </p:sp>
      <p:sp>
        <p:nvSpPr>
          <p:cNvPr id="4" name="object 4"/>
          <p:cNvSpPr txBox="1"/>
          <p:nvPr/>
        </p:nvSpPr>
        <p:spPr>
          <a:xfrm>
            <a:off x="8131817" y="2238531"/>
            <a:ext cx="579120" cy="222219"/>
          </a:xfrm>
          <a:prstGeom prst="rect">
            <a:avLst/>
          </a:prstGeom>
        </p:spPr>
        <p:txBody>
          <a:bodyPr vert="horz" wrap="square" lIns="0" tIns="16933" rIns="0" bIns="0" rtlCol="0">
            <a:spAutoFit/>
          </a:bodyPr>
          <a:lstStyle/>
          <a:p>
            <a:pPr marL="16933">
              <a:spcBef>
                <a:spcPts val="133"/>
              </a:spcBef>
            </a:pPr>
            <a:r>
              <a:rPr sz="1333" spc="-7" dirty="0">
                <a:solidFill>
                  <a:srgbClr val="8C1414"/>
                </a:solidFill>
                <a:latin typeface="Arial"/>
                <a:cs typeface="Arial"/>
              </a:rPr>
              <a:t>Prompt</a:t>
            </a:r>
            <a:endParaRPr sz="1333">
              <a:latin typeface="Arial"/>
              <a:cs typeface="Arial"/>
            </a:endParaRPr>
          </a:p>
        </p:txBody>
      </p:sp>
      <p:sp>
        <p:nvSpPr>
          <p:cNvPr id="5" name="object 5"/>
          <p:cNvSpPr txBox="1"/>
          <p:nvPr/>
        </p:nvSpPr>
        <p:spPr>
          <a:xfrm>
            <a:off x="8716683" y="2183659"/>
            <a:ext cx="2904067" cy="573020"/>
          </a:xfrm>
          <a:prstGeom prst="rect">
            <a:avLst/>
          </a:prstGeom>
        </p:spPr>
        <p:txBody>
          <a:bodyPr vert="horz" wrap="square" lIns="0" tIns="16933" rIns="0" bIns="0" rtlCol="0">
            <a:spAutoFit/>
          </a:bodyPr>
          <a:lstStyle/>
          <a:p>
            <a:pPr marL="16933" marR="6773" indent="1194617">
              <a:lnSpc>
                <a:spcPct val="144300"/>
              </a:lnSpc>
              <a:spcBef>
                <a:spcPts val="133"/>
              </a:spcBef>
            </a:pPr>
            <a:r>
              <a:rPr sz="1333" spc="-7" dirty="0">
                <a:solidFill>
                  <a:srgbClr val="8C1414"/>
                </a:solidFill>
                <a:latin typeface="Arial"/>
                <a:cs typeface="Arial"/>
              </a:rPr>
              <a:t>Dispreferred</a:t>
            </a:r>
            <a:r>
              <a:rPr sz="1333" spc="-113" dirty="0">
                <a:solidFill>
                  <a:srgbClr val="8C1414"/>
                </a:solidFill>
                <a:latin typeface="Arial"/>
                <a:cs typeface="Arial"/>
              </a:rPr>
              <a:t> </a:t>
            </a:r>
            <a:r>
              <a:rPr sz="1333" dirty="0">
                <a:solidFill>
                  <a:srgbClr val="8C1414"/>
                </a:solidFill>
                <a:latin typeface="Arial"/>
                <a:cs typeface="Arial"/>
              </a:rPr>
              <a:t>response  </a:t>
            </a:r>
            <a:r>
              <a:rPr sz="1333" spc="-7" dirty="0">
                <a:solidFill>
                  <a:srgbClr val="8C1414"/>
                </a:solidFill>
                <a:latin typeface="Arial"/>
                <a:cs typeface="Arial"/>
              </a:rPr>
              <a:t>Preferred</a:t>
            </a:r>
            <a:r>
              <a:rPr sz="1333" spc="-13" dirty="0">
                <a:solidFill>
                  <a:srgbClr val="8C1414"/>
                </a:solidFill>
                <a:latin typeface="Arial"/>
                <a:cs typeface="Arial"/>
              </a:rPr>
              <a:t> </a:t>
            </a:r>
            <a:r>
              <a:rPr sz="1333" dirty="0">
                <a:solidFill>
                  <a:srgbClr val="8C1414"/>
                </a:solidFill>
                <a:latin typeface="Arial"/>
                <a:cs typeface="Arial"/>
              </a:rPr>
              <a:t>response</a:t>
            </a:r>
            <a:endParaRPr sz="1333">
              <a:latin typeface="Arial"/>
              <a:cs typeface="Arial"/>
            </a:endParaRPr>
          </a:p>
        </p:txBody>
      </p:sp>
      <p:sp>
        <p:nvSpPr>
          <p:cNvPr id="6" name="object 6"/>
          <p:cNvSpPr/>
          <p:nvPr/>
        </p:nvSpPr>
        <p:spPr>
          <a:xfrm>
            <a:off x="7650801" y="1530633"/>
            <a:ext cx="2547265" cy="424532"/>
          </a:xfrm>
          <a:prstGeom prst="rect">
            <a:avLst/>
          </a:prstGeom>
          <a:blipFill>
            <a:blip r:embed="rId2" cstate="print"/>
            <a:stretch>
              <a:fillRect/>
            </a:stretch>
          </a:blipFill>
        </p:spPr>
        <p:txBody>
          <a:bodyPr wrap="square" lIns="0" tIns="0" rIns="0" bIns="0" rtlCol="0"/>
          <a:lstStyle/>
          <a:p>
            <a:endParaRPr sz="2400"/>
          </a:p>
        </p:txBody>
      </p:sp>
      <p:sp>
        <p:nvSpPr>
          <p:cNvPr id="7" name="object 7"/>
          <p:cNvSpPr/>
          <p:nvPr/>
        </p:nvSpPr>
        <p:spPr>
          <a:xfrm>
            <a:off x="8518483" y="1965389"/>
            <a:ext cx="183599" cy="283793"/>
          </a:xfrm>
          <a:prstGeom prst="rect">
            <a:avLst/>
          </a:prstGeom>
          <a:blipFill>
            <a:blip r:embed="rId3" cstate="print"/>
            <a:stretch>
              <a:fillRect/>
            </a:stretch>
          </a:blipFill>
        </p:spPr>
        <p:txBody>
          <a:bodyPr wrap="square" lIns="0" tIns="0" rIns="0" bIns="0" rtlCol="0"/>
          <a:lstStyle/>
          <a:p>
            <a:endParaRPr sz="2400"/>
          </a:p>
        </p:txBody>
      </p:sp>
      <p:sp>
        <p:nvSpPr>
          <p:cNvPr id="8" name="object 8"/>
          <p:cNvSpPr/>
          <p:nvPr/>
        </p:nvSpPr>
        <p:spPr>
          <a:xfrm>
            <a:off x="9318609" y="2104513"/>
            <a:ext cx="99907" cy="414867"/>
          </a:xfrm>
          <a:custGeom>
            <a:avLst/>
            <a:gdLst/>
            <a:ahLst/>
            <a:cxnLst/>
            <a:rect l="l" t="t" r="r" b="b"/>
            <a:pathLst>
              <a:path w="74929" h="311150">
                <a:moveTo>
                  <a:pt x="74317" y="311014"/>
                </a:moveTo>
                <a:lnTo>
                  <a:pt x="0" y="0"/>
                </a:lnTo>
              </a:path>
            </a:pathLst>
          </a:custGeom>
          <a:ln w="9524">
            <a:solidFill>
              <a:srgbClr val="2E2C28"/>
            </a:solidFill>
          </a:ln>
        </p:spPr>
        <p:txBody>
          <a:bodyPr wrap="square" lIns="0" tIns="0" rIns="0" bIns="0" rtlCol="0"/>
          <a:lstStyle/>
          <a:p>
            <a:endParaRPr sz="2400"/>
          </a:p>
        </p:txBody>
      </p:sp>
      <p:sp>
        <p:nvSpPr>
          <p:cNvPr id="9" name="object 9"/>
          <p:cNvSpPr/>
          <p:nvPr/>
        </p:nvSpPr>
        <p:spPr>
          <a:xfrm>
            <a:off x="9298207" y="2048457"/>
            <a:ext cx="41487" cy="60960"/>
          </a:xfrm>
          <a:custGeom>
            <a:avLst/>
            <a:gdLst/>
            <a:ahLst/>
            <a:cxnLst/>
            <a:rect l="l" t="t" r="r" b="b"/>
            <a:pathLst>
              <a:path w="31115" h="45719">
                <a:moveTo>
                  <a:pt x="0" y="45698"/>
                </a:moveTo>
                <a:lnTo>
                  <a:pt x="5255" y="0"/>
                </a:lnTo>
                <a:lnTo>
                  <a:pt x="30603" y="38385"/>
                </a:lnTo>
                <a:lnTo>
                  <a:pt x="0" y="45698"/>
                </a:lnTo>
                <a:close/>
              </a:path>
            </a:pathLst>
          </a:custGeom>
          <a:solidFill>
            <a:srgbClr val="2E2C28"/>
          </a:solidFill>
        </p:spPr>
        <p:txBody>
          <a:bodyPr wrap="square" lIns="0" tIns="0" rIns="0" bIns="0" rtlCol="0"/>
          <a:lstStyle/>
          <a:p>
            <a:endParaRPr sz="2400"/>
          </a:p>
        </p:txBody>
      </p:sp>
      <p:sp>
        <p:nvSpPr>
          <p:cNvPr id="10" name="object 10"/>
          <p:cNvSpPr/>
          <p:nvPr/>
        </p:nvSpPr>
        <p:spPr>
          <a:xfrm>
            <a:off x="9298207" y="2048457"/>
            <a:ext cx="41487" cy="60960"/>
          </a:xfrm>
          <a:custGeom>
            <a:avLst/>
            <a:gdLst/>
            <a:ahLst/>
            <a:cxnLst/>
            <a:rect l="l" t="t" r="r" b="b"/>
            <a:pathLst>
              <a:path w="31115" h="45719">
                <a:moveTo>
                  <a:pt x="30603" y="38385"/>
                </a:moveTo>
                <a:lnTo>
                  <a:pt x="5255" y="0"/>
                </a:lnTo>
                <a:lnTo>
                  <a:pt x="0" y="45698"/>
                </a:lnTo>
                <a:lnTo>
                  <a:pt x="30603" y="38385"/>
                </a:lnTo>
                <a:close/>
              </a:path>
            </a:pathLst>
          </a:custGeom>
          <a:ln w="9524">
            <a:solidFill>
              <a:srgbClr val="2E2C28"/>
            </a:solidFill>
          </a:ln>
        </p:spPr>
        <p:txBody>
          <a:bodyPr wrap="square" lIns="0" tIns="0" rIns="0" bIns="0" rtlCol="0"/>
          <a:lstStyle/>
          <a:p>
            <a:endParaRPr sz="2400"/>
          </a:p>
        </p:txBody>
      </p:sp>
      <p:sp>
        <p:nvSpPr>
          <p:cNvPr id="11" name="object 11"/>
          <p:cNvSpPr/>
          <p:nvPr/>
        </p:nvSpPr>
        <p:spPr>
          <a:xfrm>
            <a:off x="10020523" y="1993737"/>
            <a:ext cx="328292" cy="287312"/>
          </a:xfrm>
          <a:prstGeom prst="rect">
            <a:avLst/>
          </a:prstGeom>
          <a:blipFill>
            <a:blip r:embed="rId4" cstate="print"/>
            <a:stretch>
              <a:fillRect/>
            </a:stretch>
          </a:blipFill>
        </p:spPr>
        <p:txBody>
          <a:bodyPr wrap="square" lIns="0" tIns="0" rIns="0" bIns="0" rtlCol="0"/>
          <a:lstStyle/>
          <a:p>
            <a:endParaRPr sz="24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8" y="679933"/>
            <a:ext cx="11124353" cy="545448"/>
          </a:xfrm>
          <a:prstGeom prst="rect">
            <a:avLst/>
          </a:prstGeom>
        </p:spPr>
        <p:txBody>
          <a:bodyPr vert="horz" wrap="square" lIns="0" tIns="22013" rIns="0" bIns="0" rtlCol="0" anchor="ctr">
            <a:spAutoFit/>
          </a:bodyPr>
          <a:lstStyle/>
          <a:p>
            <a:pPr marL="16933">
              <a:lnSpc>
                <a:spcPct val="100000"/>
              </a:lnSpc>
              <a:spcBef>
                <a:spcPts val="173"/>
              </a:spcBef>
            </a:pPr>
            <a:r>
              <a:rPr sz="3400" spc="13" dirty="0"/>
              <a:t>RLHF: Learning </a:t>
            </a:r>
            <a:r>
              <a:rPr sz="3400" spc="20" dirty="0"/>
              <a:t>a </a:t>
            </a:r>
            <a:r>
              <a:rPr sz="3400" b="1" spc="13" dirty="0">
                <a:latin typeface="Georgia"/>
                <a:cs typeface="Georgia"/>
              </a:rPr>
              <a:t>reward </a:t>
            </a:r>
            <a:r>
              <a:rPr sz="3400" b="1" spc="20" dirty="0">
                <a:latin typeface="Georgia"/>
                <a:cs typeface="Georgia"/>
              </a:rPr>
              <a:t>model </a:t>
            </a:r>
            <a:r>
              <a:rPr sz="3400" spc="13" dirty="0"/>
              <a:t>from human</a:t>
            </a:r>
            <a:r>
              <a:rPr sz="3400" spc="-27" dirty="0"/>
              <a:t> </a:t>
            </a:r>
            <a:r>
              <a:rPr sz="3400" spc="7" dirty="0"/>
              <a:t>feedback</a:t>
            </a:r>
            <a:endParaRPr sz="3400">
              <a:latin typeface="Georgia"/>
              <a:cs typeface="Georgia"/>
            </a:endParaRPr>
          </a:p>
        </p:txBody>
      </p:sp>
      <p:sp>
        <p:nvSpPr>
          <p:cNvPr id="3" name="object 3"/>
          <p:cNvSpPr txBox="1"/>
          <p:nvPr/>
        </p:nvSpPr>
        <p:spPr>
          <a:xfrm>
            <a:off x="635518" y="1534195"/>
            <a:ext cx="6831753" cy="345330"/>
          </a:xfrm>
          <a:prstGeom prst="rect">
            <a:avLst/>
          </a:prstGeom>
        </p:spPr>
        <p:txBody>
          <a:bodyPr vert="horz" wrap="square" lIns="0" tIns="16933" rIns="0" bIns="0" rtlCol="0">
            <a:spAutoFit/>
          </a:bodyPr>
          <a:lstStyle/>
          <a:p>
            <a:pPr marL="16933">
              <a:spcBef>
                <a:spcPts val="133"/>
              </a:spcBef>
            </a:pPr>
            <a:r>
              <a:rPr sz="2133" spc="-7" dirty="0">
                <a:solidFill>
                  <a:srgbClr val="8C1414"/>
                </a:solidFill>
                <a:latin typeface="Arial"/>
                <a:cs typeface="Arial"/>
              </a:rPr>
              <a:t>Feedback </a:t>
            </a:r>
            <a:r>
              <a:rPr sz="2133" dirty="0">
                <a:solidFill>
                  <a:srgbClr val="8C1414"/>
                </a:solidFill>
                <a:latin typeface="Arial"/>
                <a:cs typeface="Arial"/>
              </a:rPr>
              <a:t>comes </a:t>
            </a:r>
            <a:r>
              <a:rPr sz="2133" spc="-7" dirty="0">
                <a:solidFill>
                  <a:srgbClr val="8C1414"/>
                </a:solidFill>
                <a:latin typeface="Arial"/>
                <a:cs typeface="Arial"/>
              </a:rPr>
              <a:t>as </a:t>
            </a:r>
            <a:r>
              <a:rPr sz="2133" b="1" spc="-7" dirty="0">
                <a:solidFill>
                  <a:srgbClr val="8C1414"/>
                </a:solidFill>
                <a:latin typeface="Arial"/>
                <a:cs typeface="Arial"/>
              </a:rPr>
              <a:t>preferences over model</a:t>
            </a:r>
            <a:r>
              <a:rPr sz="2133" b="1" spc="-73" dirty="0">
                <a:solidFill>
                  <a:srgbClr val="8C1414"/>
                </a:solidFill>
                <a:latin typeface="Arial"/>
                <a:cs typeface="Arial"/>
              </a:rPr>
              <a:t> </a:t>
            </a:r>
            <a:r>
              <a:rPr sz="2133" b="1" spc="-7" dirty="0">
                <a:solidFill>
                  <a:srgbClr val="8C1414"/>
                </a:solidFill>
                <a:latin typeface="Arial"/>
                <a:cs typeface="Arial"/>
              </a:rPr>
              <a:t>samples:</a:t>
            </a:r>
            <a:endParaRPr sz="2133">
              <a:latin typeface="Arial"/>
              <a:cs typeface="Arial"/>
            </a:endParaRPr>
          </a:p>
        </p:txBody>
      </p:sp>
      <p:sp>
        <p:nvSpPr>
          <p:cNvPr id="4" name="object 4"/>
          <p:cNvSpPr txBox="1"/>
          <p:nvPr/>
        </p:nvSpPr>
        <p:spPr>
          <a:xfrm>
            <a:off x="635518" y="2719218"/>
            <a:ext cx="6712373" cy="345330"/>
          </a:xfrm>
          <a:prstGeom prst="rect">
            <a:avLst/>
          </a:prstGeom>
        </p:spPr>
        <p:txBody>
          <a:bodyPr vert="horz" wrap="square" lIns="0" tIns="16933" rIns="0" bIns="0" rtlCol="0">
            <a:spAutoFit/>
          </a:bodyPr>
          <a:lstStyle/>
          <a:p>
            <a:pPr marL="16933">
              <a:spcBef>
                <a:spcPts val="133"/>
              </a:spcBef>
            </a:pPr>
            <a:r>
              <a:rPr sz="2133" b="1" spc="-20" dirty="0">
                <a:solidFill>
                  <a:srgbClr val="8C1414"/>
                </a:solidFill>
                <a:latin typeface="Arial"/>
                <a:cs typeface="Arial"/>
              </a:rPr>
              <a:t>Bradley-Terry </a:t>
            </a:r>
            <a:r>
              <a:rPr sz="2133" b="1" dirty="0">
                <a:solidFill>
                  <a:srgbClr val="8C1414"/>
                </a:solidFill>
                <a:latin typeface="Arial"/>
                <a:cs typeface="Arial"/>
              </a:rPr>
              <a:t>Model </a:t>
            </a:r>
            <a:r>
              <a:rPr sz="2133" dirty="0">
                <a:solidFill>
                  <a:srgbClr val="8C1414"/>
                </a:solidFill>
                <a:latin typeface="Arial"/>
                <a:cs typeface="Arial"/>
              </a:rPr>
              <a:t>connects rewards </a:t>
            </a:r>
            <a:r>
              <a:rPr sz="2133" spc="-7" dirty="0">
                <a:solidFill>
                  <a:srgbClr val="8C1414"/>
                </a:solidFill>
                <a:latin typeface="Arial"/>
                <a:cs typeface="Arial"/>
              </a:rPr>
              <a:t>to</a:t>
            </a:r>
            <a:r>
              <a:rPr sz="2133" spc="-100" dirty="0">
                <a:solidFill>
                  <a:srgbClr val="8C1414"/>
                </a:solidFill>
                <a:latin typeface="Arial"/>
                <a:cs typeface="Arial"/>
              </a:rPr>
              <a:t> </a:t>
            </a:r>
            <a:r>
              <a:rPr sz="2133" spc="-7" dirty="0">
                <a:solidFill>
                  <a:srgbClr val="8C1414"/>
                </a:solidFill>
                <a:latin typeface="Arial"/>
                <a:cs typeface="Arial"/>
              </a:rPr>
              <a:t>preferences:</a:t>
            </a:r>
            <a:endParaRPr sz="2133">
              <a:latin typeface="Arial"/>
              <a:cs typeface="Arial"/>
            </a:endParaRPr>
          </a:p>
        </p:txBody>
      </p:sp>
      <p:sp>
        <p:nvSpPr>
          <p:cNvPr id="5" name="object 5"/>
          <p:cNvSpPr txBox="1"/>
          <p:nvPr/>
        </p:nvSpPr>
        <p:spPr>
          <a:xfrm>
            <a:off x="8131817" y="2238531"/>
            <a:ext cx="579120" cy="222219"/>
          </a:xfrm>
          <a:prstGeom prst="rect">
            <a:avLst/>
          </a:prstGeom>
        </p:spPr>
        <p:txBody>
          <a:bodyPr vert="horz" wrap="square" lIns="0" tIns="16933" rIns="0" bIns="0" rtlCol="0">
            <a:spAutoFit/>
          </a:bodyPr>
          <a:lstStyle/>
          <a:p>
            <a:pPr marL="16933">
              <a:spcBef>
                <a:spcPts val="133"/>
              </a:spcBef>
            </a:pPr>
            <a:r>
              <a:rPr sz="1333" spc="-7" dirty="0">
                <a:solidFill>
                  <a:srgbClr val="8C1414"/>
                </a:solidFill>
                <a:latin typeface="Arial"/>
                <a:cs typeface="Arial"/>
              </a:rPr>
              <a:t>Prompt</a:t>
            </a:r>
            <a:endParaRPr sz="1333">
              <a:latin typeface="Arial"/>
              <a:cs typeface="Arial"/>
            </a:endParaRPr>
          </a:p>
        </p:txBody>
      </p:sp>
      <p:sp>
        <p:nvSpPr>
          <p:cNvPr id="6" name="object 6"/>
          <p:cNvSpPr txBox="1"/>
          <p:nvPr/>
        </p:nvSpPr>
        <p:spPr>
          <a:xfrm>
            <a:off x="8716683" y="2183659"/>
            <a:ext cx="2904067" cy="573020"/>
          </a:xfrm>
          <a:prstGeom prst="rect">
            <a:avLst/>
          </a:prstGeom>
        </p:spPr>
        <p:txBody>
          <a:bodyPr vert="horz" wrap="square" lIns="0" tIns="16933" rIns="0" bIns="0" rtlCol="0">
            <a:spAutoFit/>
          </a:bodyPr>
          <a:lstStyle/>
          <a:p>
            <a:pPr marL="16933" marR="6773" indent="1194617">
              <a:lnSpc>
                <a:spcPct val="144300"/>
              </a:lnSpc>
              <a:spcBef>
                <a:spcPts val="133"/>
              </a:spcBef>
            </a:pPr>
            <a:r>
              <a:rPr sz="1333" spc="-7" dirty="0">
                <a:solidFill>
                  <a:srgbClr val="8C1414"/>
                </a:solidFill>
                <a:latin typeface="Arial"/>
                <a:cs typeface="Arial"/>
              </a:rPr>
              <a:t>Dispreferred</a:t>
            </a:r>
            <a:r>
              <a:rPr sz="1333" spc="-113" dirty="0">
                <a:solidFill>
                  <a:srgbClr val="8C1414"/>
                </a:solidFill>
                <a:latin typeface="Arial"/>
                <a:cs typeface="Arial"/>
              </a:rPr>
              <a:t> </a:t>
            </a:r>
            <a:r>
              <a:rPr sz="1333" dirty="0">
                <a:solidFill>
                  <a:srgbClr val="8C1414"/>
                </a:solidFill>
                <a:latin typeface="Arial"/>
                <a:cs typeface="Arial"/>
              </a:rPr>
              <a:t>response  </a:t>
            </a:r>
            <a:r>
              <a:rPr sz="1333" spc="-7" dirty="0">
                <a:solidFill>
                  <a:srgbClr val="8C1414"/>
                </a:solidFill>
                <a:latin typeface="Arial"/>
                <a:cs typeface="Arial"/>
              </a:rPr>
              <a:t>Preferred</a:t>
            </a:r>
            <a:r>
              <a:rPr sz="1333" spc="-13" dirty="0">
                <a:solidFill>
                  <a:srgbClr val="8C1414"/>
                </a:solidFill>
                <a:latin typeface="Arial"/>
                <a:cs typeface="Arial"/>
              </a:rPr>
              <a:t> </a:t>
            </a:r>
            <a:r>
              <a:rPr sz="1333" dirty="0">
                <a:solidFill>
                  <a:srgbClr val="8C1414"/>
                </a:solidFill>
                <a:latin typeface="Arial"/>
                <a:cs typeface="Arial"/>
              </a:rPr>
              <a:t>response</a:t>
            </a:r>
            <a:endParaRPr sz="1333">
              <a:latin typeface="Arial"/>
              <a:cs typeface="Arial"/>
            </a:endParaRPr>
          </a:p>
        </p:txBody>
      </p:sp>
      <p:sp>
        <p:nvSpPr>
          <p:cNvPr id="7" name="object 7"/>
          <p:cNvSpPr/>
          <p:nvPr/>
        </p:nvSpPr>
        <p:spPr>
          <a:xfrm>
            <a:off x="7650801" y="1530633"/>
            <a:ext cx="2547265" cy="424532"/>
          </a:xfrm>
          <a:prstGeom prst="rect">
            <a:avLst/>
          </a:prstGeom>
          <a:blipFill>
            <a:blip r:embed="rId2" cstate="print"/>
            <a:stretch>
              <a:fillRect/>
            </a:stretch>
          </a:blipFill>
        </p:spPr>
        <p:txBody>
          <a:bodyPr wrap="square" lIns="0" tIns="0" rIns="0" bIns="0" rtlCol="0"/>
          <a:lstStyle/>
          <a:p>
            <a:endParaRPr sz="2400"/>
          </a:p>
        </p:txBody>
      </p:sp>
      <p:sp>
        <p:nvSpPr>
          <p:cNvPr id="8" name="object 8"/>
          <p:cNvSpPr/>
          <p:nvPr/>
        </p:nvSpPr>
        <p:spPr>
          <a:xfrm>
            <a:off x="8518483" y="1965389"/>
            <a:ext cx="183599" cy="283793"/>
          </a:xfrm>
          <a:prstGeom prst="rect">
            <a:avLst/>
          </a:prstGeom>
          <a:blipFill>
            <a:blip r:embed="rId3" cstate="print"/>
            <a:stretch>
              <a:fillRect/>
            </a:stretch>
          </a:blipFill>
        </p:spPr>
        <p:txBody>
          <a:bodyPr wrap="square" lIns="0" tIns="0" rIns="0" bIns="0" rtlCol="0"/>
          <a:lstStyle/>
          <a:p>
            <a:endParaRPr sz="2400"/>
          </a:p>
        </p:txBody>
      </p:sp>
      <p:sp>
        <p:nvSpPr>
          <p:cNvPr id="9" name="object 9"/>
          <p:cNvSpPr/>
          <p:nvPr/>
        </p:nvSpPr>
        <p:spPr>
          <a:xfrm>
            <a:off x="9318609" y="2104513"/>
            <a:ext cx="99907" cy="414867"/>
          </a:xfrm>
          <a:custGeom>
            <a:avLst/>
            <a:gdLst/>
            <a:ahLst/>
            <a:cxnLst/>
            <a:rect l="l" t="t" r="r" b="b"/>
            <a:pathLst>
              <a:path w="74929" h="311150">
                <a:moveTo>
                  <a:pt x="74317" y="311014"/>
                </a:moveTo>
                <a:lnTo>
                  <a:pt x="0" y="0"/>
                </a:lnTo>
              </a:path>
            </a:pathLst>
          </a:custGeom>
          <a:ln w="9524">
            <a:solidFill>
              <a:srgbClr val="2E2C28"/>
            </a:solidFill>
          </a:ln>
        </p:spPr>
        <p:txBody>
          <a:bodyPr wrap="square" lIns="0" tIns="0" rIns="0" bIns="0" rtlCol="0"/>
          <a:lstStyle/>
          <a:p>
            <a:endParaRPr sz="2400"/>
          </a:p>
        </p:txBody>
      </p:sp>
      <p:sp>
        <p:nvSpPr>
          <p:cNvPr id="10" name="object 10"/>
          <p:cNvSpPr/>
          <p:nvPr/>
        </p:nvSpPr>
        <p:spPr>
          <a:xfrm>
            <a:off x="9298207" y="2048457"/>
            <a:ext cx="41487" cy="60960"/>
          </a:xfrm>
          <a:custGeom>
            <a:avLst/>
            <a:gdLst/>
            <a:ahLst/>
            <a:cxnLst/>
            <a:rect l="l" t="t" r="r" b="b"/>
            <a:pathLst>
              <a:path w="31115" h="45719">
                <a:moveTo>
                  <a:pt x="0" y="45698"/>
                </a:moveTo>
                <a:lnTo>
                  <a:pt x="5255" y="0"/>
                </a:lnTo>
                <a:lnTo>
                  <a:pt x="30603" y="38385"/>
                </a:lnTo>
                <a:lnTo>
                  <a:pt x="0" y="45698"/>
                </a:lnTo>
                <a:close/>
              </a:path>
            </a:pathLst>
          </a:custGeom>
          <a:solidFill>
            <a:srgbClr val="2E2C28"/>
          </a:solidFill>
        </p:spPr>
        <p:txBody>
          <a:bodyPr wrap="square" lIns="0" tIns="0" rIns="0" bIns="0" rtlCol="0"/>
          <a:lstStyle/>
          <a:p>
            <a:endParaRPr sz="2400"/>
          </a:p>
        </p:txBody>
      </p:sp>
      <p:sp>
        <p:nvSpPr>
          <p:cNvPr id="11" name="object 11"/>
          <p:cNvSpPr/>
          <p:nvPr/>
        </p:nvSpPr>
        <p:spPr>
          <a:xfrm>
            <a:off x="9298207" y="2048457"/>
            <a:ext cx="41487" cy="60960"/>
          </a:xfrm>
          <a:custGeom>
            <a:avLst/>
            <a:gdLst/>
            <a:ahLst/>
            <a:cxnLst/>
            <a:rect l="l" t="t" r="r" b="b"/>
            <a:pathLst>
              <a:path w="31115" h="45719">
                <a:moveTo>
                  <a:pt x="30603" y="38385"/>
                </a:moveTo>
                <a:lnTo>
                  <a:pt x="5255" y="0"/>
                </a:lnTo>
                <a:lnTo>
                  <a:pt x="0" y="45698"/>
                </a:lnTo>
                <a:lnTo>
                  <a:pt x="30603" y="38385"/>
                </a:lnTo>
                <a:close/>
              </a:path>
            </a:pathLst>
          </a:custGeom>
          <a:ln w="9524">
            <a:solidFill>
              <a:srgbClr val="2E2C28"/>
            </a:solidFill>
          </a:ln>
        </p:spPr>
        <p:txBody>
          <a:bodyPr wrap="square" lIns="0" tIns="0" rIns="0" bIns="0" rtlCol="0"/>
          <a:lstStyle/>
          <a:p>
            <a:endParaRPr sz="2400"/>
          </a:p>
        </p:txBody>
      </p:sp>
      <p:sp>
        <p:nvSpPr>
          <p:cNvPr id="12" name="object 12"/>
          <p:cNvSpPr/>
          <p:nvPr/>
        </p:nvSpPr>
        <p:spPr>
          <a:xfrm>
            <a:off x="10020523" y="1993737"/>
            <a:ext cx="328292" cy="287312"/>
          </a:xfrm>
          <a:prstGeom prst="rect">
            <a:avLst/>
          </a:prstGeom>
          <a:blipFill>
            <a:blip r:embed="rId4" cstate="print"/>
            <a:stretch>
              <a:fillRect/>
            </a:stretch>
          </a:blipFill>
        </p:spPr>
        <p:txBody>
          <a:bodyPr wrap="square" lIns="0" tIns="0" rIns="0" bIns="0" rtlCol="0"/>
          <a:lstStyle/>
          <a:p>
            <a:endParaRPr sz="24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8" y="679933"/>
            <a:ext cx="11124353" cy="545448"/>
          </a:xfrm>
          <a:prstGeom prst="rect">
            <a:avLst/>
          </a:prstGeom>
        </p:spPr>
        <p:txBody>
          <a:bodyPr vert="horz" wrap="square" lIns="0" tIns="22013" rIns="0" bIns="0" rtlCol="0" anchor="ctr">
            <a:spAutoFit/>
          </a:bodyPr>
          <a:lstStyle/>
          <a:p>
            <a:pPr marL="16933">
              <a:lnSpc>
                <a:spcPct val="100000"/>
              </a:lnSpc>
              <a:spcBef>
                <a:spcPts val="173"/>
              </a:spcBef>
            </a:pPr>
            <a:r>
              <a:rPr sz="3400" spc="13" dirty="0"/>
              <a:t>RLHF: Learning </a:t>
            </a:r>
            <a:r>
              <a:rPr sz="3400" spc="20" dirty="0"/>
              <a:t>a </a:t>
            </a:r>
            <a:r>
              <a:rPr sz="3400" b="1" spc="13" dirty="0">
                <a:latin typeface="Georgia"/>
                <a:cs typeface="Georgia"/>
              </a:rPr>
              <a:t>reward </a:t>
            </a:r>
            <a:r>
              <a:rPr sz="3400" b="1" spc="20" dirty="0">
                <a:latin typeface="Georgia"/>
                <a:cs typeface="Georgia"/>
              </a:rPr>
              <a:t>model </a:t>
            </a:r>
            <a:r>
              <a:rPr sz="3400" spc="13" dirty="0"/>
              <a:t>from human</a:t>
            </a:r>
            <a:r>
              <a:rPr sz="3400" spc="-27" dirty="0"/>
              <a:t> </a:t>
            </a:r>
            <a:r>
              <a:rPr sz="3400" spc="7" dirty="0"/>
              <a:t>feedback</a:t>
            </a:r>
            <a:endParaRPr sz="3400">
              <a:latin typeface="Georgia"/>
              <a:cs typeface="Georgia"/>
            </a:endParaRPr>
          </a:p>
        </p:txBody>
      </p:sp>
      <p:sp>
        <p:nvSpPr>
          <p:cNvPr id="3" name="object 3"/>
          <p:cNvSpPr txBox="1"/>
          <p:nvPr/>
        </p:nvSpPr>
        <p:spPr>
          <a:xfrm>
            <a:off x="635518" y="1534195"/>
            <a:ext cx="6831753" cy="345330"/>
          </a:xfrm>
          <a:prstGeom prst="rect">
            <a:avLst/>
          </a:prstGeom>
        </p:spPr>
        <p:txBody>
          <a:bodyPr vert="horz" wrap="square" lIns="0" tIns="16933" rIns="0" bIns="0" rtlCol="0">
            <a:spAutoFit/>
          </a:bodyPr>
          <a:lstStyle/>
          <a:p>
            <a:pPr marL="16933">
              <a:spcBef>
                <a:spcPts val="133"/>
              </a:spcBef>
            </a:pPr>
            <a:r>
              <a:rPr sz="2133" spc="-7" dirty="0">
                <a:solidFill>
                  <a:srgbClr val="8C1414"/>
                </a:solidFill>
                <a:latin typeface="Arial"/>
                <a:cs typeface="Arial"/>
              </a:rPr>
              <a:t>Feedback </a:t>
            </a:r>
            <a:r>
              <a:rPr sz="2133" dirty="0">
                <a:solidFill>
                  <a:srgbClr val="8C1414"/>
                </a:solidFill>
                <a:latin typeface="Arial"/>
                <a:cs typeface="Arial"/>
              </a:rPr>
              <a:t>comes </a:t>
            </a:r>
            <a:r>
              <a:rPr sz="2133" spc="-7" dirty="0">
                <a:solidFill>
                  <a:srgbClr val="8C1414"/>
                </a:solidFill>
                <a:latin typeface="Arial"/>
                <a:cs typeface="Arial"/>
              </a:rPr>
              <a:t>as </a:t>
            </a:r>
            <a:r>
              <a:rPr sz="2133" b="1" spc="-7" dirty="0">
                <a:solidFill>
                  <a:srgbClr val="8C1414"/>
                </a:solidFill>
                <a:latin typeface="Arial"/>
                <a:cs typeface="Arial"/>
              </a:rPr>
              <a:t>preferences over model</a:t>
            </a:r>
            <a:r>
              <a:rPr sz="2133" b="1" spc="-73" dirty="0">
                <a:solidFill>
                  <a:srgbClr val="8C1414"/>
                </a:solidFill>
                <a:latin typeface="Arial"/>
                <a:cs typeface="Arial"/>
              </a:rPr>
              <a:t> </a:t>
            </a:r>
            <a:r>
              <a:rPr sz="2133" b="1" spc="-7" dirty="0">
                <a:solidFill>
                  <a:srgbClr val="8C1414"/>
                </a:solidFill>
                <a:latin typeface="Arial"/>
                <a:cs typeface="Arial"/>
              </a:rPr>
              <a:t>samples:</a:t>
            </a:r>
            <a:endParaRPr sz="2133">
              <a:latin typeface="Arial"/>
              <a:cs typeface="Arial"/>
            </a:endParaRPr>
          </a:p>
        </p:txBody>
      </p:sp>
      <p:sp>
        <p:nvSpPr>
          <p:cNvPr id="4" name="object 4"/>
          <p:cNvSpPr txBox="1"/>
          <p:nvPr/>
        </p:nvSpPr>
        <p:spPr>
          <a:xfrm>
            <a:off x="635518" y="2719218"/>
            <a:ext cx="6712373" cy="345330"/>
          </a:xfrm>
          <a:prstGeom prst="rect">
            <a:avLst/>
          </a:prstGeom>
        </p:spPr>
        <p:txBody>
          <a:bodyPr vert="horz" wrap="square" lIns="0" tIns="16933" rIns="0" bIns="0" rtlCol="0">
            <a:spAutoFit/>
          </a:bodyPr>
          <a:lstStyle/>
          <a:p>
            <a:pPr marL="16933">
              <a:spcBef>
                <a:spcPts val="133"/>
              </a:spcBef>
            </a:pPr>
            <a:r>
              <a:rPr sz="2133" b="1" spc="-20" dirty="0">
                <a:solidFill>
                  <a:srgbClr val="8C1414"/>
                </a:solidFill>
                <a:latin typeface="Arial"/>
                <a:cs typeface="Arial"/>
              </a:rPr>
              <a:t>Bradley-Terry </a:t>
            </a:r>
            <a:r>
              <a:rPr sz="2133" b="1" dirty="0">
                <a:solidFill>
                  <a:srgbClr val="8C1414"/>
                </a:solidFill>
                <a:latin typeface="Arial"/>
                <a:cs typeface="Arial"/>
              </a:rPr>
              <a:t>Model </a:t>
            </a:r>
            <a:r>
              <a:rPr sz="2133" dirty="0">
                <a:solidFill>
                  <a:srgbClr val="8C1414"/>
                </a:solidFill>
                <a:latin typeface="Arial"/>
                <a:cs typeface="Arial"/>
              </a:rPr>
              <a:t>connects rewards </a:t>
            </a:r>
            <a:r>
              <a:rPr sz="2133" spc="-7" dirty="0">
                <a:solidFill>
                  <a:srgbClr val="8C1414"/>
                </a:solidFill>
                <a:latin typeface="Arial"/>
                <a:cs typeface="Arial"/>
              </a:rPr>
              <a:t>to</a:t>
            </a:r>
            <a:r>
              <a:rPr sz="2133" spc="-100" dirty="0">
                <a:solidFill>
                  <a:srgbClr val="8C1414"/>
                </a:solidFill>
                <a:latin typeface="Arial"/>
                <a:cs typeface="Arial"/>
              </a:rPr>
              <a:t> </a:t>
            </a:r>
            <a:r>
              <a:rPr sz="2133" spc="-7" dirty="0">
                <a:solidFill>
                  <a:srgbClr val="8C1414"/>
                </a:solidFill>
                <a:latin typeface="Arial"/>
                <a:cs typeface="Arial"/>
              </a:rPr>
              <a:t>preferences:</a:t>
            </a:r>
            <a:endParaRPr sz="2133">
              <a:latin typeface="Arial"/>
              <a:cs typeface="Arial"/>
            </a:endParaRPr>
          </a:p>
        </p:txBody>
      </p:sp>
      <p:sp>
        <p:nvSpPr>
          <p:cNvPr id="5" name="object 5"/>
          <p:cNvSpPr txBox="1"/>
          <p:nvPr/>
        </p:nvSpPr>
        <p:spPr>
          <a:xfrm>
            <a:off x="8131817" y="2238531"/>
            <a:ext cx="579120" cy="222219"/>
          </a:xfrm>
          <a:prstGeom prst="rect">
            <a:avLst/>
          </a:prstGeom>
        </p:spPr>
        <p:txBody>
          <a:bodyPr vert="horz" wrap="square" lIns="0" tIns="16933" rIns="0" bIns="0" rtlCol="0">
            <a:spAutoFit/>
          </a:bodyPr>
          <a:lstStyle/>
          <a:p>
            <a:pPr marL="16933">
              <a:spcBef>
                <a:spcPts val="133"/>
              </a:spcBef>
            </a:pPr>
            <a:r>
              <a:rPr sz="1333" spc="-7" dirty="0">
                <a:solidFill>
                  <a:srgbClr val="8C1414"/>
                </a:solidFill>
                <a:latin typeface="Arial"/>
                <a:cs typeface="Arial"/>
              </a:rPr>
              <a:t>Prompt</a:t>
            </a:r>
            <a:endParaRPr sz="1333">
              <a:latin typeface="Arial"/>
              <a:cs typeface="Arial"/>
            </a:endParaRPr>
          </a:p>
        </p:txBody>
      </p:sp>
      <p:sp>
        <p:nvSpPr>
          <p:cNvPr id="6" name="object 6"/>
          <p:cNvSpPr txBox="1"/>
          <p:nvPr/>
        </p:nvSpPr>
        <p:spPr>
          <a:xfrm>
            <a:off x="8716683" y="2183659"/>
            <a:ext cx="2904067" cy="573020"/>
          </a:xfrm>
          <a:prstGeom prst="rect">
            <a:avLst/>
          </a:prstGeom>
        </p:spPr>
        <p:txBody>
          <a:bodyPr vert="horz" wrap="square" lIns="0" tIns="16933" rIns="0" bIns="0" rtlCol="0">
            <a:spAutoFit/>
          </a:bodyPr>
          <a:lstStyle/>
          <a:p>
            <a:pPr marL="16933" marR="6773" indent="1194617">
              <a:lnSpc>
                <a:spcPct val="144300"/>
              </a:lnSpc>
              <a:spcBef>
                <a:spcPts val="133"/>
              </a:spcBef>
            </a:pPr>
            <a:r>
              <a:rPr sz="1333" spc="-7" dirty="0">
                <a:solidFill>
                  <a:srgbClr val="8C1414"/>
                </a:solidFill>
                <a:latin typeface="Arial"/>
                <a:cs typeface="Arial"/>
              </a:rPr>
              <a:t>Dispreferred</a:t>
            </a:r>
            <a:r>
              <a:rPr sz="1333" spc="-113" dirty="0">
                <a:solidFill>
                  <a:srgbClr val="8C1414"/>
                </a:solidFill>
                <a:latin typeface="Arial"/>
                <a:cs typeface="Arial"/>
              </a:rPr>
              <a:t> </a:t>
            </a:r>
            <a:r>
              <a:rPr sz="1333" dirty="0">
                <a:solidFill>
                  <a:srgbClr val="8C1414"/>
                </a:solidFill>
                <a:latin typeface="Arial"/>
                <a:cs typeface="Arial"/>
              </a:rPr>
              <a:t>response  </a:t>
            </a:r>
            <a:r>
              <a:rPr sz="1333" spc="-7" dirty="0">
                <a:solidFill>
                  <a:srgbClr val="8C1414"/>
                </a:solidFill>
                <a:latin typeface="Arial"/>
                <a:cs typeface="Arial"/>
              </a:rPr>
              <a:t>Preferred</a:t>
            </a:r>
            <a:r>
              <a:rPr sz="1333" spc="-13" dirty="0">
                <a:solidFill>
                  <a:srgbClr val="8C1414"/>
                </a:solidFill>
                <a:latin typeface="Arial"/>
                <a:cs typeface="Arial"/>
              </a:rPr>
              <a:t> </a:t>
            </a:r>
            <a:r>
              <a:rPr sz="1333" dirty="0">
                <a:solidFill>
                  <a:srgbClr val="8C1414"/>
                </a:solidFill>
                <a:latin typeface="Arial"/>
                <a:cs typeface="Arial"/>
              </a:rPr>
              <a:t>response</a:t>
            </a:r>
            <a:endParaRPr sz="1333">
              <a:latin typeface="Arial"/>
              <a:cs typeface="Arial"/>
            </a:endParaRPr>
          </a:p>
        </p:txBody>
      </p:sp>
      <p:sp>
        <p:nvSpPr>
          <p:cNvPr id="7" name="object 7"/>
          <p:cNvSpPr/>
          <p:nvPr/>
        </p:nvSpPr>
        <p:spPr>
          <a:xfrm>
            <a:off x="2120048" y="3809158"/>
            <a:ext cx="7526165" cy="475199"/>
          </a:xfrm>
          <a:prstGeom prst="rect">
            <a:avLst/>
          </a:prstGeom>
          <a:blipFill>
            <a:blip r:embed="rId2" cstate="print"/>
            <a:stretch>
              <a:fillRect/>
            </a:stretch>
          </a:blipFill>
        </p:spPr>
        <p:txBody>
          <a:bodyPr wrap="square" lIns="0" tIns="0" rIns="0" bIns="0" rtlCol="0"/>
          <a:lstStyle/>
          <a:p>
            <a:endParaRPr sz="2400"/>
          </a:p>
        </p:txBody>
      </p:sp>
      <p:sp>
        <p:nvSpPr>
          <p:cNvPr id="8" name="object 8"/>
          <p:cNvSpPr/>
          <p:nvPr/>
        </p:nvSpPr>
        <p:spPr>
          <a:xfrm>
            <a:off x="7650801" y="1530633"/>
            <a:ext cx="2547265" cy="424532"/>
          </a:xfrm>
          <a:prstGeom prst="rect">
            <a:avLst/>
          </a:prstGeom>
          <a:blipFill>
            <a:blip r:embed="rId3" cstate="print"/>
            <a:stretch>
              <a:fillRect/>
            </a:stretch>
          </a:blipFill>
        </p:spPr>
        <p:txBody>
          <a:bodyPr wrap="square" lIns="0" tIns="0" rIns="0" bIns="0" rtlCol="0"/>
          <a:lstStyle/>
          <a:p>
            <a:endParaRPr sz="2400"/>
          </a:p>
        </p:txBody>
      </p:sp>
      <p:sp>
        <p:nvSpPr>
          <p:cNvPr id="9" name="object 9"/>
          <p:cNvSpPr/>
          <p:nvPr/>
        </p:nvSpPr>
        <p:spPr>
          <a:xfrm>
            <a:off x="8518483" y="1965389"/>
            <a:ext cx="183599" cy="283793"/>
          </a:xfrm>
          <a:prstGeom prst="rect">
            <a:avLst/>
          </a:prstGeom>
          <a:blipFill>
            <a:blip r:embed="rId4" cstate="print"/>
            <a:stretch>
              <a:fillRect/>
            </a:stretch>
          </a:blipFill>
        </p:spPr>
        <p:txBody>
          <a:bodyPr wrap="square" lIns="0" tIns="0" rIns="0" bIns="0" rtlCol="0"/>
          <a:lstStyle/>
          <a:p>
            <a:endParaRPr sz="2400"/>
          </a:p>
        </p:txBody>
      </p:sp>
      <p:sp>
        <p:nvSpPr>
          <p:cNvPr id="10" name="object 10"/>
          <p:cNvSpPr/>
          <p:nvPr/>
        </p:nvSpPr>
        <p:spPr>
          <a:xfrm>
            <a:off x="9318609" y="2104513"/>
            <a:ext cx="99907" cy="414867"/>
          </a:xfrm>
          <a:custGeom>
            <a:avLst/>
            <a:gdLst/>
            <a:ahLst/>
            <a:cxnLst/>
            <a:rect l="l" t="t" r="r" b="b"/>
            <a:pathLst>
              <a:path w="74929" h="311150">
                <a:moveTo>
                  <a:pt x="74317" y="311014"/>
                </a:moveTo>
                <a:lnTo>
                  <a:pt x="0" y="0"/>
                </a:lnTo>
              </a:path>
            </a:pathLst>
          </a:custGeom>
          <a:ln w="9524">
            <a:solidFill>
              <a:srgbClr val="2E2C28"/>
            </a:solidFill>
          </a:ln>
        </p:spPr>
        <p:txBody>
          <a:bodyPr wrap="square" lIns="0" tIns="0" rIns="0" bIns="0" rtlCol="0"/>
          <a:lstStyle/>
          <a:p>
            <a:endParaRPr sz="2400"/>
          </a:p>
        </p:txBody>
      </p:sp>
      <p:sp>
        <p:nvSpPr>
          <p:cNvPr id="11" name="object 11"/>
          <p:cNvSpPr/>
          <p:nvPr/>
        </p:nvSpPr>
        <p:spPr>
          <a:xfrm>
            <a:off x="9298207" y="2048457"/>
            <a:ext cx="41487" cy="60960"/>
          </a:xfrm>
          <a:custGeom>
            <a:avLst/>
            <a:gdLst/>
            <a:ahLst/>
            <a:cxnLst/>
            <a:rect l="l" t="t" r="r" b="b"/>
            <a:pathLst>
              <a:path w="31115" h="45719">
                <a:moveTo>
                  <a:pt x="0" y="45698"/>
                </a:moveTo>
                <a:lnTo>
                  <a:pt x="5255" y="0"/>
                </a:lnTo>
                <a:lnTo>
                  <a:pt x="30603" y="38385"/>
                </a:lnTo>
                <a:lnTo>
                  <a:pt x="0" y="45698"/>
                </a:lnTo>
                <a:close/>
              </a:path>
            </a:pathLst>
          </a:custGeom>
          <a:solidFill>
            <a:srgbClr val="2E2C28"/>
          </a:solidFill>
        </p:spPr>
        <p:txBody>
          <a:bodyPr wrap="square" lIns="0" tIns="0" rIns="0" bIns="0" rtlCol="0"/>
          <a:lstStyle/>
          <a:p>
            <a:endParaRPr sz="2400"/>
          </a:p>
        </p:txBody>
      </p:sp>
      <p:sp>
        <p:nvSpPr>
          <p:cNvPr id="12" name="object 12"/>
          <p:cNvSpPr/>
          <p:nvPr/>
        </p:nvSpPr>
        <p:spPr>
          <a:xfrm>
            <a:off x="9298207" y="2048457"/>
            <a:ext cx="41487" cy="60960"/>
          </a:xfrm>
          <a:custGeom>
            <a:avLst/>
            <a:gdLst/>
            <a:ahLst/>
            <a:cxnLst/>
            <a:rect l="l" t="t" r="r" b="b"/>
            <a:pathLst>
              <a:path w="31115" h="45719">
                <a:moveTo>
                  <a:pt x="30603" y="38385"/>
                </a:moveTo>
                <a:lnTo>
                  <a:pt x="5255" y="0"/>
                </a:lnTo>
                <a:lnTo>
                  <a:pt x="0" y="45698"/>
                </a:lnTo>
                <a:lnTo>
                  <a:pt x="30603" y="38385"/>
                </a:lnTo>
                <a:close/>
              </a:path>
            </a:pathLst>
          </a:custGeom>
          <a:ln w="9524">
            <a:solidFill>
              <a:srgbClr val="2E2C28"/>
            </a:solidFill>
          </a:ln>
        </p:spPr>
        <p:txBody>
          <a:bodyPr wrap="square" lIns="0" tIns="0" rIns="0" bIns="0" rtlCol="0"/>
          <a:lstStyle/>
          <a:p>
            <a:endParaRPr sz="2400"/>
          </a:p>
        </p:txBody>
      </p:sp>
      <p:sp>
        <p:nvSpPr>
          <p:cNvPr id="13" name="object 13"/>
          <p:cNvSpPr/>
          <p:nvPr/>
        </p:nvSpPr>
        <p:spPr>
          <a:xfrm>
            <a:off x="10020523" y="1993737"/>
            <a:ext cx="328292" cy="287312"/>
          </a:xfrm>
          <a:prstGeom prst="rect">
            <a:avLst/>
          </a:prstGeom>
          <a:blipFill>
            <a:blip r:embed="rId5" cstate="print"/>
            <a:stretch>
              <a:fillRect/>
            </a:stretch>
          </a:blipFill>
        </p:spPr>
        <p:txBody>
          <a:bodyPr wrap="square" lIns="0" tIns="0" rIns="0" bIns="0" rtlCol="0"/>
          <a:lstStyle/>
          <a:p>
            <a:endParaRPr sz="24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8" y="679933"/>
            <a:ext cx="11124353" cy="545448"/>
          </a:xfrm>
          <a:prstGeom prst="rect">
            <a:avLst/>
          </a:prstGeom>
        </p:spPr>
        <p:txBody>
          <a:bodyPr vert="horz" wrap="square" lIns="0" tIns="22013" rIns="0" bIns="0" rtlCol="0" anchor="ctr">
            <a:spAutoFit/>
          </a:bodyPr>
          <a:lstStyle/>
          <a:p>
            <a:pPr marL="16933">
              <a:lnSpc>
                <a:spcPct val="100000"/>
              </a:lnSpc>
              <a:spcBef>
                <a:spcPts val="173"/>
              </a:spcBef>
            </a:pPr>
            <a:r>
              <a:rPr sz="3400" spc="13" dirty="0"/>
              <a:t>RLHF: Learning </a:t>
            </a:r>
            <a:r>
              <a:rPr sz="3400" spc="20" dirty="0"/>
              <a:t>a </a:t>
            </a:r>
            <a:r>
              <a:rPr sz="3400" b="1" spc="13" dirty="0">
                <a:latin typeface="Georgia"/>
                <a:cs typeface="Georgia"/>
              </a:rPr>
              <a:t>reward </a:t>
            </a:r>
            <a:r>
              <a:rPr sz="3400" b="1" spc="20" dirty="0">
                <a:latin typeface="Georgia"/>
                <a:cs typeface="Georgia"/>
              </a:rPr>
              <a:t>model </a:t>
            </a:r>
            <a:r>
              <a:rPr sz="3400" spc="13" dirty="0"/>
              <a:t>from human</a:t>
            </a:r>
            <a:r>
              <a:rPr sz="3400" spc="-27" dirty="0"/>
              <a:t> </a:t>
            </a:r>
            <a:r>
              <a:rPr sz="3400" spc="7" dirty="0"/>
              <a:t>feedback</a:t>
            </a:r>
            <a:endParaRPr sz="3400">
              <a:latin typeface="Georgia"/>
              <a:cs typeface="Georgia"/>
            </a:endParaRPr>
          </a:p>
        </p:txBody>
      </p:sp>
      <p:sp>
        <p:nvSpPr>
          <p:cNvPr id="3" name="object 3"/>
          <p:cNvSpPr txBox="1"/>
          <p:nvPr/>
        </p:nvSpPr>
        <p:spPr>
          <a:xfrm>
            <a:off x="635518" y="1534195"/>
            <a:ext cx="6831753" cy="345330"/>
          </a:xfrm>
          <a:prstGeom prst="rect">
            <a:avLst/>
          </a:prstGeom>
        </p:spPr>
        <p:txBody>
          <a:bodyPr vert="horz" wrap="square" lIns="0" tIns="16933" rIns="0" bIns="0" rtlCol="0">
            <a:spAutoFit/>
          </a:bodyPr>
          <a:lstStyle/>
          <a:p>
            <a:pPr marL="16933">
              <a:spcBef>
                <a:spcPts val="133"/>
              </a:spcBef>
            </a:pPr>
            <a:r>
              <a:rPr sz="2133" spc="-7" dirty="0">
                <a:solidFill>
                  <a:srgbClr val="8C1414"/>
                </a:solidFill>
                <a:latin typeface="Arial"/>
                <a:cs typeface="Arial"/>
              </a:rPr>
              <a:t>Feedback </a:t>
            </a:r>
            <a:r>
              <a:rPr sz="2133" dirty="0">
                <a:solidFill>
                  <a:srgbClr val="8C1414"/>
                </a:solidFill>
                <a:latin typeface="Arial"/>
                <a:cs typeface="Arial"/>
              </a:rPr>
              <a:t>comes </a:t>
            </a:r>
            <a:r>
              <a:rPr sz="2133" spc="-7" dirty="0">
                <a:solidFill>
                  <a:srgbClr val="8C1414"/>
                </a:solidFill>
                <a:latin typeface="Arial"/>
                <a:cs typeface="Arial"/>
              </a:rPr>
              <a:t>as </a:t>
            </a:r>
            <a:r>
              <a:rPr sz="2133" b="1" spc="-7" dirty="0">
                <a:solidFill>
                  <a:srgbClr val="8C1414"/>
                </a:solidFill>
                <a:latin typeface="Arial"/>
                <a:cs typeface="Arial"/>
              </a:rPr>
              <a:t>preferences over model</a:t>
            </a:r>
            <a:r>
              <a:rPr sz="2133" b="1" spc="-73" dirty="0">
                <a:solidFill>
                  <a:srgbClr val="8C1414"/>
                </a:solidFill>
                <a:latin typeface="Arial"/>
                <a:cs typeface="Arial"/>
              </a:rPr>
              <a:t> </a:t>
            </a:r>
            <a:r>
              <a:rPr sz="2133" b="1" spc="-7" dirty="0">
                <a:solidFill>
                  <a:srgbClr val="8C1414"/>
                </a:solidFill>
                <a:latin typeface="Arial"/>
                <a:cs typeface="Arial"/>
              </a:rPr>
              <a:t>samples:</a:t>
            </a:r>
            <a:endParaRPr sz="2133">
              <a:latin typeface="Arial"/>
              <a:cs typeface="Arial"/>
            </a:endParaRPr>
          </a:p>
        </p:txBody>
      </p:sp>
      <p:sp>
        <p:nvSpPr>
          <p:cNvPr id="4" name="object 4"/>
          <p:cNvSpPr txBox="1"/>
          <p:nvPr/>
        </p:nvSpPr>
        <p:spPr>
          <a:xfrm>
            <a:off x="635518" y="2719218"/>
            <a:ext cx="6712373" cy="345330"/>
          </a:xfrm>
          <a:prstGeom prst="rect">
            <a:avLst/>
          </a:prstGeom>
        </p:spPr>
        <p:txBody>
          <a:bodyPr vert="horz" wrap="square" lIns="0" tIns="16933" rIns="0" bIns="0" rtlCol="0">
            <a:spAutoFit/>
          </a:bodyPr>
          <a:lstStyle/>
          <a:p>
            <a:pPr marL="16933">
              <a:spcBef>
                <a:spcPts val="133"/>
              </a:spcBef>
            </a:pPr>
            <a:r>
              <a:rPr sz="2133" b="1" spc="-20" dirty="0">
                <a:solidFill>
                  <a:srgbClr val="8C1414"/>
                </a:solidFill>
                <a:latin typeface="Arial"/>
                <a:cs typeface="Arial"/>
              </a:rPr>
              <a:t>Bradley-Terry </a:t>
            </a:r>
            <a:r>
              <a:rPr sz="2133" b="1" dirty="0">
                <a:solidFill>
                  <a:srgbClr val="8C1414"/>
                </a:solidFill>
                <a:latin typeface="Arial"/>
                <a:cs typeface="Arial"/>
              </a:rPr>
              <a:t>Model </a:t>
            </a:r>
            <a:r>
              <a:rPr sz="2133" dirty="0">
                <a:solidFill>
                  <a:srgbClr val="8C1414"/>
                </a:solidFill>
                <a:latin typeface="Arial"/>
                <a:cs typeface="Arial"/>
              </a:rPr>
              <a:t>connects rewards </a:t>
            </a:r>
            <a:r>
              <a:rPr sz="2133" spc="-7" dirty="0">
                <a:solidFill>
                  <a:srgbClr val="8C1414"/>
                </a:solidFill>
                <a:latin typeface="Arial"/>
                <a:cs typeface="Arial"/>
              </a:rPr>
              <a:t>to</a:t>
            </a:r>
            <a:r>
              <a:rPr sz="2133" spc="-100" dirty="0">
                <a:solidFill>
                  <a:srgbClr val="8C1414"/>
                </a:solidFill>
                <a:latin typeface="Arial"/>
                <a:cs typeface="Arial"/>
              </a:rPr>
              <a:t> </a:t>
            </a:r>
            <a:r>
              <a:rPr sz="2133" spc="-7" dirty="0">
                <a:solidFill>
                  <a:srgbClr val="8C1414"/>
                </a:solidFill>
                <a:latin typeface="Arial"/>
                <a:cs typeface="Arial"/>
              </a:rPr>
              <a:t>preferences:</a:t>
            </a:r>
            <a:endParaRPr sz="2133">
              <a:latin typeface="Arial"/>
              <a:cs typeface="Arial"/>
            </a:endParaRPr>
          </a:p>
        </p:txBody>
      </p:sp>
      <p:sp>
        <p:nvSpPr>
          <p:cNvPr id="5" name="object 5"/>
          <p:cNvSpPr txBox="1"/>
          <p:nvPr/>
        </p:nvSpPr>
        <p:spPr>
          <a:xfrm>
            <a:off x="8131817" y="2238531"/>
            <a:ext cx="579120" cy="222219"/>
          </a:xfrm>
          <a:prstGeom prst="rect">
            <a:avLst/>
          </a:prstGeom>
        </p:spPr>
        <p:txBody>
          <a:bodyPr vert="horz" wrap="square" lIns="0" tIns="16933" rIns="0" bIns="0" rtlCol="0">
            <a:spAutoFit/>
          </a:bodyPr>
          <a:lstStyle/>
          <a:p>
            <a:pPr marL="16933">
              <a:spcBef>
                <a:spcPts val="133"/>
              </a:spcBef>
            </a:pPr>
            <a:r>
              <a:rPr sz="1333" spc="-7" dirty="0">
                <a:solidFill>
                  <a:srgbClr val="8C1414"/>
                </a:solidFill>
                <a:latin typeface="Arial"/>
                <a:cs typeface="Arial"/>
              </a:rPr>
              <a:t>Prompt</a:t>
            </a:r>
            <a:endParaRPr sz="1333">
              <a:latin typeface="Arial"/>
              <a:cs typeface="Arial"/>
            </a:endParaRPr>
          </a:p>
        </p:txBody>
      </p:sp>
      <p:sp>
        <p:nvSpPr>
          <p:cNvPr id="6" name="object 6"/>
          <p:cNvSpPr txBox="1"/>
          <p:nvPr/>
        </p:nvSpPr>
        <p:spPr>
          <a:xfrm>
            <a:off x="8716683" y="2183659"/>
            <a:ext cx="2904067" cy="573020"/>
          </a:xfrm>
          <a:prstGeom prst="rect">
            <a:avLst/>
          </a:prstGeom>
        </p:spPr>
        <p:txBody>
          <a:bodyPr vert="horz" wrap="square" lIns="0" tIns="16933" rIns="0" bIns="0" rtlCol="0">
            <a:spAutoFit/>
          </a:bodyPr>
          <a:lstStyle/>
          <a:p>
            <a:pPr marL="16933" marR="6773" indent="1194617">
              <a:lnSpc>
                <a:spcPct val="144300"/>
              </a:lnSpc>
              <a:spcBef>
                <a:spcPts val="133"/>
              </a:spcBef>
            </a:pPr>
            <a:r>
              <a:rPr sz="1333" spc="-7" dirty="0">
                <a:solidFill>
                  <a:srgbClr val="8C1414"/>
                </a:solidFill>
                <a:latin typeface="Arial"/>
                <a:cs typeface="Arial"/>
              </a:rPr>
              <a:t>Dispreferred</a:t>
            </a:r>
            <a:r>
              <a:rPr sz="1333" spc="-113" dirty="0">
                <a:solidFill>
                  <a:srgbClr val="8C1414"/>
                </a:solidFill>
                <a:latin typeface="Arial"/>
                <a:cs typeface="Arial"/>
              </a:rPr>
              <a:t> </a:t>
            </a:r>
            <a:r>
              <a:rPr sz="1333" dirty="0">
                <a:solidFill>
                  <a:srgbClr val="8C1414"/>
                </a:solidFill>
                <a:latin typeface="Arial"/>
                <a:cs typeface="Arial"/>
              </a:rPr>
              <a:t>response  </a:t>
            </a:r>
            <a:r>
              <a:rPr sz="1333" spc="-7" dirty="0">
                <a:solidFill>
                  <a:srgbClr val="8C1414"/>
                </a:solidFill>
                <a:latin typeface="Arial"/>
                <a:cs typeface="Arial"/>
              </a:rPr>
              <a:t>Preferred</a:t>
            </a:r>
            <a:r>
              <a:rPr sz="1333" spc="-13" dirty="0">
                <a:solidFill>
                  <a:srgbClr val="8C1414"/>
                </a:solidFill>
                <a:latin typeface="Arial"/>
                <a:cs typeface="Arial"/>
              </a:rPr>
              <a:t> </a:t>
            </a:r>
            <a:r>
              <a:rPr sz="1333" dirty="0">
                <a:solidFill>
                  <a:srgbClr val="8C1414"/>
                </a:solidFill>
                <a:latin typeface="Arial"/>
                <a:cs typeface="Arial"/>
              </a:rPr>
              <a:t>response</a:t>
            </a:r>
            <a:endParaRPr sz="1333">
              <a:latin typeface="Arial"/>
              <a:cs typeface="Arial"/>
            </a:endParaRPr>
          </a:p>
        </p:txBody>
      </p:sp>
      <p:sp>
        <p:nvSpPr>
          <p:cNvPr id="7" name="object 7"/>
          <p:cNvSpPr txBox="1"/>
          <p:nvPr/>
        </p:nvSpPr>
        <p:spPr>
          <a:xfrm>
            <a:off x="5276562" y="3348426"/>
            <a:ext cx="4512733" cy="222219"/>
          </a:xfrm>
          <a:prstGeom prst="rect">
            <a:avLst/>
          </a:prstGeom>
        </p:spPr>
        <p:txBody>
          <a:bodyPr vert="horz" wrap="square" lIns="0" tIns="16933" rIns="0" bIns="0" rtlCol="0">
            <a:spAutoFit/>
          </a:bodyPr>
          <a:lstStyle/>
          <a:p>
            <a:pPr marL="16933">
              <a:spcBef>
                <a:spcPts val="133"/>
              </a:spcBef>
            </a:pPr>
            <a:r>
              <a:rPr sz="1333" spc="-7" dirty="0">
                <a:solidFill>
                  <a:srgbClr val="8C1414"/>
                </a:solidFill>
                <a:latin typeface="Arial"/>
                <a:cs typeface="Arial"/>
              </a:rPr>
              <a:t>Reward assigned to </a:t>
            </a:r>
            <a:r>
              <a:rPr sz="1333" b="1" spc="-7" dirty="0">
                <a:solidFill>
                  <a:srgbClr val="8C1414"/>
                </a:solidFill>
                <a:latin typeface="Arial"/>
                <a:cs typeface="Arial"/>
              </a:rPr>
              <a:t>preferred </a:t>
            </a:r>
            <a:r>
              <a:rPr sz="1333" spc="-7" dirty="0">
                <a:solidFill>
                  <a:srgbClr val="8C1414"/>
                </a:solidFill>
                <a:latin typeface="Arial"/>
                <a:cs typeface="Arial"/>
              </a:rPr>
              <a:t>and </a:t>
            </a:r>
            <a:r>
              <a:rPr sz="1333" b="1" spc="-7" dirty="0">
                <a:solidFill>
                  <a:srgbClr val="8C1414"/>
                </a:solidFill>
                <a:latin typeface="Arial"/>
                <a:cs typeface="Arial"/>
              </a:rPr>
              <a:t>dispreferred</a:t>
            </a:r>
            <a:r>
              <a:rPr sz="1333" b="1" spc="-47" dirty="0">
                <a:solidFill>
                  <a:srgbClr val="8C1414"/>
                </a:solidFill>
                <a:latin typeface="Arial"/>
                <a:cs typeface="Arial"/>
              </a:rPr>
              <a:t> </a:t>
            </a:r>
            <a:r>
              <a:rPr sz="1333" dirty="0">
                <a:solidFill>
                  <a:srgbClr val="8C1414"/>
                </a:solidFill>
                <a:latin typeface="Arial"/>
                <a:cs typeface="Arial"/>
              </a:rPr>
              <a:t>responses</a:t>
            </a:r>
            <a:endParaRPr sz="1333">
              <a:latin typeface="Arial"/>
              <a:cs typeface="Arial"/>
            </a:endParaRPr>
          </a:p>
        </p:txBody>
      </p:sp>
      <p:sp>
        <p:nvSpPr>
          <p:cNvPr id="8" name="object 8"/>
          <p:cNvSpPr/>
          <p:nvPr/>
        </p:nvSpPr>
        <p:spPr>
          <a:xfrm>
            <a:off x="8457236" y="3602216"/>
            <a:ext cx="290763" cy="225805"/>
          </a:xfrm>
          <a:prstGeom prst="rect">
            <a:avLst/>
          </a:prstGeom>
          <a:blipFill>
            <a:blip r:embed="rId2" cstate="print"/>
            <a:stretch>
              <a:fillRect/>
            </a:stretch>
          </a:blipFill>
        </p:spPr>
        <p:txBody>
          <a:bodyPr wrap="square" lIns="0" tIns="0" rIns="0" bIns="0" rtlCol="0"/>
          <a:lstStyle/>
          <a:p>
            <a:endParaRPr sz="2400"/>
          </a:p>
        </p:txBody>
      </p:sp>
      <p:sp>
        <p:nvSpPr>
          <p:cNvPr id="9" name="object 9"/>
          <p:cNvSpPr/>
          <p:nvPr/>
        </p:nvSpPr>
        <p:spPr>
          <a:xfrm>
            <a:off x="6806772" y="3595683"/>
            <a:ext cx="279909" cy="215476"/>
          </a:xfrm>
          <a:prstGeom prst="rect">
            <a:avLst/>
          </a:prstGeom>
          <a:blipFill>
            <a:blip r:embed="rId3" cstate="print"/>
            <a:stretch>
              <a:fillRect/>
            </a:stretch>
          </a:blipFill>
        </p:spPr>
        <p:txBody>
          <a:bodyPr wrap="square" lIns="0" tIns="0" rIns="0" bIns="0" rtlCol="0"/>
          <a:lstStyle/>
          <a:p>
            <a:endParaRPr sz="2400"/>
          </a:p>
        </p:txBody>
      </p:sp>
      <p:sp>
        <p:nvSpPr>
          <p:cNvPr id="10" name="object 10"/>
          <p:cNvSpPr/>
          <p:nvPr/>
        </p:nvSpPr>
        <p:spPr>
          <a:xfrm>
            <a:off x="2120048" y="3809158"/>
            <a:ext cx="7526165" cy="475199"/>
          </a:xfrm>
          <a:prstGeom prst="rect">
            <a:avLst/>
          </a:prstGeom>
          <a:blipFill>
            <a:blip r:embed="rId4" cstate="print"/>
            <a:stretch>
              <a:fillRect/>
            </a:stretch>
          </a:blipFill>
        </p:spPr>
        <p:txBody>
          <a:bodyPr wrap="square" lIns="0" tIns="0" rIns="0" bIns="0" rtlCol="0"/>
          <a:lstStyle/>
          <a:p>
            <a:endParaRPr sz="2400"/>
          </a:p>
        </p:txBody>
      </p:sp>
      <p:sp>
        <p:nvSpPr>
          <p:cNvPr id="11" name="object 11"/>
          <p:cNvSpPr/>
          <p:nvPr/>
        </p:nvSpPr>
        <p:spPr>
          <a:xfrm>
            <a:off x="7650801" y="1530633"/>
            <a:ext cx="2547265" cy="424532"/>
          </a:xfrm>
          <a:prstGeom prst="rect">
            <a:avLst/>
          </a:prstGeom>
          <a:blipFill>
            <a:blip r:embed="rId5" cstate="print"/>
            <a:stretch>
              <a:fillRect/>
            </a:stretch>
          </a:blipFill>
        </p:spPr>
        <p:txBody>
          <a:bodyPr wrap="square" lIns="0" tIns="0" rIns="0" bIns="0" rtlCol="0"/>
          <a:lstStyle/>
          <a:p>
            <a:endParaRPr sz="2400"/>
          </a:p>
        </p:txBody>
      </p:sp>
      <p:sp>
        <p:nvSpPr>
          <p:cNvPr id="12" name="object 12"/>
          <p:cNvSpPr/>
          <p:nvPr/>
        </p:nvSpPr>
        <p:spPr>
          <a:xfrm>
            <a:off x="8518483" y="1965389"/>
            <a:ext cx="183599" cy="283793"/>
          </a:xfrm>
          <a:prstGeom prst="rect">
            <a:avLst/>
          </a:prstGeom>
          <a:blipFill>
            <a:blip r:embed="rId6" cstate="print"/>
            <a:stretch>
              <a:fillRect/>
            </a:stretch>
          </a:blipFill>
        </p:spPr>
        <p:txBody>
          <a:bodyPr wrap="square" lIns="0" tIns="0" rIns="0" bIns="0" rtlCol="0"/>
          <a:lstStyle/>
          <a:p>
            <a:endParaRPr sz="2400"/>
          </a:p>
        </p:txBody>
      </p:sp>
      <p:sp>
        <p:nvSpPr>
          <p:cNvPr id="13" name="object 13"/>
          <p:cNvSpPr/>
          <p:nvPr/>
        </p:nvSpPr>
        <p:spPr>
          <a:xfrm>
            <a:off x="9318609" y="2104513"/>
            <a:ext cx="99907" cy="414867"/>
          </a:xfrm>
          <a:custGeom>
            <a:avLst/>
            <a:gdLst/>
            <a:ahLst/>
            <a:cxnLst/>
            <a:rect l="l" t="t" r="r" b="b"/>
            <a:pathLst>
              <a:path w="74929" h="311150">
                <a:moveTo>
                  <a:pt x="74317" y="311014"/>
                </a:moveTo>
                <a:lnTo>
                  <a:pt x="0" y="0"/>
                </a:lnTo>
              </a:path>
            </a:pathLst>
          </a:custGeom>
          <a:ln w="9524">
            <a:solidFill>
              <a:srgbClr val="2E2C28"/>
            </a:solidFill>
          </a:ln>
        </p:spPr>
        <p:txBody>
          <a:bodyPr wrap="square" lIns="0" tIns="0" rIns="0" bIns="0" rtlCol="0"/>
          <a:lstStyle/>
          <a:p>
            <a:endParaRPr sz="2400"/>
          </a:p>
        </p:txBody>
      </p:sp>
      <p:sp>
        <p:nvSpPr>
          <p:cNvPr id="14" name="object 14"/>
          <p:cNvSpPr/>
          <p:nvPr/>
        </p:nvSpPr>
        <p:spPr>
          <a:xfrm>
            <a:off x="9298207" y="2048457"/>
            <a:ext cx="41487" cy="60960"/>
          </a:xfrm>
          <a:custGeom>
            <a:avLst/>
            <a:gdLst/>
            <a:ahLst/>
            <a:cxnLst/>
            <a:rect l="l" t="t" r="r" b="b"/>
            <a:pathLst>
              <a:path w="31115" h="45719">
                <a:moveTo>
                  <a:pt x="0" y="45698"/>
                </a:moveTo>
                <a:lnTo>
                  <a:pt x="5255" y="0"/>
                </a:lnTo>
                <a:lnTo>
                  <a:pt x="30603" y="38385"/>
                </a:lnTo>
                <a:lnTo>
                  <a:pt x="0" y="45698"/>
                </a:lnTo>
                <a:close/>
              </a:path>
            </a:pathLst>
          </a:custGeom>
          <a:solidFill>
            <a:srgbClr val="2E2C28"/>
          </a:solidFill>
        </p:spPr>
        <p:txBody>
          <a:bodyPr wrap="square" lIns="0" tIns="0" rIns="0" bIns="0" rtlCol="0"/>
          <a:lstStyle/>
          <a:p>
            <a:endParaRPr sz="2400"/>
          </a:p>
        </p:txBody>
      </p:sp>
      <p:sp>
        <p:nvSpPr>
          <p:cNvPr id="15" name="object 15"/>
          <p:cNvSpPr/>
          <p:nvPr/>
        </p:nvSpPr>
        <p:spPr>
          <a:xfrm>
            <a:off x="9298207" y="2048457"/>
            <a:ext cx="41487" cy="60960"/>
          </a:xfrm>
          <a:custGeom>
            <a:avLst/>
            <a:gdLst/>
            <a:ahLst/>
            <a:cxnLst/>
            <a:rect l="l" t="t" r="r" b="b"/>
            <a:pathLst>
              <a:path w="31115" h="45719">
                <a:moveTo>
                  <a:pt x="30603" y="38385"/>
                </a:moveTo>
                <a:lnTo>
                  <a:pt x="5255" y="0"/>
                </a:lnTo>
                <a:lnTo>
                  <a:pt x="0" y="45698"/>
                </a:lnTo>
                <a:lnTo>
                  <a:pt x="30603" y="38385"/>
                </a:lnTo>
                <a:close/>
              </a:path>
            </a:pathLst>
          </a:custGeom>
          <a:ln w="9524">
            <a:solidFill>
              <a:srgbClr val="2E2C28"/>
            </a:solidFill>
          </a:ln>
        </p:spPr>
        <p:txBody>
          <a:bodyPr wrap="square" lIns="0" tIns="0" rIns="0" bIns="0" rtlCol="0"/>
          <a:lstStyle/>
          <a:p>
            <a:endParaRPr sz="2400"/>
          </a:p>
        </p:txBody>
      </p:sp>
      <p:sp>
        <p:nvSpPr>
          <p:cNvPr id="16" name="object 16"/>
          <p:cNvSpPr/>
          <p:nvPr/>
        </p:nvSpPr>
        <p:spPr>
          <a:xfrm>
            <a:off x="10020523" y="1993737"/>
            <a:ext cx="328292" cy="287312"/>
          </a:xfrm>
          <a:prstGeom prst="rect">
            <a:avLst/>
          </a:prstGeom>
          <a:blipFill>
            <a:blip r:embed="rId7" cstate="print"/>
            <a:stretch>
              <a:fillRect/>
            </a:stretch>
          </a:blipFill>
        </p:spPr>
        <p:txBody>
          <a:bodyPr wrap="square" lIns="0" tIns="0" rIns="0" bIns="0" rtlCol="0"/>
          <a:lstStyle/>
          <a:p>
            <a:endParaRPr sz="24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8" y="679933"/>
            <a:ext cx="11124353" cy="545448"/>
          </a:xfrm>
          <a:prstGeom prst="rect">
            <a:avLst/>
          </a:prstGeom>
        </p:spPr>
        <p:txBody>
          <a:bodyPr vert="horz" wrap="square" lIns="0" tIns="22013" rIns="0" bIns="0" rtlCol="0" anchor="ctr">
            <a:spAutoFit/>
          </a:bodyPr>
          <a:lstStyle/>
          <a:p>
            <a:pPr marL="16933">
              <a:lnSpc>
                <a:spcPct val="100000"/>
              </a:lnSpc>
              <a:spcBef>
                <a:spcPts val="173"/>
              </a:spcBef>
            </a:pPr>
            <a:r>
              <a:rPr sz="3400" spc="13" dirty="0"/>
              <a:t>RLHF: Learning </a:t>
            </a:r>
            <a:r>
              <a:rPr sz="3400" spc="20" dirty="0"/>
              <a:t>a </a:t>
            </a:r>
            <a:r>
              <a:rPr sz="3400" b="1" spc="13" dirty="0">
                <a:latin typeface="Georgia"/>
                <a:cs typeface="Georgia"/>
              </a:rPr>
              <a:t>reward </a:t>
            </a:r>
            <a:r>
              <a:rPr sz="3400" b="1" spc="20" dirty="0">
                <a:latin typeface="Georgia"/>
                <a:cs typeface="Georgia"/>
              </a:rPr>
              <a:t>model </a:t>
            </a:r>
            <a:r>
              <a:rPr sz="3400" spc="13" dirty="0"/>
              <a:t>from human</a:t>
            </a:r>
            <a:r>
              <a:rPr sz="3400" spc="-27" dirty="0"/>
              <a:t> </a:t>
            </a:r>
            <a:r>
              <a:rPr sz="3400" spc="7" dirty="0"/>
              <a:t>feedback</a:t>
            </a:r>
            <a:endParaRPr sz="3400">
              <a:latin typeface="Georgia"/>
              <a:cs typeface="Georgia"/>
            </a:endParaRPr>
          </a:p>
        </p:txBody>
      </p:sp>
      <p:sp>
        <p:nvSpPr>
          <p:cNvPr id="3" name="object 3"/>
          <p:cNvSpPr txBox="1"/>
          <p:nvPr/>
        </p:nvSpPr>
        <p:spPr>
          <a:xfrm>
            <a:off x="635518" y="1534195"/>
            <a:ext cx="6831753" cy="345330"/>
          </a:xfrm>
          <a:prstGeom prst="rect">
            <a:avLst/>
          </a:prstGeom>
        </p:spPr>
        <p:txBody>
          <a:bodyPr vert="horz" wrap="square" lIns="0" tIns="16933" rIns="0" bIns="0" rtlCol="0">
            <a:spAutoFit/>
          </a:bodyPr>
          <a:lstStyle/>
          <a:p>
            <a:pPr marL="16933">
              <a:spcBef>
                <a:spcPts val="133"/>
              </a:spcBef>
            </a:pPr>
            <a:r>
              <a:rPr sz="2133" spc="-7" dirty="0">
                <a:solidFill>
                  <a:srgbClr val="8C1414"/>
                </a:solidFill>
                <a:latin typeface="Arial"/>
                <a:cs typeface="Arial"/>
              </a:rPr>
              <a:t>Feedback </a:t>
            </a:r>
            <a:r>
              <a:rPr sz="2133" dirty="0">
                <a:solidFill>
                  <a:srgbClr val="8C1414"/>
                </a:solidFill>
                <a:latin typeface="Arial"/>
                <a:cs typeface="Arial"/>
              </a:rPr>
              <a:t>comes </a:t>
            </a:r>
            <a:r>
              <a:rPr sz="2133" spc="-7" dirty="0">
                <a:solidFill>
                  <a:srgbClr val="8C1414"/>
                </a:solidFill>
                <a:latin typeface="Arial"/>
                <a:cs typeface="Arial"/>
              </a:rPr>
              <a:t>as </a:t>
            </a:r>
            <a:r>
              <a:rPr sz="2133" b="1" spc="-7" dirty="0">
                <a:solidFill>
                  <a:srgbClr val="8C1414"/>
                </a:solidFill>
                <a:latin typeface="Arial"/>
                <a:cs typeface="Arial"/>
              </a:rPr>
              <a:t>preferences over model</a:t>
            </a:r>
            <a:r>
              <a:rPr sz="2133" b="1" spc="-73" dirty="0">
                <a:solidFill>
                  <a:srgbClr val="8C1414"/>
                </a:solidFill>
                <a:latin typeface="Arial"/>
                <a:cs typeface="Arial"/>
              </a:rPr>
              <a:t> </a:t>
            </a:r>
            <a:r>
              <a:rPr sz="2133" b="1" spc="-7" dirty="0">
                <a:solidFill>
                  <a:srgbClr val="8C1414"/>
                </a:solidFill>
                <a:latin typeface="Arial"/>
                <a:cs typeface="Arial"/>
              </a:rPr>
              <a:t>samples:</a:t>
            </a:r>
            <a:endParaRPr sz="2133">
              <a:latin typeface="Arial"/>
              <a:cs typeface="Arial"/>
            </a:endParaRPr>
          </a:p>
        </p:txBody>
      </p:sp>
      <p:sp>
        <p:nvSpPr>
          <p:cNvPr id="4" name="object 4"/>
          <p:cNvSpPr txBox="1"/>
          <p:nvPr/>
        </p:nvSpPr>
        <p:spPr>
          <a:xfrm>
            <a:off x="635518" y="2719218"/>
            <a:ext cx="6712373" cy="345330"/>
          </a:xfrm>
          <a:prstGeom prst="rect">
            <a:avLst/>
          </a:prstGeom>
        </p:spPr>
        <p:txBody>
          <a:bodyPr vert="horz" wrap="square" lIns="0" tIns="16933" rIns="0" bIns="0" rtlCol="0">
            <a:spAutoFit/>
          </a:bodyPr>
          <a:lstStyle/>
          <a:p>
            <a:pPr marL="16933">
              <a:spcBef>
                <a:spcPts val="133"/>
              </a:spcBef>
            </a:pPr>
            <a:r>
              <a:rPr sz="2133" b="1" spc="-20" dirty="0">
                <a:solidFill>
                  <a:srgbClr val="8C1414"/>
                </a:solidFill>
                <a:latin typeface="Arial"/>
                <a:cs typeface="Arial"/>
              </a:rPr>
              <a:t>Bradley-Terry </a:t>
            </a:r>
            <a:r>
              <a:rPr sz="2133" b="1" dirty="0">
                <a:solidFill>
                  <a:srgbClr val="8C1414"/>
                </a:solidFill>
                <a:latin typeface="Arial"/>
                <a:cs typeface="Arial"/>
              </a:rPr>
              <a:t>Model </a:t>
            </a:r>
            <a:r>
              <a:rPr sz="2133" dirty="0">
                <a:solidFill>
                  <a:srgbClr val="8C1414"/>
                </a:solidFill>
                <a:latin typeface="Arial"/>
                <a:cs typeface="Arial"/>
              </a:rPr>
              <a:t>connects rewards </a:t>
            </a:r>
            <a:r>
              <a:rPr sz="2133" spc="-7" dirty="0">
                <a:solidFill>
                  <a:srgbClr val="8C1414"/>
                </a:solidFill>
                <a:latin typeface="Arial"/>
                <a:cs typeface="Arial"/>
              </a:rPr>
              <a:t>to</a:t>
            </a:r>
            <a:r>
              <a:rPr sz="2133" spc="-100" dirty="0">
                <a:solidFill>
                  <a:srgbClr val="8C1414"/>
                </a:solidFill>
                <a:latin typeface="Arial"/>
                <a:cs typeface="Arial"/>
              </a:rPr>
              <a:t> </a:t>
            </a:r>
            <a:r>
              <a:rPr sz="2133" spc="-7" dirty="0">
                <a:solidFill>
                  <a:srgbClr val="8C1414"/>
                </a:solidFill>
                <a:latin typeface="Arial"/>
                <a:cs typeface="Arial"/>
              </a:rPr>
              <a:t>preferences:</a:t>
            </a:r>
            <a:endParaRPr sz="2133">
              <a:latin typeface="Arial"/>
              <a:cs typeface="Arial"/>
            </a:endParaRPr>
          </a:p>
        </p:txBody>
      </p:sp>
      <p:sp>
        <p:nvSpPr>
          <p:cNvPr id="5" name="object 5"/>
          <p:cNvSpPr txBox="1"/>
          <p:nvPr/>
        </p:nvSpPr>
        <p:spPr>
          <a:xfrm>
            <a:off x="8131817" y="2238531"/>
            <a:ext cx="579120" cy="222219"/>
          </a:xfrm>
          <a:prstGeom prst="rect">
            <a:avLst/>
          </a:prstGeom>
        </p:spPr>
        <p:txBody>
          <a:bodyPr vert="horz" wrap="square" lIns="0" tIns="16933" rIns="0" bIns="0" rtlCol="0">
            <a:spAutoFit/>
          </a:bodyPr>
          <a:lstStyle/>
          <a:p>
            <a:pPr marL="16933">
              <a:spcBef>
                <a:spcPts val="133"/>
              </a:spcBef>
            </a:pPr>
            <a:r>
              <a:rPr sz="1333" spc="-7" dirty="0">
                <a:solidFill>
                  <a:srgbClr val="8C1414"/>
                </a:solidFill>
                <a:latin typeface="Arial"/>
                <a:cs typeface="Arial"/>
              </a:rPr>
              <a:t>Prompt</a:t>
            </a:r>
            <a:endParaRPr sz="1333">
              <a:latin typeface="Arial"/>
              <a:cs typeface="Arial"/>
            </a:endParaRPr>
          </a:p>
        </p:txBody>
      </p:sp>
      <p:sp>
        <p:nvSpPr>
          <p:cNvPr id="6" name="object 6"/>
          <p:cNvSpPr txBox="1"/>
          <p:nvPr/>
        </p:nvSpPr>
        <p:spPr>
          <a:xfrm>
            <a:off x="8716683" y="2183659"/>
            <a:ext cx="2904067" cy="573020"/>
          </a:xfrm>
          <a:prstGeom prst="rect">
            <a:avLst/>
          </a:prstGeom>
        </p:spPr>
        <p:txBody>
          <a:bodyPr vert="horz" wrap="square" lIns="0" tIns="16933" rIns="0" bIns="0" rtlCol="0">
            <a:spAutoFit/>
          </a:bodyPr>
          <a:lstStyle/>
          <a:p>
            <a:pPr marL="16933" marR="6773" indent="1194617">
              <a:lnSpc>
                <a:spcPct val="144300"/>
              </a:lnSpc>
              <a:spcBef>
                <a:spcPts val="133"/>
              </a:spcBef>
            </a:pPr>
            <a:r>
              <a:rPr sz="1333" spc="-7" dirty="0">
                <a:solidFill>
                  <a:srgbClr val="8C1414"/>
                </a:solidFill>
                <a:latin typeface="Arial"/>
                <a:cs typeface="Arial"/>
              </a:rPr>
              <a:t>Dispreferred</a:t>
            </a:r>
            <a:r>
              <a:rPr sz="1333" spc="-113" dirty="0">
                <a:solidFill>
                  <a:srgbClr val="8C1414"/>
                </a:solidFill>
                <a:latin typeface="Arial"/>
                <a:cs typeface="Arial"/>
              </a:rPr>
              <a:t> </a:t>
            </a:r>
            <a:r>
              <a:rPr sz="1333" dirty="0">
                <a:solidFill>
                  <a:srgbClr val="8C1414"/>
                </a:solidFill>
                <a:latin typeface="Arial"/>
                <a:cs typeface="Arial"/>
              </a:rPr>
              <a:t>response  </a:t>
            </a:r>
            <a:r>
              <a:rPr sz="1333" spc="-7" dirty="0">
                <a:solidFill>
                  <a:srgbClr val="8C1414"/>
                </a:solidFill>
                <a:latin typeface="Arial"/>
                <a:cs typeface="Arial"/>
              </a:rPr>
              <a:t>Preferred</a:t>
            </a:r>
            <a:r>
              <a:rPr sz="1333" spc="-13" dirty="0">
                <a:solidFill>
                  <a:srgbClr val="8C1414"/>
                </a:solidFill>
                <a:latin typeface="Arial"/>
                <a:cs typeface="Arial"/>
              </a:rPr>
              <a:t> </a:t>
            </a:r>
            <a:r>
              <a:rPr sz="1333" dirty="0">
                <a:solidFill>
                  <a:srgbClr val="8C1414"/>
                </a:solidFill>
                <a:latin typeface="Arial"/>
                <a:cs typeface="Arial"/>
              </a:rPr>
              <a:t>response</a:t>
            </a:r>
            <a:endParaRPr sz="1333">
              <a:latin typeface="Arial"/>
              <a:cs typeface="Arial"/>
            </a:endParaRPr>
          </a:p>
        </p:txBody>
      </p:sp>
      <p:sp>
        <p:nvSpPr>
          <p:cNvPr id="7" name="object 7"/>
          <p:cNvSpPr txBox="1"/>
          <p:nvPr/>
        </p:nvSpPr>
        <p:spPr>
          <a:xfrm>
            <a:off x="5276562" y="3348426"/>
            <a:ext cx="4512733" cy="222219"/>
          </a:xfrm>
          <a:prstGeom prst="rect">
            <a:avLst/>
          </a:prstGeom>
        </p:spPr>
        <p:txBody>
          <a:bodyPr vert="horz" wrap="square" lIns="0" tIns="16933" rIns="0" bIns="0" rtlCol="0">
            <a:spAutoFit/>
          </a:bodyPr>
          <a:lstStyle/>
          <a:p>
            <a:pPr marL="16933">
              <a:spcBef>
                <a:spcPts val="133"/>
              </a:spcBef>
            </a:pPr>
            <a:r>
              <a:rPr sz="1333" spc="-7" dirty="0">
                <a:solidFill>
                  <a:srgbClr val="8C1414"/>
                </a:solidFill>
                <a:latin typeface="Arial"/>
                <a:cs typeface="Arial"/>
              </a:rPr>
              <a:t>Reward assigned to </a:t>
            </a:r>
            <a:r>
              <a:rPr sz="1333" b="1" spc="-7" dirty="0">
                <a:solidFill>
                  <a:srgbClr val="8C1414"/>
                </a:solidFill>
                <a:latin typeface="Arial"/>
                <a:cs typeface="Arial"/>
              </a:rPr>
              <a:t>preferred </a:t>
            </a:r>
            <a:r>
              <a:rPr sz="1333" spc="-7" dirty="0">
                <a:solidFill>
                  <a:srgbClr val="8C1414"/>
                </a:solidFill>
                <a:latin typeface="Arial"/>
                <a:cs typeface="Arial"/>
              </a:rPr>
              <a:t>and </a:t>
            </a:r>
            <a:r>
              <a:rPr sz="1333" b="1" spc="-7" dirty="0">
                <a:solidFill>
                  <a:srgbClr val="8C1414"/>
                </a:solidFill>
                <a:latin typeface="Arial"/>
                <a:cs typeface="Arial"/>
              </a:rPr>
              <a:t>dispreferred</a:t>
            </a:r>
            <a:r>
              <a:rPr sz="1333" b="1" spc="-47" dirty="0">
                <a:solidFill>
                  <a:srgbClr val="8C1414"/>
                </a:solidFill>
                <a:latin typeface="Arial"/>
                <a:cs typeface="Arial"/>
              </a:rPr>
              <a:t> </a:t>
            </a:r>
            <a:r>
              <a:rPr sz="1333" dirty="0">
                <a:solidFill>
                  <a:srgbClr val="8C1414"/>
                </a:solidFill>
                <a:latin typeface="Arial"/>
                <a:cs typeface="Arial"/>
              </a:rPr>
              <a:t>responses</a:t>
            </a:r>
            <a:endParaRPr sz="1333">
              <a:latin typeface="Arial"/>
              <a:cs typeface="Arial"/>
            </a:endParaRPr>
          </a:p>
        </p:txBody>
      </p:sp>
      <p:sp>
        <p:nvSpPr>
          <p:cNvPr id="8" name="object 8"/>
          <p:cNvSpPr/>
          <p:nvPr/>
        </p:nvSpPr>
        <p:spPr>
          <a:xfrm>
            <a:off x="8457236" y="3602216"/>
            <a:ext cx="290763" cy="225805"/>
          </a:xfrm>
          <a:prstGeom prst="rect">
            <a:avLst/>
          </a:prstGeom>
          <a:blipFill>
            <a:blip r:embed="rId2" cstate="print"/>
            <a:stretch>
              <a:fillRect/>
            </a:stretch>
          </a:blipFill>
        </p:spPr>
        <p:txBody>
          <a:bodyPr wrap="square" lIns="0" tIns="0" rIns="0" bIns="0" rtlCol="0"/>
          <a:lstStyle/>
          <a:p>
            <a:endParaRPr sz="2400"/>
          </a:p>
        </p:txBody>
      </p:sp>
      <p:sp>
        <p:nvSpPr>
          <p:cNvPr id="9" name="object 9"/>
          <p:cNvSpPr/>
          <p:nvPr/>
        </p:nvSpPr>
        <p:spPr>
          <a:xfrm>
            <a:off x="6806772" y="3595683"/>
            <a:ext cx="279909" cy="215476"/>
          </a:xfrm>
          <a:prstGeom prst="rect">
            <a:avLst/>
          </a:prstGeom>
          <a:blipFill>
            <a:blip r:embed="rId3" cstate="print"/>
            <a:stretch>
              <a:fillRect/>
            </a:stretch>
          </a:blipFill>
        </p:spPr>
        <p:txBody>
          <a:bodyPr wrap="square" lIns="0" tIns="0" rIns="0" bIns="0" rtlCol="0"/>
          <a:lstStyle/>
          <a:p>
            <a:endParaRPr sz="2400"/>
          </a:p>
        </p:txBody>
      </p:sp>
      <p:sp>
        <p:nvSpPr>
          <p:cNvPr id="10" name="object 10"/>
          <p:cNvSpPr txBox="1"/>
          <p:nvPr/>
        </p:nvSpPr>
        <p:spPr>
          <a:xfrm>
            <a:off x="635518" y="4751218"/>
            <a:ext cx="7737687" cy="345330"/>
          </a:xfrm>
          <a:prstGeom prst="rect">
            <a:avLst/>
          </a:prstGeom>
        </p:spPr>
        <p:txBody>
          <a:bodyPr vert="horz" wrap="square" lIns="0" tIns="16933" rIns="0" bIns="0" rtlCol="0">
            <a:spAutoFit/>
          </a:bodyPr>
          <a:lstStyle/>
          <a:p>
            <a:pPr marL="16933">
              <a:spcBef>
                <a:spcPts val="133"/>
              </a:spcBef>
            </a:pPr>
            <a:r>
              <a:rPr sz="2133" spc="-20" dirty="0">
                <a:solidFill>
                  <a:srgbClr val="8C1414"/>
                </a:solidFill>
                <a:latin typeface="Arial"/>
                <a:cs typeface="Arial"/>
              </a:rPr>
              <a:t>Train </a:t>
            </a:r>
            <a:r>
              <a:rPr sz="2133" spc="-7" dirty="0">
                <a:solidFill>
                  <a:srgbClr val="8C1414"/>
                </a:solidFill>
                <a:latin typeface="Arial"/>
                <a:cs typeface="Arial"/>
              </a:rPr>
              <a:t>the </a:t>
            </a:r>
            <a:r>
              <a:rPr sz="2133" dirty="0">
                <a:solidFill>
                  <a:srgbClr val="8C1414"/>
                </a:solidFill>
                <a:latin typeface="Arial"/>
                <a:cs typeface="Arial"/>
              </a:rPr>
              <a:t>reward model </a:t>
            </a:r>
            <a:r>
              <a:rPr sz="2133" spc="-7" dirty="0">
                <a:solidFill>
                  <a:srgbClr val="8C1414"/>
                </a:solidFill>
                <a:latin typeface="Arial"/>
                <a:cs typeface="Arial"/>
              </a:rPr>
              <a:t>by </a:t>
            </a:r>
            <a:r>
              <a:rPr sz="2133" b="1" spc="-7" dirty="0">
                <a:solidFill>
                  <a:srgbClr val="8C1414"/>
                </a:solidFill>
                <a:latin typeface="Arial"/>
                <a:cs typeface="Arial"/>
              </a:rPr>
              <a:t>minimizing negative log</a:t>
            </a:r>
            <a:r>
              <a:rPr sz="2133" b="1" spc="-73" dirty="0">
                <a:solidFill>
                  <a:srgbClr val="8C1414"/>
                </a:solidFill>
                <a:latin typeface="Arial"/>
                <a:cs typeface="Arial"/>
              </a:rPr>
              <a:t> </a:t>
            </a:r>
            <a:r>
              <a:rPr sz="2133" b="1" spc="-7" dirty="0">
                <a:solidFill>
                  <a:srgbClr val="8C1414"/>
                </a:solidFill>
                <a:latin typeface="Arial"/>
                <a:cs typeface="Arial"/>
              </a:rPr>
              <a:t>likelihood:</a:t>
            </a:r>
            <a:endParaRPr sz="2133">
              <a:latin typeface="Arial"/>
              <a:cs typeface="Arial"/>
            </a:endParaRPr>
          </a:p>
        </p:txBody>
      </p:sp>
      <p:sp>
        <p:nvSpPr>
          <p:cNvPr id="11" name="object 11"/>
          <p:cNvSpPr/>
          <p:nvPr/>
        </p:nvSpPr>
        <p:spPr>
          <a:xfrm>
            <a:off x="2120048" y="3809158"/>
            <a:ext cx="7526165" cy="475199"/>
          </a:xfrm>
          <a:prstGeom prst="rect">
            <a:avLst/>
          </a:prstGeom>
          <a:blipFill>
            <a:blip r:embed="rId4" cstate="print"/>
            <a:stretch>
              <a:fillRect/>
            </a:stretch>
          </a:blipFill>
        </p:spPr>
        <p:txBody>
          <a:bodyPr wrap="square" lIns="0" tIns="0" rIns="0" bIns="0" rtlCol="0"/>
          <a:lstStyle/>
          <a:p>
            <a:endParaRPr sz="2400"/>
          </a:p>
        </p:txBody>
      </p:sp>
      <p:sp>
        <p:nvSpPr>
          <p:cNvPr id="12" name="object 12"/>
          <p:cNvSpPr/>
          <p:nvPr/>
        </p:nvSpPr>
        <p:spPr>
          <a:xfrm>
            <a:off x="7650801" y="1530633"/>
            <a:ext cx="2547265" cy="424532"/>
          </a:xfrm>
          <a:prstGeom prst="rect">
            <a:avLst/>
          </a:prstGeom>
          <a:blipFill>
            <a:blip r:embed="rId5" cstate="print"/>
            <a:stretch>
              <a:fillRect/>
            </a:stretch>
          </a:blipFill>
        </p:spPr>
        <p:txBody>
          <a:bodyPr wrap="square" lIns="0" tIns="0" rIns="0" bIns="0" rtlCol="0"/>
          <a:lstStyle/>
          <a:p>
            <a:endParaRPr sz="2400"/>
          </a:p>
        </p:txBody>
      </p:sp>
      <p:sp>
        <p:nvSpPr>
          <p:cNvPr id="13" name="object 13"/>
          <p:cNvSpPr/>
          <p:nvPr/>
        </p:nvSpPr>
        <p:spPr>
          <a:xfrm>
            <a:off x="8518483" y="1965389"/>
            <a:ext cx="183599" cy="283793"/>
          </a:xfrm>
          <a:prstGeom prst="rect">
            <a:avLst/>
          </a:prstGeom>
          <a:blipFill>
            <a:blip r:embed="rId6" cstate="print"/>
            <a:stretch>
              <a:fillRect/>
            </a:stretch>
          </a:blipFill>
        </p:spPr>
        <p:txBody>
          <a:bodyPr wrap="square" lIns="0" tIns="0" rIns="0" bIns="0" rtlCol="0"/>
          <a:lstStyle/>
          <a:p>
            <a:endParaRPr sz="2400"/>
          </a:p>
        </p:txBody>
      </p:sp>
      <p:sp>
        <p:nvSpPr>
          <p:cNvPr id="14" name="object 14"/>
          <p:cNvSpPr/>
          <p:nvPr/>
        </p:nvSpPr>
        <p:spPr>
          <a:xfrm>
            <a:off x="9318609" y="2104513"/>
            <a:ext cx="99907" cy="414867"/>
          </a:xfrm>
          <a:custGeom>
            <a:avLst/>
            <a:gdLst/>
            <a:ahLst/>
            <a:cxnLst/>
            <a:rect l="l" t="t" r="r" b="b"/>
            <a:pathLst>
              <a:path w="74929" h="311150">
                <a:moveTo>
                  <a:pt x="74317" y="311014"/>
                </a:moveTo>
                <a:lnTo>
                  <a:pt x="0" y="0"/>
                </a:lnTo>
              </a:path>
            </a:pathLst>
          </a:custGeom>
          <a:ln w="9524">
            <a:solidFill>
              <a:srgbClr val="2E2C28"/>
            </a:solidFill>
          </a:ln>
        </p:spPr>
        <p:txBody>
          <a:bodyPr wrap="square" lIns="0" tIns="0" rIns="0" bIns="0" rtlCol="0"/>
          <a:lstStyle/>
          <a:p>
            <a:endParaRPr sz="2400"/>
          </a:p>
        </p:txBody>
      </p:sp>
      <p:sp>
        <p:nvSpPr>
          <p:cNvPr id="15" name="object 15"/>
          <p:cNvSpPr/>
          <p:nvPr/>
        </p:nvSpPr>
        <p:spPr>
          <a:xfrm>
            <a:off x="9298207" y="2048457"/>
            <a:ext cx="41487" cy="60960"/>
          </a:xfrm>
          <a:custGeom>
            <a:avLst/>
            <a:gdLst/>
            <a:ahLst/>
            <a:cxnLst/>
            <a:rect l="l" t="t" r="r" b="b"/>
            <a:pathLst>
              <a:path w="31115" h="45719">
                <a:moveTo>
                  <a:pt x="0" y="45698"/>
                </a:moveTo>
                <a:lnTo>
                  <a:pt x="5255" y="0"/>
                </a:lnTo>
                <a:lnTo>
                  <a:pt x="30603" y="38385"/>
                </a:lnTo>
                <a:lnTo>
                  <a:pt x="0" y="45698"/>
                </a:lnTo>
                <a:close/>
              </a:path>
            </a:pathLst>
          </a:custGeom>
          <a:solidFill>
            <a:srgbClr val="2E2C28"/>
          </a:solidFill>
        </p:spPr>
        <p:txBody>
          <a:bodyPr wrap="square" lIns="0" tIns="0" rIns="0" bIns="0" rtlCol="0"/>
          <a:lstStyle/>
          <a:p>
            <a:endParaRPr sz="2400"/>
          </a:p>
        </p:txBody>
      </p:sp>
      <p:sp>
        <p:nvSpPr>
          <p:cNvPr id="16" name="object 16"/>
          <p:cNvSpPr/>
          <p:nvPr/>
        </p:nvSpPr>
        <p:spPr>
          <a:xfrm>
            <a:off x="9298207" y="2048457"/>
            <a:ext cx="41487" cy="60960"/>
          </a:xfrm>
          <a:custGeom>
            <a:avLst/>
            <a:gdLst/>
            <a:ahLst/>
            <a:cxnLst/>
            <a:rect l="l" t="t" r="r" b="b"/>
            <a:pathLst>
              <a:path w="31115" h="45719">
                <a:moveTo>
                  <a:pt x="30603" y="38385"/>
                </a:moveTo>
                <a:lnTo>
                  <a:pt x="5255" y="0"/>
                </a:lnTo>
                <a:lnTo>
                  <a:pt x="0" y="45698"/>
                </a:lnTo>
                <a:lnTo>
                  <a:pt x="30603" y="38385"/>
                </a:lnTo>
                <a:close/>
              </a:path>
            </a:pathLst>
          </a:custGeom>
          <a:ln w="9524">
            <a:solidFill>
              <a:srgbClr val="2E2C28"/>
            </a:solidFill>
          </a:ln>
        </p:spPr>
        <p:txBody>
          <a:bodyPr wrap="square" lIns="0" tIns="0" rIns="0" bIns="0" rtlCol="0"/>
          <a:lstStyle/>
          <a:p>
            <a:endParaRPr sz="2400"/>
          </a:p>
        </p:txBody>
      </p:sp>
      <p:sp>
        <p:nvSpPr>
          <p:cNvPr id="17" name="object 17"/>
          <p:cNvSpPr/>
          <p:nvPr/>
        </p:nvSpPr>
        <p:spPr>
          <a:xfrm>
            <a:off x="10020523" y="1993737"/>
            <a:ext cx="328292" cy="287312"/>
          </a:xfrm>
          <a:prstGeom prst="rect">
            <a:avLst/>
          </a:prstGeom>
          <a:blipFill>
            <a:blip r:embed="rId7" cstate="print"/>
            <a:stretch>
              <a:fillRect/>
            </a:stretch>
          </a:blipFill>
        </p:spPr>
        <p:txBody>
          <a:bodyPr wrap="square" lIns="0" tIns="0" rIns="0" bIns="0" rtlCol="0"/>
          <a:lstStyle/>
          <a:p>
            <a:endParaRPr sz="24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8" y="679933"/>
            <a:ext cx="11124353" cy="545448"/>
          </a:xfrm>
          <a:prstGeom prst="rect">
            <a:avLst/>
          </a:prstGeom>
        </p:spPr>
        <p:txBody>
          <a:bodyPr vert="horz" wrap="square" lIns="0" tIns="22013" rIns="0" bIns="0" rtlCol="0" anchor="ctr">
            <a:spAutoFit/>
          </a:bodyPr>
          <a:lstStyle/>
          <a:p>
            <a:pPr marL="16933">
              <a:lnSpc>
                <a:spcPct val="100000"/>
              </a:lnSpc>
              <a:spcBef>
                <a:spcPts val="173"/>
              </a:spcBef>
            </a:pPr>
            <a:r>
              <a:rPr sz="3400" spc="13" dirty="0"/>
              <a:t>RLHF: Learning </a:t>
            </a:r>
            <a:r>
              <a:rPr sz="3400" spc="20" dirty="0"/>
              <a:t>a </a:t>
            </a:r>
            <a:r>
              <a:rPr sz="3400" b="1" spc="13" dirty="0">
                <a:latin typeface="Georgia"/>
                <a:cs typeface="Georgia"/>
              </a:rPr>
              <a:t>reward </a:t>
            </a:r>
            <a:r>
              <a:rPr sz="3400" b="1" spc="20" dirty="0">
                <a:latin typeface="Georgia"/>
                <a:cs typeface="Georgia"/>
              </a:rPr>
              <a:t>model </a:t>
            </a:r>
            <a:r>
              <a:rPr sz="3400" spc="13" dirty="0"/>
              <a:t>from human</a:t>
            </a:r>
            <a:r>
              <a:rPr sz="3400" spc="-27" dirty="0"/>
              <a:t> </a:t>
            </a:r>
            <a:r>
              <a:rPr sz="3400" spc="7" dirty="0"/>
              <a:t>feedback</a:t>
            </a:r>
            <a:endParaRPr sz="3400">
              <a:latin typeface="Georgia"/>
              <a:cs typeface="Georgia"/>
            </a:endParaRPr>
          </a:p>
        </p:txBody>
      </p:sp>
      <p:sp>
        <p:nvSpPr>
          <p:cNvPr id="3" name="object 3"/>
          <p:cNvSpPr txBox="1"/>
          <p:nvPr/>
        </p:nvSpPr>
        <p:spPr>
          <a:xfrm>
            <a:off x="635518" y="1534195"/>
            <a:ext cx="6831753" cy="345330"/>
          </a:xfrm>
          <a:prstGeom prst="rect">
            <a:avLst/>
          </a:prstGeom>
        </p:spPr>
        <p:txBody>
          <a:bodyPr vert="horz" wrap="square" lIns="0" tIns="16933" rIns="0" bIns="0" rtlCol="0">
            <a:spAutoFit/>
          </a:bodyPr>
          <a:lstStyle/>
          <a:p>
            <a:pPr marL="16933">
              <a:spcBef>
                <a:spcPts val="133"/>
              </a:spcBef>
            </a:pPr>
            <a:r>
              <a:rPr sz="2133" spc="-7" dirty="0">
                <a:solidFill>
                  <a:srgbClr val="8C1414"/>
                </a:solidFill>
                <a:latin typeface="Arial"/>
                <a:cs typeface="Arial"/>
              </a:rPr>
              <a:t>Feedback </a:t>
            </a:r>
            <a:r>
              <a:rPr sz="2133" dirty="0">
                <a:solidFill>
                  <a:srgbClr val="8C1414"/>
                </a:solidFill>
                <a:latin typeface="Arial"/>
                <a:cs typeface="Arial"/>
              </a:rPr>
              <a:t>comes </a:t>
            </a:r>
            <a:r>
              <a:rPr sz="2133" spc="-7" dirty="0">
                <a:solidFill>
                  <a:srgbClr val="8C1414"/>
                </a:solidFill>
                <a:latin typeface="Arial"/>
                <a:cs typeface="Arial"/>
              </a:rPr>
              <a:t>as </a:t>
            </a:r>
            <a:r>
              <a:rPr sz="2133" b="1" spc="-7" dirty="0">
                <a:solidFill>
                  <a:srgbClr val="8C1414"/>
                </a:solidFill>
                <a:latin typeface="Arial"/>
                <a:cs typeface="Arial"/>
              </a:rPr>
              <a:t>preferences over model</a:t>
            </a:r>
            <a:r>
              <a:rPr sz="2133" b="1" spc="-73" dirty="0">
                <a:solidFill>
                  <a:srgbClr val="8C1414"/>
                </a:solidFill>
                <a:latin typeface="Arial"/>
                <a:cs typeface="Arial"/>
              </a:rPr>
              <a:t> </a:t>
            </a:r>
            <a:r>
              <a:rPr sz="2133" b="1" spc="-7" dirty="0">
                <a:solidFill>
                  <a:srgbClr val="8C1414"/>
                </a:solidFill>
                <a:latin typeface="Arial"/>
                <a:cs typeface="Arial"/>
              </a:rPr>
              <a:t>samples:</a:t>
            </a:r>
            <a:endParaRPr sz="2133">
              <a:latin typeface="Arial"/>
              <a:cs typeface="Arial"/>
            </a:endParaRPr>
          </a:p>
        </p:txBody>
      </p:sp>
      <p:sp>
        <p:nvSpPr>
          <p:cNvPr id="4" name="object 4"/>
          <p:cNvSpPr txBox="1"/>
          <p:nvPr/>
        </p:nvSpPr>
        <p:spPr>
          <a:xfrm>
            <a:off x="635518" y="2719218"/>
            <a:ext cx="6712373" cy="345330"/>
          </a:xfrm>
          <a:prstGeom prst="rect">
            <a:avLst/>
          </a:prstGeom>
        </p:spPr>
        <p:txBody>
          <a:bodyPr vert="horz" wrap="square" lIns="0" tIns="16933" rIns="0" bIns="0" rtlCol="0">
            <a:spAutoFit/>
          </a:bodyPr>
          <a:lstStyle/>
          <a:p>
            <a:pPr marL="16933">
              <a:spcBef>
                <a:spcPts val="133"/>
              </a:spcBef>
            </a:pPr>
            <a:r>
              <a:rPr sz="2133" b="1" spc="-20" dirty="0">
                <a:solidFill>
                  <a:srgbClr val="8C1414"/>
                </a:solidFill>
                <a:latin typeface="Arial"/>
                <a:cs typeface="Arial"/>
              </a:rPr>
              <a:t>Bradley-Terry </a:t>
            </a:r>
            <a:r>
              <a:rPr sz="2133" b="1" dirty="0">
                <a:solidFill>
                  <a:srgbClr val="8C1414"/>
                </a:solidFill>
                <a:latin typeface="Arial"/>
                <a:cs typeface="Arial"/>
              </a:rPr>
              <a:t>Model </a:t>
            </a:r>
            <a:r>
              <a:rPr sz="2133" dirty="0">
                <a:solidFill>
                  <a:srgbClr val="8C1414"/>
                </a:solidFill>
                <a:latin typeface="Arial"/>
                <a:cs typeface="Arial"/>
              </a:rPr>
              <a:t>connects rewards </a:t>
            </a:r>
            <a:r>
              <a:rPr sz="2133" spc="-7" dirty="0">
                <a:solidFill>
                  <a:srgbClr val="8C1414"/>
                </a:solidFill>
                <a:latin typeface="Arial"/>
                <a:cs typeface="Arial"/>
              </a:rPr>
              <a:t>to</a:t>
            </a:r>
            <a:r>
              <a:rPr sz="2133" spc="-100" dirty="0">
                <a:solidFill>
                  <a:srgbClr val="8C1414"/>
                </a:solidFill>
                <a:latin typeface="Arial"/>
                <a:cs typeface="Arial"/>
              </a:rPr>
              <a:t> </a:t>
            </a:r>
            <a:r>
              <a:rPr sz="2133" spc="-7" dirty="0">
                <a:solidFill>
                  <a:srgbClr val="8C1414"/>
                </a:solidFill>
                <a:latin typeface="Arial"/>
                <a:cs typeface="Arial"/>
              </a:rPr>
              <a:t>preferences:</a:t>
            </a:r>
            <a:endParaRPr sz="2133">
              <a:latin typeface="Arial"/>
              <a:cs typeface="Arial"/>
            </a:endParaRPr>
          </a:p>
        </p:txBody>
      </p:sp>
      <p:sp>
        <p:nvSpPr>
          <p:cNvPr id="5" name="object 5"/>
          <p:cNvSpPr txBox="1"/>
          <p:nvPr/>
        </p:nvSpPr>
        <p:spPr>
          <a:xfrm>
            <a:off x="8131817" y="2238531"/>
            <a:ext cx="579120" cy="222219"/>
          </a:xfrm>
          <a:prstGeom prst="rect">
            <a:avLst/>
          </a:prstGeom>
        </p:spPr>
        <p:txBody>
          <a:bodyPr vert="horz" wrap="square" lIns="0" tIns="16933" rIns="0" bIns="0" rtlCol="0">
            <a:spAutoFit/>
          </a:bodyPr>
          <a:lstStyle/>
          <a:p>
            <a:pPr marL="16933">
              <a:spcBef>
                <a:spcPts val="133"/>
              </a:spcBef>
            </a:pPr>
            <a:r>
              <a:rPr sz="1333" spc="-7" dirty="0">
                <a:solidFill>
                  <a:srgbClr val="8C1414"/>
                </a:solidFill>
                <a:latin typeface="Arial"/>
                <a:cs typeface="Arial"/>
              </a:rPr>
              <a:t>Prompt</a:t>
            </a:r>
            <a:endParaRPr sz="1333">
              <a:latin typeface="Arial"/>
              <a:cs typeface="Arial"/>
            </a:endParaRPr>
          </a:p>
        </p:txBody>
      </p:sp>
      <p:sp>
        <p:nvSpPr>
          <p:cNvPr id="6" name="object 6"/>
          <p:cNvSpPr txBox="1"/>
          <p:nvPr/>
        </p:nvSpPr>
        <p:spPr>
          <a:xfrm>
            <a:off x="8716683" y="2183659"/>
            <a:ext cx="2904067" cy="573020"/>
          </a:xfrm>
          <a:prstGeom prst="rect">
            <a:avLst/>
          </a:prstGeom>
        </p:spPr>
        <p:txBody>
          <a:bodyPr vert="horz" wrap="square" lIns="0" tIns="16933" rIns="0" bIns="0" rtlCol="0">
            <a:spAutoFit/>
          </a:bodyPr>
          <a:lstStyle/>
          <a:p>
            <a:pPr marL="16933" marR="6773" indent="1194617">
              <a:lnSpc>
                <a:spcPct val="144300"/>
              </a:lnSpc>
              <a:spcBef>
                <a:spcPts val="133"/>
              </a:spcBef>
            </a:pPr>
            <a:r>
              <a:rPr sz="1333" spc="-7" dirty="0">
                <a:solidFill>
                  <a:srgbClr val="8C1414"/>
                </a:solidFill>
                <a:latin typeface="Arial"/>
                <a:cs typeface="Arial"/>
              </a:rPr>
              <a:t>Dispreferred</a:t>
            </a:r>
            <a:r>
              <a:rPr sz="1333" spc="-113" dirty="0">
                <a:solidFill>
                  <a:srgbClr val="8C1414"/>
                </a:solidFill>
                <a:latin typeface="Arial"/>
                <a:cs typeface="Arial"/>
              </a:rPr>
              <a:t> </a:t>
            </a:r>
            <a:r>
              <a:rPr sz="1333" dirty="0">
                <a:solidFill>
                  <a:srgbClr val="8C1414"/>
                </a:solidFill>
                <a:latin typeface="Arial"/>
                <a:cs typeface="Arial"/>
              </a:rPr>
              <a:t>response  </a:t>
            </a:r>
            <a:r>
              <a:rPr sz="1333" spc="-7" dirty="0">
                <a:solidFill>
                  <a:srgbClr val="8C1414"/>
                </a:solidFill>
                <a:latin typeface="Arial"/>
                <a:cs typeface="Arial"/>
              </a:rPr>
              <a:t>Preferred</a:t>
            </a:r>
            <a:r>
              <a:rPr sz="1333" spc="-13" dirty="0">
                <a:solidFill>
                  <a:srgbClr val="8C1414"/>
                </a:solidFill>
                <a:latin typeface="Arial"/>
                <a:cs typeface="Arial"/>
              </a:rPr>
              <a:t> </a:t>
            </a:r>
            <a:r>
              <a:rPr sz="1333" dirty="0">
                <a:solidFill>
                  <a:srgbClr val="8C1414"/>
                </a:solidFill>
                <a:latin typeface="Arial"/>
                <a:cs typeface="Arial"/>
              </a:rPr>
              <a:t>response</a:t>
            </a:r>
            <a:endParaRPr sz="1333">
              <a:latin typeface="Arial"/>
              <a:cs typeface="Arial"/>
            </a:endParaRPr>
          </a:p>
        </p:txBody>
      </p:sp>
      <p:sp>
        <p:nvSpPr>
          <p:cNvPr id="7" name="object 7"/>
          <p:cNvSpPr txBox="1"/>
          <p:nvPr/>
        </p:nvSpPr>
        <p:spPr>
          <a:xfrm>
            <a:off x="5276562" y="3348426"/>
            <a:ext cx="4512733" cy="222219"/>
          </a:xfrm>
          <a:prstGeom prst="rect">
            <a:avLst/>
          </a:prstGeom>
        </p:spPr>
        <p:txBody>
          <a:bodyPr vert="horz" wrap="square" lIns="0" tIns="16933" rIns="0" bIns="0" rtlCol="0">
            <a:spAutoFit/>
          </a:bodyPr>
          <a:lstStyle/>
          <a:p>
            <a:pPr marL="16933">
              <a:spcBef>
                <a:spcPts val="133"/>
              </a:spcBef>
            </a:pPr>
            <a:r>
              <a:rPr sz="1333" spc="-7" dirty="0">
                <a:solidFill>
                  <a:srgbClr val="8C1414"/>
                </a:solidFill>
                <a:latin typeface="Arial"/>
                <a:cs typeface="Arial"/>
              </a:rPr>
              <a:t>Reward assigned to </a:t>
            </a:r>
            <a:r>
              <a:rPr sz="1333" b="1" spc="-7" dirty="0">
                <a:solidFill>
                  <a:srgbClr val="8C1414"/>
                </a:solidFill>
                <a:latin typeface="Arial"/>
                <a:cs typeface="Arial"/>
              </a:rPr>
              <a:t>preferred </a:t>
            </a:r>
            <a:r>
              <a:rPr sz="1333" spc="-7" dirty="0">
                <a:solidFill>
                  <a:srgbClr val="8C1414"/>
                </a:solidFill>
                <a:latin typeface="Arial"/>
                <a:cs typeface="Arial"/>
              </a:rPr>
              <a:t>and </a:t>
            </a:r>
            <a:r>
              <a:rPr sz="1333" b="1" spc="-7" dirty="0">
                <a:solidFill>
                  <a:srgbClr val="8C1414"/>
                </a:solidFill>
                <a:latin typeface="Arial"/>
                <a:cs typeface="Arial"/>
              </a:rPr>
              <a:t>dispreferred</a:t>
            </a:r>
            <a:r>
              <a:rPr sz="1333" b="1" spc="-47" dirty="0">
                <a:solidFill>
                  <a:srgbClr val="8C1414"/>
                </a:solidFill>
                <a:latin typeface="Arial"/>
                <a:cs typeface="Arial"/>
              </a:rPr>
              <a:t> </a:t>
            </a:r>
            <a:r>
              <a:rPr sz="1333" dirty="0">
                <a:solidFill>
                  <a:srgbClr val="8C1414"/>
                </a:solidFill>
                <a:latin typeface="Arial"/>
                <a:cs typeface="Arial"/>
              </a:rPr>
              <a:t>responses</a:t>
            </a:r>
            <a:endParaRPr sz="1333">
              <a:latin typeface="Arial"/>
              <a:cs typeface="Arial"/>
            </a:endParaRPr>
          </a:p>
        </p:txBody>
      </p:sp>
      <p:sp>
        <p:nvSpPr>
          <p:cNvPr id="8" name="object 8"/>
          <p:cNvSpPr/>
          <p:nvPr/>
        </p:nvSpPr>
        <p:spPr>
          <a:xfrm>
            <a:off x="1227967" y="5422801"/>
            <a:ext cx="9736064" cy="475199"/>
          </a:xfrm>
          <a:prstGeom prst="rect">
            <a:avLst/>
          </a:prstGeom>
          <a:blipFill>
            <a:blip r:embed="rId2" cstate="print"/>
            <a:stretch>
              <a:fillRect/>
            </a:stretch>
          </a:blipFill>
        </p:spPr>
        <p:txBody>
          <a:bodyPr wrap="square" lIns="0" tIns="0" rIns="0" bIns="0" rtlCol="0"/>
          <a:lstStyle/>
          <a:p>
            <a:endParaRPr sz="2400"/>
          </a:p>
        </p:txBody>
      </p:sp>
      <p:sp>
        <p:nvSpPr>
          <p:cNvPr id="9" name="object 9"/>
          <p:cNvSpPr/>
          <p:nvPr/>
        </p:nvSpPr>
        <p:spPr>
          <a:xfrm>
            <a:off x="8457236" y="3602216"/>
            <a:ext cx="290763" cy="225805"/>
          </a:xfrm>
          <a:prstGeom prst="rect">
            <a:avLst/>
          </a:prstGeom>
          <a:blipFill>
            <a:blip r:embed="rId3" cstate="print"/>
            <a:stretch>
              <a:fillRect/>
            </a:stretch>
          </a:blipFill>
        </p:spPr>
        <p:txBody>
          <a:bodyPr wrap="square" lIns="0" tIns="0" rIns="0" bIns="0" rtlCol="0"/>
          <a:lstStyle/>
          <a:p>
            <a:endParaRPr sz="2400"/>
          </a:p>
        </p:txBody>
      </p:sp>
      <p:sp>
        <p:nvSpPr>
          <p:cNvPr id="10" name="object 10"/>
          <p:cNvSpPr/>
          <p:nvPr/>
        </p:nvSpPr>
        <p:spPr>
          <a:xfrm>
            <a:off x="6806772" y="3595683"/>
            <a:ext cx="279909" cy="215476"/>
          </a:xfrm>
          <a:prstGeom prst="rect">
            <a:avLst/>
          </a:prstGeom>
          <a:blipFill>
            <a:blip r:embed="rId4" cstate="print"/>
            <a:stretch>
              <a:fillRect/>
            </a:stretch>
          </a:blipFill>
        </p:spPr>
        <p:txBody>
          <a:bodyPr wrap="square" lIns="0" tIns="0" rIns="0" bIns="0" rtlCol="0"/>
          <a:lstStyle/>
          <a:p>
            <a:endParaRPr sz="2400"/>
          </a:p>
        </p:txBody>
      </p:sp>
      <p:sp>
        <p:nvSpPr>
          <p:cNvPr id="11" name="object 11"/>
          <p:cNvSpPr txBox="1"/>
          <p:nvPr/>
        </p:nvSpPr>
        <p:spPr>
          <a:xfrm>
            <a:off x="635518" y="4751218"/>
            <a:ext cx="7737687" cy="345330"/>
          </a:xfrm>
          <a:prstGeom prst="rect">
            <a:avLst/>
          </a:prstGeom>
        </p:spPr>
        <p:txBody>
          <a:bodyPr vert="horz" wrap="square" lIns="0" tIns="16933" rIns="0" bIns="0" rtlCol="0">
            <a:spAutoFit/>
          </a:bodyPr>
          <a:lstStyle/>
          <a:p>
            <a:pPr marL="16933">
              <a:spcBef>
                <a:spcPts val="133"/>
              </a:spcBef>
            </a:pPr>
            <a:r>
              <a:rPr sz="2133" spc="-20" dirty="0">
                <a:solidFill>
                  <a:srgbClr val="8C1414"/>
                </a:solidFill>
                <a:latin typeface="Arial"/>
                <a:cs typeface="Arial"/>
              </a:rPr>
              <a:t>Train </a:t>
            </a:r>
            <a:r>
              <a:rPr sz="2133" spc="-7" dirty="0">
                <a:solidFill>
                  <a:srgbClr val="8C1414"/>
                </a:solidFill>
                <a:latin typeface="Arial"/>
                <a:cs typeface="Arial"/>
              </a:rPr>
              <a:t>the </a:t>
            </a:r>
            <a:r>
              <a:rPr sz="2133" dirty="0">
                <a:solidFill>
                  <a:srgbClr val="8C1414"/>
                </a:solidFill>
                <a:latin typeface="Arial"/>
                <a:cs typeface="Arial"/>
              </a:rPr>
              <a:t>reward model </a:t>
            </a:r>
            <a:r>
              <a:rPr sz="2133" spc="-7" dirty="0">
                <a:solidFill>
                  <a:srgbClr val="8C1414"/>
                </a:solidFill>
                <a:latin typeface="Arial"/>
                <a:cs typeface="Arial"/>
              </a:rPr>
              <a:t>by </a:t>
            </a:r>
            <a:r>
              <a:rPr sz="2133" b="1" spc="-7" dirty="0">
                <a:solidFill>
                  <a:srgbClr val="8C1414"/>
                </a:solidFill>
                <a:latin typeface="Arial"/>
                <a:cs typeface="Arial"/>
              </a:rPr>
              <a:t>minimizing negative log</a:t>
            </a:r>
            <a:r>
              <a:rPr sz="2133" b="1" spc="-73" dirty="0">
                <a:solidFill>
                  <a:srgbClr val="8C1414"/>
                </a:solidFill>
                <a:latin typeface="Arial"/>
                <a:cs typeface="Arial"/>
              </a:rPr>
              <a:t> </a:t>
            </a:r>
            <a:r>
              <a:rPr sz="2133" b="1" spc="-7" dirty="0">
                <a:solidFill>
                  <a:srgbClr val="8C1414"/>
                </a:solidFill>
                <a:latin typeface="Arial"/>
                <a:cs typeface="Arial"/>
              </a:rPr>
              <a:t>likelihood:</a:t>
            </a:r>
            <a:endParaRPr sz="2133">
              <a:latin typeface="Arial"/>
              <a:cs typeface="Arial"/>
            </a:endParaRPr>
          </a:p>
        </p:txBody>
      </p:sp>
      <p:sp>
        <p:nvSpPr>
          <p:cNvPr id="12" name="object 12"/>
          <p:cNvSpPr/>
          <p:nvPr/>
        </p:nvSpPr>
        <p:spPr>
          <a:xfrm>
            <a:off x="2120048" y="3809158"/>
            <a:ext cx="7526165" cy="475199"/>
          </a:xfrm>
          <a:prstGeom prst="rect">
            <a:avLst/>
          </a:prstGeom>
          <a:blipFill>
            <a:blip r:embed="rId5" cstate="print"/>
            <a:stretch>
              <a:fillRect/>
            </a:stretch>
          </a:blipFill>
        </p:spPr>
        <p:txBody>
          <a:bodyPr wrap="square" lIns="0" tIns="0" rIns="0" bIns="0" rtlCol="0"/>
          <a:lstStyle/>
          <a:p>
            <a:endParaRPr sz="2400"/>
          </a:p>
        </p:txBody>
      </p:sp>
      <p:sp>
        <p:nvSpPr>
          <p:cNvPr id="13" name="object 13"/>
          <p:cNvSpPr/>
          <p:nvPr/>
        </p:nvSpPr>
        <p:spPr>
          <a:xfrm>
            <a:off x="7650801" y="1530633"/>
            <a:ext cx="2547265" cy="424532"/>
          </a:xfrm>
          <a:prstGeom prst="rect">
            <a:avLst/>
          </a:prstGeom>
          <a:blipFill>
            <a:blip r:embed="rId6" cstate="print"/>
            <a:stretch>
              <a:fillRect/>
            </a:stretch>
          </a:blipFill>
        </p:spPr>
        <p:txBody>
          <a:bodyPr wrap="square" lIns="0" tIns="0" rIns="0" bIns="0" rtlCol="0"/>
          <a:lstStyle/>
          <a:p>
            <a:endParaRPr sz="2400"/>
          </a:p>
        </p:txBody>
      </p:sp>
      <p:sp>
        <p:nvSpPr>
          <p:cNvPr id="14" name="object 14"/>
          <p:cNvSpPr/>
          <p:nvPr/>
        </p:nvSpPr>
        <p:spPr>
          <a:xfrm>
            <a:off x="8518483" y="1965389"/>
            <a:ext cx="183599" cy="283793"/>
          </a:xfrm>
          <a:prstGeom prst="rect">
            <a:avLst/>
          </a:prstGeom>
          <a:blipFill>
            <a:blip r:embed="rId7" cstate="print"/>
            <a:stretch>
              <a:fillRect/>
            </a:stretch>
          </a:blipFill>
        </p:spPr>
        <p:txBody>
          <a:bodyPr wrap="square" lIns="0" tIns="0" rIns="0" bIns="0" rtlCol="0"/>
          <a:lstStyle/>
          <a:p>
            <a:endParaRPr sz="2400"/>
          </a:p>
        </p:txBody>
      </p:sp>
      <p:sp>
        <p:nvSpPr>
          <p:cNvPr id="15" name="object 15"/>
          <p:cNvSpPr/>
          <p:nvPr/>
        </p:nvSpPr>
        <p:spPr>
          <a:xfrm>
            <a:off x="9318609" y="2104513"/>
            <a:ext cx="99907" cy="414867"/>
          </a:xfrm>
          <a:custGeom>
            <a:avLst/>
            <a:gdLst/>
            <a:ahLst/>
            <a:cxnLst/>
            <a:rect l="l" t="t" r="r" b="b"/>
            <a:pathLst>
              <a:path w="74929" h="311150">
                <a:moveTo>
                  <a:pt x="74317" y="311014"/>
                </a:moveTo>
                <a:lnTo>
                  <a:pt x="0" y="0"/>
                </a:lnTo>
              </a:path>
            </a:pathLst>
          </a:custGeom>
          <a:ln w="9524">
            <a:solidFill>
              <a:srgbClr val="2E2C28"/>
            </a:solidFill>
          </a:ln>
        </p:spPr>
        <p:txBody>
          <a:bodyPr wrap="square" lIns="0" tIns="0" rIns="0" bIns="0" rtlCol="0"/>
          <a:lstStyle/>
          <a:p>
            <a:endParaRPr sz="2400"/>
          </a:p>
        </p:txBody>
      </p:sp>
      <p:sp>
        <p:nvSpPr>
          <p:cNvPr id="16" name="object 16"/>
          <p:cNvSpPr/>
          <p:nvPr/>
        </p:nvSpPr>
        <p:spPr>
          <a:xfrm>
            <a:off x="9298207" y="2048457"/>
            <a:ext cx="41487" cy="60960"/>
          </a:xfrm>
          <a:custGeom>
            <a:avLst/>
            <a:gdLst/>
            <a:ahLst/>
            <a:cxnLst/>
            <a:rect l="l" t="t" r="r" b="b"/>
            <a:pathLst>
              <a:path w="31115" h="45719">
                <a:moveTo>
                  <a:pt x="0" y="45698"/>
                </a:moveTo>
                <a:lnTo>
                  <a:pt x="5255" y="0"/>
                </a:lnTo>
                <a:lnTo>
                  <a:pt x="30603" y="38385"/>
                </a:lnTo>
                <a:lnTo>
                  <a:pt x="0" y="45698"/>
                </a:lnTo>
                <a:close/>
              </a:path>
            </a:pathLst>
          </a:custGeom>
          <a:solidFill>
            <a:srgbClr val="2E2C28"/>
          </a:solidFill>
        </p:spPr>
        <p:txBody>
          <a:bodyPr wrap="square" lIns="0" tIns="0" rIns="0" bIns="0" rtlCol="0"/>
          <a:lstStyle/>
          <a:p>
            <a:endParaRPr sz="2400"/>
          </a:p>
        </p:txBody>
      </p:sp>
      <p:sp>
        <p:nvSpPr>
          <p:cNvPr id="17" name="object 17"/>
          <p:cNvSpPr/>
          <p:nvPr/>
        </p:nvSpPr>
        <p:spPr>
          <a:xfrm>
            <a:off x="9298207" y="2048457"/>
            <a:ext cx="41487" cy="60960"/>
          </a:xfrm>
          <a:custGeom>
            <a:avLst/>
            <a:gdLst/>
            <a:ahLst/>
            <a:cxnLst/>
            <a:rect l="l" t="t" r="r" b="b"/>
            <a:pathLst>
              <a:path w="31115" h="45719">
                <a:moveTo>
                  <a:pt x="30603" y="38385"/>
                </a:moveTo>
                <a:lnTo>
                  <a:pt x="5255" y="0"/>
                </a:lnTo>
                <a:lnTo>
                  <a:pt x="0" y="45698"/>
                </a:lnTo>
                <a:lnTo>
                  <a:pt x="30603" y="38385"/>
                </a:lnTo>
                <a:close/>
              </a:path>
            </a:pathLst>
          </a:custGeom>
          <a:ln w="9524">
            <a:solidFill>
              <a:srgbClr val="2E2C28"/>
            </a:solidFill>
          </a:ln>
        </p:spPr>
        <p:txBody>
          <a:bodyPr wrap="square" lIns="0" tIns="0" rIns="0" bIns="0" rtlCol="0"/>
          <a:lstStyle/>
          <a:p>
            <a:endParaRPr sz="2400"/>
          </a:p>
        </p:txBody>
      </p:sp>
      <p:sp>
        <p:nvSpPr>
          <p:cNvPr id="18" name="object 18"/>
          <p:cNvSpPr/>
          <p:nvPr/>
        </p:nvSpPr>
        <p:spPr>
          <a:xfrm>
            <a:off x="10020523" y="1993737"/>
            <a:ext cx="328292" cy="287312"/>
          </a:xfrm>
          <a:prstGeom prst="rect">
            <a:avLst/>
          </a:prstGeom>
          <a:blipFill>
            <a:blip r:embed="rId8" cstate="print"/>
            <a:stretch>
              <a:fillRect/>
            </a:stretch>
          </a:blipFill>
        </p:spPr>
        <p:txBody>
          <a:bodyPr wrap="square" lIns="0" tIns="0" rIns="0" bIns="0" rtlCol="0"/>
          <a:lstStyle/>
          <a:p>
            <a:endParaRPr sz="24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26"/>
        <p:cNvGrpSpPr/>
        <p:nvPr/>
      </p:nvGrpSpPr>
      <p:grpSpPr>
        <a:xfrm>
          <a:off x="0" y="0"/>
          <a:ext cx="0" cy="0"/>
          <a:chOff x="0" y="0"/>
          <a:chExt cx="0" cy="0"/>
        </a:xfrm>
      </p:grpSpPr>
      <p:sp>
        <p:nvSpPr>
          <p:cNvPr id="627" name="Google Shape;627;p80"/>
          <p:cNvSpPr txBox="1">
            <a:spLocks noGrp="1"/>
          </p:cNvSpPr>
          <p:nvPr>
            <p:ph type="title"/>
          </p:nvPr>
        </p:nvSpPr>
        <p:spPr>
          <a:xfrm>
            <a:off x="415600" y="593367"/>
            <a:ext cx="11360800" cy="763600"/>
          </a:xfrm>
          <a:prstGeom prst="rect">
            <a:avLst/>
          </a:prstGeom>
          <a:noFill/>
          <a:ln>
            <a:noFill/>
          </a:ln>
        </p:spPr>
        <p:txBody>
          <a:bodyPr spcFirstLastPara="1" vert="horz" wrap="square" lIns="121900" tIns="121900" rIns="121900" bIns="121900" rtlCol="0" anchor="t" anchorCtr="0">
            <a:normAutofit fontScale="90000"/>
          </a:bodyPr>
          <a:lstStyle/>
          <a:p>
            <a:pPr>
              <a:buSzPct val="111111"/>
            </a:pPr>
            <a:r>
              <a:rPr lang="zh-CN">
                <a:latin typeface="Times New Roman"/>
                <a:ea typeface="Times New Roman"/>
                <a:cs typeface="Times New Roman"/>
                <a:sym typeface="Times New Roman"/>
              </a:rPr>
              <a:t>Make sure your reward model works first!</a:t>
            </a:r>
            <a:endParaRPr>
              <a:latin typeface="Times New Roman"/>
              <a:ea typeface="Times New Roman"/>
              <a:cs typeface="Times New Roman"/>
              <a:sym typeface="Times New Roman"/>
            </a:endParaRPr>
          </a:p>
        </p:txBody>
      </p:sp>
      <p:sp>
        <p:nvSpPr>
          <p:cNvPr id="628" name="Google Shape;628;p80"/>
          <p:cNvSpPr txBox="1">
            <a:spLocks noGrp="1"/>
          </p:cNvSpPr>
          <p:nvPr>
            <p:ph type="body" idx="1"/>
          </p:nvPr>
        </p:nvSpPr>
        <p:spPr>
          <a:xfrm>
            <a:off x="415600" y="1458567"/>
            <a:ext cx="11360800" cy="1796000"/>
          </a:xfrm>
          <a:prstGeom prst="rect">
            <a:avLst/>
          </a:prstGeom>
          <a:noFill/>
          <a:ln>
            <a:noFill/>
          </a:ln>
        </p:spPr>
        <p:txBody>
          <a:bodyPr spcFirstLastPara="1" vert="horz" wrap="square" lIns="121900" tIns="121900" rIns="121900" bIns="121900" rtlCol="0" anchor="t" anchorCtr="0">
            <a:normAutofit/>
          </a:bodyPr>
          <a:lstStyle/>
          <a:p>
            <a:pPr marL="0" indent="0">
              <a:lnSpc>
                <a:spcPct val="100000"/>
              </a:lnSpc>
              <a:spcAft>
                <a:spcPts val="1600"/>
              </a:spcAft>
              <a:buNone/>
            </a:pPr>
            <a:r>
              <a:rPr lang="zh-CN">
                <a:solidFill>
                  <a:schemeClr val="dk1"/>
                </a:solidFill>
                <a:latin typeface="Times New Roman"/>
                <a:ea typeface="Times New Roman"/>
                <a:cs typeface="Times New Roman"/>
                <a:sym typeface="Times New Roman"/>
              </a:rPr>
              <a:t>Evaluate RM on predicting outcome of held-out human judgements</a:t>
            </a:r>
            <a:endParaRPr>
              <a:latin typeface="Times New Roman"/>
              <a:ea typeface="Times New Roman"/>
              <a:cs typeface="Times New Roman"/>
              <a:sym typeface="Times New Roman"/>
            </a:endParaRPr>
          </a:p>
        </p:txBody>
      </p:sp>
      <p:pic>
        <p:nvPicPr>
          <p:cNvPr id="629" name="Google Shape;629;p80"/>
          <p:cNvPicPr preferRelativeResize="0"/>
          <p:nvPr/>
        </p:nvPicPr>
        <p:blipFill rotWithShape="1">
          <a:blip r:embed="rId3">
            <a:alphaModFix/>
          </a:blip>
          <a:srcRect/>
          <a:stretch/>
        </p:blipFill>
        <p:spPr>
          <a:xfrm>
            <a:off x="1892300" y="1979133"/>
            <a:ext cx="6121400" cy="4332768"/>
          </a:xfrm>
          <a:prstGeom prst="rect">
            <a:avLst/>
          </a:prstGeom>
          <a:noFill/>
          <a:ln>
            <a:noFill/>
          </a:ln>
        </p:spPr>
      </p:pic>
      <p:sp>
        <p:nvSpPr>
          <p:cNvPr id="630" name="Google Shape;630;p80"/>
          <p:cNvSpPr txBox="1"/>
          <p:nvPr/>
        </p:nvSpPr>
        <p:spPr>
          <a:xfrm>
            <a:off x="8953500" y="2400300"/>
            <a:ext cx="2946400" cy="1473200"/>
          </a:xfrm>
          <a:prstGeom prst="rect">
            <a:avLst/>
          </a:prstGeom>
          <a:noFill/>
          <a:ln>
            <a:noFill/>
          </a:ln>
        </p:spPr>
        <p:txBody>
          <a:bodyPr spcFirstLastPara="1" wrap="square" lIns="121900" tIns="121900" rIns="121900" bIns="121900" anchor="t" anchorCtr="0">
            <a:noAutofit/>
          </a:bodyPr>
          <a:lstStyle/>
          <a:p>
            <a:pPr>
              <a:buClr>
                <a:srgbClr val="000000"/>
              </a:buClr>
              <a:buSzPts val="1700"/>
            </a:pPr>
            <a:r>
              <a:rPr lang="en-US" altLang="zh-CN" sz="2267">
                <a:solidFill>
                  <a:srgbClr val="FF0000"/>
                </a:solidFill>
                <a:latin typeface="Times New Roman"/>
                <a:ea typeface="Times New Roman"/>
                <a:cs typeface="Times New Roman"/>
                <a:sym typeface="Times New Roman"/>
              </a:rPr>
              <a:t>Large enough RM trained on enough data approaching single human perf</a:t>
            </a:r>
            <a:endParaRPr sz="2267">
              <a:solidFill>
                <a:srgbClr val="FF0000"/>
              </a:solidFill>
              <a:latin typeface="Times New Roman"/>
              <a:ea typeface="Times New Roman"/>
              <a:cs typeface="Times New Roman"/>
              <a:sym typeface="Times New Roman"/>
            </a:endParaRPr>
          </a:p>
        </p:txBody>
      </p:sp>
      <p:cxnSp>
        <p:nvCxnSpPr>
          <p:cNvPr id="631" name="Google Shape;631;p80"/>
          <p:cNvCxnSpPr>
            <a:stCxn id="630" idx="1"/>
          </p:cNvCxnSpPr>
          <p:nvPr/>
        </p:nvCxnSpPr>
        <p:spPr>
          <a:xfrm flipH="1">
            <a:off x="7963100" y="3136900"/>
            <a:ext cx="990400" cy="190400"/>
          </a:xfrm>
          <a:prstGeom prst="straightConnector1">
            <a:avLst/>
          </a:prstGeom>
          <a:noFill/>
          <a:ln w="9525" cap="flat" cmpd="sng">
            <a:solidFill>
              <a:schemeClr val="dk2"/>
            </a:solidFill>
            <a:prstDash val="solid"/>
            <a:round/>
            <a:headEnd type="none" w="sm" len="sm"/>
            <a:tailEnd type="triangle" w="med" len="med"/>
          </a:ln>
        </p:spPr>
      </p:cxnSp>
      <p:sp>
        <p:nvSpPr>
          <p:cNvPr id="632" name="Google Shape;632;p80"/>
          <p:cNvSpPr txBox="1"/>
          <p:nvPr/>
        </p:nvSpPr>
        <p:spPr>
          <a:xfrm>
            <a:off x="1536600" y="6159500"/>
            <a:ext cx="9118800" cy="533600"/>
          </a:xfrm>
          <a:prstGeom prst="rect">
            <a:avLst/>
          </a:prstGeom>
          <a:noFill/>
          <a:ln>
            <a:noFill/>
          </a:ln>
        </p:spPr>
        <p:txBody>
          <a:bodyPr spcFirstLastPara="1" wrap="square" lIns="121900" tIns="121900" rIns="121900" bIns="121900" anchor="t" anchorCtr="0">
            <a:noAutofit/>
          </a:bodyPr>
          <a:lstStyle/>
          <a:p>
            <a:pPr>
              <a:buClr>
                <a:srgbClr val="000000"/>
              </a:buClr>
              <a:buSzPts val="1000"/>
            </a:pPr>
            <a:r>
              <a:rPr lang="en-US" altLang="zh-CN" sz="1333">
                <a:solidFill>
                  <a:schemeClr val="accent3"/>
                </a:solidFill>
                <a:highlight>
                  <a:srgbClr val="FFFFFF"/>
                </a:highlight>
                <a:latin typeface="Times New Roman"/>
                <a:ea typeface="Times New Roman"/>
                <a:cs typeface="Times New Roman"/>
                <a:sym typeface="Times New Roman"/>
              </a:rPr>
              <a:t>Stiennon, Nisan, et al. "Learning to summarize with human feedback." Advances in Neural Information Processing Systems 33 (2020): 3008-3021.</a:t>
            </a:r>
            <a:endParaRPr sz="1333">
              <a:solidFill>
                <a:schemeClr val="accent3"/>
              </a:solidFill>
              <a:highlight>
                <a:srgbClr val="FFFFFF"/>
              </a:highlight>
              <a:latin typeface="Times New Roman"/>
              <a:ea typeface="Times New Roman"/>
              <a:cs typeface="Times New Roman"/>
              <a:sym typeface="Times New Roman"/>
            </a:endParaRPr>
          </a:p>
        </p:txBody>
      </p:sp>
    </p:spTree>
    <p:extLst>
      <p:ext uri="{BB962C8B-B14F-4D97-AF65-F5344CB8AC3E}">
        <p14:creationId xmlns:p14="http://schemas.microsoft.com/office/powerpoint/2010/main" val="14399231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810015" y="1560167"/>
            <a:ext cx="2232021" cy="4209331"/>
          </a:xfrm>
          <a:prstGeom prst="rect">
            <a:avLst/>
          </a:prstGeom>
          <a:blipFill>
            <a:blip r:embed="rId2" cstate="print"/>
            <a:stretch>
              <a:fillRect/>
            </a:stretch>
          </a:blipFill>
        </p:spPr>
        <p:txBody>
          <a:bodyPr wrap="square" lIns="0" tIns="0" rIns="0" bIns="0" rtlCol="0"/>
          <a:lstStyle/>
          <a:p>
            <a:endParaRPr sz="2400"/>
          </a:p>
        </p:txBody>
      </p:sp>
      <p:sp>
        <p:nvSpPr>
          <p:cNvPr id="3" name="object 3"/>
          <p:cNvSpPr/>
          <p:nvPr/>
        </p:nvSpPr>
        <p:spPr>
          <a:xfrm>
            <a:off x="8393591" y="1560167"/>
            <a:ext cx="2421479" cy="4209331"/>
          </a:xfrm>
          <a:prstGeom prst="rect">
            <a:avLst/>
          </a:prstGeom>
          <a:blipFill>
            <a:blip r:embed="rId3" cstate="print"/>
            <a:stretch>
              <a:fillRect/>
            </a:stretch>
          </a:blipFill>
        </p:spPr>
        <p:txBody>
          <a:bodyPr wrap="square" lIns="0" tIns="0" rIns="0" bIns="0" rtlCol="0"/>
          <a:lstStyle/>
          <a:p>
            <a:endParaRPr sz="2400"/>
          </a:p>
        </p:txBody>
      </p:sp>
      <p:sp>
        <p:nvSpPr>
          <p:cNvPr id="4" name="object 4"/>
          <p:cNvSpPr/>
          <p:nvPr/>
        </p:nvSpPr>
        <p:spPr>
          <a:xfrm>
            <a:off x="1329164" y="1592056"/>
            <a:ext cx="2073341" cy="3571553"/>
          </a:xfrm>
          <a:prstGeom prst="rect">
            <a:avLst/>
          </a:prstGeom>
          <a:blipFill>
            <a:blip r:embed="rId4" cstate="print"/>
            <a:stretch>
              <a:fillRect/>
            </a:stretch>
          </a:blipFill>
        </p:spPr>
        <p:txBody>
          <a:bodyPr wrap="square" lIns="0" tIns="0" rIns="0" bIns="0" rtlCol="0"/>
          <a:lstStyle/>
          <a:p>
            <a:endParaRPr sz="2400"/>
          </a:p>
        </p:txBody>
      </p:sp>
      <p:sp>
        <p:nvSpPr>
          <p:cNvPr id="5" name="object 5"/>
          <p:cNvSpPr txBox="1">
            <a:spLocks noGrp="1"/>
          </p:cNvSpPr>
          <p:nvPr>
            <p:ph type="title"/>
          </p:nvPr>
        </p:nvSpPr>
        <p:spPr>
          <a:xfrm>
            <a:off x="512967" y="667109"/>
            <a:ext cx="10845800" cy="571096"/>
          </a:xfrm>
          <a:prstGeom prst="rect">
            <a:avLst/>
          </a:prstGeom>
        </p:spPr>
        <p:txBody>
          <a:bodyPr spcFirstLastPara="1" vert="horz" wrap="square" lIns="0" tIns="22013" rIns="0" bIns="0" rtlCol="0" anchor="ctr" anchorCtr="0">
            <a:spAutoFit/>
          </a:bodyPr>
          <a:lstStyle/>
          <a:p>
            <a:pPr marL="16933">
              <a:lnSpc>
                <a:spcPct val="100000"/>
              </a:lnSpc>
              <a:spcBef>
                <a:spcPts val="173"/>
              </a:spcBef>
            </a:pPr>
            <a:r>
              <a:rPr sz="3400" spc="13" dirty="0"/>
              <a:t>RLHF: Reinforcement Learning From </a:t>
            </a:r>
            <a:r>
              <a:rPr sz="3400" spc="20" dirty="0"/>
              <a:t>Human</a:t>
            </a:r>
            <a:r>
              <a:rPr sz="3400" spc="-100" dirty="0"/>
              <a:t> </a:t>
            </a:r>
            <a:r>
              <a:rPr sz="3400" spc="13" dirty="0"/>
              <a:t>Feedback</a:t>
            </a:r>
            <a:endParaRPr sz="3400"/>
          </a:p>
        </p:txBody>
      </p:sp>
      <p:sp>
        <p:nvSpPr>
          <p:cNvPr id="6" name="object 6"/>
          <p:cNvSpPr txBox="1"/>
          <p:nvPr/>
        </p:nvSpPr>
        <p:spPr>
          <a:xfrm>
            <a:off x="351367" y="6113487"/>
            <a:ext cx="6554893" cy="187231"/>
          </a:xfrm>
          <a:prstGeom prst="rect">
            <a:avLst/>
          </a:prstGeom>
        </p:spPr>
        <p:txBody>
          <a:bodyPr vert="horz" wrap="square" lIns="0" tIns="2540" rIns="0" bIns="0" rtlCol="0">
            <a:spAutoFit/>
          </a:bodyPr>
          <a:lstStyle/>
          <a:p>
            <a:pPr marL="16933">
              <a:spcBef>
                <a:spcPts val="20"/>
              </a:spcBef>
            </a:pPr>
            <a:r>
              <a:rPr sz="1200" b="1" spc="-20" dirty="0">
                <a:solidFill>
                  <a:srgbClr val="8C1414"/>
                </a:solidFill>
                <a:latin typeface="Arial"/>
                <a:cs typeface="Arial"/>
              </a:rPr>
              <a:t>Training </a:t>
            </a:r>
            <a:r>
              <a:rPr sz="1200" b="1" spc="-7" dirty="0">
                <a:solidFill>
                  <a:srgbClr val="8C1414"/>
                </a:solidFill>
                <a:latin typeface="Arial"/>
                <a:cs typeface="Arial"/>
              </a:rPr>
              <a:t>language models </a:t>
            </a:r>
            <a:r>
              <a:rPr sz="1200" b="1" dirty="0">
                <a:solidFill>
                  <a:srgbClr val="8C1414"/>
                </a:solidFill>
                <a:latin typeface="Arial"/>
                <a:cs typeface="Arial"/>
              </a:rPr>
              <a:t>to follow </a:t>
            </a:r>
            <a:r>
              <a:rPr sz="1200" b="1" spc="-7" dirty="0">
                <a:solidFill>
                  <a:srgbClr val="8C1414"/>
                </a:solidFill>
                <a:latin typeface="Arial"/>
                <a:cs typeface="Arial"/>
              </a:rPr>
              <a:t>instructions with human </a:t>
            </a:r>
            <a:r>
              <a:rPr sz="1200" b="1" dirty="0">
                <a:solidFill>
                  <a:srgbClr val="8C1414"/>
                </a:solidFill>
                <a:latin typeface="Arial"/>
                <a:cs typeface="Arial"/>
              </a:rPr>
              <a:t>feedback, </a:t>
            </a:r>
            <a:r>
              <a:rPr sz="1200" b="1" spc="-7" dirty="0">
                <a:solidFill>
                  <a:srgbClr val="8C1414"/>
                </a:solidFill>
                <a:latin typeface="Arial"/>
                <a:cs typeface="Arial"/>
              </a:rPr>
              <a:t>Ouyang et. al.</a:t>
            </a:r>
            <a:r>
              <a:rPr sz="1200" b="1" spc="47" dirty="0">
                <a:solidFill>
                  <a:srgbClr val="8C1414"/>
                </a:solidFill>
                <a:latin typeface="Arial"/>
                <a:cs typeface="Arial"/>
              </a:rPr>
              <a:t> </a:t>
            </a:r>
            <a:r>
              <a:rPr sz="1200" b="1" spc="-7" dirty="0">
                <a:solidFill>
                  <a:srgbClr val="8C1414"/>
                </a:solidFill>
                <a:latin typeface="Arial"/>
                <a:cs typeface="Arial"/>
              </a:rPr>
              <a:t>2022</a:t>
            </a:r>
            <a:endParaRPr sz="1200">
              <a:latin typeface="Arial"/>
              <a:cs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810015" y="1560167"/>
            <a:ext cx="2232021" cy="4209331"/>
          </a:xfrm>
          <a:prstGeom prst="rect">
            <a:avLst/>
          </a:prstGeom>
          <a:blipFill>
            <a:blip r:embed="rId2" cstate="print"/>
            <a:stretch>
              <a:fillRect/>
            </a:stretch>
          </a:blipFill>
        </p:spPr>
        <p:txBody>
          <a:bodyPr wrap="square" lIns="0" tIns="0" rIns="0" bIns="0" rtlCol="0"/>
          <a:lstStyle/>
          <a:p>
            <a:endParaRPr sz="2400"/>
          </a:p>
        </p:txBody>
      </p:sp>
      <p:sp>
        <p:nvSpPr>
          <p:cNvPr id="3" name="object 3"/>
          <p:cNvSpPr/>
          <p:nvPr/>
        </p:nvSpPr>
        <p:spPr>
          <a:xfrm>
            <a:off x="8393591" y="1560167"/>
            <a:ext cx="2421479" cy="4209331"/>
          </a:xfrm>
          <a:prstGeom prst="rect">
            <a:avLst/>
          </a:prstGeom>
          <a:blipFill>
            <a:blip r:embed="rId3" cstate="print"/>
            <a:stretch>
              <a:fillRect/>
            </a:stretch>
          </a:blipFill>
        </p:spPr>
        <p:txBody>
          <a:bodyPr wrap="square" lIns="0" tIns="0" rIns="0" bIns="0" rtlCol="0"/>
          <a:lstStyle/>
          <a:p>
            <a:endParaRPr sz="2400"/>
          </a:p>
        </p:txBody>
      </p:sp>
      <p:sp>
        <p:nvSpPr>
          <p:cNvPr id="4" name="object 4"/>
          <p:cNvSpPr/>
          <p:nvPr/>
        </p:nvSpPr>
        <p:spPr>
          <a:xfrm>
            <a:off x="1329164" y="1592056"/>
            <a:ext cx="2073341" cy="3571553"/>
          </a:xfrm>
          <a:prstGeom prst="rect">
            <a:avLst/>
          </a:prstGeom>
          <a:blipFill>
            <a:blip r:embed="rId4" cstate="print"/>
            <a:stretch>
              <a:fillRect/>
            </a:stretch>
          </a:blipFill>
        </p:spPr>
        <p:txBody>
          <a:bodyPr wrap="square" lIns="0" tIns="0" rIns="0" bIns="0" rtlCol="0"/>
          <a:lstStyle/>
          <a:p>
            <a:endParaRPr sz="2400"/>
          </a:p>
        </p:txBody>
      </p:sp>
      <p:sp>
        <p:nvSpPr>
          <p:cNvPr id="5" name="object 5"/>
          <p:cNvSpPr/>
          <p:nvPr/>
        </p:nvSpPr>
        <p:spPr>
          <a:xfrm>
            <a:off x="8383101" y="1496434"/>
            <a:ext cx="2586567" cy="4157133"/>
          </a:xfrm>
          <a:custGeom>
            <a:avLst/>
            <a:gdLst/>
            <a:ahLst/>
            <a:cxnLst/>
            <a:rect l="l" t="t" r="r" b="b"/>
            <a:pathLst>
              <a:path w="1939925" h="3117850">
                <a:moveTo>
                  <a:pt x="0" y="0"/>
                </a:moveTo>
                <a:lnTo>
                  <a:pt x="1939799" y="0"/>
                </a:lnTo>
                <a:lnTo>
                  <a:pt x="1939799" y="3117299"/>
                </a:lnTo>
                <a:lnTo>
                  <a:pt x="0" y="3117299"/>
                </a:lnTo>
                <a:lnTo>
                  <a:pt x="0" y="0"/>
                </a:lnTo>
                <a:close/>
              </a:path>
            </a:pathLst>
          </a:custGeom>
          <a:ln w="76199">
            <a:solidFill>
              <a:srgbClr val="FF0000"/>
            </a:solidFill>
          </a:ln>
        </p:spPr>
        <p:txBody>
          <a:bodyPr wrap="square" lIns="0" tIns="0" rIns="0" bIns="0" rtlCol="0"/>
          <a:lstStyle/>
          <a:p>
            <a:endParaRPr sz="2400"/>
          </a:p>
        </p:txBody>
      </p:sp>
      <p:sp>
        <p:nvSpPr>
          <p:cNvPr id="6" name="object 6"/>
          <p:cNvSpPr txBox="1">
            <a:spLocks noGrp="1"/>
          </p:cNvSpPr>
          <p:nvPr>
            <p:ph type="title"/>
          </p:nvPr>
        </p:nvSpPr>
        <p:spPr>
          <a:xfrm>
            <a:off x="512967" y="667109"/>
            <a:ext cx="10296312" cy="571096"/>
          </a:xfrm>
          <a:prstGeom prst="rect">
            <a:avLst/>
          </a:prstGeom>
        </p:spPr>
        <p:txBody>
          <a:bodyPr spcFirstLastPara="1" vert="horz" wrap="square" lIns="0" tIns="22013" rIns="0" bIns="0" rtlCol="0" anchor="ctr" anchorCtr="0">
            <a:spAutoFit/>
          </a:bodyPr>
          <a:lstStyle/>
          <a:p>
            <a:pPr marL="16933">
              <a:lnSpc>
                <a:spcPct val="100000"/>
              </a:lnSpc>
              <a:spcBef>
                <a:spcPts val="173"/>
              </a:spcBef>
            </a:pPr>
            <a:r>
              <a:rPr sz="3400" spc="13" dirty="0"/>
              <a:t>RLHF: Learning </a:t>
            </a:r>
            <a:r>
              <a:rPr sz="3400" spc="20" dirty="0"/>
              <a:t>a </a:t>
            </a:r>
            <a:r>
              <a:rPr sz="3400" b="1" spc="13" dirty="0">
                <a:latin typeface="Georgia"/>
                <a:cs typeface="Georgia"/>
              </a:rPr>
              <a:t>policy </a:t>
            </a:r>
            <a:r>
              <a:rPr sz="3400" spc="7" dirty="0"/>
              <a:t>that optimizes </a:t>
            </a:r>
            <a:r>
              <a:rPr sz="3400" spc="13" dirty="0"/>
              <a:t>the</a:t>
            </a:r>
            <a:r>
              <a:rPr sz="3400" dirty="0"/>
              <a:t> </a:t>
            </a:r>
            <a:r>
              <a:rPr sz="3400" b="1" spc="13" dirty="0">
                <a:latin typeface="Georgia"/>
                <a:cs typeface="Georgia"/>
              </a:rPr>
              <a:t>reward</a:t>
            </a:r>
            <a:endParaRPr sz="3400">
              <a:latin typeface="Georgia"/>
              <a:cs typeface="Georgia"/>
            </a:endParaRPr>
          </a:p>
        </p:txBody>
      </p:sp>
      <p:sp>
        <p:nvSpPr>
          <p:cNvPr id="7" name="object 7"/>
          <p:cNvSpPr txBox="1"/>
          <p:nvPr/>
        </p:nvSpPr>
        <p:spPr>
          <a:xfrm>
            <a:off x="351367" y="6113487"/>
            <a:ext cx="6554893" cy="187231"/>
          </a:xfrm>
          <a:prstGeom prst="rect">
            <a:avLst/>
          </a:prstGeom>
        </p:spPr>
        <p:txBody>
          <a:bodyPr vert="horz" wrap="square" lIns="0" tIns="2540" rIns="0" bIns="0" rtlCol="0">
            <a:spAutoFit/>
          </a:bodyPr>
          <a:lstStyle/>
          <a:p>
            <a:pPr marL="16933">
              <a:spcBef>
                <a:spcPts val="20"/>
              </a:spcBef>
            </a:pPr>
            <a:r>
              <a:rPr sz="1200" b="1" spc="-20" dirty="0">
                <a:solidFill>
                  <a:srgbClr val="8C1414"/>
                </a:solidFill>
                <a:latin typeface="Arial"/>
                <a:cs typeface="Arial"/>
              </a:rPr>
              <a:t>Training </a:t>
            </a:r>
            <a:r>
              <a:rPr sz="1200" b="1" spc="-7" dirty="0">
                <a:solidFill>
                  <a:srgbClr val="8C1414"/>
                </a:solidFill>
                <a:latin typeface="Arial"/>
                <a:cs typeface="Arial"/>
              </a:rPr>
              <a:t>language models </a:t>
            </a:r>
            <a:r>
              <a:rPr sz="1200" b="1" dirty="0">
                <a:solidFill>
                  <a:srgbClr val="8C1414"/>
                </a:solidFill>
                <a:latin typeface="Arial"/>
                <a:cs typeface="Arial"/>
              </a:rPr>
              <a:t>to follow </a:t>
            </a:r>
            <a:r>
              <a:rPr sz="1200" b="1" spc="-7" dirty="0">
                <a:solidFill>
                  <a:srgbClr val="8C1414"/>
                </a:solidFill>
                <a:latin typeface="Arial"/>
                <a:cs typeface="Arial"/>
              </a:rPr>
              <a:t>instructions with human </a:t>
            </a:r>
            <a:r>
              <a:rPr sz="1200" b="1" dirty="0">
                <a:solidFill>
                  <a:srgbClr val="8C1414"/>
                </a:solidFill>
                <a:latin typeface="Arial"/>
                <a:cs typeface="Arial"/>
              </a:rPr>
              <a:t>feedback, </a:t>
            </a:r>
            <a:r>
              <a:rPr sz="1200" b="1" spc="-7" dirty="0">
                <a:solidFill>
                  <a:srgbClr val="8C1414"/>
                </a:solidFill>
                <a:latin typeface="Arial"/>
                <a:cs typeface="Arial"/>
              </a:rPr>
              <a:t>Ouyang et. al.</a:t>
            </a:r>
            <a:r>
              <a:rPr sz="1200" b="1" spc="47" dirty="0">
                <a:solidFill>
                  <a:srgbClr val="8C1414"/>
                </a:solidFill>
                <a:latin typeface="Arial"/>
                <a:cs typeface="Arial"/>
              </a:rPr>
              <a:t> </a:t>
            </a:r>
            <a:r>
              <a:rPr sz="1200" b="1" spc="-7" dirty="0">
                <a:solidFill>
                  <a:srgbClr val="8C1414"/>
                </a:solidFill>
                <a:latin typeface="Arial"/>
                <a:cs typeface="Arial"/>
              </a:rPr>
              <a:t>2022</a:t>
            </a:r>
            <a:endParaRPr sz="1200">
              <a:latin typeface="Arial"/>
              <a:cs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12967" y="673257"/>
            <a:ext cx="10296312" cy="545448"/>
          </a:xfrm>
          <a:prstGeom prst="rect">
            <a:avLst/>
          </a:prstGeom>
        </p:spPr>
        <p:txBody>
          <a:bodyPr vert="horz" wrap="square" lIns="0" tIns="22013" rIns="0" bIns="0" rtlCol="0">
            <a:spAutoFit/>
          </a:bodyPr>
          <a:lstStyle/>
          <a:p>
            <a:pPr marL="16933">
              <a:spcBef>
                <a:spcPts val="173"/>
              </a:spcBef>
            </a:pPr>
            <a:r>
              <a:rPr sz="3400" spc="13" dirty="0">
                <a:solidFill>
                  <a:srgbClr val="8C1414"/>
                </a:solidFill>
                <a:latin typeface="Georgia"/>
                <a:cs typeface="Georgia"/>
              </a:rPr>
              <a:t>RLHF: Learning </a:t>
            </a:r>
            <a:r>
              <a:rPr sz="3400" spc="20" dirty="0">
                <a:solidFill>
                  <a:srgbClr val="8C1414"/>
                </a:solidFill>
                <a:latin typeface="Georgia"/>
                <a:cs typeface="Georgia"/>
              </a:rPr>
              <a:t>a </a:t>
            </a:r>
            <a:r>
              <a:rPr sz="3400" b="1" spc="13" dirty="0">
                <a:solidFill>
                  <a:srgbClr val="8C1414"/>
                </a:solidFill>
                <a:latin typeface="Georgia"/>
                <a:cs typeface="Georgia"/>
              </a:rPr>
              <a:t>policy </a:t>
            </a:r>
            <a:r>
              <a:rPr sz="3400" spc="7" dirty="0">
                <a:solidFill>
                  <a:srgbClr val="8C1414"/>
                </a:solidFill>
                <a:latin typeface="Georgia"/>
                <a:cs typeface="Georgia"/>
              </a:rPr>
              <a:t>that optimizes </a:t>
            </a:r>
            <a:r>
              <a:rPr sz="3400" spc="13" dirty="0">
                <a:solidFill>
                  <a:srgbClr val="8C1414"/>
                </a:solidFill>
                <a:latin typeface="Georgia"/>
                <a:cs typeface="Georgia"/>
              </a:rPr>
              <a:t>the</a:t>
            </a:r>
            <a:r>
              <a:rPr sz="3400" dirty="0">
                <a:solidFill>
                  <a:srgbClr val="8C1414"/>
                </a:solidFill>
                <a:latin typeface="Georgia"/>
                <a:cs typeface="Georgia"/>
              </a:rPr>
              <a:t> </a:t>
            </a:r>
            <a:r>
              <a:rPr sz="3400" b="1" spc="13" dirty="0">
                <a:solidFill>
                  <a:srgbClr val="8C1414"/>
                </a:solidFill>
                <a:latin typeface="Georgia"/>
                <a:cs typeface="Georgia"/>
              </a:rPr>
              <a:t>reward</a:t>
            </a:r>
            <a:endParaRPr sz="3400">
              <a:latin typeface="Georgia"/>
              <a:cs typeface="Georgia"/>
            </a:endParaRPr>
          </a:p>
        </p:txBody>
      </p:sp>
      <p:sp>
        <p:nvSpPr>
          <p:cNvPr id="3" name="object 3"/>
          <p:cNvSpPr txBox="1"/>
          <p:nvPr/>
        </p:nvSpPr>
        <p:spPr>
          <a:xfrm>
            <a:off x="635533" y="1534196"/>
            <a:ext cx="10325100" cy="345330"/>
          </a:xfrm>
          <a:prstGeom prst="rect">
            <a:avLst/>
          </a:prstGeom>
        </p:spPr>
        <p:txBody>
          <a:bodyPr vert="horz" wrap="square" lIns="0" tIns="16933" rIns="0" bIns="0" rtlCol="0">
            <a:spAutoFit/>
          </a:bodyPr>
          <a:lstStyle/>
          <a:p>
            <a:pPr marL="16933">
              <a:spcBef>
                <a:spcPts val="133"/>
              </a:spcBef>
              <a:tabLst>
                <a:tab pos="4231534" algn="l"/>
              </a:tabLst>
            </a:pPr>
            <a:r>
              <a:rPr sz="2133" spc="-7" dirty="0">
                <a:solidFill>
                  <a:srgbClr val="8C1414"/>
                </a:solidFill>
                <a:latin typeface="Arial"/>
                <a:cs typeface="Arial"/>
              </a:rPr>
              <a:t>Now we have </a:t>
            </a:r>
            <a:r>
              <a:rPr sz="2133" dirty="0">
                <a:solidFill>
                  <a:srgbClr val="8C1414"/>
                </a:solidFill>
                <a:latin typeface="Arial"/>
                <a:cs typeface="Arial"/>
              </a:rPr>
              <a:t>a</a:t>
            </a:r>
            <a:r>
              <a:rPr sz="2133" spc="20" dirty="0">
                <a:solidFill>
                  <a:srgbClr val="8C1414"/>
                </a:solidFill>
                <a:latin typeface="Arial"/>
                <a:cs typeface="Arial"/>
              </a:rPr>
              <a:t> </a:t>
            </a:r>
            <a:r>
              <a:rPr sz="2133" b="1" spc="-7" dirty="0">
                <a:solidFill>
                  <a:srgbClr val="8C1414"/>
                </a:solidFill>
                <a:latin typeface="Arial"/>
                <a:cs typeface="Arial"/>
              </a:rPr>
              <a:t>reward</a:t>
            </a:r>
            <a:r>
              <a:rPr sz="2133" b="1" dirty="0">
                <a:solidFill>
                  <a:srgbClr val="8C1414"/>
                </a:solidFill>
                <a:latin typeface="Arial"/>
                <a:cs typeface="Arial"/>
              </a:rPr>
              <a:t> </a:t>
            </a:r>
            <a:r>
              <a:rPr sz="2133" b="1" spc="-7" dirty="0">
                <a:solidFill>
                  <a:srgbClr val="8C1414"/>
                </a:solidFill>
                <a:latin typeface="Arial"/>
                <a:cs typeface="Arial"/>
              </a:rPr>
              <a:t>model	</a:t>
            </a:r>
            <a:r>
              <a:rPr sz="2133" spc="-7" dirty="0">
                <a:solidFill>
                  <a:srgbClr val="8C1414"/>
                </a:solidFill>
                <a:latin typeface="Arial"/>
                <a:cs typeface="Arial"/>
              </a:rPr>
              <a:t>that </a:t>
            </a:r>
            <a:r>
              <a:rPr sz="2133" dirty="0">
                <a:solidFill>
                  <a:srgbClr val="8C1414"/>
                </a:solidFill>
                <a:latin typeface="Arial"/>
                <a:cs typeface="Arial"/>
              </a:rPr>
              <a:t>represents* </a:t>
            </a:r>
            <a:r>
              <a:rPr sz="2133" b="1" spc="-7" dirty="0">
                <a:solidFill>
                  <a:srgbClr val="8C1414"/>
                </a:solidFill>
                <a:latin typeface="Arial"/>
                <a:cs typeface="Arial"/>
              </a:rPr>
              <a:t>goodness according </a:t>
            </a:r>
            <a:r>
              <a:rPr sz="2133" b="1" dirty="0">
                <a:solidFill>
                  <a:srgbClr val="8C1414"/>
                </a:solidFill>
                <a:latin typeface="Arial"/>
                <a:cs typeface="Arial"/>
              </a:rPr>
              <a:t>to</a:t>
            </a:r>
            <a:r>
              <a:rPr sz="2133" b="1" spc="-107" dirty="0">
                <a:solidFill>
                  <a:srgbClr val="8C1414"/>
                </a:solidFill>
                <a:latin typeface="Arial"/>
                <a:cs typeface="Arial"/>
              </a:rPr>
              <a:t> </a:t>
            </a:r>
            <a:r>
              <a:rPr sz="2133" b="1" spc="-7" dirty="0">
                <a:solidFill>
                  <a:srgbClr val="8C1414"/>
                </a:solidFill>
                <a:latin typeface="Arial"/>
                <a:cs typeface="Arial"/>
              </a:rPr>
              <a:t>humans</a:t>
            </a:r>
            <a:endParaRPr sz="2133">
              <a:latin typeface="Arial"/>
              <a:cs typeface="Arial"/>
            </a:endParaRPr>
          </a:p>
        </p:txBody>
      </p:sp>
      <p:sp>
        <p:nvSpPr>
          <p:cNvPr id="4" name="object 4"/>
          <p:cNvSpPr/>
          <p:nvPr/>
        </p:nvSpPr>
        <p:spPr>
          <a:xfrm>
            <a:off x="4458277" y="1649170"/>
            <a:ext cx="329599" cy="278093"/>
          </a:xfrm>
          <a:prstGeom prst="rect">
            <a:avLst/>
          </a:prstGeom>
          <a:blipFill>
            <a:blip r:embed="rId2" cstate="print"/>
            <a:stretch>
              <a:fillRect/>
            </a:stretch>
          </a:blipFill>
        </p:spPr>
        <p:txBody>
          <a:bodyPr wrap="square" lIns="0" tIns="0" rIns="0" bIns="0" rtlCol="0"/>
          <a:lstStyle/>
          <a:p>
            <a:endParaRPr sz="24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7" y="679933"/>
            <a:ext cx="10296312" cy="545448"/>
          </a:xfrm>
          <a:prstGeom prst="rect">
            <a:avLst/>
          </a:prstGeom>
        </p:spPr>
        <p:txBody>
          <a:bodyPr vert="horz" wrap="square" lIns="0" tIns="22013" rIns="0" bIns="0" rtlCol="0" anchor="ctr">
            <a:spAutoFit/>
          </a:bodyPr>
          <a:lstStyle/>
          <a:p>
            <a:pPr marL="16933">
              <a:lnSpc>
                <a:spcPct val="100000"/>
              </a:lnSpc>
              <a:spcBef>
                <a:spcPts val="173"/>
              </a:spcBef>
            </a:pPr>
            <a:r>
              <a:rPr sz="3400" spc="13" dirty="0"/>
              <a:t>RLHF: Learning </a:t>
            </a:r>
            <a:r>
              <a:rPr sz="3400" spc="20" dirty="0"/>
              <a:t>a </a:t>
            </a:r>
            <a:r>
              <a:rPr sz="3400" b="1" spc="13" dirty="0">
                <a:latin typeface="Georgia"/>
                <a:cs typeface="Georgia"/>
              </a:rPr>
              <a:t>policy </a:t>
            </a:r>
            <a:r>
              <a:rPr sz="3400" spc="7" dirty="0"/>
              <a:t>that optimizes </a:t>
            </a:r>
            <a:r>
              <a:rPr sz="3400" spc="13" dirty="0"/>
              <a:t>the</a:t>
            </a:r>
            <a:r>
              <a:rPr sz="3400" dirty="0"/>
              <a:t> </a:t>
            </a:r>
            <a:r>
              <a:rPr sz="3400" b="1" spc="13" dirty="0">
                <a:latin typeface="Georgia"/>
                <a:cs typeface="Georgia"/>
              </a:rPr>
              <a:t>reward</a:t>
            </a:r>
            <a:endParaRPr sz="3400">
              <a:latin typeface="Georgia"/>
              <a:cs typeface="Georgia"/>
            </a:endParaRPr>
          </a:p>
        </p:txBody>
      </p:sp>
      <p:sp>
        <p:nvSpPr>
          <p:cNvPr id="3" name="object 3"/>
          <p:cNvSpPr txBox="1"/>
          <p:nvPr/>
        </p:nvSpPr>
        <p:spPr>
          <a:xfrm>
            <a:off x="635518" y="1534196"/>
            <a:ext cx="10325100" cy="1124902"/>
          </a:xfrm>
          <a:prstGeom prst="rect">
            <a:avLst/>
          </a:prstGeom>
        </p:spPr>
        <p:txBody>
          <a:bodyPr vert="horz" wrap="square" lIns="0" tIns="16933" rIns="0" bIns="0" rtlCol="0">
            <a:spAutoFit/>
          </a:bodyPr>
          <a:lstStyle/>
          <a:p>
            <a:pPr marL="16933">
              <a:spcBef>
                <a:spcPts val="133"/>
              </a:spcBef>
              <a:tabLst>
                <a:tab pos="4231534" algn="l"/>
              </a:tabLst>
            </a:pPr>
            <a:r>
              <a:rPr sz="2133" spc="-7" dirty="0">
                <a:solidFill>
                  <a:srgbClr val="8C1414"/>
                </a:solidFill>
                <a:latin typeface="Arial"/>
                <a:cs typeface="Arial"/>
              </a:rPr>
              <a:t>Now we have </a:t>
            </a:r>
            <a:r>
              <a:rPr sz="2133" dirty="0">
                <a:solidFill>
                  <a:srgbClr val="8C1414"/>
                </a:solidFill>
                <a:latin typeface="Arial"/>
                <a:cs typeface="Arial"/>
              </a:rPr>
              <a:t>a</a:t>
            </a:r>
            <a:r>
              <a:rPr sz="2133" spc="20" dirty="0">
                <a:solidFill>
                  <a:srgbClr val="8C1414"/>
                </a:solidFill>
                <a:latin typeface="Arial"/>
                <a:cs typeface="Arial"/>
              </a:rPr>
              <a:t> </a:t>
            </a:r>
            <a:r>
              <a:rPr sz="2133" b="1" spc="-7" dirty="0">
                <a:solidFill>
                  <a:srgbClr val="8C1414"/>
                </a:solidFill>
                <a:latin typeface="Arial"/>
                <a:cs typeface="Arial"/>
              </a:rPr>
              <a:t>reward</a:t>
            </a:r>
            <a:r>
              <a:rPr sz="2133" b="1" dirty="0">
                <a:solidFill>
                  <a:srgbClr val="8C1414"/>
                </a:solidFill>
                <a:latin typeface="Arial"/>
                <a:cs typeface="Arial"/>
              </a:rPr>
              <a:t> </a:t>
            </a:r>
            <a:r>
              <a:rPr sz="2133" b="1" spc="-7" dirty="0">
                <a:solidFill>
                  <a:srgbClr val="8C1414"/>
                </a:solidFill>
                <a:latin typeface="Arial"/>
                <a:cs typeface="Arial"/>
              </a:rPr>
              <a:t>model	</a:t>
            </a:r>
            <a:r>
              <a:rPr sz="2133" spc="-7" dirty="0">
                <a:solidFill>
                  <a:srgbClr val="8C1414"/>
                </a:solidFill>
                <a:latin typeface="Arial"/>
                <a:cs typeface="Arial"/>
              </a:rPr>
              <a:t>that </a:t>
            </a:r>
            <a:r>
              <a:rPr sz="2133" dirty="0">
                <a:solidFill>
                  <a:srgbClr val="8C1414"/>
                </a:solidFill>
                <a:latin typeface="Arial"/>
                <a:cs typeface="Arial"/>
              </a:rPr>
              <a:t>represents* </a:t>
            </a:r>
            <a:r>
              <a:rPr sz="2133" b="1" spc="-7" dirty="0">
                <a:solidFill>
                  <a:srgbClr val="8C1414"/>
                </a:solidFill>
                <a:latin typeface="Arial"/>
                <a:cs typeface="Arial"/>
              </a:rPr>
              <a:t>goodness according </a:t>
            </a:r>
            <a:r>
              <a:rPr sz="2133" b="1" dirty="0">
                <a:solidFill>
                  <a:srgbClr val="8C1414"/>
                </a:solidFill>
                <a:latin typeface="Arial"/>
                <a:cs typeface="Arial"/>
              </a:rPr>
              <a:t>to</a:t>
            </a:r>
            <a:r>
              <a:rPr sz="2133" b="1" spc="-107" dirty="0">
                <a:solidFill>
                  <a:srgbClr val="8C1414"/>
                </a:solidFill>
                <a:latin typeface="Arial"/>
                <a:cs typeface="Arial"/>
              </a:rPr>
              <a:t> </a:t>
            </a:r>
            <a:r>
              <a:rPr sz="2133" b="1" spc="-7" dirty="0">
                <a:solidFill>
                  <a:srgbClr val="8C1414"/>
                </a:solidFill>
                <a:latin typeface="Arial"/>
                <a:cs typeface="Arial"/>
              </a:rPr>
              <a:t>humans</a:t>
            </a:r>
            <a:endParaRPr sz="2133">
              <a:latin typeface="Arial"/>
              <a:cs typeface="Arial"/>
            </a:endParaRPr>
          </a:p>
          <a:p>
            <a:pPr>
              <a:spcBef>
                <a:spcPts val="27"/>
              </a:spcBef>
            </a:pPr>
            <a:endParaRPr sz="2933">
              <a:latin typeface="Arial"/>
              <a:cs typeface="Arial"/>
            </a:endParaRPr>
          </a:p>
          <a:p>
            <a:pPr marL="16933">
              <a:tabLst>
                <a:tab pos="2813403" algn="l"/>
              </a:tabLst>
            </a:pPr>
            <a:r>
              <a:rPr sz="2133" spc="-33" dirty="0">
                <a:solidFill>
                  <a:srgbClr val="8C1414"/>
                </a:solidFill>
                <a:latin typeface="Arial"/>
                <a:cs typeface="Arial"/>
              </a:rPr>
              <a:t>Now, </a:t>
            </a:r>
            <a:r>
              <a:rPr sz="2133" spc="-7" dirty="0">
                <a:solidFill>
                  <a:srgbClr val="8C1414"/>
                </a:solidFill>
                <a:latin typeface="Arial"/>
                <a:cs typeface="Arial"/>
              </a:rPr>
              <a:t>learn</a:t>
            </a:r>
            <a:r>
              <a:rPr sz="2133" spc="20" dirty="0">
                <a:solidFill>
                  <a:srgbClr val="8C1414"/>
                </a:solidFill>
                <a:latin typeface="Arial"/>
                <a:cs typeface="Arial"/>
              </a:rPr>
              <a:t> </a:t>
            </a:r>
            <a:r>
              <a:rPr sz="2133" dirty="0">
                <a:solidFill>
                  <a:srgbClr val="8C1414"/>
                </a:solidFill>
                <a:latin typeface="Arial"/>
                <a:cs typeface="Arial"/>
              </a:rPr>
              <a:t>a </a:t>
            </a:r>
            <a:r>
              <a:rPr sz="2133" spc="-7" dirty="0">
                <a:solidFill>
                  <a:srgbClr val="8C1414"/>
                </a:solidFill>
                <a:latin typeface="Arial"/>
                <a:cs typeface="Arial"/>
              </a:rPr>
              <a:t>policy	achieving </a:t>
            </a:r>
            <a:r>
              <a:rPr sz="2133" b="1" spc="-7" dirty="0">
                <a:solidFill>
                  <a:srgbClr val="8C1414"/>
                </a:solidFill>
                <a:latin typeface="Arial"/>
                <a:cs typeface="Arial"/>
              </a:rPr>
              <a:t>high</a:t>
            </a:r>
            <a:r>
              <a:rPr sz="2133" b="1" spc="20" dirty="0">
                <a:solidFill>
                  <a:srgbClr val="8C1414"/>
                </a:solidFill>
                <a:latin typeface="Arial"/>
                <a:cs typeface="Arial"/>
              </a:rPr>
              <a:t> </a:t>
            </a:r>
            <a:r>
              <a:rPr sz="2133" b="1" spc="-7" dirty="0">
                <a:solidFill>
                  <a:srgbClr val="8C1414"/>
                </a:solidFill>
                <a:latin typeface="Arial"/>
                <a:cs typeface="Arial"/>
              </a:rPr>
              <a:t>reward</a:t>
            </a:r>
            <a:endParaRPr sz="2133">
              <a:latin typeface="Arial"/>
              <a:cs typeface="Arial"/>
            </a:endParaRPr>
          </a:p>
        </p:txBody>
      </p:sp>
      <p:sp>
        <p:nvSpPr>
          <p:cNvPr id="4" name="object 4"/>
          <p:cNvSpPr/>
          <p:nvPr/>
        </p:nvSpPr>
        <p:spPr>
          <a:xfrm>
            <a:off x="4458277" y="1649170"/>
            <a:ext cx="329599" cy="278093"/>
          </a:xfrm>
          <a:prstGeom prst="rect">
            <a:avLst/>
          </a:prstGeom>
          <a:blipFill>
            <a:blip r:embed="rId2" cstate="print"/>
            <a:stretch>
              <a:fillRect/>
            </a:stretch>
          </a:blipFill>
        </p:spPr>
        <p:txBody>
          <a:bodyPr wrap="square" lIns="0" tIns="0" rIns="0" bIns="0" rtlCol="0"/>
          <a:lstStyle/>
          <a:p>
            <a:endParaRPr sz="2400"/>
          </a:p>
        </p:txBody>
      </p:sp>
      <p:sp>
        <p:nvSpPr>
          <p:cNvPr id="5" name="object 5"/>
          <p:cNvSpPr/>
          <p:nvPr/>
        </p:nvSpPr>
        <p:spPr>
          <a:xfrm>
            <a:off x="3021251" y="2428317"/>
            <a:ext cx="329599" cy="213265"/>
          </a:xfrm>
          <a:prstGeom prst="rect">
            <a:avLst/>
          </a:prstGeom>
          <a:blipFill>
            <a:blip r:embed="rId3" cstate="print"/>
            <a:stretch>
              <a:fillRect/>
            </a:stretch>
          </a:blipFill>
        </p:spPr>
        <p:txBody>
          <a:bodyPr wrap="square" lIns="0" tIns="0" rIns="0" bIns="0" rtlCol="0"/>
          <a:lstStyle/>
          <a:p>
            <a:endParaRPr sz="24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7" y="679933"/>
            <a:ext cx="10296312" cy="545448"/>
          </a:xfrm>
          <a:prstGeom prst="rect">
            <a:avLst/>
          </a:prstGeom>
        </p:spPr>
        <p:txBody>
          <a:bodyPr vert="horz" wrap="square" lIns="0" tIns="22013" rIns="0" bIns="0" rtlCol="0" anchor="ctr">
            <a:spAutoFit/>
          </a:bodyPr>
          <a:lstStyle/>
          <a:p>
            <a:pPr marL="16933">
              <a:lnSpc>
                <a:spcPct val="100000"/>
              </a:lnSpc>
              <a:spcBef>
                <a:spcPts val="173"/>
              </a:spcBef>
            </a:pPr>
            <a:r>
              <a:rPr sz="3400" spc="13" dirty="0"/>
              <a:t>RLHF: Learning </a:t>
            </a:r>
            <a:r>
              <a:rPr sz="3400" spc="20" dirty="0"/>
              <a:t>a </a:t>
            </a:r>
            <a:r>
              <a:rPr sz="3400" b="1" spc="13" dirty="0">
                <a:latin typeface="Georgia"/>
                <a:cs typeface="Georgia"/>
              </a:rPr>
              <a:t>policy </a:t>
            </a:r>
            <a:r>
              <a:rPr sz="3400" spc="7" dirty="0"/>
              <a:t>that optimizes </a:t>
            </a:r>
            <a:r>
              <a:rPr sz="3400" spc="13" dirty="0"/>
              <a:t>the</a:t>
            </a:r>
            <a:r>
              <a:rPr sz="3400" dirty="0"/>
              <a:t> </a:t>
            </a:r>
            <a:r>
              <a:rPr sz="3400" b="1" spc="13" dirty="0">
                <a:latin typeface="Georgia"/>
                <a:cs typeface="Georgia"/>
              </a:rPr>
              <a:t>reward</a:t>
            </a:r>
            <a:endParaRPr sz="3400">
              <a:latin typeface="Georgia"/>
              <a:cs typeface="Georgia"/>
            </a:endParaRPr>
          </a:p>
        </p:txBody>
      </p:sp>
      <p:sp>
        <p:nvSpPr>
          <p:cNvPr id="3" name="object 3"/>
          <p:cNvSpPr txBox="1"/>
          <p:nvPr/>
        </p:nvSpPr>
        <p:spPr>
          <a:xfrm>
            <a:off x="635518" y="1534196"/>
            <a:ext cx="10325100" cy="1124902"/>
          </a:xfrm>
          <a:prstGeom prst="rect">
            <a:avLst/>
          </a:prstGeom>
        </p:spPr>
        <p:txBody>
          <a:bodyPr vert="horz" wrap="square" lIns="0" tIns="16933" rIns="0" bIns="0" rtlCol="0">
            <a:spAutoFit/>
          </a:bodyPr>
          <a:lstStyle/>
          <a:p>
            <a:pPr marL="16933">
              <a:spcBef>
                <a:spcPts val="133"/>
              </a:spcBef>
              <a:tabLst>
                <a:tab pos="4231534" algn="l"/>
              </a:tabLst>
            </a:pPr>
            <a:r>
              <a:rPr sz="2133" spc="-7" dirty="0">
                <a:solidFill>
                  <a:srgbClr val="8C1414"/>
                </a:solidFill>
                <a:latin typeface="Arial"/>
                <a:cs typeface="Arial"/>
              </a:rPr>
              <a:t>Now we have </a:t>
            </a:r>
            <a:r>
              <a:rPr sz="2133" dirty="0">
                <a:solidFill>
                  <a:srgbClr val="8C1414"/>
                </a:solidFill>
                <a:latin typeface="Arial"/>
                <a:cs typeface="Arial"/>
              </a:rPr>
              <a:t>a</a:t>
            </a:r>
            <a:r>
              <a:rPr sz="2133" spc="20" dirty="0">
                <a:solidFill>
                  <a:srgbClr val="8C1414"/>
                </a:solidFill>
                <a:latin typeface="Arial"/>
                <a:cs typeface="Arial"/>
              </a:rPr>
              <a:t> </a:t>
            </a:r>
            <a:r>
              <a:rPr sz="2133" b="1" spc="-7" dirty="0">
                <a:solidFill>
                  <a:srgbClr val="8C1414"/>
                </a:solidFill>
                <a:latin typeface="Arial"/>
                <a:cs typeface="Arial"/>
              </a:rPr>
              <a:t>reward</a:t>
            </a:r>
            <a:r>
              <a:rPr sz="2133" b="1" dirty="0">
                <a:solidFill>
                  <a:srgbClr val="8C1414"/>
                </a:solidFill>
                <a:latin typeface="Arial"/>
                <a:cs typeface="Arial"/>
              </a:rPr>
              <a:t> </a:t>
            </a:r>
            <a:r>
              <a:rPr sz="2133" b="1" spc="-7" dirty="0">
                <a:solidFill>
                  <a:srgbClr val="8C1414"/>
                </a:solidFill>
                <a:latin typeface="Arial"/>
                <a:cs typeface="Arial"/>
              </a:rPr>
              <a:t>model	</a:t>
            </a:r>
            <a:r>
              <a:rPr sz="2133" spc="-7" dirty="0">
                <a:solidFill>
                  <a:srgbClr val="8C1414"/>
                </a:solidFill>
                <a:latin typeface="Arial"/>
                <a:cs typeface="Arial"/>
              </a:rPr>
              <a:t>that </a:t>
            </a:r>
            <a:r>
              <a:rPr sz="2133" dirty="0">
                <a:solidFill>
                  <a:srgbClr val="8C1414"/>
                </a:solidFill>
                <a:latin typeface="Arial"/>
                <a:cs typeface="Arial"/>
              </a:rPr>
              <a:t>represents* </a:t>
            </a:r>
            <a:r>
              <a:rPr sz="2133" b="1" spc="-7" dirty="0">
                <a:solidFill>
                  <a:srgbClr val="8C1414"/>
                </a:solidFill>
                <a:latin typeface="Arial"/>
                <a:cs typeface="Arial"/>
              </a:rPr>
              <a:t>goodness according </a:t>
            </a:r>
            <a:r>
              <a:rPr sz="2133" b="1" dirty="0">
                <a:solidFill>
                  <a:srgbClr val="8C1414"/>
                </a:solidFill>
                <a:latin typeface="Arial"/>
                <a:cs typeface="Arial"/>
              </a:rPr>
              <a:t>to</a:t>
            </a:r>
            <a:r>
              <a:rPr sz="2133" b="1" spc="-107" dirty="0">
                <a:solidFill>
                  <a:srgbClr val="8C1414"/>
                </a:solidFill>
                <a:latin typeface="Arial"/>
                <a:cs typeface="Arial"/>
              </a:rPr>
              <a:t> </a:t>
            </a:r>
            <a:r>
              <a:rPr sz="2133" b="1" spc="-7" dirty="0">
                <a:solidFill>
                  <a:srgbClr val="8C1414"/>
                </a:solidFill>
                <a:latin typeface="Arial"/>
                <a:cs typeface="Arial"/>
              </a:rPr>
              <a:t>humans</a:t>
            </a:r>
            <a:endParaRPr sz="2133">
              <a:latin typeface="Arial"/>
              <a:cs typeface="Arial"/>
            </a:endParaRPr>
          </a:p>
          <a:p>
            <a:pPr>
              <a:spcBef>
                <a:spcPts val="27"/>
              </a:spcBef>
            </a:pPr>
            <a:endParaRPr sz="2933">
              <a:latin typeface="Arial"/>
              <a:cs typeface="Arial"/>
            </a:endParaRPr>
          </a:p>
          <a:p>
            <a:pPr marL="16933">
              <a:tabLst>
                <a:tab pos="2813403" algn="l"/>
              </a:tabLst>
            </a:pPr>
            <a:r>
              <a:rPr sz="2133" spc="-33" dirty="0">
                <a:solidFill>
                  <a:srgbClr val="8C1414"/>
                </a:solidFill>
                <a:latin typeface="Arial"/>
                <a:cs typeface="Arial"/>
              </a:rPr>
              <a:t>Now, </a:t>
            </a:r>
            <a:r>
              <a:rPr sz="2133" spc="-7" dirty="0">
                <a:solidFill>
                  <a:srgbClr val="8C1414"/>
                </a:solidFill>
                <a:latin typeface="Arial"/>
                <a:cs typeface="Arial"/>
              </a:rPr>
              <a:t>learn</a:t>
            </a:r>
            <a:r>
              <a:rPr sz="2133" spc="20" dirty="0">
                <a:solidFill>
                  <a:srgbClr val="8C1414"/>
                </a:solidFill>
                <a:latin typeface="Arial"/>
                <a:cs typeface="Arial"/>
              </a:rPr>
              <a:t> </a:t>
            </a:r>
            <a:r>
              <a:rPr sz="2133" dirty="0">
                <a:solidFill>
                  <a:srgbClr val="8C1414"/>
                </a:solidFill>
                <a:latin typeface="Arial"/>
                <a:cs typeface="Arial"/>
              </a:rPr>
              <a:t>a </a:t>
            </a:r>
            <a:r>
              <a:rPr sz="2133" spc="-7" dirty="0">
                <a:solidFill>
                  <a:srgbClr val="8C1414"/>
                </a:solidFill>
                <a:latin typeface="Arial"/>
                <a:cs typeface="Arial"/>
              </a:rPr>
              <a:t>policy	achieving </a:t>
            </a:r>
            <a:r>
              <a:rPr sz="2133" b="1" spc="-7" dirty="0">
                <a:solidFill>
                  <a:srgbClr val="8C1414"/>
                </a:solidFill>
                <a:latin typeface="Arial"/>
                <a:cs typeface="Arial"/>
              </a:rPr>
              <a:t>high</a:t>
            </a:r>
            <a:r>
              <a:rPr sz="2133" b="1" spc="20" dirty="0">
                <a:solidFill>
                  <a:srgbClr val="8C1414"/>
                </a:solidFill>
                <a:latin typeface="Arial"/>
                <a:cs typeface="Arial"/>
              </a:rPr>
              <a:t> </a:t>
            </a:r>
            <a:r>
              <a:rPr sz="2133" b="1" spc="-7" dirty="0">
                <a:solidFill>
                  <a:srgbClr val="8C1414"/>
                </a:solidFill>
                <a:latin typeface="Arial"/>
                <a:cs typeface="Arial"/>
              </a:rPr>
              <a:t>reward</a:t>
            </a:r>
            <a:endParaRPr sz="2133">
              <a:latin typeface="Arial"/>
              <a:cs typeface="Arial"/>
            </a:endParaRPr>
          </a:p>
        </p:txBody>
      </p:sp>
      <p:sp>
        <p:nvSpPr>
          <p:cNvPr id="4" name="object 4"/>
          <p:cNvSpPr/>
          <p:nvPr/>
        </p:nvSpPr>
        <p:spPr>
          <a:xfrm>
            <a:off x="4458277" y="1649170"/>
            <a:ext cx="329599" cy="278093"/>
          </a:xfrm>
          <a:prstGeom prst="rect">
            <a:avLst/>
          </a:prstGeom>
          <a:blipFill>
            <a:blip r:embed="rId2" cstate="print"/>
            <a:stretch>
              <a:fillRect/>
            </a:stretch>
          </a:blipFill>
        </p:spPr>
        <p:txBody>
          <a:bodyPr wrap="square" lIns="0" tIns="0" rIns="0" bIns="0" rtlCol="0"/>
          <a:lstStyle/>
          <a:p>
            <a:endParaRPr sz="2400"/>
          </a:p>
        </p:txBody>
      </p:sp>
      <p:sp>
        <p:nvSpPr>
          <p:cNvPr id="5" name="object 5"/>
          <p:cNvSpPr/>
          <p:nvPr/>
        </p:nvSpPr>
        <p:spPr>
          <a:xfrm>
            <a:off x="3021251" y="2428317"/>
            <a:ext cx="329599" cy="213265"/>
          </a:xfrm>
          <a:prstGeom prst="rect">
            <a:avLst/>
          </a:prstGeom>
          <a:blipFill>
            <a:blip r:embed="rId3" cstate="print"/>
            <a:stretch>
              <a:fillRect/>
            </a:stretch>
          </a:blipFill>
        </p:spPr>
        <p:txBody>
          <a:bodyPr wrap="square" lIns="0" tIns="0" rIns="0" bIns="0" rtlCol="0"/>
          <a:lstStyle/>
          <a:p>
            <a:endParaRPr sz="2400"/>
          </a:p>
        </p:txBody>
      </p:sp>
      <p:sp>
        <p:nvSpPr>
          <p:cNvPr id="6" name="object 6"/>
          <p:cNvSpPr/>
          <p:nvPr/>
        </p:nvSpPr>
        <p:spPr>
          <a:xfrm>
            <a:off x="1348637" y="3657268"/>
            <a:ext cx="5029028" cy="715465"/>
          </a:xfrm>
          <a:prstGeom prst="rect">
            <a:avLst/>
          </a:prstGeom>
          <a:blipFill>
            <a:blip r:embed="rId4" cstate="print"/>
            <a:stretch>
              <a:fillRect/>
            </a:stretch>
          </a:blipFill>
        </p:spPr>
        <p:txBody>
          <a:bodyPr wrap="square" lIns="0" tIns="0" rIns="0" bIns="0" rtlCol="0"/>
          <a:lstStyle/>
          <a:p>
            <a:endParaRPr sz="24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7" y="679933"/>
            <a:ext cx="10296312" cy="545448"/>
          </a:xfrm>
          <a:prstGeom prst="rect">
            <a:avLst/>
          </a:prstGeom>
        </p:spPr>
        <p:txBody>
          <a:bodyPr vert="horz" wrap="square" lIns="0" tIns="22013" rIns="0" bIns="0" rtlCol="0" anchor="ctr">
            <a:spAutoFit/>
          </a:bodyPr>
          <a:lstStyle/>
          <a:p>
            <a:pPr marL="16933">
              <a:lnSpc>
                <a:spcPct val="100000"/>
              </a:lnSpc>
              <a:spcBef>
                <a:spcPts val="173"/>
              </a:spcBef>
            </a:pPr>
            <a:r>
              <a:rPr sz="3400" spc="13" dirty="0"/>
              <a:t>RLHF: Learning </a:t>
            </a:r>
            <a:r>
              <a:rPr sz="3400" spc="20" dirty="0"/>
              <a:t>a </a:t>
            </a:r>
            <a:r>
              <a:rPr sz="3400" b="1" spc="13" dirty="0">
                <a:latin typeface="Georgia"/>
                <a:cs typeface="Georgia"/>
              </a:rPr>
              <a:t>policy </a:t>
            </a:r>
            <a:r>
              <a:rPr sz="3400" spc="7" dirty="0"/>
              <a:t>that optimizes </a:t>
            </a:r>
            <a:r>
              <a:rPr sz="3400" spc="13" dirty="0"/>
              <a:t>the</a:t>
            </a:r>
            <a:r>
              <a:rPr sz="3400" dirty="0"/>
              <a:t> </a:t>
            </a:r>
            <a:r>
              <a:rPr sz="3400" b="1" spc="13" dirty="0">
                <a:latin typeface="Georgia"/>
                <a:cs typeface="Georgia"/>
              </a:rPr>
              <a:t>reward</a:t>
            </a:r>
            <a:endParaRPr sz="3400">
              <a:latin typeface="Georgia"/>
              <a:cs typeface="Georgia"/>
            </a:endParaRPr>
          </a:p>
        </p:txBody>
      </p:sp>
      <p:sp>
        <p:nvSpPr>
          <p:cNvPr id="3" name="object 3"/>
          <p:cNvSpPr txBox="1"/>
          <p:nvPr/>
        </p:nvSpPr>
        <p:spPr>
          <a:xfrm>
            <a:off x="635518" y="1534196"/>
            <a:ext cx="10325100" cy="1124902"/>
          </a:xfrm>
          <a:prstGeom prst="rect">
            <a:avLst/>
          </a:prstGeom>
        </p:spPr>
        <p:txBody>
          <a:bodyPr vert="horz" wrap="square" lIns="0" tIns="16933" rIns="0" bIns="0" rtlCol="0">
            <a:spAutoFit/>
          </a:bodyPr>
          <a:lstStyle/>
          <a:p>
            <a:pPr marL="16933">
              <a:spcBef>
                <a:spcPts val="133"/>
              </a:spcBef>
              <a:tabLst>
                <a:tab pos="4231534" algn="l"/>
              </a:tabLst>
            </a:pPr>
            <a:r>
              <a:rPr sz="2133" spc="-7" dirty="0">
                <a:solidFill>
                  <a:srgbClr val="8C1414"/>
                </a:solidFill>
                <a:latin typeface="Arial"/>
                <a:cs typeface="Arial"/>
              </a:rPr>
              <a:t>Now we have </a:t>
            </a:r>
            <a:r>
              <a:rPr sz="2133" dirty="0">
                <a:solidFill>
                  <a:srgbClr val="8C1414"/>
                </a:solidFill>
                <a:latin typeface="Arial"/>
                <a:cs typeface="Arial"/>
              </a:rPr>
              <a:t>a</a:t>
            </a:r>
            <a:r>
              <a:rPr sz="2133" spc="20" dirty="0">
                <a:solidFill>
                  <a:srgbClr val="8C1414"/>
                </a:solidFill>
                <a:latin typeface="Arial"/>
                <a:cs typeface="Arial"/>
              </a:rPr>
              <a:t> </a:t>
            </a:r>
            <a:r>
              <a:rPr sz="2133" b="1" spc="-7" dirty="0">
                <a:solidFill>
                  <a:srgbClr val="8C1414"/>
                </a:solidFill>
                <a:latin typeface="Arial"/>
                <a:cs typeface="Arial"/>
              </a:rPr>
              <a:t>reward</a:t>
            </a:r>
            <a:r>
              <a:rPr sz="2133" b="1" dirty="0">
                <a:solidFill>
                  <a:srgbClr val="8C1414"/>
                </a:solidFill>
                <a:latin typeface="Arial"/>
                <a:cs typeface="Arial"/>
              </a:rPr>
              <a:t> </a:t>
            </a:r>
            <a:r>
              <a:rPr sz="2133" b="1" spc="-7" dirty="0">
                <a:solidFill>
                  <a:srgbClr val="8C1414"/>
                </a:solidFill>
                <a:latin typeface="Arial"/>
                <a:cs typeface="Arial"/>
              </a:rPr>
              <a:t>model	</a:t>
            </a:r>
            <a:r>
              <a:rPr sz="2133" spc="-7" dirty="0">
                <a:solidFill>
                  <a:srgbClr val="8C1414"/>
                </a:solidFill>
                <a:latin typeface="Arial"/>
                <a:cs typeface="Arial"/>
              </a:rPr>
              <a:t>that </a:t>
            </a:r>
            <a:r>
              <a:rPr sz="2133" dirty="0">
                <a:solidFill>
                  <a:srgbClr val="8C1414"/>
                </a:solidFill>
                <a:latin typeface="Arial"/>
                <a:cs typeface="Arial"/>
              </a:rPr>
              <a:t>represents* </a:t>
            </a:r>
            <a:r>
              <a:rPr sz="2133" b="1" spc="-7" dirty="0">
                <a:solidFill>
                  <a:srgbClr val="8C1414"/>
                </a:solidFill>
                <a:latin typeface="Arial"/>
                <a:cs typeface="Arial"/>
              </a:rPr>
              <a:t>goodness according </a:t>
            </a:r>
            <a:r>
              <a:rPr sz="2133" b="1" dirty="0">
                <a:solidFill>
                  <a:srgbClr val="8C1414"/>
                </a:solidFill>
                <a:latin typeface="Arial"/>
                <a:cs typeface="Arial"/>
              </a:rPr>
              <a:t>to</a:t>
            </a:r>
            <a:r>
              <a:rPr sz="2133" b="1" spc="-107" dirty="0">
                <a:solidFill>
                  <a:srgbClr val="8C1414"/>
                </a:solidFill>
                <a:latin typeface="Arial"/>
                <a:cs typeface="Arial"/>
              </a:rPr>
              <a:t> </a:t>
            </a:r>
            <a:r>
              <a:rPr sz="2133" b="1" spc="-7" dirty="0">
                <a:solidFill>
                  <a:srgbClr val="8C1414"/>
                </a:solidFill>
                <a:latin typeface="Arial"/>
                <a:cs typeface="Arial"/>
              </a:rPr>
              <a:t>humans</a:t>
            </a:r>
            <a:endParaRPr sz="2133">
              <a:latin typeface="Arial"/>
              <a:cs typeface="Arial"/>
            </a:endParaRPr>
          </a:p>
          <a:p>
            <a:pPr>
              <a:spcBef>
                <a:spcPts val="27"/>
              </a:spcBef>
            </a:pPr>
            <a:endParaRPr sz="2933">
              <a:latin typeface="Arial"/>
              <a:cs typeface="Arial"/>
            </a:endParaRPr>
          </a:p>
          <a:p>
            <a:pPr marL="16933">
              <a:tabLst>
                <a:tab pos="2813403" algn="l"/>
              </a:tabLst>
            </a:pPr>
            <a:r>
              <a:rPr sz="2133" spc="-33" dirty="0">
                <a:solidFill>
                  <a:srgbClr val="8C1414"/>
                </a:solidFill>
                <a:latin typeface="Arial"/>
                <a:cs typeface="Arial"/>
              </a:rPr>
              <a:t>Now, </a:t>
            </a:r>
            <a:r>
              <a:rPr sz="2133" spc="-7" dirty="0">
                <a:solidFill>
                  <a:srgbClr val="8C1414"/>
                </a:solidFill>
                <a:latin typeface="Arial"/>
                <a:cs typeface="Arial"/>
              </a:rPr>
              <a:t>learn</a:t>
            </a:r>
            <a:r>
              <a:rPr sz="2133" spc="20" dirty="0">
                <a:solidFill>
                  <a:srgbClr val="8C1414"/>
                </a:solidFill>
                <a:latin typeface="Arial"/>
                <a:cs typeface="Arial"/>
              </a:rPr>
              <a:t> </a:t>
            </a:r>
            <a:r>
              <a:rPr sz="2133" dirty="0">
                <a:solidFill>
                  <a:srgbClr val="8C1414"/>
                </a:solidFill>
                <a:latin typeface="Arial"/>
                <a:cs typeface="Arial"/>
              </a:rPr>
              <a:t>a </a:t>
            </a:r>
            <a:r>
              <a:rPr sz="2133" spc="-7" dirty="0">
                <a:solidFill>
                  <a:srgbClr val="8C1414"/>
                </a:solidFill>
                <a:latin typeface="Arial"/>
                <a:cs typeface="Arial"/>
              </a:rPr>
              <a:t>policy	achieving </a:t>
            </a:r>
            <a:r>
              <a:rPr sz="2133" b="1" spc="-7" dirty="0">
                <a:solidFill>
                  <a:srgbClr val="8C1414"/>
                </a:solidFill>
                <a:latin typeface="Arial"/>
                <a:cs typeface="Arial"/>
              </a:rPr>
              <a:t>high</a:t>
            </a:r>
            <a:r>
              <a:rPr sz="2133" b="1" spc="20" dirty="0">
                <a:solidFill>
                  <a:srgbClr val="8C1414"/>
                </a:solidFill>
                <a:latin typeface="Arial"/>
                <a:cs typeface="Arial"/>
              </a:rPr>
              <a:t> </a:t>
            </a:r>
            <a:r>
              <a:rPr sz="2133" b="1" spc="-7" dirty="0">
                <a:solidFill>
                  <a:srgbClr val="8C1414"/>
                </a:solidFill>
                <a:latin typeface="Arial"/>
                <a:cs typeface="Arial"/>
              </a:rPr>
              <a:t>reward</a:t>
            </a:r>
            <a:endParaRPr sz="2133">
              <a:latin typeface="Arial"/>
              <a:cs typeface="Arial"/>
            </a:endParaRPr>
          </a:p>
        </p:txBody>
      </p:sp>
      <p:sp>
        <p:nvSpPr>
          <p:cNvPr id="4" name="object 4"/>
          <p:cNvSpPr/>
          <p:nvPr/>
        </p:nvSpPr>
        <p:spPr>
          <a:xfrm>
            <a:off x="4458277" y="1649170"/>
            <a:ext cx="329599" cy="278093"/>
          </a:xfrm>
          <a:prstGeom prst="rect">
            <a:avLst/>
          </a:prstGeom>
          <a:blipFill>
            <a:blip r:embed="rId2" cstate="print"/>
            <a:stretch>
              <a:fillRect/>
            </a:stretch>
          </a:blipFill>
        </p:spPr>
        <p:txBody>
          <a:bodyPr wrap="square" lIns="0" tIns="0" rIns="0" bIns="0" rtlCol="0"/>
          <a:lstStyle/>
          <a:p>
            <a:endParaRPr sz="2400"/>
          </a:p>
        </p:txBody>
      </p:sp>
      <p:sp>
        <p:nvSpPr>
          <p:cNvPr id="5" name="object 5"/>
          <p:cNvSpPr/>
          <p:nvPr/>
        </p:nvSpPr>
        <p:spPr>
          <a:xfrm>
            <a:off x="3021251" y="2428317"/>
            <a:ext cx="329599" cy="213265"/>
          </a:xfrm>
          <a:prstGeom prst="rect">
            <a:avLst/>
          </a:prstGeom>
          <a:blipFill>
            <a:blip r:embed="rId3" cstate="print"/>
            <a:stretch>
              <a:fillRect/>
            </a:stretch>
          </a:blipFill>
        </p:spPr>
        <p:txBody>
          <a:bodyPr wrap="square" lIns="0" tIns="0" rIns="0" bIns="0" rtlCol="0"/>
          <a:lstStyle/>
          <a:p>
            <a:endParaRPr sz="2400"/>
          </a:p>
        </p:txBody>
      </p:sp>
      <p:sp>
        <p:nvSpPr>
          <p:cNvPr id="6" name="object 6"/>
          <p:cNvSpPr/>
          <p:nvPr/>
        </p:nvSpPr>
        <p:spPr>
          <a:xfrm>
            <a:off x="5552306" y="4539186"/>
            <a:ext cx="16933" cy="664633"/>
          </a:xfrm>
          <a:custGeom>
            <a:avLst/>
            <a:gdLst/>
            <a:ahLst/>
            <a:cxnLst/>
            <a:rect l="l" t="t" r="r" b="b"/>
            <a:pathLst>
              <a:path w="12700" h="498475">
                <a:moveTo>
                  <a:pt x="12444" y="498035"/>
                </a:moveTo>
                <a:lnTo>
                  <a:pt x="0" y="0"/>
                </a:lnTo>
              </a:path>
            </a:pathLst>
          </a:custGeom>
          <a:ln w="19049">
            <a:solidFill>
              <a:srgbClr val="2E2C28"/>
            </a:solidFill>
          </a:ln>
        </p:spPr>
        <p:txBody>
          <a:bodyPr wrap="square" lIns="0" tIns="0" rIns="0" bIns="0" rtlCol="0"/>
          <a:lstStyle/>
          <a:p>
            <a:endParaRPr sz="2400"/>
          </a:p>
        </p:txBody>
      </p:sp>
      <p:sp>
        <p:nvSpPr>
          <p:cNvPr id="7" name="object 7"/>
          <p:cNvSpPr/>
          <p:nvPr/>
        </p:nvSpPr>
        <p:spPr>
          <a:xfrm>
            <a:off x="5497666" y="4411254"/>
            <a:ext cx="109281" cy="141679"/>
          </a:xfrm>
          <a:prstGeom prst="rect">
            <a:avLst/>
          </a:prstGeom>
          <a:blipFill>
            <a:blip r:embed="rId4" cstate="print"/>
            <a:stretch>
              <a:fillRect/>
            </a:stretch>
          </a:blipFill>
        </p:spPr>
        <p:txBody>
          <a:bodyPr wrap="square" lIns="0" tIns="0" rIns="0" bIns="0" rtlCol="0"/>
          <a:lstStyle/>
          <a:p>
            <a:endParaRPr sz="2400"/>
          </a:p>
        </p:txBody>
      </p:sp>
      <p:sp>
        <p:nvSpPr>
          <p:cNvPr id="8" name="object 8"/>
          <p:cNvSpPr/>
          <p:nvPr/>
        </p:nvSpPr>
        <p:spPr>
          <a:xfrm>
            <a:off x="2584299" y="4467966"/>
            <a:ext cx="855133" cy="684953"/>
          </a:xfrm>
          <a:custGeom>
            <a:avLst/>
            <a:gdLst/>
            <a:ahLst/>
            <a:cxnLst/>
            <a:rect l="l" t="t" r="r" b="b"/>
            <a:pathLst>
              <a:path w="641350" h="513714">
                <a:moveTo>
                  <a:pt x="0" y="513274"/>
                </a:moveTo>
                <a:lnTo>
                  <a:pt x="641264" y="0"/>
                </a:lnTo>
              </a:path>
            </a:pathLst>
          </a:custGeom>
          <a:ln w="19049">
            <a:solidFill>
              <a:srgbClr val="2E2C28"/>
            </a:solidFill>
          </a:ln>
        </p:spPr>
        <p:txBody>
          <a:bodyPr wrap="square" lIns="0" tIns="0" rIns="0" bIns="0" rtlCol="0"/>
          <a:lstStyle/>
          <a:p>
            <a:endParaRPr sz="2400"/>
          </a:p>
        </p:txBody>
      </p:sp>
      <p:sp>
        <p:nvSpPr>
          <p:cNvPr id="9" name="object 9"/>
          <p:cNvSpPr/>
          <p:nvPr/>
        </p:nvSpPr>
        <p:spPr>
          <a:xfrm>
            <a:off x="3400403" y="4383237"/>
            <a:ext cx="141607" cy="130183"/>
          </a:xfrm>
          <a:prstGeom prst="rect">
            <a:avLst/>
          </a:prstGeom>
          <a:blipFill>
            <a:blip r:embed="rId5" cstate="print"/>
            <a:stretch>
              <a:fillRect/>
            </a:stretch>
          </a:blipFill>
        </p:spPr>
        <p:txBody>
          <a:bodyPr wrap="square" lIns="0" tIns="0" rIns="0" bIns="0" rtlCol="0"/>
          <a:lstStyle/>
          <a:p>
            <a:endParaRPr sz="2400"/>
          </a:p>
        </p:txBody>
      </p:sp>
      <p:sp>
        <p:nvSpPr>
          <p:cNvPr id="10" name="object 10"/>
          <p:cNvSpPr/>
          <p:nvPr/>
        </p:nvSpPr>
        <p:spPr>
          <a:xfrm>
            <a:off x="1348637" y="3657268"/>
            <a:ext cx="5029028" cy="715465"/>
          </a:xfrm>
          <a:prstGeom prst="rect">
            <a:avLst/>
          </a:prstGeom>
          <a:blipFill>
            <a:blip r:embed="rId6" cstate="print"/>
            <a:stretch>
              <a:fillRect/>
            </a:stretch>
          </a:blipFill>
        </p:spPr>
        <p:txBody>
          <a:bodyPr wrap="square" lIns="0" tIns="0" rIns="0" bIns="0" rtlCol="0"/>
          <a:lstStyle/>
          <a:p>
            <a:endParaRPr sz="2400"/>
          </a:p>
        </p:txBody>
      </p:sp>
      <p:sp>
        <p:nvSpPr>
          <p:cNvPr id="11" name="object 11"/>
          <p:cNvSpPr txBox="1"/>
          <p:nvPr/>
        </p:nvSpPr>
        <p:spPr>
          <a:xfrm>
            <a:off x="1157067" y="5262674"/>
            <a:ext cx="2044700" cy="282129"/>
          </a:xfrm>
          <a:prstGeom prst="rect">
            <a:avLst/>
          </a:prstGeom>
        </p:spPr>
        <p:txBody>
          <a:bodyPr vert="horz" wrap="square" lIns="0" tIns="0" rIns="0" bIns="0" rtlCol="0">
            <a:spAutoFit/>
          </a:bodyPr>
          <a:lstStyle/>
          <a:p>
            <a:pPr marL="16933">
              <a:lnSpc>
                <a:spcPts val="2193"/>
              </a:lnSpc>
            </a:pPr>
            <a:r>
              <a:rPr sz="1867" spc="-7" dirty="0">
                <a:latin typeface="Arial"/>
                <a:cs typeface="Arial"/>
              </a:rPr>
              <a:t>Sample from</a:t>
            </a:r>
            <a:r>
              <a:rPr sz="1867" spc="-113" dirty="0">
                <a:latin typeface="Arial"/>
                <a:cs typeface="Arial"/>
              </a:rPr>
              <a:t> </a:t>
            </a:r>
            <a:r>
              <a:rPr sz="1867" spc="-7" dirty="0">
                <a:latin typeface="Arial"/>
                <a:cs typeface="Arial"/>
              </a:rPr>
              <a:t>policy</a:t>
            </a:r>
            <a:endParaRPr sz="1867">
              <a:latin typeface="Arial"/>
              <a:cs typeface="Arial"/>
            </a:endParaRPr>
          </a:p>
        </p:txBody>
      </p:sp>
      <p:sp>
        <p:nvSpPr>
          <p:cNvPr id="12" name="object 12"/>
          <p:cNvSpPr txBox="1"/>
          <p:nvPr/>
        </p:nvSpPr>
        <p:spPr>
          <a:xfrm>
            <a:off x="4509482" y="5313574"/>
            <a:ext cx="2119207" cy="282129"/>
          </a:xfrm>
          <a:prstGeom prst="rect">
            <a:avLst/>
          </a:prstGeom>
        </p:spPr>
        <p:txBody>
          <a:bodyPr vert="horz" wrap="square" lIns="0" tIns="0" rIns="0" bIns="0" rtlCol="0">
            <a:spAutoFit/>
          </a:bodyPr>
          <a:lstStyle/>
          <a:p>
            <a:pPr marL="16933">
              <a:lnSpc>
                <a:spcPts val="2193"/>
              </a:lnSpc>
            </a:pPr>
            <a:r>
              <a:rPr sz="1867" spc="-27" dirty="0">
                <a:latin typeface="Arial"/>
                <a:cs typeface="Arial"/>
              </a:rPr>
              <a:t>Want </a:t>
            </a:r>
            <a:r>
              <a:rPr sz="1867" spc="-7" dirty="0">
                <a:latin typeface="Arial"/>
                <a:cs typeface="Arial"/>
              </a:rPr>
              <a:t>high</a:t>
            </a:r>
            <a:r>
              <a:rPr sz="1867" spc="-80" dirty="0">
                <a:latin typeface="Arial"/>
                <a:cs typeface="Arial"/>
              </a:rPr>
              <a:t> </a:t>
            </a:r>
            <a:r>
              <a:rPr sz="1867" dirty="0">
                <a:latin typeface="Arial"/>
                <a:cs typeface="Arial"/>
              </a:rPr>
              <a:t>reward…</a:t>
            </a:r>
            <a:endParaRPr sz="1867">
              <a:latin typeface="Arial"/>
              <a:cs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7" y="679933"/>
            <a:ext cx="10296312" cy="545448"/>
          </a:xfrm>
          <a:prstGeom prst="rect">
            <a:avLst/>
          </a:prstGeom>
        </p:spPr>
        <p:txBody>
          <a:bodyPr vert="horz" wrap="square" lIns="0" tIns="22013" rIns="0" bIns="0" rtlCol="0" anchor="ctr">
            <a:spAutoFit/>
          </a:bodyPr>
          <a:lstStyle/>
          <a:p>
            <a:pPr marL="16933">
              <a:lnSpc>
                <a:spcPct val="100000"/>
              </a:lnSpc>
              <a:spcBef>
                <a:spcPts val="173"/>
              </a:spcBef>
            </a:pPr>
            <a:r>
              <a:rPr sz="3400" spc="13" dirty="0"/>
              <a:t>RLHF: Learning </a:t>
            </a:r>
            <a:r>
              <a:rPr sz="3400" spc="20" dirty="0"/>
              <a:t>a </a:t>
            </a:r>
            <a:r>
              <a:rPr sz="3400" b="1" spc="13" dirty="0">
                <a:latin typeface="Georgia"/>
                <a:cs typeface="Georgia"/>
              </a:rPr>
              <a:t>policy </a:t>
            </a:r>
            <a:r>
              <a:rPr sz="3400" spc="7" dirty="0"/>
              <a:t>that optimizes </a:t>
            </a:r>
            <a:r>
              <a:rPr sz="3400" spc="13" dirty="0"/>
              <a:t>the</a:t>
            </a:r>
            <a:r>
              <a:rPr sz="3400" dirty="0"/>
              <a:t> </a:t>
            </a:r>
            <a:r>
              <a:rPr sz="3400" b="1" spc="13" dirty="0">
                <a:latin typeface="Georgia"/>
                <a:cs typeface="Georgia"/>
              </a:rPr>
              <a:t>reward</a:t>
            </a:r>
            <a:endParaRPr sz="3400">
              <a:latin typeface="Georgia"/>
              <a:cs typeface="Georgia"/>
            </a:endParaRPr>
          </a:p>
        </p:txBody>
      </p:sp>
      <p:sp>
        <p:nvSpPr>
          <p:cNvPr id="3" name="object 3"/>
          <p:cNvSpPr txBox="1"/>
          <p:nvPr/>
        </p:nvSpPr>
        <p:spPr>
          <a:xfrm>
            <a:off x="635518" y="1534196"/>
            <a:ext cx="10325100" cy="1124902"/>
          </a:xfrm>
          <a:prstGeom prst="rect">
            <a:avLst/>
          </a:prstGeom>
        </p:spPr>
        <p:txBody>
          <a:bodyPr vert="horz" wrap="square" lIns="0" tIns="16933" rIns="0" bIns="0" rtlCol="0">
            <a:spAutoFit/>
          </a:bodyPr>
          <a:lstStyle/>
          <a:p>
            <a:pPr marL="16933">
              <a:spcBef>
                <a:spcPts val="133"/>
              </a:spcBef>
              <a:tabLst>
                <a:tab pos="4231534" algn="l"/>
              </a:tabLst>
            </a:pPr>
            <a:r>
              <a:rPr sz="2133" spc="-7" dirty="0">
                <a:solidFill>
                  <a:srgbClr val="8C1414"/>
                </a:solidFill>
                <a:latin typeface="Arial"/>
                <a:cs typeface="Arial"/>
              </a:rPr>
              <a:t>Now we have </a:t>
            </a:r>
            <a:r>
              <a:rPr sz="2133" dirty="0">
                <a:solidFill>
                  <a:srgbClr val="8C1414"/>
                </a:solidFill>
                <a:latin typeface="Arial"/>
                <a:cs typeface="Arial"/>
              </a:rPr>
              <a:t>a</a:t>
            </a:r>
            <a:r>
              <a:rPr sz="2133" spc="20" dirty="0">
                <a:solidFill>
                  <a:srgbClr val="8C1414"/>
                </a:solidFill>
                <a:latin typeface="Arial"/>
                <a:cs typeface="Arial"/>
              </a:rPr>
              <a:t> </a:t>
            </a:r>
            <a:r>
              <a:rPr sz="2133" b="1" spc="-7" dirty="0">
                <a:solidFill>
                  <a:srgbClr val="8C1414"/>
                </a:solidFill>
                <a:latin typeface="Arial"/>
                <a:cs typeface="Arial"/>
              </a:rPr>
              <a:t>reward</a:t>
            </a:r>
            <a:r>
              <a:rPr sz="2133" b="1" dirty="0">
                <a:solidFill>
                  <a:srgbClr val="8C1414"/>
                </a:solidFill>
                <a:latin typeface="Arial"/>
                <a:cs typeface="Arial"/>
              </a:rPr>
              <a:t> </a:t>
            </a:r>
            <a:r>
              <a:rPr sz="2133" b="1" spc="-7" dirty="0">
                <a:solidFill>
                  <a:srgbClr val="8C1414"/>
                </a:solidFill>
                <a:latin typeface="Arial"/>
                <a:cs typeface="Arial"/>
              </a:rPr>
              <a:t>model	</a:t>
            </a:r>
            <a:r>
              <a:rPr sz="2133" spc="-7" dirty="0">
                <a:solidFill>
                  <a:srgbClr val="8C1414"/>
                </a:solidFill>
                <a:latin typeface="Arial"/>
                <a:cs typeface="Arial"/>
              </a:rPr>
              <a:t>that </a:t>
            </a:r>
            <a:r>
              <a:rPr sz="2133" dirty="0">
                <a:solidFill>
                  <a:srgbClr val="8C1414"/>
                </a:solidFill>
                <a:latin typeface="Arial"/>
                <a:cs typeface="Arial"/>
              </a:rPr>
              <a:t>represents* </a:t>
            </a:r>
            <a:r>
              <a:rPr sz="2133" b="1" spc="-7" dirty="0">
                <a:solidFill>
                  <a:srgbClr val="8C1414"/>
                </a:solidFill>
                <a:latin typeface="Arial"/>
                <a:cs typeface="Arial"/>
              </a:rPr>
              <a:t>goodness according </a:t>
            </a:r>
            <a:r>
              <a:rPr sz="2133" b="1" dirty="0">
                <a:solidFill>
                  <a:srgbClr val="8C1414"/>
                </a:solidFill>
                <a:latin typeface="Arial"/>
                <a:cs typeface="Arial"/>
              </a:rPr>
              <a:t>to</a:t>
            </a:r>
            <a:r>
              <a:rPr sz="2133" b="1" spc="-107" dirty="0">
                <a:solidFill>
                  <a:srgbClr val="8C1414"/>
                </a:solidFill>
                <a:latin typeface="Arial"/>
                <a:cs typeface="Arial"/>
              </a:rPr>
              <a:t> </a:t>
            </a:r>
            <a:r>
              <a:rPr sz="2133" b="1" spc="-7" dirty="0">
                <a:solidFill>
                  <a:srgbClr val="8C1414"/>
                </a:solidFill>
                <a:latin typeface="Arial"/>
                <a:cs typeface="Arial"/>
              </a:rPr>
              <a:t>humans</a:t>
            </a:r>
            <a:endParaRPr sz="2133">
              <a:latin typeface="Arial"/>
              <a:cs typeface="Arial"/>
            </a:endParaRPr>
          </a:p>
          <a:p>
            <a:pPr>
              <a:spcBef>
                <a:spcPts val="27"/>
              </a:spcBef>
            </a:pPr>
            <a:endParaRPr sz="2933">
              <a:latin typeface="Arial"/>
              <a:cs typeface="Arial"/>
            </a:endParaRPr>
          </a:p>
          <a:p>
            <a:pPr marL="16933">
              <a:tabLst>
                <a:tab pos="2813403" algn="l"/>
              </a:tabLst>
            </a:pPr>
            <a:r>
              <a:rPr sz="2133" spc="-33" dirty="0">
                <a:solidFill>
                  <a:srgbClr val="8C1414"/>
                </a:solidFill>
                <a:latin typeface="Arial"/>
                <a:cs typeface="Arial"/>
              </a:rPr>
              <a:t>Now, </a:t>
            </a:r>
            <a:r>
              <a:rPr sz="2133" spc="-7" dirty="0">
                <a:solidFill>
                  <a:srgbClr val="8C1414"/>
                </a:solidFill>
                <a:latin typeface="Arial"/>
                <a:cs typeface="Arial"/>
              </a:rPr>
              <a:t>learn</a:t>
            </a:r>
            <a:r>
              <a:rPr sz="2133" spc="20" dirty="0">
                <a:solidFill>
                  <a:srgbClr val="8C1414"/>
                </a:solidFill>
                <a:latin typeface="Arial"/>
                <a:cs typeface="Arial"/>
              </a:rPr>
              <a:t> </a:t>
            </a:r>
            <a:r>
              <a:rPr sz="2133" dirty="0">
                <a:solidFill>
                  <a:srgbClr val="8C1414"/>
                </a:solidFill>
                <a:latin typeface="Arial"/>
                <a:cs typeface="Arial"/>
              </a:rPr>
              <a:t>a </a:t>
            </a:r>
            <a:r>
              <a:rPr sz="2133" spc="-7" dirty="0">
                <a:solidFill>
                  <a:srgbClr val="8C1414"/>
                </a:solidFill>
                <a:latin typeface="Arial"/>
                <a:cs typeface="Arial"/>
              </a:rPr>
              <a:t>policy	achieving </a:t>
            </a:r>
            <a:r>
              <a:rPr sz="2133" b="1" spc="-7" dirty="0">
                <a:solidFill>
                  <a:srgbClr val="8C1414"/>
                </a:solidFill>
                <a:latin typeface="Arial"/>
                <a:cs typeface="Arial"/>
              </a:rPr>
              <a:t>high reward </a:t>
            </a:r>
            <a:r>
              <a:rPr sz="2133" spc="-7" dirty="0">
                <a:solidFill>
                  <a:srgbClr val="8C1414"/>
                </a:solidFill>
                <a:latin typeface="Arial"/>
                <a:cs typeface="Arial"/>
              </a:rPr>
              <a:t>while </a:t>
            </a:r>
            <a:r>
              <a:rPr sz="2133" b="1" spc="-7" dirty="0">
                <a:solidFill>
                  <a:srgbClr val="8C1414"/>
                </a:solidFill>
                <a:latin typeface="Arial"/>
                <a:cs typeface="Arial"/>
              </a:rPr>
              <a:t>staying close </a:t>
            </a:r>
            <a:r>
              <a:rPr sz="2133" spc="-7" dirty="0">
                <a:solidFill>
                  <a:srgbClr val="8C1414"/>
                </a:solidFill>
                <a:latin typeface="Arial"/>
                <a:cs typeface="Arial"/>
              </a:rPr>
              <a:t>to original </a:t>
            </a:r>
            <a:r>
              <a:rPr sz="2133" dirty="0">
                <a:solidFill>
                  <a:srgbClr val="8C1414"/>
                </a:solidFill>
                <a:latin typeface="Arial"/>
                <a:cs typeface="Arial"/>
              </a:rPr>
              <a:t>model</a:t>
            </a:r>
            <a:endParaRPr sz="2133">
              <a:latin typeface="Arial"/>
              <a:cs typeface="Arial"/>
            </a:endParaRPr>
          </a:p>
        </p:txBody>
      </p:sp>
      <p:sp>
        <p:nvSpPr>
          <p:cNvPr id="4" name="object 4"/>
          <p:cNvSpPr/>
          <p:nvPr/>
        </p:nvSpPr>
        <p:spPr>
          <a:xfrm>
            <a:off x="4458277" y="1649170"/>
            <a:ext cx="329599" cy="278093"/>
          </a:xfrm>
          <a:prstGeom prst="rect">
            <a:avLst/>
          </a:prstGeom>
          <a:blipFill>
            <a:blip r:embed="rId2" cstate="print"/>
            <a:stretch>
              <a:fillRect/>
            </a:stretch>
          </a:blipFill>
        </p:spPr>
        <p:txBody>
          <a:bodyPr wrap="square" lIns="0" tIns="0" rIns="0" bIns="0" rtlCol="0"/>
          <a:lstStyle/>
          <a:p>
            <a:endParaRPr sz="2400"/>
          </a:p>
        </p:txBody>
      </p:sp>
      <p:sp>
        <p:nvSpPr>
          <p:cNvPr id="5" name="object 5"/>
          <p:cNvSpPr/>
          <p:nvPr/>
        </p:nvSpPr>
        <p:spPr>
          <a:xfrm>
            <a:off x="3021251" y="2428317"/>
            <a:ext cx="329599" cy="213265"/>
          </a:xfrm>
          <a:prstGeom prst="rect">
            <a:avLst/>
          </a:prstGeom>
          <a:blipFill>
            <a:blip r:embed="rId3" cstate="print"/>
            <a:stretch>
              <a:fillRect/>
            </a:stretch>
          </a:blipFill>
        </p:spPr>
        <p:txBody>
          <a:bodyPr wrap="square" lIns="0" tIns="0" rIns="0" bIns="0" rtlCol="0"/>
          <a:lstStyle/>
          <a:p>
            <a:endParaRPr sz="2400"/>
          </a:p>
        </p:txBody>
      </p:sp>
      <p:sp>
        <p:nvSpPr>
          <p:cNvPr id="6" name="object 6"/>
          <p:cNvSpPr/>
          <p:nvPr/>
        </p:nvSpPr>
        <p:spPr>
          <a:xfrm>
            <a:off x="5552306" y="4539186"/>
            <a:ext cx="16933" cy="664633"/>
          </a:xfrm>
          <a:custGeom>
            <a:avLst/>
            <a:gdLst/>
            <a:ahLst/>
            <a:cxnLst/>
            <a:rect l="l" t="t" r="r" b="b"/>
            <a:pathLst>
              <a:path w="12700" h="498475">
                <a:moveTo>
                  <a:pt x="12444" y="498035"/>
                </a:moveTo>
                <a:lnTo>
                  <a:pt x="0" y="0"/>
                </a:lnTo>
              </a:path>
            </a:pathLst>
          </a:custGeom>
          <a:ln w="19049">
            <a:solidFill>
              <a:srgbClr val="2E2C28"/>
            </a:solidFill>
          </a:ln>
        </p:spPr>
        <p:txBody>
          <a:bodyPr wrap="square" lIns="0" tIns="0" rIns="0" bIns="0" rtlCol="0"/>
          <a:lstStyle/>
          <a:p>
            <a:endParaRPr sz="2400"/>
          </a:p>
        </p:txBody>
      </p:sp>
      <p:sp>
        <p:nvSpPr>
          <p:cNvPr id="7" name="object 7"/>
          <p:cNvSpPr/>
          <p:nvPr/>
        </p:nvSpPr>
        <p:spPr>
          <a:xfrm>
            <a:off x="5497666" y="4411254"/>
            <a:ext cx="109281" cy="141679"/>
          </a:xfrm>
          <a:prstGeom prst="rect">
            <a:avLst/>
          </a:prstGeom>
          <a:blipFill>
            <a:blip r:embed="rId4" cstate="print"/>
            <a:stretch>
              <a:fillRect/>
            </a:stretch>
          </a:blipFill>
        </p:spPr>
        <p:txBody>
          <a:bodyPr wrap="square" lIns="0" tIns="0" rIns="0" bIns="0" rtlCol="0"/>
          <a:lstStyle/>
          <a:p>
            <a:endParaRPr sz="2400"/>
          </a:p>
        </p:txBody>
      </p:sp>
      <p:sp>
        <p:nvSpPr>
          <p:cNvPr id="8" name="object 8"/>
          <p:cNvSpPr/>
          <p:nvPr/>
        </p:nvSpPr>
        <p:spPr>
          <a:xfrm>
            <a:off x="2584299" y="4467966"/>
            <a:ext cx="855133" cy="684953"/>
          </a:xfrm>
          <a:custGeom>
            <a:avLst/>
            <a:gdLst/>
            <a:ahLst/>
            <a:cxnLst/>
            <a:rect l="l" t="t" r="r" b="b"/>
            <a:pathLst>
              <a:path w="641350" h="513714">
                <a:moveTo>
                  <a:pt x="0" y="513274"/>
                </a:moveTo>
                <a:lnTo>
                  <a:pt x="641264" y="0"/>
                </a:lnTo>
              </a:path>
            </a:pathLst>
          </a:custGeom>
          <a:ln w="19049">
            <a:solidFill>
              <a:srgbClr val="2E2C28"/>
            </a:solidFill>
          </a:ln>
        </p:spPr>
        <p:txBody>
          <a:bodyPr wrap="square" lIns="0" tIns="0" rIns="0" bIns="0" rtlCol="0"/>
          <a:lstStyle/>
          <a:p>
            <a:endParaRPr sz="2400"/>
          </a:p>
        </p:txBody>
      </p:sp>
      <p:sp>
        <p:nvSpPr>
          <p:cNvPr id="9" name="object 9"/>
          <p:cNvSpPr/>
          <p:nvPr/>
        </p:nvSpPr>
        <p:spPr>
          <a:xfrm>
            <a:off x="3400403" y="4383237"/>
            <a:ext cx="141607" cy="130183"/>
          </a:xfrm>
          <a:prstGeom prst="rect">
            <a:avLst/>
          </a:prstGeom>
          <a:blipFill>
            <a:blip r:embed="rId5" cstate="print"/>
            <a:stretch>
              <a:fillRect/>
            </a:stretch>
          </a:blipFill>
        </p:spPr>
        <p:txBody>
          <a:bodyPr wrap="square" lIns="0" tIns="0" rIns="0" bIns="0" rtlCol="0"/>
          <a:lstStyle/>
          <a:p>
            <a:endParaRPr sz="2400"/>
          </a:p>
        </p:txBody>
      </p:sp>
      <p:sp>
        <p:nvSpPr>
          <p:cNvPr id="10" name="object 10"/>
          <p:cNvSpPr/>
          <p:nvPr/>
        </p:nvSpPr>
        <p:spPr>
          <a:xfrm>
            <a:off x="1348637" y="3657268"/>
            <a:ext cx="5029028" cy="715465"/>
          </a:xfrm>
          <a:prstGeom prst="rect">
            <a:avLst/>
          </a:prstGeom>
          <a:blipFill>
            <a:blip r:embed="rId6" cstate="print"/>
            <a:stretch>
              <a:fillRect/>
            </a:stretch>
          </a:blipFill>
        </p:spPr>
        <p:txBody>
          <a:bodyPr wrap="square" lIns="0" tIns="0" rIns="0" bIns="0" rtlCol="0"/>
          <a:lstStyle/>
          <a:p>
            <a:endParaRPr sz="2400"/>
          </a:p>
        </p:txBody>
      </p:sp>
      <p:sp>
        <p:nvSpPr>
          <p:cNvPr id="11" name="object 11"/>
          <p:cNvSpPr/>
          <p:nvPr/>
        </p:nvSpPr>
        <p:spPr>
          <a:xfrm>
            <a:off x="10838616" y="2425875"/>
            <a:ext cx="545465" cy="218165"/>
          </a:xfrm>
          <a:prstGeom prst="rect">
            <a:avLst/>
          </a:prstGeom>
          <a:blipFill>
            <a:blip r:embed="rId7" cstate="print"/>
            <a:stretch>
              <a:fillRect/>
            </a:stretch>
          </a:blipFill>
        </p:spPr>
        <p:txBody>
          <a:bodyPr wrap="square" lIns="0" tIns="0" rIns="0" bIns="0" rtlCol="0"/>
          <a:lstStyle/>
          <a:p>
            <a:endParaRPr sz="2400"/>
          </a:p>
        </p:txBody>
      </p:sp>
      <p:sp>
        <p:nvSpPr>
          <p:cNvPr id="12" name="object 12"/>
          <p:cNvSpPr txBox="1"/>
          <p:nvPr/>
        </p:nvSpPr>
        <p:spPr>
          <a:xfrm>
            <a:off x="1157067" y="5262674"/>
            <a:ext cx="2044700" cy="282129"/>
          </a:xfrm>
          <a:prstGeom prst="rect">
            <a:avLst/>
          </a:prstGeom>
        </p:spPr>
        <p:txBody>
          <a:bodyPr vert="horz" wrap="square" lIns="0" tIns="0" rIns="0" bIns="0" rtlCol="0">
            <a:spAutoFit/>
          </a:bodyPr>
          <a:lstStyle/>
          <a:p>
            <a:pPr marL="16933">
              <a:lnSpc>
                <a:spcPts val="2193"/>
              </a:lnSpc>
            </a:pPr>
            <a:r>
              <a:rPr sz="1867" spc="-7" dirty="0">
                <a:latin typeface="Arial"/>
                <a:cs typeface="Arial"/>
              </a:rPr>
              <a:t>Sample from</a:t>
            </a:r>
            <a:r>
              <a:rPr sz="1867" spc="-113" dirty="0">
                <a:latin typeface="Arial"/>
                <a:cs typeface="Arial"/>
              </a:rPr>
              <a:t> </a:t>
            </a:r>
            <a:r>
              <a:rPr sz="1867" spc="-7" dirty="0">
                <a:latin typeface="Arial"/>
                <a:cs typeface="Arial"/>
              </a:rPr>
              <a:t>policy</a:t>
            </a:r>
            <a:endParaRPr sz="1867">
              <a:latin typeface="Arial"/>
              <a:cs typeface="Arial"/>
            </a:endParaRPr>
          </a:p>
        </p:txBody>
      </p:sp>
      <p:sp>
        <p:nvSpPr>
          <p:cNvPr id="13" name="object 13"/>
          <p:cNvSpPr txBox="1"/>
          <p:nvPr/>
        </p:nvSpPr>
        <p:spPr>
          <a:xfrm>
            <a:off x="4509482" y="5313574"/>
            <a:ext cx="2119207" cy="282129"/>
          </a:xfrm>
          <a:prstGeom prst="rect">
            <a:avLst/>
          </a:prstGeom>
        </p:spPr>
        <p:txBody>
          <a:bodyPr vert="horz" wrap="square" lIns="0" tIns="0" rIns="0" bIns="0" rtlCol="0">
            <a:spAutoFit/>
          </a:bodyPr>
          <a:lstStyle/>
          <a:p>
            <a:pPr marL="16933">
              <a:lnSpc>
                <a:spcPts val="2193"/>
              </a:lnSpc>
            </a:pPr>
            <a:r>
              <a:rPr sz="1867" spc="-27" dirty="0">
                <a:latin typeface="Arial"/>
                <a:cs typeface="Arial"/>
              </a:rPr>
              <a:t>Want </a:t>
            </a:r>
            <a:r>
              <a:rPr sz="1867" spc="-7" dirty="0">
                <a:latin typeface="Arial"/>
                <a:cs typeface="Arial"/>
              </a:rPr>
              <a:t>high</a:t>
            </a:r>
            <a:r>
              <a:rPr sz="1867" spc="-80" dirty="0">
                <a:latin typeface="Arial"/>
                <a:cs typeface="Arial"/>
              </a:rPr>
              <a:t> </a:t>
            </a:r>
            <a:r>
              <a:rPr sz="1867" dirty="0">
                <a:latin typeface="Arial"/>
                <a:cs typeface="Arial"/>
              </a:rPr>
              <a:t>reward…</a:t>
            </a:r>
            <a:endParaRPr sz="1867">
              <a:latin typeface="Arial"/>
              <a:cs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7" y="679933"/>
            <a:ext cx="10296312" cy="545448"/>
          </a:xfrm>
          <a:prstGeom prst="rect">
            <a:avLst/>
          </a:prstGeom>
        </p:spPr>
        <p:txBody>
          <a:bodyPr vert="horz" wrap="square" lIns="0" tIns="22013" rIns="0" bIns="0" rtlCol="0" anchor="ctr">
            <a:spAutoFit/>
          </a:bodyPr>
          <a:lstStyle/>
          <a:p>
            <a:pPr marL="16933">
              <a:lnSpc>
                <a:spcPct val="100000"/>
              </a:lnSpc>
              <a:spcBef>
                <a:spcPts val="173"/>
              </a:spcBef>
            </a:pPr>
            <a:r>
              <a:rPr sz="3400" spc="13" dirty="0"/>
              <a:t>RLHF: Learning </a:t>
            </a:r>
            <a:r>
              <a:rPr sz="3400" spc="20" dirty="0"/>
              <a:t>a </a:t>
            </a:r>
            <a:r>
              <a:rPr sz="3400" b="1" spc="13" dirty="0">
                <a:latin typeface="Georgia"/>
                <a:cs typeface="Georgia"/>
              </a:rPr>
              <a:t>policy </a:t>
            </a:r>
            <a:r>
              <a:rPr sz="3400" spc="7" dirty="0"/>
              <a:t>that optimizes </a:t>
            </a:r>
            <a:r>
              <a:rPr sz="3400" spc="13" dirty="0"/>
              <a:t>the</a:t>
            </a:r>
            <a:r>
              <a:rPr sz="3400" dirty="0"/>
              <a:t> </a:t>
            </a:r>
            <a:r>
              <a:rPr sz="3400" b="1" spc="13" dirty="0">
                <a:latin typeface="Georgia"/>
                <a:cs typeface="Georgia"/>
              </a:rPr>
              <a:t>reward</a:t>
            </a:r>
            <a:endParaRPr sz="3400">
              <a:latin typeface="Georgia"/>
              <a:cs typeface="Georgia"/>
            </a:endParaRPr>
          </a:p>
        </p:txBody>
      </p:sp>
      <p:sp>
        <p:nvSpPr>
          <p:cNvPr id="3" name="object 3"/>
          <p:cNvSpPr txBox="1"/>
          <p:nvPr/>
        </p:nvSpPr>
        <p:spPr>
          <a:xfrm>
            <a:off x="635518" y="1534196"/>
            <a:ext cx="10325100" cy="1124902"/>
          </a:xfrm>
          <a:prstGeom prst="rect">
            <a:avLst/>
          </a:prstGeom>
        </p:spPr>
        <p:txBody>
          <a:bodyPr vert="horz" wrap="square" lIns="0" tIns="16933" rIns="0" bIns="0" rtlCol="0">
            <a:spAutoFit/>
          </a:bodyPr>
          <a:lstStyle/>
          <a:p>
            <a:pPr marL="16933">
              <a:spcBef>
                <a:spcPts val="133"/>
              </a:spcBef>
              <a:tabLst>
                <a:tab pos="4231534" algn="l"/>
              </a:tabLst>
            </a:pPr>
            <a:r>
              <a:rPr sz="2133" spc="-7" dirty="0">
                <a:solidFill>
                  <a:srgbClr val="8C1414"/>
                </a:solidFill>
                <a:latin typeface="Arial"/>
                <a:cs typeface="Arial"/>
              </a:rPr>
              <a:t>Now we have </a:t>
            </a:r>
            <a:r>
              <a:rPr sz="2133" dirty="0">
                <a:solidFill>
                  <a:srgbClr val="8C1414"/>
                </a:solidFill>
                <a:latin typeface="Arial"/>
                <a:cs typeface="Arial"/>
              </a:rPr>
              <a:t>a</a:t>
            </a:r>
            <a:r>
              <a:rPr sz="2133" spc="20" dirty="0">
                <a:solidFill>
                  <a:srgbClr val="8C1414"/>
                </a:solidFill>
                <a:latin typeface="Arial"/>
                <a:cs typeface="Arial"/>
              </a:rPr>
              <a:t> </a:t>
            </a:r>
            <a:r>
              <a:rPr sz="2133" b="1" spc="-7" dirty="0">
                <a:solidFill>
                  <a:srgbClr val="8C1414"/>
                </a:solidFill>
                <a:latin typeface="Arial"/>
                <a:cs typeface="Arial"/>
              </a:rPr>
              <a:t>reward</a:t>
            </a:r>
            <a:r>
              <a:rPr sz="2133" b="1" dirty="0">
                <a:solidFill>
                  <a:srgbClr val="8C1414"/>
                </a:solidFill>
                <a:latin typeface="Arial"/>
                <a:cs typeface="Arial"/>
              </a:rPr>
              <a:t> </a:t>
            </a:r>
            <a:r>
              <a:rPr sz="2133" b="1" spc="-7" dirty="0">
                <a:solidFill>
                  <a:srgbClr val="8C1414"/>
                </a:solidFill>
                <a:latin typeface="Arial"/>
                <a:cs typeface="Arial"/>
              </a:rPr>
              <a:t>model	</a:t>
            </a:r>
            <a:r>
              <a:rPr sz="2133" spc="-7" dirty="0">
                <a:solidFill>
                  <a:srgbClr val="8C1414"/>
                </a:solidFill>
                <a:latin typeface="Arial"/>
                <a:cs typeface="Arial"/>
              </a:rPr>
              <a:t>that </a:t>
            </a:r>
            <a:r>
              <a:rPr sz="2133" dirty="0">
                <a:solidFill>
                  <a:srgbClr val="8C1414"/>
                </a:solidFill>
                <a:latin typeface="Arial"/>
                <a:cs typeface="Arial"/>
              </a:rPr>
              <a:t>represents* </a:t>
            </a:r>
            <a:r>
              <a:rPr sz="2133" b="1" spc="-7" dirty="0">
                <a:solidFill>
                  <a:srgbClr val="8C1414"/>
                </a:solidFill>
                <a:latin typeface="Arial"/>
                <a:cs typeface="Arial"/>
              </a:rPr>
              <a:t>goodness according </a:t>
            </a:r>
            <a:r>
              <a:rPr sz="2133" b="1" dirty="0">
                <a:solidFill>
                  <a:srgbClr val="8C1414"/>
                </a:solidFill>
                <a:latin typeface="Arial"/>
                <a:cs typeface="Arial"/>
              </a:rPr>
              <a:t>to</a:t>
            </a:r>
            <a:r>
              <a:rPr sz="2133" b="1" spc="-107" dirty="0">
                <a:solidFill>
                  <a:srgbClr val="8C1414"/>
                </a:solidFill>
                <a:latin typeface="Arial"/>
                <a:cs typeface="Arial"/>
              </a:rPr>
              <a:t> </a:t>
            </a:r>
            <a:r>
              <a:rPr sz="2133" b="1" spc="-7" dirty="0">
                <a:solidFill>
                  <a:srgbClr val="8C1414"/>
                </a:solidFill>
                <a:latin typeface="Arial"/>
                <a:cs typeface="Arial"/>
              </a:rPr>
              <a:t>humans</a:t>
            </a:r>
            <a:endParaRPr sz="2133">
              <a:latin typeface="Arial"/>
              <a:cs typeface="Arial"/>
            </a:endParaRPr>
          </a:p>
          <a:p>
            <a:pPr>
              <a:spcBef>
                <a:spcPts val="27"/>
              </a:spcBef>
            </a:pPr>
            <a:endParaRPr sz="2933">
              <a:latin typeface="Arial"/>
              <a:cs typeface="Arial"/>
            </a:endParaRPr>
          </a:p>
          <a:p>
            <a:pPr marL="16933">
              <a:tabLst>
                <a:tab pos="2813403" algn="l"/>
              </a:tabLst>
            </a:pPr>
            <a:r>
              <a:rPr sz="2133" spc="-33" dirty="0">
                <a:solidFill>
                  <a:srgbClr val="8C1414"/>
                </a:solidFill>
                <a:latin typeface="Arial"/>
                <a:cs typeface="Arial"/>
              </a:rPr>
              <a:t>Now, </a:t>
            </a:r>
            <a:r>
              <a:rPr sz="2133" spc="-7" dirty="0">
                <a:solidFill>
                  <a:srgbClr val="8C1414"/>
                </a:solidFill>
                <a:latin typeface="Arial"/>
                <a:cs typeface="Arial"/>
              </a:rPr>
              <a:t>learn</a:t>
            </a:r>
            <a:r>
              <a:rPr sz="2133" spc="20" dirty="0">
                <a:solidFill>
                  <a:srgbClr val="8C1414"/>
                </a:solidFill>
                <a:latin typeface="Arial"/>
                <a:cs typeface="Arial"/>
              </a:rPr>
              <a:t> </a:t>
            </a:r>
            <a:r>
              <a:rPr sz="2133" dirty="0">
                <a:solidFill>
                  <a:srgbClr val="8C1414"/>
                </a:solidFill>
                <a:latin typeface="Arial"/>
                <a:cs typeface="Arial"/>
              </a:rPr>
              <a:t>a </a:t>
            </a:r>
            <a:r>
              <a:rPr sz="2133" spc="-7" dirty="0">
                <a:solidFill>
                  <a:srgbClr val="8C1414"/>
                </a:solidFill>
                <a:latin typeface="Arial"/>
                <a:cs typeface="Arial"/>
              </a:rPr>
              <a:t>policy	achieving </a:t>
            </a:r>
            <a:r>
              <a:rPr sz="2133" b="1" spc="-7" dirty="0">
                <a:solidFill>
                  <a:srgbClr val="8C1414"/>
                </a:solidFill>
                <a:latin typeface="Arial"/>
                <a:cs typeface="Arial"/>
              </a:rPr>
              <a:t>high reward </a:t>
            </a:r>
            <a:r>
              <a:rPr sz="2133" spc="-7" dirty="0">
                <a:solidFill>
                  <a:srgbClr val="8C1414"/>
                </a:solidFill>
                <a:latin typeface="Arial"/>
                <a:cs typeface="Arial"/>
              </a:rPr>
              <a:t>while </a:t>
            </a:r>
            <a:r>
              <a:rPr sz="2133" b="1" spc="-7" dirty="0">
                <a:solidFill>
                  <a:srgbClr val="8C1414"/>
                </a:solidFill>
                <a:latin typeface="Arial"/>
                <a:cs typeface="Arial"/>
              </a:rPr>
              <a:t>staying close </a:t>
            </a:r>
            <a:r>
              <a:rPr sz="2133" spc="-7" dirty="0">
                <a:solidFill>
                  <a:srgbClr val="8C1414"/>
                </a:solidFill>
                <a:latin typeface="Arial"/>
                <a:cs typeface="Arial"/>
              </a:rPr>
              <a:t>to original </a:t>
            </a:r>
            <a:r>
              <a:rPr sz="2133" dirty="0">
                <a:solidFill>
                  <a:srgbClr val="8C1414"/>
                </a:solidFill>
                <a:latin typeface="Arial"/>
                <a:cs typeface="Arial"/>
              </a:rPr>
              <a:t>model</a:t>
            </a:r>
            <a:endParaRPr sz="2133">
              <a:latin typeface="Arial"/>
              <a:cs typeface="Arial"/>
            </a:endParaRPr>
          </a:p>
        </p:txBody>
      </p:sp>
      <p:sp>
        <p:nvSpPr>
          <p:cNvPr id="4" name="object 4"/>
          <p:cNvSpPr/>
          <p:nvPr/>
        </p:nvSpPr>
        <p:spPr>
          <a:xfrm>
            <a:off x="4458277" y="1649170"/>
            <a:ext cx="329599" cy="278093"/>
          </a:xfrm>
          <a:prstGeom prst="rect">
            <a:avLst/>
          </a:prstGeom>
          <a:blipFill>
            <a:blip r:embed="rId2" cstate="print"/>
            <a:stretch>
              <a:fillRect/>
            </a:stretch>
          </a:blipFill>
        </p:spPr>
        <p:txBody>
          <a:bodyPr wrap="square" lIns="0" tIns="0" rIns="0" bIns="0" rtlCol="0"/>
          <a:lstStyle/>
          <a:p>
            <a:endParaRPr sz="2400"/>
          </a:p>
        </p:txBody>
      </p:sp>
      <p:sp>
        <p:nvSpPr>
          <p:cNvPr id="5" name="object 5"/>
          <p:cNvSpPr/>
          <p:nvPr/>
        </p:nvSpPr>
        <p:spPr>
          <a:xfrm>
            <a:off x="10838616" y="2425875"/>
            <a:ext cx="545465" cy="218165"/>
          </a:xfrm>
          <a:prstGeom prst="rect">
            <a:avLst/>
          </a:prstGeom>
          <a:blipFill>
            <a:blip r:embed="rId3" cstate="print"/>
            <a:stretch>
              <a:fillRect/>
            </a:stretch>
          </a:blipFill>
        </p:spPr>
        <p:txBody>
          <a:bodyPr wrap="square" lIns="0" tIns="0" rIns="0" bIns="0" rtlCol="0"/>
          <a:lstStyle/>
          <a:p>
            <a:endParaRPr sz="2400"/>
          </a:p>
        </p:txBody>
      </p:sp>
      <p:sp>
        <p:nvSpPr>
          <p:cNvPr id="6" name="object 6"/>
          <p:cNvSpPr/>
          <p:nvPr/>
        </p:nvSpPr>
        <p:spPr>
          <a:xfrm>
            <a:off x="3021251" y="2428317"/>
            <a:ext cx="329599" cy="213265"/>
          </a:xfrm>
          <a:prstGeom prst="rect">
            <a:avLst/>
          </a:prstGeom>
          <a:blipFill>
            <a:blip r:embed="rId4" cstate="print"/>
            <a:stretch>
              <a:fillRect/>
            </a:stretch>
          </a:blipFill>
        </p:spPr>
        <p:txBody>
          <a:bodyPr wrap="square" lIns="0" tIns="0" rIns="0" bIns="0" rtlCol="0"/>
          <a:lstStyle/>
          <a:p>
            <a:endParaRPr sz="2400"/>
          </a:p>
        </p:txBody>
      </p:sp>
      <p:sp>
        <p:nvSpPr>
          <p:cNvPr id="7" name="object 7"/>
          <p:cNvSpPr/>
          <p:nvPr/>
        </p:nvSpPr>
        <p:spPr>
          <a:xfrm>
            <a:off x="5552306" y="4539186"/>
            <a:ext cx="16933" cy="664633"/>
          </a:xfrm>
          <a:custGeom>
            <a:avLst/>
            <a:gdLst/>
            <a:ahLst/>
            <a:cxnLst/>
            <a:rect l="l" t="t" r="r" b="b"/>
            <a:pathLst>
              <a:path w="12700" h="498475">
                <a:moveTo>
                  <a:pt x="12444" y="498035"/>
                </a:moveTo>
                <a:lnTo>
                  <a:pt x="0" y="0"/>
                </a:lnTo>
              </a:path>
            </a:pathLst>
          </a:custGeom>
          <a:ln w="19049">
            <a:solidFill>
              <a:srgbClr val="2E2C28"/>
            </a:solidFill>
          </a:ln>
        </p:spPr>
        <p:txBody>
          <a:bodyPr wrap="square" lIns="0" tIns="0" rIns="0" bIns="0" rtlCol="0"/>
          <a:lstStyle/>
          <a:p>
            <a:endParaRPr sz="2400"/>
          </a:p>
        </p:txBody>
      </p:sp>
      <p:sp>
        <p:nvSpPr>
          <p:cNvPr id="8" name="object 8"/>
          <p:cNvSpPr/>
          <p:nvPr/>
        </p:nvSpPr>
        <p:spPr>
          <a:xfrm>
            <a:off x="5497666" y="4411254"/>
            <a:ext cx="109281" cy="141679"/>
          </a:xfrm>
          <a:prstGeom prst="rect">
            <a:avLst/>
          </a:prstGeom>
          <a:blipFill>
            <a:blip r:embed="rId5" cstate="print"/>
            <a:stretch>
              <a:fillRect/>
            </a:stretch>
          </a:blipFill>
        </p:spPr>
        <p:txBody>
          <a:bodyPr wrap="square" lIns="0" tIns="0" rIns="0" bIns="0" rtlCol="0"/>
          <a:lstStyle/>
          <a:p>
            <a:endParaRPr sz="2400"/>
          </a:p>
        </p:txBody>
      </p:sp>
      <p:sp>
        <p:nvSpPr>
          <p:cNvPr id="9" name="object 9"/>
          <p:cNvSpPr/>
          <p:nvPr/>
        </p:nvSpPr>
        <p:spPr>
          <a:xfrm>
            <a:off x="9045875" y="4539957"/>
            <a:ext cx="452967" cy="663787"/>
          </a:xfrm>
          <a:custGeom>
            <a:avLst/>
            <a:gdLst/>
            <a:ahLst/>
            <a:cxnLst/>
            <a:rect l="l" t="t" r="r" b="b"/>
            <a:pathLst>
              <a:path w="339725" h="497839">
                <a:moveTo>
                  <a:pt x="339117" y="497456"/>
                </a:moveTo>
                <a:lnTo>
                  <a:pt x="0" y="0"/>
                </a:lnTo>
              </a:path>
            </a:pathLst>
          </a:custGeom>
          <a:ln w="19049">
            <a:solidFill>
              <a:srgbClr val="2E2C28"/>
            </a:solidFill>
          </a:ln>
        </p:spPr>
        <p:txBody>
          <a:bodyPr wrap="square" lIns="0" tIns="0" rIns="0" bIns="0" rtlCol="0"/>
          <a:lstStyle/>
          <a:p>
            <a:endParaRPr sz="2400"/>
          </a:p>
        </p:txBody>
      </p:sp>
      <p:sp>
        <p:nvSpPr>
          <p:cNvPr id="10" name="object 10"/>
          <p:cNvSpPr/>
          <p:nvPr/>
        </p:nvSpPr>
        <p:spPr>
          <a:xfrm>
            <a:off x="8968248" y="4432016"/>
            <a:ext cx="124992" cy="144273"/>
          </a:xfrm>
          <a:prstGeom prst="rect">
            <a:avLst/>
          </a:prstGeom>
          <a:blipFill>
            <a:blip r:embed="rId6" cstate="print"/>
            <a:stretch>
              <a:fillRect/>
            </a:stretch>
          </a:blipFill>
        </p:spPr>
        <p:txBody>
          <a:bodyPr wrap="square" lIns="0" tIns="0" rIns="0" bIns="0" rtlCol="0"/>
          <a:lstStyle/>
          <a:p>
            <a:endParaRPr sz="2400"/>
          </a:p>
        </p:txBody>
      </p:sp>
      <p:sp>
        <p:nvSpPr>
          <p:cNvPr id="11" name="object 11"/>
          <p:cNvSpPr/>
          <p:nvPr/>
        </p:nvSpPr>
        <p:spPr>
          <a:xfrm>
            <a:off x="2584299" y="4467966"/>
            <a:ext cx="855133" cy="684953"/>
          </a:xfrm>
          <a:custGeom>
            <a:avLst/>
            <a:gdLst/>
            <a:ahLst/>
            <a:cxnLst/>
            <a:rect l="l" t="t" r="r" b="b"/>
            <a:pathLst>
              <a:path w="641350" h="513714">
                <a:moveTo>
                  <a:pt x="0" y="513274"/>
                </a:moveTo>
                <a:lnTo>
                  <a:pt x="641264" y="0"/>
                </a:lnTo>
              </a:path>
            </a:pathLst>
          </a:custGeom>
          <a:ln w="19049">
            <a:solidFill>
              <a:srgbClr val="2E2C28"/>
            </a:solidFill>
          </a:ln>
        </p:spPr>
        <p:txBody>
          <a:bodyPr wrap="square" lIns="0" tIns="0" rIns="0" bIns="0" rtlCol="0"/>
          <a:lstStyle/>
          <a:p>
            <a:endParaRPr sz="2400"/>
          </a:p>
        </p:txBody>
      </p:sp>
      <p:sp>
        <p:nvSpPr>
          <p:cNvPr id="12" name="object 12"/>
          <p:cNvSpPr/>
          <p:nvPr/>
        </p:nvSpPr>
        <p:spPr>
          <a:xfrm>
            <a:off x="3400403" y="4383237"/>
            <a:ext cx="141607" cy="130183"/>
          </a:xfrm>
          <a:prstGeom prst="rect">
            <a:avLst/>
          </a:prstGeom>
          <a:blipFill>
            <a:blip r:embed="rId7" cstate="print"/>
            <a:stretch>
              <a:fillRect/>
            </a:stretch>
          </a:blipFill>
        </p:spPr>
        <p:txBody>
          <a:bodyPr wrap="square" lIns="0" tIns="0" rIns="0" bIns="0" rtlCol="0"/>
          <a:lstStyle/>
          <a:p>
            <a:endParaRPr sz="2400"/>
          </a:p>
        </p:txBody>
      </p:sp>
      <p:sp>
        <p:nvSpPr>
          <p:cNvPr id="13" name="object 13"/>
          <p:cNvSpPr/>
          <p:nvPr/>
        </p:nvSpPr>
        <p:spPr>
          <a:xfrm>
            <a:off x="1348654" y="3657268"/>
            <a:ext cx="9539373" cy="715465"/>
          </a:xfrm>
          <a:prstGeom prst="rect">
            <a:avLst/>
          </a:prstGeom>
          <a:blipFill>
            <a:blip r:embed="rId8" cstate="print"/>
            <a:stretch>
              <a:fillRect/>
            </a:stretch>
          </a:blipFill>
        </p:spPr>
        <p:txBody>
          <a:bodyPr wrap="square" lIns="0" tIns="0" rIns="0" bIns="0" rtlCol="0"/>
          <a:lstStyle/>
          <a:p>
            <a:endParaRPr sz="2400"/>
          </a:p>
        </p:txBody>
      </p:sp>
      <p:sp>
        <p:nvSpPr>
          <p:cNvPr id="14" name="object 14"/>
          <p:cNvSpPr txBox="1"/>
          <p:nvPr/>
        </p:nvSpPr>
        <p:spPr>
          <a:xfrm>
            <a:off x="1157067" y="5262674"/>
            <a:ext cx="2044700" cy="282129"/>
          </a:xfrm>
          <a:prstGeom prst="rect">
            <a:avLst/>
          </a:prstGeom>
        </p:spPr>
        <p:txBody>
          <a:bodyPr vert="horz" wrap="square" lIns="0" tIns="0" rIns="0" bIns="0" rtlCol="0">
            <a:spAutoFit/>
          </a:bodyPr>
          <a:lstStyle/>
          <a:p>
            <a:pPr marL="16933">
              <a:lnSpc>
                <a:spcPts val="2193"/>
              </a:lnSpc>
            </a:pPr>
            <a:r>
              <a:rPr sz="1867" spc="-7" dirty="0">
                <a:latin typeface="Arial"/>
                <a:cs typeface="Arial"/>
              </a:rPr>
              <a:t>Sample from</a:t>
            </a:r>
            <a:r>
              <a:rPr sz="1867" spc="-113" dirty="0">
                <a:latin typeface="Arial"/>
                <a:cs typeface="Arial"/>
              </a:rPr>
              <a:t> </a:t>
            </a:r>
            <a:r>
              <a:rPr sz="1867" spc="-7" dirty="0">
                <a:latin typeface="Arial"/>
                <a:cs typeface="Arial"/>
              </a:rPr>
              <a:t>policy</a:t>
            </a:r>
            <a:endParaRPr sz="1867">
              <a:latin typeface="Arial"/>
              <a:cs typeface="Arial"/>
            </a:endParaRPr>
          </a:p>
        </p:txBody>
      </p:sp>
      <p:sp>
        <p:nvSpPr>
          <p:cNvPr id="15" name="object 15"/>
          <p:cNvSpPr txBox="1"/>
          <p:nvPr/>
        </p:nvSpPr>
        <p:spPr>
          <a:xfrm>
            <a:off x="4509482" y="5313574"/>
            <a:ext cx="2119207" cy="282129"/>
          </a:xfrm>
          <a:prstGeom prst="rect">
            <a:avLst/>
          </a:prstGeom>
        </p:spPr>
        <p:txBody>
          <a:bodyPr vert="horz" wrap="square" lIns="0" tIns="0" rIns="0" bIns="0" rtlCol="0">
            <a:spAutoFit/>
          </a:bodyPr>
          <a:lstStyle/>
          <a:p>
            <a:pPr marL="16933">
              <a:lnSpc>
                <a:spcPts val="2193"/>
              </a:lnSpc>
            </a:pPr>
            <a:r>
              <a:rPr sz="1867" spc="-27" dirty="0">
                <a:latin typeface="Arial"/>
                <a:cs typeface="Arial"/>
              </a:rPr>
              <a:t>Want </a:t>
            </a:r>
            <a:r>
              <a:rPr sz="1867" spc="-7" dirty="0">
                <a:latin typeface="Arial"/>
                <a:cs typeface="Arial"/>
              </a:rPr>
              <a:t>high</a:t>
            </a:r>
            <a:r>
              <a:rPr sz="1867" spc="-80" dirty="0">
                <a:latin typeface="Arial"/>
                <a:cs typeface="Arial"/>
              </a:rPr>
              <a:t> </a:t>
            </a:r>
            <a:r>
              <a:rPr sz="1867" dirty="0">
                <a:latin typeface="Arial"/>
                <a:cs typeface="Arial"/>
              </a:rPr>
              <a:t>reward…</a:t>
            </a:r>
            <a:endParaRPr sz="1867">
              <a:latin typeface="Arial"/>
              <a:cs typeface="Arial"/>
            </a:endParaRPr>
          </a:p>
        </p:txBody>
      </p:sp>
      <p:sp>
        <p:nvSpPr>
          <p:cNvPr id="16" name="object 16"/>
          <p:cNvSpPr txBox="1"/>
          <p:nvPr/>
        </p:nvSpPr>
        <p:spPr>
          <a:xfrm>
            <a:off x="7416399" y="5313574"/>
            <a:ext cx="4014893" cy="282129"/>
          </a:xfrm>
          <a:prstGeom prst="rect">
            <a:avLst/>
          </a:prstGeom>
        </p:spPr>
        <p:txBody>
          <a:bodyPr vert="horz" wrap="square" lIns="0" tIns="0" rIns="0" bIns="0" rtlCol="0">
            <a:spAutoFit/>
          </a:bodyPr>
          <a:lstStyle/>
          <a:p>
            <a:pPr marL="16933">
              <a:lnSpc>
                <a:spcPts val="2193"/>
              </a:lnSpc>
            </a:pPr>
            <a:r>
              <a:rPr sz="1867" dirty="0">
                <a:latin typeface="Arial"/>
                <a:cs typeface="Arial"/>
              </a:rPr>
              <a:t>…but keep </a:t>
            </a:r>
            <a:r>
              <a:rPr sz="1867" spc="-7" dirty="0">
                <a:latin typeface="Arial"/>
                <a:cs typeface="Arial"/>
              </a:rPr>
              <a:t>KL to original </a:t>
            </a:r>
            <a:r>
              <a:rPr sz="1867" dirty="0">
                <a:latin typeface="Arial"/>
                <a:cs typeface="Arial"/>
              </a:rPr>
              <a:t>model</a:t>
            </a:r>
            <a:r>
              <a:rPr sz="1867" spc="-193" dirty="0">
                <a:latin typeface="Arial"/>
                <a:cs typeface="Arial"/>
              </a:rPr>
              <a:t> </a:t>
            </a:r>
            <a:r>
              <a:rPr sz="1867" dirty="0">
                <a:latin typeface="Arial"/>
                <a:cs typeface="Arial"/>
              </a:rPr>
              <a:t>small!</a:t>
            </a:r>
            <a:endParaRPr sz="1867">
              <a:latin typeface="Arial"/>
              <a:cs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36530" y="6539400"/>
            <a:ext cx="5322993" cy="201764"/>
          </a:xfrm>
          <a:prstGeom prst="rect">
            <a:avLst/>
          </a:prstGeom>
        </p:spPr>
        <p:txBody>
          <a:bodyPr vert="horz" wrap="square" lIns="0" tIns="16933" rIns="0" bIns="0" rtlCol="0">
            <a:spAutoFit/>
          </a:bodyPr>
          <a:lstStyle/>
          <a:p>
            <a:pPr marL="16933">
              <a:spcBef>
                <a:spcPts val="133"/>
              </a:spcBef>
            </a:pPr>
            <a:r>
              <a:rPr sz="1200" b="1" spc="-7" dirty="0">
                <a:solidFill>
                  <a:srgbClr val="8C1414"/>
                </a:solidFill>
                <a:latin typeface="Arial"/>
                <a:cs typeface="Arial"/>
              </a:rPr>
              <a:t>Secrets of RLHF in Large Language </a:t>
            </a:r>
            <a:r>
              <a:rPr sz="1200" b="1" dirty="0">
                <a:solidFill>
                  <a:srgbClr val="8C1414"/>
                </a:solidFill>
                <a:latin typeface="Arial"/>
                <a:cs typeface="Arial"/>
              </a:rPr>
              <a:t>Models </a:t>
            </a:r>
            <a:r>
              <a:rPr sz="1200" b="1" spc="-7" dirty="0">
                <a:solidFill>
                  <a:srgbClr val="8C1414"/>
                </a:solidFill>
                <a:latin typeface="Arial"/>
                <a:cs typeface="Arial"/>
              </a:rPr>
              <a:t>Part I: PPO, Zheng et.al.</a:t>
            </a:r>
            <a:r>
              <a:rPr sz="1200" b="1" spc="-73" dirty="0">
                <a:solidFill>
                  <a:srgbClr val="8C1414"/>
                </a:solidFill>
                <a:latin typeface="Arial"/>
                <a:cs typeface="Arial"/>
              </a:rPr>
              <a:t> </a:t>
            </a:r>
            <a:r>
              <a:rPr sz="1200" b="1" spc="-7" dirty="0">
                <a:solidFill>
                  <a:srgbClr val="8C1414"/>
                </a:solidFill>
                <a:latin typeface="Arial"/>
                <a:cs typeface="Arial"/>
              </a:rPr>
              <a:t>2023</a:t>
            </a:r>
            <a:endParaRPr sz="1200" dirty="0">
              <a:latin typeface="Arial"/>
              <a:cs typeface="Arial"/>
            </a:endParaRPr>
          </a:p>
        </p:txBody>
      </p:sp>
      <p:sp>
        <p:nvSpPr>
          <p:cNvPr id="3" name="object 3"/>
          <p:cNvSpPr/>
          <p:nvPr/>
        </p:nvSpPr>
        <p:spPr>
          <a:xfrm>
            <a:off x="1064795" y="1337840"/>
            <a:ext cx="9192655" cy="4498827"/>
          </a:xfrm>
          <a:prstGeom prst="rect">
            <a:avLst/>
          </a:prstGeom>
          <a:blipFill>
            <a:blip r:embed="rId2" cstate="print"/>
            <a:stretch>
              <a:fillRect/>
            </a:stretch>
          </a:blipFill>
        </p:spPr>
        <p:txBody>
          <a:bodyPr wrap="square" lIns="0" tIns="0" rIns="0" bIns="0" rtlCol="0"/>
          <a:lstStyle/>
          <a:p>
            <a:endParaRPr sz="2400"/>
          </a:p>
        </p:txBody>
      </p:sp>
      <p:sp>
        <p:nvSpPr>
          <p:cNvPr id="4" name="object 4"/>
          <p:cNvSpPr txBox="1">
            <a:spLocks noGrp="1"/>
          </p:cNvSpPr>
          <p:nvPr>
            <p:ph type="title"/>
          </p:nvPr>
        </p:nvSpPr>
        <p:spPr>
          <a:xfrm>
            <a:off x="512967" y="667109"/>
            <a:ext cx="10296312" cy="571096"/>
          </a:xfrm>
          <a:prstGeom prst="rect">
            <a:avLst/>
          </a:prstGeom>
        </p:spPr>
        <p:txBody>
          <a:bodyPr spcFirstLastPara="1" vert="horz" wrap="square" lIns="0" tIns="22013" rIns="0" bIns="0" rtlCol="0" anchor="ctr" anchorCtr="0">
            <a:spAutoFit/>
          </a:bodyPr>
          <a:lstStyle/>
          <a:p>
            <a:pPr marL="16933">
              <a:lnSpc>
                <a:spcPct val="100000"/>
              </a:lnSpc>
              <a:spcBef>
                <a:spcPts val="173"/>
              </a:spcBef>
            </a:pPr>
            <a:r>
              <a:rPr sz="3400" spc="13" dirty="0"/>
              <a:t>RLHF: Learning </a:t>
            </a:r>
            <a:r>
              <a:rPr sz="3400" spc="20" dirty="0"/>
              <a:t>a </a:t>
            </a:r>
            <a:r>
              <a:rPr sz="3400" b="1" spc="13" dirty="0">
                <a:latin typeface="Georgia"/>
                <a:cs typeface="Georgia"/>
              </a:rPr>
              <a:t>policy </a:t>
            </a:r>
            <a:r>
              <a:rPr sz="3400" spc="7" dirty="0"/>
              <a:t>that optimizes </a:t>
            </a:r>
            <a:r>
              <a:rPr sz="3400" spc="13" dirty="0"/>
              <a:t>the</a:t>
            </a:r>
            <a:r>
              <a:rPr sz="3400" dirty="0"/>
              <a:t> </a:t>
            </a:r>
            <a:r>
              <a:rPr sz="3400" b="1" spc="13" dirty="0">
                <a:latin typeface="Georgia"/>
                <a:cs typeface="Georgia"/>
              </a:rPr>
              <a:t>reward</a:t>
            </a:r>
            <a:endParaRPr sz="3400">
              <a:latin typeface="Georgia"/>
              <a:cs typeface="Georgia"/>
            </a:endParaRPr>
          </a:p>
        </p:txBody>
      </p:sp>
      <p:sp>
        <p:nvSpPr>
          <p:cNvPr id="5" name="TextBox 4">
            <a:extLst>
              <a:ext uri="{FF2B5EF4-FFF2-40B4-BE49-F238E27FC236}">
                <a16:creationId xmlns:a16="http://schemas.microsoft.com/office/drawing/2014/main" id="{CF2A56EF-5F8E-484A-92C6-ABB67499484E}"/>
              </a:ext>
            </a:extLst>
          </p:cNvPr>
          <p:cNvSpPr txBox="1"/>
          <p:nvPr/>
        </p:nvSpPr>
        <p:spPr>
          <a:xfrm>
            <a:off x="5614640" y="5778508"/>
            <a:ext cx="6576016" cy="861774"/>
          </a:xfrm>
          <a:prstGeom prst="rect">
            <a:avLst/>
          </a:prstGeom>
          <a:noFill/>
        </p:spPr>
        <p:txBody>
          <a:bodyPr wrap="square" rtlCol="0">
            <a:spAutoFit/>
          </a:bodyPr>
          <a:lstStyle/>
          <a:p>
            <a:r>
              <a:rPr lang="en-US" altLang="zh-CN" sz="1600" dirty="0"/>
              <a:t>Models needed to updated : policy models and value models;</a:t>
            </a:r>
          </a:p>
          <a:p>
            <a:r>
              <a:rPr lang="en-US" altLang="zh-CN" sz="1600" dirty="0"/>
              <a:t>Static models: Reference models and reward models</a:t>
            </a:r>
          </a:p>
          <a:p>
            <a:r>
              <a:rPr lang="en-US" altLang="zh-CN" dirty="0"/>
              <a:t> </a:t>
            </a:r>
            <a:endParaRPr lang="zh-CN" alt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662;p84">
            <a:extLst>
              <a:ext uri="{FF2B5EF4-FFF2-40B4-BE49-F238E27FC236}">
                <a16:creationId xmlns:a16="http://schemas.microsoft.com/office/drawing/2014/main" id="{B127E47E-8285-44E6-BCA5-25AC07B3D7DA}"/>
              </a:ext>
            </a:extLst>
          </p:cNvPr>
          <p:cNvSpPr txBox="1">
            <a:spLocks/>
          </p:cNvSpPr>
          <p:nvPr/>
        </p:nvSpPr>
        <p:spPr>
          <a:xfrm>
            <a:off x="415600" y="2481000"/>
            <a:ext cx="11360800" cy="2281600"/>
          </a:xfrm>
          <a:prstGeom prst="rect">
            <a:avLst/>
          </a:prstGeom>
          <a:noFill/>
          <a:ln>
            <a:noFill/>
          </a:ln>
        </p:spPr>
        <p:txBody>
          <a:bodyPr spcFirstLastPara="1" vert="horz" wrap="square" lIns="121900" tIns="121900" rIns="121900" bIns="121900" rtlCol="0" anchor="t"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4533" dirty="0">
                <a:solidFill>
                  <a:srgbClr val="FF0000"/>
                </a:solidFill>
                <a:latin typeface="Times New Roman"/>
                <a:ea typeface="Times New Roman"/>
                <a:cs typeface="Times New Roman"/>
                <a:sym typeface="Times New Roman"/>
              </a:rPr>
              <a:t>Other variants of RLHF</a:t>
            </a:r>
          </a:p>
          <a:p>
            <a:pPr algn="ctr"/>
            <a:r>
              <a:rPr lang="en-US" altLang="zh-CN" sz="4533" b="1" dirty="0">
                <a:solidFill>
                  <a:srgbClr val="FF0000"/>
                </a:solidFill>
                <a:latin typeface="Times New Roman"/>
                <a:ea typeface="Times New Roman"/>
                <a:cs typeface="Times New Roman"/>
                <a:sym typeface="Times New Roman"/>
              </a:rPr>
              <a:t>DPO</a:t>
            </a:r>
            <a:r>
              <a:rPr lang="en-US" altLang="zh-CN" sz="4533" dirty="0">
                <a:solidFill>
                  <a:srgbClr val="FF0000"/>
                </a:solidFill>
                <a:latin typeface="Times New Roman"/>
                <a:ea typeface="Times New Roman"/>
                <a:cs typeface="Times New Roman"/>
                <a:sym typeface="Times New Roman"/>
              </a:rPr>
              <a:t> and </a:t>
            </a:r>
            <a:r>
              <a:rPr lang="en-US" altLang="zh-CN" sz="4533" dirty="0" err="1">
                <a:solidFill>
                  <a:srgbClr val="FF0000"/>
                </a:solidFill>
                <a:latin typeface="Times New Roman"/>
                <a:ea typeface="Times New Roman"/>
                <a:cs typeface="Times New Roman"/>
                <a:sym typeface="Times New Roman"/>
              </a:rPr>
              <a:t>Remax</a:t>
            </a:r>
            <a:endParaRPr lang="en-US" sz="4533" dirty="0">
              <a:solidFill>
                <a:srgbClr val="FF0000"/>
              </a:solidFill>
              <a:latin typeface="Times New Roman"/>
              <a:ea typeface="Times New Roman"/>
              <a:cs typeface="Times New Roman"/>
              <a:sym typeface="Times New Roman"/>
            </a:endParaRPr>
          </a:p>
        </p:txBody>
      </p:sp>
      <p:sp>
        <p:nvSpPr>
          <p:cNvPr id="5" name="AutoShape 2" descr="DPO-PPO Diagram">
            <a:extLst>
              <a:ext uri="{FF2B5EF4-FFF2-40B4-BE49-F238E27FC236}">
                <a16:creationId xmlns:a16="http://schemas.microsoft.com/office/drawing/2014/main" id="{C6463FF0-0F1C-4B59-89D5-27D6241DD4E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241550095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CE4AAD2-5B66-4F18-B43E-8D94907E8AEE}"/>
              </a:ext>
            </a:extLst>
          </p:cNvPr>
          <p:cNvPicPr>
            <a:picLocks noChangeAspect="1"/>
          </p:cNvPicPr>
          <p:nvPr/>
        </p:nvPicPr>
        <p:blipFill>
          <a:blip r:embed="rId2"/>
          <a:stretch>
            <a:fillRect/>
          </a:stretch>
        </p:blipFill>
        <p:spPr>
          <a:xfrm>
            <a:off x="2243137" y="2568575"/>
            <a:ext cx="7705725" cy="2228850"/>
          </a:xfrm>
          <a:prstGeom prst="rect">
            <a:avLst/>
          </a:prstGeom>
        </p:spPr>
      </p:pic>
      <p:sp>
        <p:nvSpPr>
          <p:cNvPr id="5" name="TextBox 4">
            <a:extLst>
              <a:ext uri="{FF2B5EF4-FFF2-40B4-BE49-F238E27FC236}">
                <a16:creationId xmlns:a16="http://schemas.microsoft.com/office/drawing/2014/main" id="{0FF87618-60DB-4EE0-A1DB-CCF354F3D4F7}"/>
              </a:ext>
            </a:extLst>
          </p:cNvPr>
          <p:cNvSpPr txBox="1"/>
          <p:nvPr/>
        </p:nvSpPr>
        <p:spPr>
          <a:xfrm>
            <a:off x="1032934" y="880533"/>
            <a:ext cx="7069666" cy="584775"/>
          </a:xfrm>
          <a:prstGeom prst="rect">
            <a:avLst/>
          </a:prstGeom>
          <a:noFill/>
        </p:spPr>
        <p:txBody>
          <a:bodyPr wrap="square" rtlCol="0">
            <a:spAutoFit/>
          </a:bodyPr>
          <a:lstStyle/>
          <a:p>
            <a:r>
              <a:rPr lang="en-US" altLang="zh-CN" sz="3200" dirty="0"/>
              <a:t>Directly learn from Preference </a:t>
            </a:r>
            <a:endParaRPr lang="zh-CN" altLang="en-US" sz="3200" dirty="0"/>
          </a:p>
        </p:txBody>
      </p:sp>
    </p:spTree>
    <p:extLst>
      <p:ext uri="{BB962C8B-B14F-4D97-AF65-F5344CB8AC3E}">
        <p14:creationId xmlns:p14="http://schemas.microsoft.com/office/powerpoint/2010/main" val="25415551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8" y="671226"/>
            <a:ext cx="6750473" cy="607003"/>
          </a:xfrm>
          <a:prstGeom prst="rect">
            <a:avLst/>
          </a:prstGeom>
        </p:spPr>
        <p:txBody>
          <a:bodyPr vert="horz" wrap="square" lIns="0" tIns="22013" rIns="0" bIns="0" rtlCol="0">
            <a:spAutoFit/>
          </a:bodyPr>
          <a:lstStyle/>
          <a:p>
            <a:pPr marL="16933">
              <a:spcBef>
                <a:spcPts val="173"/>
              </a:spcBef>
            </a:pPr>
            <a:r>
              <a:rPr spc="7" dirty="0"/>
              <a:t>Direct Preference</a:t>
            </a:r>
            <a:r>
              <a:rPr spc="33" dirty="0"/>
              <a:t> </a:t>
            </a:r>
            <a:r>
              <a:rPr spc="7" dirty="0"/>
              <a:t>Optimization</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12968" y="671226"/>
            <a:ext cx="6750473" cy="607003"/>
          </a:xfrm>
          <a:prstGeom prst="rect">
            <a:avLst/>
          </a:prstGeom>
        </p:spPr>
        <p:txBody>
          <a:bodyPr vert="horz" wrap="square" lIns="0" tIns="22013" rIns="0" bIns="0" rtlCol="0">
            <a:spAutoFit/>
          </a:bodyPr>
          <a:lstStyle/>
          <a:p>
            <a:pPr marL="16933" defTabSz="1219170">
              <a:spcBef>
                <a:spcPts val="173"/>
              </a:spcBef>
            </a:pPr>
            <a:r>
              <a:rPr sz="3800" spc="7" dirty="0">
                <a:solidFill>
                  <a:srgbClr val="8C1414"/>
                </a:solidFill>
                <a:latin typeface="Georgia"/>
                <a:cs typeface="Georgia"/>
              </a:rPr>
              <a:t>Direct Preference</a:t>
            </a:r>
            <a:r>
              <a:rPr sz="3800" spc="33" dirty="0">
                <a:solidFill>
                  <a:srgbClr val="8C1414"/>
                </a:solidFill>
                <a:latin typeface="Georgia"/>
                <a:cs typeface="Georgia"/>
              </a:rPr>
              <a:t> </a:t>
            </a:r>
            <a:r>
              <a:rPr sz="3800" spc="7" dirty="0">
                <a:solidFill>
                  <a:srgbClr val="8C1414"/>
                </a:solidFill>
                <a:latin typeface="Georgia"/>
                <a:cs typeface="Georgia"/>
              </a:rPr>
              <a:t>Optimization</a:t>
            </a:r>
            <a:endParaRPr sz="3800">
              <a:solidFill>
                <a:prstClr val="black"/>
              </a:solidFill>
              <a:latin typeface="Georgia"/>
              <a:cs typeface="Georgia"/>
            </a:endParaRPr>
          </a:p>
        </p:txBody>
      </p:sp>
      <p:sp>
        <p:nvSpPr>
          <p:cNvPr id="3" name="object 3"/>
          <p:cNvSpPr txBox="1"/>
          <p:nvPr/>
        </p:nvSpPr>
        <p:spPr>
          <a:xfrm>
            <a:off x="538847" y="1624570"/>
            <a:ext cx="1936327" cy="950559"/>
          </a:xfrm>
          <a:prstGeom prst="rect">
            <a:avLst/>
          </a:prstGeom>
        </p:spPr>
        <p:txBody>
          <a:bodyPr vert="horz" wrap="square" lIns="0" tIns="118533" rIns="0" bIns="0" rtlCol="0">
            <a:spAutoFit/>
          </a:bodyPr>
          <a:lstStyle/>
          <a:p>
            <a:pPr algn="ctr" defTabSz="1219170">
              <a:spcBef>
                <a:spcPts val="933"/>
              </a:spcBef>
            </a:pPr>
            <a:r>
              <a:rPr sz="2400" b="1" spc="-7" dirty="0">
                <a:solidFill>
                  <a:srgbClr val="8C1414"/>
                </a:solidFill>
                <a:latin typeface="Calibri"/>
                <a:cs typeface="Calibri"/>
              </a:rPr>
              <a:t>RLHF</a:t>
            </a:r>
            <a:r>
              <a:rPr sz="2400" b="1" spc="-87" dirty="0">
                <a:solidFill>
                  <a:srgbClr val="8C1414"/>
                </a:solidFill>
                <a:latin typeface="Calibri"/>
                <a:cs typeface="Calibri"/>
              </a:rPr>
              <a:t> </a:t>
            </a:r>
            <a:r>
              <a:rPr sz="2400" b="1" spc="-13" dirty="0">
                <a:solidFill>
                  <a:srgbClr val="8C1414"/>
                </a:solidFill>
                <a:latin typeface="Calibri"/>
                <a:cs typeface="Calibri"/>
              </a:rPr>
              <a:t>Objective</a:t>
            </a:r>
            <a:endParaRPr sz="2400">
              <a:solidFill>
                <a:prstClr val="black"/>
              </a:solidFill>
              <a:latin typeface="Calibri"/>
              <a:cs typeface="Calibri"/>
            </a:endParaRPr>
          </a:p>
          <a:p>
            <a:pPr marL="2540" algn="ctr" defTabSz="1219170">
              <a:spcBef>
                <a:spcPts val="447"/>
              </a:spcBef>
            </a:pPr>
            <a:r>
              <a:rPr sz="1333" spc="-7" dirty="0">
                <a:solidFill>
                  <a:prstClr val="black"/>
                </a:solidFill>
                <a:latin typeface="Calibri"/>
                <a:cs typeface="Calibri"/>
              </a:rPr>
              <a:t>(get </a:t>
            </a:r>
            <a:r>
              <a:rPr sz="1333" b="1" spc="-7" dirty="0">
                <a:solidFill>
                  <a:prstClr val="black"/>
                </a:solidFill>
                <a:latin typeface="Calibri"/>
                <a:cs typeface="Calibri"/>
              </a:rPr>
              <a:t>high </a:t>
            </a:r>
            <a:r>
              <a:rPr sz="1333" b="1" spc="-13" dirty="0">
                <a:solidFill>
                  <a:prstClr val="black"/>
                </a:solidFill>
                <a:latin typeface="Calibri"/>
                <a:cs typeface="Calibri"/>
              </a:rPr>
              <a:t>reward</a:t>
            </a:r>
            <a:r>
              <a:rPr sz="1333" spc="-13" dirty="0">
                <a:solidFill>
                  <a:prstClr val="black"/>
                </a:solidFill>
                <a:latin typeface="Calibri"/>
                <a:cs typeface="Calibri"/>
              </a:rPr>
              <a:t>, </a:t>
            </a:r>
            <a:r>
              <a:rPr sz="1333" spc="-20" dirty="0">
                <a:solidFill>
                  <a:prstClr val="black"/>
                </a:solidFill>
                <a:latin typeface="Calibri"/>
                <a:cs typeface="Calibri"/>
              </a:rPr>
              <a:t>stay</a:t>
            </a:r>
            <a:r>
              <a:rPr sz="1333" spc="-80" dirty="0">
                <a:solidFill>
                  <a:prstClr val="black"/>
                </a:solidFill>
                <a:latin typeface="Calibri"/>
                <a:cs typeface="Calibri"/>
              </a:rPr>
              <a:t> </a:t>
            </a:r>
            <a:r>
              <a:rPr sz="1333" b="1" spc="-7" dirty="0">
                <a:solidFill>
                  <a:prstClr val="black"/>
                </a:solidFill>
                <a:latin typeface="Calibri"/>
                <a:cs typeface="Calibri"/>
              </a:rPr>
              <a:t>close</a:t>
            </a:r>
            <a:endParaRPr sz="1333">
              <a:solidFill>
                <a:prstClr val="black"/>
              </a:solidFill>
              <a:latin typeface="Calibri"/>
              <a:cs typeface="Calibri"/>
            </a:endParaRPr>
          </a:p>
          <a:p>
            <a:pPr marL="1693" algn="ctr" defTabSz="1219170"/>
            <a:r>
              <a:rPr sz="1333" spc="-7" dirty="0">
                <a:solidFill>
                  <a:prstClr val="black"/>
                </a:solidFill>
                <a:latin typeface="Calibri"/>
                <a:cs typeface="Calibri"/>
              </a:rPr>
              <a:t>to </a:t>
            </a:r>
            <a:r>
              <a:rPr sz="1333" spc="-13" dirty="0">
                <a:solidFill>
                  <a:prstClr val="black"/>
                </a:solidFill>
                <a:latin typeface="Calibri"/>
                <a:cs typeface="Calibri"/>
              </a:rPr>
              <a:t>reference</a:t>
            </a:r>
            <a:r>
              <a:rPr sz="1333" spc="-33" dirty="0">
                <a:solidFill>
                  <a:prstClr val="black"/>
                </a:solidFill>
                <a:latin typeface="Calibri"/>
                <a:cs typeface="Calibri"/>
              </a:rPr>
              <a:t> </a:t>
            </a:r>
            <a:r>
              <a:rPr sz="1333" spc="-7" dirty="0">
                <a:solidFill>
                  <a:prstClr val="black"/>
                </a:solidFill>
                <a:latin typeface="Calibri"/>
                <a:cs typeface="Calibri"/>
              </a:rPr>
              <a:t>model)</a:t>
            </a:r>
            <a:endParaRPr sz="1333">
              <a:solidFill>
                <a:prstClr val="black"/>
              </a:solidFill>
              <a:latin typeface="Calibri"/>
              <a:cs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12968" y="671226"/>
            <a:ext cx="6750473" cy="607003"/>
          </a:xfrm>
          <a:prstGeom prst="rect">
            <a:avLst/>
          </a:prstGeom>
        </p:spPr>
        <p:txBody>
          <a:bodyPr vert="horz" wrap="square" lIns="0" tIns="22013" rIns="0" bIns="0" rtlCol="0">
            <a:spAutoFit/>
          </a:bodyPr>
          <a:lstStyle/>
          <a:p>
            <a:pPr marL="16933" defTabSz="1219170">
              <a:spcBef>
                <a:spcPts val="173"/>
              </a:spcBef>
            </a:pPr>
            <a:r>
              <a:rPr sz="3800" spc="7" dirty="0">
                <a:solidFill>
                  <a:srgbClr val="8C1414"/>
                </a:solidFill>
                <a:latin typeface="Georgia"/>
                <a:cs typeface="Georgia"/>
              </a:rPr>
              <a:t>Direct Preference</a:t>
            </a:r>
            <a:r>
              <a:rPr sz="3800" spc="33" dirty="0">
                <a:solidFill>
                  <a:srgbClr val="8C1414"/>
                </a:solidFill>
                <a:latin typeface="Georgia"/>
                <a:cs typeface="Georgia"/>
              </a:rPr>
              <a:t> </a:t>
            </a:r>
            <a:r>
              <a:rPr sz="3800" spc="7" dirty="0">
                <a:solidFill>
                  <a:srgbClr val="8C1414"/>
                </a:solidFill>
                <a:latin typeface="Georgia"/>
                <a:cs typeface="Georgia"/>
              </a:rPr>
              <a:t>Optimization</a:t>
            </a:r>
            <a:endParaRPr sz="3800">
              <a:solidFill>
                <a:prstClr val="black"/>
              </a:solidFill>
              <a:latin typeface="Georgia"/>
              <a:cs typeface="Georgia"/>
            </a:endParaRPr>
          </a:p>
        </p:txBody>
      </p:sp>
      <p:sp>
        <p:nvSpPr>
          <p:cNvPr id="3" name="object 3"/>
          <p:cNvSpPr txBox="1"/>
          <p:nvPr/>
        </p:nvSpPr>
        <p:spPr>
          <a:xfrm>
            <a:off x="538847" y="1624570"/>
            <a:ext cx="1936327" cy="950559"/>
          </a:xfrm>
          <a:prstGeom prst="rect">
            <a:avLst/>
          </a:prstGeom>
        </p:spPr>
        <p:txBody>
          <a:bodyPr vert="horz" wrap="square" lIns="0" tIns="118533" rIns="0" bIns="0" rtlCol="0">
            <a:spAutoFit/>
          </a:bodyPr>
          <a:lstStyle/>
          <a:p>
            <a:pPr algn="ctr" defTabSz="1219170">
              <a:spcBef>
                <a:spcPts val="933"/>
              </a:spcBef>
            </a:pPr>
            <a:r>
              <a:rPr sz="2400" b="1" spc="-7" dirty="0">
                <a:solidFill>
                  <a:srgbClr val="8C1414"/>
                </a:solidFill>
                <a:latin typeface="Calibri"/>
                <a:cs typeface="Calibri"/>
              </a:rPr>
              <a:t>RLHF</a:t>
            </a:r>
            <a:r>
              <a:rPr sz="2400" b="1" spc="-87" dirty="0">
                <a:solidFill>
                  <a:srgbClr val="8C1414"/>
                </a:solidFill>
                <a:latin typeface="Calibri"/>
                <a:cs typeface="Calibri"/>
              </a:rPr>
              <a:t> </a:t>
            </a:r>
            <a:r>
              <a:rPr sz="2400" b="1" spc="-13" dirty="0">
                <a:solidFill>
                  <a:srgbClr val="8C1414"/>
                </a:solidFill>
                <a:latin typeface="Calibri"/>
                <a:cs typeface="Calibri"/>
              </a:rPr>
              <a:t>Objective</a:t>
            </a:r>
            <a:endParaRPr sz="2400">
              <a:solidFill>
                <a:prstClr val="black"/>
              </a:solidFill>
              <a:latin typeface="Calibri"/>
              <a:cs typeface="Calibri"/>
            </a:endParaRPr>
          </a:p>
          <a:p>
            <a:pPr marL="2540" algn="ctr" defTabSz="1219170">
              <a:spcBef>
                <a:spcPts val="447"/>
              </a:spcBef>
            </a:pPr>
            <a:r>
              <a:rPr sz="1333" spc="-7" dirty="0">
                <a:solidFill>
                  <a:prstClr val="black"/>
                </a:solidFill>
                <a:latin typeface="Calibri"/>
                <a:cs typeface="Calibri"/>
              </a:rPr>
              <a:t>(get </a:t>
            </a:r>
            <a:r>
              <a:rPr sz="1333" b="1" spc="-7" dirty="0">
                <a:solidFill>
                  <a:prstClr val="black"/>
                </a:solidFill>
                <a:latin typeface="Calibri"/>
                <a:cs typeface="Calibri"/>
              </a:rPr>
              <a:t>high </a:t>
            </a:r>
            <a:r>
              <a:rPr sz="1333" b="1" spc="-13" dirty="0">
                <a:solidFill>
                  <a:prstClr val="black"/>
                </a:solidFill>
                <a:latin typeface="Calibri"/>
                <a:cs typeface="Calibri"/>
              </a:rPr>
              <a:t>reward</a:t>
            </a:r>
            <a:r>
              <a:rPr sz="1333" spc="-13" dirty="0">
                <a:solidFill>
                  <a:prstClr val="black"/>
                </a:solidFill>
                <a:latin typeface="Calibri"/>
                <a:cs typeface="Calibri"/>
              </a:rPr>
              <a:t>, </a:t>
            </a:r>
            <a:r>
              <a:rPr sz="1333" spc="-20" dirty="0">
                <a:solidFill>
                  <a:prstClr val="black"/>
                </a:solidFill>
                <a:latin typeface="Calibri"/>
                <a:cs typeface="Calibri"/>
              </a:rPr>
              <a:t>stay</a:t>
            </a:r>
            <a:r>
              <a:rPr sz="1333" spc="-80" dirty="0">
                <a:solidFill>
                  <a:prstClr val="black"/>
                </a:solidFill>
                <a:latin typeface="Calibri"/>
                <a:cs typeface="Calibri"/>
              </a:rPr>
              <a:t> </a:t>
            </a:r>
            <a:r>
              <a:rPr sz="1333" b="1" spc="-7" dirty="0">
                <a:solidFill>
                  <a:prstClr val="black"/>
                </a:solidFill>
                <a:latin typeface="Calibri"/>
                <a:cs typeface="Calibri"/>
              </a:rPr>
              <a:t>close</a:t>
            </a:r>
            <a:endParaRPr sz="1333">
              <a:solidFill>
                <a:prstClr val="black"/>
              </a:solidFill>
              <a:latin typeface="Calibri"/>
              <a:cs typeface="Calibri"/>
            </a:endParaRPr>
          </a:p>
          <a:p>
            <a:pPr marL="1693" algn="ctr" defTabSz="1219170"/>
            <a:r>
              <a:rPr sz="1333" spc="-7" dirty="0">
                <a:solidFill>
                  <a:prstClr val="black"/>
                </a:solidFill>
                <a:latin typeface="Calibri"/>
                <a:cs typeface="Calibri"/>
              </a:rPr>
              <a:t>to </a:t>
            </a:r>
            <a:r>
              <a:rPr sz="1333" spc="-13" dirty="0">
                <a:solidFill>
                  <a:prstClr val="black"/>
                </a:solidFill>
                <a:latin typeface="Calibri"/>
                <a:cs typeface="Calibri"/>
              </a:rPr>
              <a:t>reference</a:t>
            </a:r>
            <a:r>
              <a:rPr sz="1333" spc="-33" dirty="0">
                <a:solidFill>
                  <a:prstClr val="black"/>
                </a:solidFill>
                <a:latin typeface="Calibri"/>
                <a:cs typeface="Calibri"/>
              </a:rPr>
              <a:t> </a:t>
            </a:r>
            <a:r>
              <a:rPr sz="1333" spc="-7" dirty="0">
                <a:solidFill>
                  <a:prstClr val="black"/>
                </a:solidFill>
                <a:latin typeface="Calibri"/>
                <a:cs typeface="Calibri"/>
              </a:rPr>
              <a:t>model)</a:t>
            </a:r>
            <a:endParaRPr sz="1333">
              <a:solidFill>
                <a:prstClr val="black"/>
              </a:solidFill>
              <a:latin typeface="Calibri"/>
              <a:cs typeface="Calibri"/>
            </a:endParaRPr>
          </a:p>
        </p:txBody>
      </p:sp>
      <p:sp>
        <p:nvSpPr>
          <p:cNvPr id="4" name="object 4"/>
          <p:cNvSpPr/>
          <p:nvPr/>
        </p:nvSpPr>
        <p:spPr>
          <a:xfrm>
            <a:off x="2947533" y="1935067"/>
            <a:ext cx="8133035" cy="482965"/>
          </a:xfrm>
          <a:prstGeom prst="rect">
            <a:avLst/>
          </a:prstGeom>
          <a:blipFill>
            <a:blip r:embed="rId2" cstate="print"/>
            <a:stretch>
              <a:fillRect/>
            </a:stretch>
          </a:blipFill>
        </p:spPr>
        <p:txBody>
          <a:bodyPr wrap="square" lIns="0" tIns="0" rIns="0" bIns="0" rtlCol="0"/>
          <a:lstStyle/>
          <a:p>
            <a:pPr defTabSz="1219170"/>
            <a:endParaRPr sz="2400">
              <a:solidFill>
                <a:prstClr val="black"/>
              </a:solidFill>
              <a:latin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8" y="671226"/>
            <a:ext cx="6750473" cy="607003"/>
          </a:xfrm>
          <a:prstGeom prst="rect">
            <a:avLst/>
          </a:prstGeom>
        </p:spPr>
        <p:txBody>
          <a:bodyPr vert="horz" wrap="square" lIns="0" tIns="22013" rIns="0" bIns="0" rtlCol="0">
            <a:spAutoFit/>
          </a:bodyPr>
          <a:lstStyle/>
          <a:p>
            <a:pPr marL="16933">
              <a:spcBef>
                <a:spcPts val="173"/>
              </a:spcBef>
            </a:pPr>
            <a:r>
              <a:rPr spc="7" dirty="0"/>
              <a:t>Direct Preference</a:t>
            </a:r>
            <a:r>
              <a:rPr spc="33" dirty="0"/>
              <a:t> </a:t>
            </a:r>
            <a:r>
              <a:rPr spc="7" dirty="0"/>
              <a:t>Optimization</a:t>
            </a:r>
          </a:p>
        </p:txBody>
      </p:sp>
      <p:sp>
        <p:nvSpPr>
          <p:cNvPr id="3" name="object 3"/>
          <p:cNvSpPr/>
          <p:nvPr/>
        </p:nvSpPr>
        <p:spPr>
          <a:xfrm>
            <a:off x="6596988" y="1646334"/>
            <a:ext cx="472440" cy="168485"/>
          </a:xfrm>
          <a:custGeom>
            <a:avLst/>
            <a:gdLst/>
            <a:ahLst/>
            <a:cxnLst/>
            <a:rect l="l" t="t" r="r" b="b"/>
            <a:pathLst>
              <a:path w="354329" h="126365">
                <a:moveTo>
                  <a:pt x="353708" y="0"/>
                </a:moveTo>
                <a:lnTo>
                  <a:pt x="0" y="125798"/>
                </a:lnTo>
              </a:path>
            </a:pathLst>
          </a:custGeom>
          <a:ln w="19049">
            <a:solidFill>
              <a:srgbClr val="2E2C28"/>
            </a:solidFill>
          </a:ln>
        </p:spPr>
        <p:txBody>
          <a:bodyPr wrap="square" lIns="0" tIns="0" rIns="0" bIns="0" rtlCol="0"/>
          <a:lstStyle/>
          <a:p>
            <a:pPr defTabSz="1219170"/>
            <a:endParaRPr sz="2400">
              <a:solidFill>
                <a:prstClr val="black"/>
              </a:solidFill>
              <a:latin typeface="Calibri"/>
            </a:endParaRPr>
          </a:p>
        </p:txBody>
      </p:sp>
      <p:sp>
        <p:nvSpPr>
          <p:cNvPr id="4" name="object 4"/>
          <p:cNvSpPr/>
          <p:nvPr/>
        </p:nvSpPr>
        <p:spPr>
          <a:xfrm>
            <a:off x="6475686" y="1761836"/>
            <a:ext cx="148061" cy="104456"/>
          </a:xfrm>
          <a:prstGeom prst="rect">
            <a:avLst/>
          </a:prstGeom>
          <a:blipFill>
            <a:blip r:embed="rId2"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5" name="object 5"/>
          <p:cNvSpPr txBox="1"/>
          <p:nvPr/>
        </p:nvSpPr>
        <p:spPr>
          <a:xfrm>
            <a:off x="538847" y="1431216"/>
            <a:ext cx="8580967" cy="1148114"/>
          </a:xfrm>
          <a:prstGeom prst="rect">
            <a:avLst/>
          </a:prstGeom>
        </p:spPr>
        <p:txBody>
          <a:bodyPr vert="horz" wrap="square" lIns="0" tIns="16933" rIns="0" bIns="0" rtlCol="0">
            <a:spAutoFit/>
          </a:bodyPr>
          <a:lstStyle/>
          <a:p>
            <a:pPr marR="6773" algn="r" defTabSz="1219170">
              <a:spcBef>
                <a:spcPts val="133"/>
              </a:spcBef>
            </a:pPr>
            <a:r>
              <a:rPr sz="1867" b="1" spc="-20" dirty="0">
                <a:solidFill>
                  <a:prstClr val="black"/>
                </a:solidFill>
                <a:latin typeface="Calibri"/>
                <a:cs typeface="Calibri"/>
              </a:rPr>
              <a:t>any </a:t>
            </a:r>
            <a:r>
              <a:rPr sz="1867" spc="-20" dirty="0">
                <a:solidFill>
                  <a:prstClr val="black"/>
                </a:solidFill>
                <a:latin typeface="Calibri"/>
                <a:cs typeface="Calibri"/>
              </a:rPr>
              <a:t>reward</a:t>
            </a:r>
            <a:r>
              <a:rPr sz="1867" spc="-80" dirty="0">
                <a:solidFill>
                  <a:prstClr val="black"/>
                </a:solidFill>
                <a:latin typeface="Calibri"/>
                <a:cs typeface="Calibri"/>
              </a:rPr>
              <a:t> </a:t>
            </a:r>
            <a:r>
              <a:rPr sz="1867" spc="-7" dirty="0">
                <a:solidFill>
                  <a:prstClr val="black"/>
                </a:solidFill>
                <a:latin typeface="Calibri"/>
                <a:cs typeface="Calibri"/>
              </a:rPr>
              <a:t>function</a:t>
            </a:r>
            <a:endParaRPr sz="1867">
              <a:solidFill>
                <a:prstClr val="black"/>
              </a:solidFill>
              <a:latin typeface="Calibri"/>
              <a:cs typeface="Calibri"/>
            </a:endParaRPr>
          </a:p>
          <a:p>
            <a:pPr marR="6633467" algn="ctr" defTabSz="1219170">
              <a:spcBef>
                <a:spcPts val="87"/>
              </a:spcBef>
            </a:pPr>
            <a:r>
              <a:rPr sz="2400" b="1" spc="-7" dirty="0">
                <a:solidFill>
                  <a:srgbClr val="8C1414"/>
                </a:solidFill>
                <a:latin typeface="Calibri"/>
                <a:cs typeface="Calibri"/>
              </a:rPr>
              <a:t>RLHF</a:t>
            </a:r>
            <a:r>
              <a:rPr sz="2400" b="1" spc="-87" dirty="0">
                <a:solidFill>
                  <a:srgbClr val="8C1414"/>
                </a:solidFill>
                <a:latin typeface="Calibri"/>
                <a:cs typeface="Calibri"/>
              </a:rPr>
              <a:t> </a:t>
            </a:r>
            <a:r>
              <a:rPr sz="2400" b="1" spc="-13" dirty="0">
                <a:solidFill>
                  <a:srgbClr val="8C1414"/>
                </a:solidFill>
                <a:latin typeface="Calibri"/>
                <a:cs typeface="Calibri"/>
              </a:rPr>
              <a:t>Objective</a:t>
            </a:r>
            <a:endParaRPr sz="2400">
              <a:solidFill>
                <a:prstClr val="black"/>
              </a:solidFill>
              <a:latin typeface="Calibri"/>
              <a:cs typeface="Calibri"/>
            </a:endParaRPr>
          </a:p>
          <a:p>
            <a:pPr marR="6630928" algn="ctr" defTabSz="1219170">
              <a:spcBef>
                <a:spcPts val="445"/>
              </a:spcBef>
            </a:pPr>
            <a:r>
              <a:rPr sz="1333" spc="-7" dirty="0">
                <a:solidFill>
                  <a:prstClr val="black"/>
                </a:solidFill>
                <a:latin typeface="Calibri"/>
                <a:cs typeface="Calibri"/>
              </a:rPr>
              <a:t>(get </a:t>
            </a:r>
            <a:r>
              <a:rPr sz="1333" b="1" spc="-7" dirty="0">
                <a:solidFill>
                  <a:prstClr val="black"/>
                </a:solidFill>
                <a:latin typeface="Calibri"/>
                <a:cs typeface="Calibri"/>
              </a:rPr>
              <a:t>high </a:t>
            </a:r>
            <a:r>
              <a:rPr sz="1333" b="1" spc="-13" dirty="0">
                <a:solidFill>
                  <a:prstClr val="black"/>
                </a:solidFill>
                <a:latin typeface="Calibri"/>
                <a:cs typeface="Calibri"/>
              </a:rPr>
              <a:t>reward</a:t>
            </a:r>
            <a:r>
              <a:rPr sz="1333" spc="-13" dirty="0">
                <a:solidFill>
                  <a:prstClr val="black"/>
                </a:solidFill>
                <a:latin typeface="Calibri"/>
                <a:cs typeface="Calibri"/>
              </a:rPr>
              <a:t>, </a:t>
            </a:r>
            <a:r>
              <a:rPr sz="1333" spc="-20" dirty="0">
                <a:solidFill>
                  <a:prstClr val="black"/>
                </a:solidFill>
                <a:latin typeface="Calibri"/>
                <a:cs typeface="Calibri"/>
              </a:rPr>
              <a:t>stay</a:t>
            </a:r>
            <a:r>
              <a:rPr sz="1333" spc="-80" dirty="0">
                <a:solidFill>
                  <a:prstClr val="black"/>
                </a:solidFill>
                <a:latin typeface="Calibri"/>
                <a:cs typeface="Calibri"/>
              </a:rPr>
              <a:t> </a:t>
            </a:r>
            <a:r>
              <a:rPr sz="1333" b="1" spc="-7" dirty="0">
                <a:solidFill>
                  <a:prstClr val="black"/>
                </a:solidFill>
                <a:latin typeface="Calibri"/>
                <a:cs typeface="Calibri"/>
              </a:rPr>
              <a:t>close</a:t>
            </a:r>
            <a:endParaRPr sz="1333">
              <a:solidFill>
                <a:prstClr val="black"/>
              </a:solidFill>
              <a:latin typeface="Calibri"/>
              <a:cs typeface="Calibri"/>
            </a:endParaRPr>
          </a:p>
          <a:p>
            <a:pPr marR="6631774" algn="ctr" defTabSz="1219170"/>
            <a:r>
              <a:rPr sz="1333" spc="-7" dirty="0">
                <a:solidFill>
                  <a:prstClr val="black"/>
                </a:solidFill>
                <a:latin typeface="Calibri"/>
                <a:cs typeface="Calibri"/>
              </a:rPr>
              <a:t>to </a:t>
            </a:r>
            <a:r>
              <a:rPr sz="1333" spc="-13" dirty="0">
                <a:solidFill>
                  <a:prstClr val="black"/>
                </a:solidFill>
                <a:latin typeface="Calibri"/>
                <a:cs typeface="Calibri"/>
              </a:rPr>
              <a:t>reference</a:t>
            </a:r>
            <a:r>
              <a:rPr sz="1333" spc="-33" dirty="0">
                <a:solidFill>
                  <a:prstClr val="black"/>
                </a:solidFill>
                <a:latin typeface="Calibri"/>
                <a:cs typeface="Calibri"/>
              </a:rPr>
              <a:t> </a:t>
            </a:r>
            <a:r>
              <a:rPr sz="1333" spc="-7" dirty="0">
                <a:solidFill>
                  <a:prstClr val="black"/>
                </a:solidFill>
                <a:latin typeface="Calibri"/>
                <a:cs typeface="Calibri"/>
              </a:rPr>
              <a:t>model)</a:t>
            </a:r>
            <a:endParaRPr sz="1333">
              <a:solidFill>
                <a:prstClr val="black"/>
              </a:solidFill>
              <a:latin typeface="Calibri"/>
              <a:cs typeface="Calibri"/>
            </a:endParaRPr>
          </a:p>
        </p:txBody>
      </p:sp>
      <p:sp>
        <p:nvSpPr>
          <p:cNvPr id="6" name="object 6"/>
          <p:cNvSpPr/>
          <p:nvPr/>
        </p:nvSpPr>
        <p:spPr>
          <a:xfrm>
            <a:off x="2947533" y="1935067"/>
            <a:ext cx="8133035" cy="482965"/>
          </a:xfrm>
          <a:prstGeom prst="rect">
            <a:avLst/>
          </a:prstGeom>
          <a:blipFill>
            <a:blip r:embed="rId3" cstate="print"/>
            <a:stretch>
              <a:fillRect/>
            </a:stretch>
          </a:blipFill>
        </p:spPr>
        <p:txBody>
          <a:bodyPr wrap="square" lIns="0" tIns="0" rIns="0" bIns="0" rtlCol="0"/>
          <a:lstStyle/>
          <a:p>
            <a:pPr defTabSz="1219170"/>
            <a:endParaRPr sz="2400">
              <a:solidFill>
                <a:prstClr val="black"/>
              </a:solidFill>
              <a:latin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8" y="671226"/>
            <a:ext cx="6750473" cy="607003"/>
          </a:xfrm>
          <a:prstGeom prst="rect">
            <a:avLst/>
          </a:prstGeom>
        </p:spPr>
        <p:txBody>
          <a:bodyPr vert="horz" wrap="square" lIns="0" tIns="22013" rIns="0" bIns="0" rtlCol="0">
            <a:spAutoFit/>
          </a:bodyPr>
          <a:lstStyle/>
          <a:p>
            <a:pPr marL="16933">
              <a:spcBef>
                <a:spcPts val="173"/>
              </a:spcBef>
            </a:pPr>
            <a:r>
              <a:rPr spc="7" dirty="0"/>
              <a:t>Direct Preference</a:t>
            </a:r>
            <a:r>
              <a:rPr spc="33" dirty="0"/>
              <a:t> </a:t>
            </a:r>
            <a:r>
              <a:rPr spc="7" dirty="0"/>
              <a:t>Optimization</a:t>
            </a:r>
          </a:p>
        </p:txBody>
      </p:sp>
      <p:sp>
        <p:nvSpPr>
          <p:cNvPr id="3" name="object 3"/>
          <p:cNvSpPr/>
          <p:nvPr/>
        </p:nvSpPr>
        <p:spPr>
          <a:xfrm>
            <a:off x="6596988" y="1646334"/>
            <a:ext cx="472440" cy="168485"/>
          </a:xfrm>
          <a:custGeom>
            <a:avLst/>
            <a:gdLst/>
            <a:ahLst/>
            <a:cxnLst/>
            <a:rect l="l" t="t" r="r" b="b"/>
            <a:pathLst>
              <a:path w="354329" h="126365">
                <a:moveTo>
                  <a:pt x="353708" y="0"/>
                </a:moveTo>
                <a:lnTo>
                  <a:pt x="0" y="125798"/>
                </a:lnTo>
              </a:path>
            </a:pathLst>
          </a:custGeom>
          <a:ln w="19049">
            <a:solidFill>
              <a:srgbClr val="2E2C28"/>
            </a:solidFill>
          </a:ln>
        </p:spPr>
        <p:txBody>
          <a:bodyPr wrap="square" lIns="0" tIns="0" rIns="0" bIns="0" rtlCol="0"/>
          <a:lstStyle/>
          <a:p>
            <a:pPr defTabSz="1219170"/>
            <a:endParaRPr sz="2400">
              <a:solidFill>
                <a:prstClr val="black"/>
              </a:solidFill>
              <a:latin typeface="Calibri"/>
            </a:endParaRPr>
          </a:p>
        </p:txBody>
      </p:sp>
      <p:sp>
        <p:nvSpPr>
          <p:cNvPr id="4" name="object 4"/>
          <p:cNvSpPr/>
          <p:nvPr/>
        </p:nvSpPr>
        <p:spPr>
          <a:xfrm>
            <a:off x="6475686" y="1761836"/>
            <a:ext cx="148061" cy="104456"/>
          </a:xfrm>
          <a:prstGeom prst="rect">
            <a:avLst/>
          </a:prstGeom>
          <a:blipFill>
            <a:blip r:embed="rId2"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5" name="object 5"/>
          <p:cNvSpPr txBox="1"/>
          <p:nvPr/>
        </p:nvSpPr>
        <p:spPr>
          <a:xfrm>
            <a:off x="538847" y="1431216"/>
            <a:ext cx="8580967" cy="1148114"/>
          </a:xfrm>
          <a:prstGeom prst="rect">
            <a:avLst/>
          </a:prstGeom>
        </p:spPr>
        <p:txBody>
          <a:bodyPr vert="horz" wrap="square" lIns="0" tIns="16933" rIns="0" bIns="0" rtlCol="0">
            <a:spAutoFit/>
          </a:bodyPr>
          <a:lstStyle/>
          <a:p>
            <a:pPr marR="6773" algn="r" defTabSz="1219170">
              <a:spcBef>
                <a:spcPts val="133"/>
              </a:spcBef>
            </a:pPr>
            <a:r>
              <a:rPr sz="1867" b="1" spc="-20" dirty="0">
                <a:solidFill>
                  <a:prstClr val="black"/>
                </a:solidFill>
                <a:latin typeface="Calibri"/>
                <a:cs typeface="Calibri"/>
              </a:rPr>
              <a:t>any </a:t>
            </a:r>
            <a:r>
              <a:rPr sz="1867" spc="-20" dirty="0">
                <a:solidFill>
                  <a:prstClr val="black"/>
                </a:solidFill>
                <a:latin typeface="Calibri"/>
                <a:cs typeface="Calibri"/>
              </a:rPr>
              <a:t>reward</a:t>
            </a:r>
            <a:r>
              <a:rPr sz="1867" spc="-80" dirty="0">
                <a:solidFill>
                  <a:prstClr val="black"/>
                </a:solidFill>
                <a:latin typeface="Calibri"/>
                <a:cs typeface="Calibri"/>
              </a:rPr>
              <a:t> </a:t>
            </a:r>
            <a:r>
              <a:rPr sz="1867" spc="-7" dirty="0">
                <a:solidFill>
                  <a:prstClr val="black"/>
                </a:solidFill>
                <a:latin typeface="Calibri"/>
                <a:cs typeface="Calibri"/>
              </a:rPr>
              <a:t>function</a:t>
            </a:r>
            <a:endParaRPr sz="1867">
              <a:solidFill>
                <a:prstClr val="black"/>
              </a:solidFill>
              <a:latin typeface="Calibri"/>
              <a:cs typeface="Calibri"/>
            </a:endParaRPr>
          </a:p>
          <a:p>
            <a:pPr marR="6633467" algn="ctr" defTabSz="1219170">
              <a:spcBef>
                <a:spcPts val="87"/>
              </a:spcBef>
            </a:pPr>
            <a:r>
              <a:rPr sz="2400" b="1" spc="-7" dirty="0">
                <a:solidFill>
                  <a:srgbClr val="8C1414"/>
                </a:solidFill>
                <a:latin typeface="Calibri"/>
                <a:cs typeface="Calibri"/>
              </a:rPr>
              <a:t>RLHF</a:t>
            </a:r>
            <a:r>
              <a:rPr sz="2400" b="1" spc="-87" dirty="0">
                <a:solidFill>
                  <a:srgbClr val="8C1414"/>
                </a:solidFill>
                <a:latin typeface="Calibri"/>
                <a:cs typeface="Calibri"/>
              </a:rPr>
              <a:t> </a:t>
            </a:r>
            <a:r>
              <a:rPr sz="2400" b="1" spc="-13" dirty="0">
                <a:solidFill>
                  <a:srgbClr val="8C1414"/>
                </a:solidFill>
                <a:latin typeface="Calibri"/>
                <a:cs typeface="Calibri"/>
              </a:rPr>
              <a:t>Objective</a:t>
            </a:r>
            <a:endParaRPr sz="2400">
              <a:solidFill>
                <a:prstClr val="black"/>
              </a:solidFill>
              <a:latin typeface="Calibri"/>
              <a:cs typeface="Calibri"/>
            </a:endParaRPr>
          </a:p>
          <a:p>
            <a:pPr marR="6630928" algn="ctr" defTabSz="1219170">
              <a:spcBef>
                <a:spcPts val="445"/>
              </a:spcBef>
            </a:pPr>
            <a:r>
              <a:rPr sz="1333" spc="-7" dirty="0">
                <a:solidFill>
                  <a:prstClr val="black"/>
                </a:solidFill>
                <a:latin typeface="Calibri"/>
                <a:cs typeface="Calibri"/>
              </a:rPr>
              <a:t>(get </a:t>
            </a:r>
            <a:r>
              <a:rPr sz="1333" b="1" spc="-7" dirty="0">
                <a:solidFill>
                  <a:prstClr val="black"/>
                </a:solidFill>
                <a:latin typeface="Calibri"/>
                <a:cs typeface="Calibri"/>
              </a:rPr>
              <a:t>high </a:t>
            </a:r>
            <a:r>
              <a:rPr sz="1333" b="1" spc="-13" dirty="0">
                <a:solidFill>
                  <a:prstClr val="black"/>
                </a:solidFill>
                <a:latin typeface="Calibri"/>
                <a:cs typeface="Calibri"/>
              </a:rPr>
              <a:t>reward</a:t>
            </a:r>
            <a:r>
              <a:rPr sz="1333" spc="-13" dirty="0">
                <a:solidFill>
                  <a:prstClr val="black"/>
                </a:solidFill>
                <a:latin typeface="Calibri"/>
                <a:cs typeface="Calibri"/>
              </a:rPr>
              <a:t>, </a:t>
            </a:r>
            <a:r>
              <a:rPr sz="1333" spc="-20" dirty="0">
                <a:solidFill>
                  <a:prstClr val="black"/>
                </a:solidFill>
                <a:latin typeface="Calibri"/>
                <a:cs typeface="Calibri"/>
              </a:rPr>
              <a:t>stay</a:t>
            </a:r>
            <a:r>
              <a:rPr sz="1333" spc="-80" dirty="0">
                <a:solidFill>
                  <a:prstClr val="black"/>
                </a:solidFill>
                <a:latin typeface="Calibri"/>
                <a:cs typeface="Calibri"/>
              </a:rPr>
              <a:t> </a:t>
            </a:r>
            <a:r>
              <a:rPr sz="1333" b="1" spc="-7" dirty="0">
                <a:solidFill>
                  <a:prstClr val="black"/>
                </a:solidFill>
                <a:latin typeface="Calibri"/>
                <a:cs typeface="Calibri"/>
              </a:rPr>
              <a:t>close</a:t>
            </a:r>
            <a:endParaRPr sz="1333">
              <a:solidFill>
                <a:prstClr val="black"/>
              </a:solidFill>
              <a:latin typeface="Calibri"/>
              <a:cs typeface="Calibri"/>
            </a:endParaRPr>
          </a:p>
          <a:p>
            <a:pPr marR="6631774" algn="ctr" defTabSz="1219170"/>
            <a:r>
              <a:rPr sz="1333" spc="-7" dirty="0">
                <a:solidFill>
                  <a:prstClr val="black"/>
                </a:solidFill>
                <a:latin typeface="Calibri"/>
                <a:cs typeface="Calibri"/>
              </a:rPr>
              <a:t>to </a:t>
            </a:r>
            <a:r>
              <a:rPr sz="1333" spc="-13" dirty="0">
                <a:solidFill>
                  <a:prstClr val="black"/>
                </a:solidFill>
                <a:latin typeface="Calibri"/>
                <a:cs typeface="Calibri"/>
              </a:rPr>
              <a:t>reference</a:t>
            </a:r>
            <a:r>
              <a:rPr sz="1333" spc="-33" dirty="0">
                <a:solidFill>
                  <a:prstClr val="black"/>
                </a:solidFill>
                <a:latin typeface="Calibri"/>
                <a:cs typeface="Calibri"/>
              </a:rPr>
              <a:t> </a:t>
            </a:r>
            <a:r>
              <a:rPr sz="1333" spc="-7" dirty="0">
                <a:solidFill>
                  <a:prstClr val="black"/>
                </a:solidFill>
                <a:latin typeface="Calibri"/>
                <a:cs typeface="Calibri"/>
              </a:rPr>
              <a:t>model)</a:t>
            </a:r>
            <a:endParaRPr sz="1333">
              <a:solidFill>
                <a:prstClr val="black"/>
              </a:solidFill>
              <a:latin typeface="Calibri"/>
              <a:cs typeface="Calibri"/>
            </a:endParaRPr>
          </a:p>
        </p:txBody>
      </p:sp>
      <p:sp>
        <p:nvSpPr>
          <p:cNvPr id="6" name="object 6"/>
          <p:cNvSpPr txBox="1"/>
          <p:nvPr/>
        </p:nvSpPr>
        <p:spPr>
          <a:xfrm>
            <a:off x="574566" y="3222167"/>
            <a:ext cx="1865207" cy="1335408"/>
          </a:xfrm>
          <a:prstGeom prst="rect">
            <a:avLst/>
          </a:prstGeom>
        </p:spPr>
        <p:txBody>
          <a:bodyPr vert="horz" wrap="square" lIns="0" tIns="16933" rIns="0" bIns="0" rtlCol="0">
            <a:spAutoFit/>
          </a:bodyPr>
          <a:lstStyle/>
          <a:p>
            <a:pPr marL="16086" marR="6773" indent="847" algn="ctr" defTabSz="1219170">
              <a:spcBef>
                <a:spcPts val="133"/>
              </a:spcBef>
            </a:pPr>
            <a:r>
              <a:rPr sz="2400" b="1" spc="-13" dirty="0">
                <a:solidFill>
                  <a:srgbClr val="8C1414"/>
                </a:solidFill>
                <a:latin typeface="Calibri"/>
                <a:cs typeface="Calibri"/>
              </a:rPr>
              <a:t>Closed-form  </a:t>
            </a:r>
            <a:r>
              <a:rPr sz="2400" b="1" spc="-7" dirty="0">
                <a:solidFill>
                  <a:srgbClr val="8C1414"/>
                </a:solidFill>
                <a:latin typeface="Calibri"/>
                <a:cs typeface="Calibri"/>
              </a:rPr>
              <a:t>Optimal</a:t>
            </a:r>
            <a:r>
              <a:rPr sz="2400" b="1" spc="-127" dirty="0">
                <a:solidFill>
                  <a:srgbClr val="8C1414"/>
                </a:solidFill>
                <a:latin typeface="Calibri"/>
                <a:cs typeface="Calibri"/>
              </a:rPr>
              <a:t> </a:t>
            </a:r>
            <a:r>
              <a:rPr sz="2400" b="1" spc="-13" dirty="0">
                <a:solidFill>
                  <a:srgbClr val="8C1414"/>
                </a:solidFill>
                <a:latin typeface="Calibri"/>
                <a:cs typeface="Calibri"/>
              </a:rPr>
              <a:t>Policy</a:t>
            </a:r>
            <a:endParaRPr sz="2400">
              <a:solidFill>
                <a:prstClr val="black"/>
              </a:solidFill>
              <a:latin typeface="Calibri"/>
              <a:cs typeface="Calibri"/>
            </a:endParaRPr>
          </a:p>
          <a:p>
            <a:pPr marL="49952" marR="36406" indent="-847" algn="ctr" defTabSz="1219170">
              <a:spcBef>
                <a:spcPts val="213"/>
              </a:spcBef>
            </a:pPr>
            <a:r>
              <a:rPr sz="1200" spc="-7" dirty="0">
                <a:solidFill>
                  <a:prstClr val="black"/>
                </a:solidFill>
                <a:latin typeface="Calibri"/>
                <a:cs typeface="Calibri"/>
              </a:rPr>
              <a:t>(write </a:t>
            </a:r>
            <a:r>
              <a:rPr sz="1200" b="1" spc="-7" dirty="0">
                <a:solidFill>
                  <a:prstClr val="black"/>
                </a:solidFill>
                <a:latin typeface="Calibri"/>
                <a:cs typeface="Calibri"/>
              </a:rPr>
              <a:t>optimal policy </a:t>
            </a:r>
            <a:r>
              <a:rPr sz="1200" dirty="0">
                <a:solidFill>
                  <a:prstClr val="black"/>
                </a:solidFill>
                <a:latin typeface="Calibri"/>
                <a:cs typeface="Calibri"/>
              </a:rPr>
              <a:t>as  </a:t>
            </a:r>
            <a:r>
              <a:rPr sz="1200" spc="-7" dirty="0">
                <a:solidFill>
                  <a:prstClr val="black"/>
                </a:solidFill>
                <a:latin typeface="Calibri"/>
                <a:cs typeface="Calibri"/>
              </a:rPr>
              <a:t>function of </a:t>
            </a:r>
            <a:r>
              <a:rPr sz="1200" b="1" spc="-13" dirty="0">
                <a:solidFill>
                  <a:prstClr val="black"/>
                </a:solidFill>
                <a:latin typeface="Calibri"/>
                <a:cs typeface="Calibri"/>
              </a:rPr>
              <a:t>reward</a:t>
            </a:r>
            <a:r>
              <a:rPr sz="1200" b="1" spc="-87" dirty="0">
                <a:solidFill>
                  <a:prstClr val="black"/>
                </a:solidFill>
                <a:latin typeface="Calibri"/>
                <a:cs typeface="Calibri"/>
              </a:rPr>
              <a:t> </a:t>
            </a:r>
            <a:r>
              <a:rPr sz="1200" b="1" spc="-7" dirty="0">
                <a:solidFill>
                  <a:prstClr val="black"/>
                </a:solidFill>
                <a:latin typeface="Calibri"/>
                <a:cs typeface="Calibri"/>
              </a:rPr>
              <a:t>function</a:t>
            </a:r>
            <a:r>
              <a:rPr sz="1200" spc="-7" dirty="0">
                <a:solidFill>
                  <a:prstClr val="black"/>
                </a:solidFill>
                <a:latin typeface="Calibri"/>
                <a:cs typeface="Calibri"/>
              </a:rPr>
              <a:t>;  </a:t>
            </a:r>
            <a:r>
              <a:rPr sz="1200" spc="-13" dirty="0">
                <a:solidFill>
                  <a:prstClr val="black"/>
                </a:solidFill>
                <a:latin typeface="Calibri"/>
                <a:cs typeface="Calibri"/>
              </a:rPr>
              <a:t>from </a:t>
            </a:r>
            <a:r>
              <a:rPr sz="1200" spc="-7" dirty="0">
                <a:solidFill>
                  <a:prstClr val="black"/>
                </a:solidFill>
                <a:latin typeface="Calibri"/>
                <a:cs typeface="Calibri"/>
              </a:rPr>
              <a:t>prior</a:t>
            </a:r>
            <a:r>
              <a:rPr sz="1200" spc="-13" dirty="0">
                <a:solidFill>
                  <a:prstClr val="black"/>
                </a:solidFill>
                <a:latin typeface="Calibri"/>
                <a:cs typeface="Calibri"/>
              </a:rPr>
              <a:t> work)</a:t>
            </a:r>
            <a:endParaRPr sz="1200">
              <a:solidFill>
                <a:prstClr val="black"/>
              </a:solidFill>
              <a:latin typeface="Calibri"/>
              <a:cs typeface="Calibri"/>
            </a:endParaRPr>
          </a:p>
        </p:txBody>
      </p:sp>
      <p:sp>
        <p:nvSpPr>
          <p:cNvPr id="7" name="object 7"/>
          <p:cNvSpPr/>
          <p:nvPr/>
        </p:nvSpPr>
        <p:spPr>
          <a:xfrm>
            <a:off x="2947533" y="1935067"/>
            <a:ext cx="8133035" cy="482965"/>
          </a:xfrm>
          <a:prstGeom prst="rect">
            <a:avLst/>
          </a:prstGeom>
          <a:blipFill>
            <a:blip r:embed="rId3" cstate="print"/>
            <a:stretch>
              <a:fillRect/>
            </a:stretch>
          </a:blipFill>
        </p:spPr>
        <p:txBody>
          <a:bodyPr wrap="square" lIns="0" tIns="0" rIns="0" bIns="0" rtlCol="0"/>
          <a:lstStyle/>
          <a:p>
            <a:pPr defTabSz="1219170"/>
            <a:endParaRPr sz="2400">
              <a:solidFill>
                <a:prstClr val="black"/>
              </a:solidFill>
              <a:latin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8" y="671226"/>
            <a:ext cx="6750473" cy="607003"/>
          </a:xfrm>
          <a:prstGeom prst="rect">
            <a:avLst/>
          </a:prstGeom>
        </p:spPr>
        <p:txBody>
          <a:bodyPr vert="horz" wrap="square" lIns="0" tIns="22013" rIns="0" bIns="0" rtlCol="0">
            <a:spAutoFit/>
          </a:bodyPr>
          <a:lstStyle/>
          <a:p>
            <a:pPr marL="16933">
              <a:spcBef>
                <a:spcPts val="173"/>
              </a:spcBef>
            </a:pPr>
            <a:r>
              <a:rPr spc="7" dirty="0"/>
              <a:t>Direct Preference</a:t>
            </a:r>
            <a:r>
              <a:rPr spc="33" dirty="0"/>
              <a:t> </a:t>
            </a:r>
            <a:r>
              <a:rPr spc="7" dirty="0"/>
              <a:t>Optimization</a:t>
            </a:r>
          </a:p>
        </p:txBody>
      </p:sp>
      <p:sp>
        <p:nvSpPr>
          <p:cNvPr id="3" name="object 3"/>
          <p:cNvSpPr/>
          <p:nvPr/>
        </p:nvSpPr>
        <p:spPr>
          <a:xfrm>
            <a:off x="6596988" y="1646334"/>
            <a:ext cx="472440" cy="168485"/>
          </a:xfrm>
          <a:custGeom>
            <a:avLst/>
            <a:gdLst/>
            <a:ahLst/>
            <a:cxnLst/>
            <a:rect l="l" t="t" r="r" b="b"/>
            <a:pathLst>
              <a:path w="354329" h="126365">
                <a:moveTo>
                  <a:pt x="353708" y="0"/>
                </a:moveTo>
                <a:lnTo>
                  <a:pt x="0" y="125798"/>
                </a:lnTo>
              </a:path>
            </a:pathLst>
          </a:custGeom>
          <a:ln w="19049">
            <a:solidFill>
              <a:srgbClr val="2E2C28"/>
            </a:solidFill>
          </a:ln>
        </p:spPr>
        <p:txBody>
          <a:bodyPr wrap="square" lIns="0" tIns="0" rIns="0" bIns="0" rtlCol="0"/>
          <a:lstStyle/>
          <a:p>
            <a:pPr defTabSz="1219170"/>
            <a:endParaRPr sz="2400">
              <a:solidFill>
                <a:prstClr val="black"/>
              </a:solidFill>
              <a:latin typeface="Calibri"/>
            </a:endParaRPr>
          </a:p>
        </p:txBody>
      </p:sp>
      <p:sp>
        <p:nvSpPr>
          <p:cNvPr id="4" name="object 4"/>
          <p:cNvSpPr/>
          <p:nvPr/>
        </p:nvSpPr>
        <p:spPr>
          <a:xfrm>
            <a:off x="6475686" y="1761836"/>
            <a:ext cx="148061" cy="104456"/>
          </a:xfrm>
          <a:prstGeom prst="rect">
            <a:avLst/>
          </a:prstGeom>
          <a:blipFill>
            <a:blip r:embed="rId2"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5" name="object 5"/>
          <p:cNvSpPr txBox="1"/>
          <p:nvPr/>
        </p:nvSpPr>
        <p:spPr>
          <a:xfrm>
            <a:off x="538847" y="1431216"/>
            <a:ext cx="8580967" cy="1148114"/>
          </a:xfrm>
          <a:prstGeom prst="rect">
            <a:avLst/>
          </a:prstGeom>
        </p:spPr>
        <p:txBody>
          <a:bodyPr vert="horz" wrap="square" lIns="0" tIns="16933" rIns="0" bIns="0" rtlCol="0">
            <a:spAutoFit/>
          </a:bodyPr>
          <a:lstStyle/>
          <a:p>
            <a:pPr marR="6773" algn="r" defTabSz="1219170">
              <a:spcBef>
                <a:spcPts val="133"/>
              </a:spcBef>
            </a:pPr>
            <a:r>
              <a:rPr sz="1867" b="1" spc="-20" dirty="0">
                <a:solidFill>
                  <a:prstClr val="black"/>
                </a:solidFill>
                <a:latin typeface="Calibri"/>
                <a:cs typeface="Calibri"/>
              </a:rPr>
              <a:t>any </a:t>
            </a:r>
            <a:r>
              <a:rPr sz="1867" spc="-20" dirty="0">
                <a:solidFill>
                  <a:prstClr val="black"/>
                </a:solidFill>
                <a:latin typeface="Calibri"/>
                <a:cs typeface="Calibri"/>
              </a:rPr>
              <a:t>reward</a:t>
            </a:r>
            <a:r>
              <a:rPr sz="1867" spc="-80" dirty="0">
                <a:solidFill>
                  <a:prstClr val="black"/>
                </a:solidFill>
                <a:latin typeface="Calibri"/>
                <a:cs typeface="Calibri"/>
              </a:rPr>
              <a:t> </a:t>
            </a:r>
            <a:r>
              <a:rPr sz="1867" spc="-7" dirty="0">
                <a:solidFill>
                  <a:prstClr val="black"/>
                </a:solidFill>
                <a:latin typeface="Calibri"/>
                <a:cs typeface="Calibri"/>
              </a:rPr>
              <a:t>function</a:t>
            </a:r>
            <a:endParaRPr sz="1867">
              <a:solidFill>
                <a:prstClr val="black"/>
              </a:solidFill>
              <a:latin typeface="Calibri"/>
              <a:cs typeface="Calibri"/>
            </a:endParaRPr>
          </a:p>
          <a:p>
            <a:pPr marR="6633467" algn="ctr" defTabSz="1219170">
              <a:spcBef>
                <a:spcPts val="87"/>
              </a:spcBef>
            </a:pPr>
            <a:r>
              <a:rPr sz="2400" b="1" spc="-7" dirty="0">
                <a:solidFill>
                  <a:srgbClr val="8C1414"/>
                </a:solidFill>
                <a:latin typeface="Calibri"/>
                <a:cs typeface="Calibri"/>
              </a:rPr>
              <a:t>RLHF</a:t>
            </a:r>
            <a:r>
              <a:rPr sz="2400" b="1" spc="-87" dirty="0">
                <a:solidFill>
                  <a:srgbClr val="8C1414"/>
                </a:solidFill>
                <a:latin typeface="Calibri"/>
                <a:cs typeface="Calibri"/>
              </a:rPr>
              <a:t> </a:t>
            </a:r>
            <a:r>
              <a:rPr sz="2400" b="1" spc="-13" dirty="0">
                <a:solidFill>
                  <a:srgbClr val="8C1414"/>
                </a:solidFill>
                <a:latin typeface="Calibri"/>
                <a:cs typeface="Calibri"/>
              </a:rPr>
              <a:t>Objective</a:t>
            </a:r>
            <a:endParaRPr sz="2400">
              <a:solidFill>
                <a:prstClr val="black"/>
              </a:solidFill>
              <a:latin typeface="Calibri"/>
              <a:cs typeface="Calibri"/>
            </a:endParaRPr>
          </a:p>
          <a:p>
            <a:pPr marR="6630928" algn="ctr" defTabSz="1219170">
              <a:spcBef>
                <a:spcPts val="445"/>
              </a:spcBef>
            </a:pPr>
            <a:r>
              <a:rPr sz="1333" spc="-7" dirty="0">
                <a:solidFill>
                  <a:prstClr val="black"/>
                </a:solidFill>
                <a:latin typeface="Calibri"/>
                <a:cs typeface="Calibri"/>
              </a:rPr>
              <a:t>(get </a:t>
            </a:r>
            <a:r>
              <a:rPr sz="1333" b="1" spc="-7" dirty="0">
                <a:solidFill>
                  <a:prstClr val="black"/>
                </a:solidFill>
                <a:latin typeface="Calibri"/>
                <a:cs typeface="Calibri"/>
              </a:rPr>
              <a:t>high </a:t>
            </a:r>
            <a:r>
              <a:rPr sz="1333" b="1" spc="-13" dirty="0">
                <a:solidFill>
                  <a:prstClr val="black"/>
                </a:solidFill>
                <a:latin typeface="Calibri"/>
                <a:cs typeface="Calibri"/>
              </a:rPr>
              <a:t>reward</a:t>
            </a:r>
            <a:r>
              <a:rPr sz="1333" spc="-13" dirty="0">
                <a:solidFill>
                  <a:prstClr val="black"/>
                </a:solidFill>
                <a:latin typeface="Calibri"/>
                <a:cs typeface="Calibri"/>
              </a:rPr>
              <a:t>, </a:t>
            </a:r>
            <a:r>
              <a:rPr sz="1333" spc="-20" dirty="0">
                <a:solidFill>
                  <a:prstClr val="black"/>
                </a:solidFill>
                <a:latin typeface="Calibri"/>
                <a:cs typeface="Calibri"/>
              </a:rPr>
              <a:t>stay</a:t>
            </a:r>
            <a:r>
              <a:rPr sz="1333" spc="-80" dirty="0">
                <a:solidFill>
                  <a:prstClr val="black"/>
                </a:solidFill>
                <a:latin typeface="Calibri"/>
                <a:cs typeface="Calibri"/>
              </a:rPr>
              <a:t> </a:t>
            </a:r>
            <a:r>
              <a:rPr sz="1333" b="1" spc="-7" dirty="0">
                <a:solidFill>
                  <a:prstClr val="black"/>
                </a:solidFill>
                <a:latin typeface="Calibri"/>
                <a:cs typeface="Calibri"/>
              </a:rPr>
              <a:t>close</a:t>
            </a:r>
            <a:endParaRPr sz="1333">
              <a:solidFill>
                <a:prstClr val="black"/>
              </a:solidFill>
              <a:latin typeface="Calibri"/>
              <a:cs typeface="Calibri"/>
            </a:endParaRPr>
          </a:p>
          <a:p>
            <a:pPr marR="6631774" algn="ctr" defTabSz="1219170"/>
            <a:r>
              <a:rPr sz="1333" spc="-7" dirty="0">
                <a:solidFill>
                  <a:prstClr val="black"/>
                </a:solidFill>
                <a:latin typeface="Calibri"/>
                <a:cs typeface="Calibri"/>
              </a:rPr>
              <a:t>to </a:t>
            </a:r>
            <a:r>
              <a:rPr sz="1333" spc="-13" dirty="0">
                <a:solidFill>
                  <a:prstClr val="black"/>
                </a:solidFill>
                <a:latin typeface="Calibri"/>
                <a:cs typeface="Calibri"/>
              </a:rPr>
              <a:t>reference</a:t>
            </a:r>
            <a:r>
              <a:rPr sz="1333" spc="-33" dirty="0">
                <a:solidFill>
                  <a:prstClr val="black"/>
                </a:solidFill>
                <a:latin typeface="Calibri"/>
                <a:cs typeface="Calibri"/>
              </a:rPr>
              <a:t> </a:t>
            </a:r>
            <a:r>
              <a:rPr sz="1333" spc="-7" dirty="0">
                <a:solidFill>
                  <a:prstClr val="black"/>
                </a:solidFill>
                <a:latin typeface="Calibri"/>
                <a:cs typeface="Calibri"/>
              </a:rPr>
              <a:t>model)</a:t>
            </a:r>
            <a:endParaRPr sz="1333">
              <a:solidFill>
                <a:prstClr val="black"/>
              </a:solidFill>
              <a:latin typeface="Calibri"/>
              <a:cs typeface="Calibri"/>
            </a:endParaRPr>
          </a:p>
        </p:txBody>
      </p:sp>
      <p:sp>
        <p:nvSpPr>
          <p:cNvPr id="6" name="object 6"/>
          <p:cNvSpPr txBox="1"/>
          <p:nvPr/>
        </p:nvSpPr>
        <p:spPr>
          <a:xfrm>
            <a:off x="574566" y="3222167"/>
            <a:ext cx="1865207" cy="1335408"/>
          </a:xfrm>
          <a:prstGeom prst="rect">
            <a:avLst/>
          </a:prstGeom>
        </p:spPr>
        <p:txBody>
          <a:bodyPr vert="horz" wrap="square" lIns="0" tIns="16933" rIns="0" bIns="0" rtlCol="0">
            <a:spAutoFit/>
          </a:bodyPr>
          <a:lstStyle/>
          <a:p>
            <a:pPr marL="16086" marR="6773" indent="847" algn="ctr" defTabSz="1219170">
              <a:spcBef>
                <a:spcPts val="133"/>
              </a:spcBef>
            </a:pPr>
            <a:r>
              <a:rPr sz="2400" b="1" spc="-13" dirty="0">
                <a:solidFill>
                  <a:srgbClr val="8C1414"/>
                </a:solidFill>
                <a:latin typeface="Calibri"/>
                <a:cs typeface="Calibri"/>
              </a:rPr>
              <a:t>Closed-form  </a:t>
            </a:r>
            <a:r>
              <a:rPr sz="2400" b="1" spc="-7" dirty="0">
                <a:solidFill>
                  <a:srgbClr val="8C1414"/>
                </a:solidFill>
                <a:latin typeface="Calibri"/>
                <a:cs typeface="Calibri"/>
              </a:rPr>
              <a:t>Optimal</a:t>
            </a:r>
            <a:r>
              <a:rPr sz="2400" b="1" spc="-127" dirty="0">
                <a:solidFill>
                  <a:srgbClr val="8C1414"/>
                </a:solidFill>
                <a:latin typeface="Calibri"/>
                <a:cs typeface="Calibri"/>
              </a:rPr>
              <a:t> </a:t>
            </a:r>
            <a:r>
              <a:rPr sz="2400" b="1" spc="-13" dirty="0">
                <a:solidFill>
                  <a:srgbClr val="8C1414"/>
                </a:solidFill>
                <a:latin typeface="Calibri"/>
                <a:cs typeface="Calibri"/>
              </a:rPr>
              <a:t>Policy</a:t>
            </a:r>
            <a:endParaRPr sz="2400">
              <a:solidFill>
                <a:prstClr val="black"/>
              </a:solidFill>
              <a:latin typeface="Calibri"/>
              <a:cs typeface="Calibri"/>
            </a:endParaRPr>
          </a:p>
          <a:p>
            <a:pPr marL="49952" marR="36406" indent="-847" algn="ctr" defTabSz="1219170">
              <a:spcBef>
                <a:spcPts val="213"/>
              </a:spcBef>
            </a:pPr>
            <a:r>
              <a:rPr sz="1200" spc="-7" dirty="0">
                <a:solidFill>
                  <a:prstClr val="black"/>
                </a:solidFill>
                <a:latin typeface="Calibri"/>
                <a:cs typeface="Calibri"/>
              </a:rPr>
              <a:t>(write </a:t>
            </a:r>
            <a:r>
              <a:rPr sz="1200" b="1" spc="-7" dirty="0">
                <a:solidFill>
                  <a:prstClr val="black"/>
                </a:solidFill>
                <a:latin typeface="Calibri"/>
                <a:cs typeface="Calibri"/>
              </a:rPr>
              <a:t>optimal policy </a:t>
            </a:r>
            <a:r>
              <a:rPr sz="1200" dirty="0">
                <a:solidFill>
                  <a:prstClr val="black"/>
                </a:solidFill>
                <a:latin typeface="Calibri"/>
                <a:cs typeface="Calibri"/>
              </a:rPr>
              <a:t>as  </a:t>
            </a:r>
            <a:r>
              <a:rPr sz="1200" spc="-7" dirty="0">
                <a:solidFill>
                  <a:prstClr val="black"/>
                </a:solidFill>
                <a:latin typeface="Calibri"/>
                <a:cs typeface="Calibri"/>
              </a:rPr>
              <a:t>function of </a:t>
            </a:r>
            <a:r>
              <a:rPr sz="1200" b="1" spc="-13" dirty="0">
                <a:solidFill>
                  <a:prstClr val="black"/>
                </a:solidFill>
                <a:latin typeface="Calibri"/>
                <a:cs typeface="Calibri"/>
              </a:rPr>
              <a:t>reward</a:t>
            </a:r>
            <a:r>
              <a:rPr sz="1200" b="1" spc="-87" dirty="0">
                <a:solidFill>
                  <a:prstClr val="black"/>
                </a:solidFill>
                <a:latin typeface="Calibri"/>
                <a:cs typeface="Calibri"/>
              </a:rPr>
              <a:t> </a:t>
            </a:r>
            <a:r>
              <a:rPr sz="1200" b="1" spc="-7" dirty="0">
                <a:solidFill>
                  <a:prstClr val="black"/>
                </a:solidFill>
                <a:latin typeface="Calibri"/>
                <a:cs typeface="Calibri"/>
              </a:rPr>
              <a:t>function</a:t>
            </a:r>
            <a:r>
              <a:rPr sz="1200" spc="-7" dirty="0">
                <a:solidFill>
                  <a:prstClr val="black"/>
                </a:solidFill>
                <a:latin typeface="Calibri"/>
                <a:cs typeface="Calibri"/>
              </a:rPr>
              <a:t>;  </a:t>
            </a:r>
            <a:r>
              <a:rPr sz="1200" spc="-13" dirty="0">
                <a:solidFill>
                  <a:prstClr val="black"/>
                </a:solidFill>
                <a:latin typeface="Calibri"/>
                <a:cs typeface="Calibri"/>
              </a:rPr>
              <a:t>from </a:t>
            </a:r>
            <a:r>
              <a:rPr sz="1200" spc="-7" dirty="0">
                <a:solidFill>
                  <a:prstClr val="black"/>
                </a:solidFill>
                <a:latin typeface="Calibri"/>
                <a:cs typeface="Calibri"/>
              </a:rPr>
              <a:t>prior</a:t>
            </a:r>
            <a:r>
              <a:rPr sz="1200" spc="-13" dirty="0">
                <a:solidFill>
                  <a:prstClr val="black"/>
                </a:solidFill>
                <a:latin typeface="Calibri"/>
                <a:cs typeface="Calibri"/>
              </a:rPr>
              <a:t> work)</a:t>
            </a:r>
            <a:endParaRPr sz="1200">
              <a:solidFill>
                <a:prstClr val="black"/>
              </a:solidFill>
              <a:latin typeface="Calibri"/>
              <a:cs typeface="Calibri"/>
            </a:endParaRPr>
          </a:p>
        </p:txBody>
      </p:sp>
      <p:sp>
        <p:nvSpPr>
          <p:cNvPr id="7" name="object 7"/>
          <p:cNvSpPr/>
          <p:nvPr/>
        </p:nvSpPr>
        <p:spPr>
          <a:xfrm>
            <a:off x="2947533" y="1935067"/>
            <a:ext cx="8133035" cy="482965"/>
          </a:xfrm>
          <a:prstGeom prst="rect">
            <a:avLst/>
          </a:prstGeom>
          <a:blipFill>
            <a:blip r:embed="rId3"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8" name="object 8"/>
          <p:cNvSpPr/>
          <p:nvPr/>
        </p:nvSpPr>
        <p:spPr>
          <a:xfrm>
            <a:off x="2947549" y="3154280"/>
            <a:ext cx="5819115" cy="763600"/>
          </a:xfrm>
          <a:prstGeom prst="rect">
            <a:avLst/>
          </a:prstGeom>
          <a:blipFill>
            <a:blip r:embed="rId4" cstate="print"/>
            <a:stretch>
              <a:fillRect/>
            </a:stretch>
          </a:blipFill>
        </p:spPr>
        <p:txBody>
          <a:bodyPr wrap="square" lIns="0" tIns="0" rIns="0" bIns="0" rtlCol="0"/>
          <a:lstStyle/>
          <a:p>
            <a:pPr defTabSz="1219170"/>
            <a:endParaRPr sz="2400">
              <a:solidFill>
                <a:prstClr val="black"/>
              </a:solidFill>
              <a:latin typeface="Calibri"/>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8" y="671226"/>
            <a:ext cx="6750473" cy="607003"/>
          </a:xfrm>
          <a:prstGeom prst="rect">
            <a:avLst/>
          </a:prstGeom>
        </p:spPr>
        <p:txBody>
          <a:bodyPr vert="horz" wrap="square" lIns="0" tIns="22013" rIns="0" bIns="0" rtlCol="0">
            <a:spAutoFit/>
          </a:bodyPr>
          <a:lstStyle/>
          <a:p>
            <a:pPr marL="16933">
              <a:spcBef>
                <a:spcPts val="173"/>
              </a:spcBef>
            </a:pPr>
            <a:r>
              <a:rPr spc="7" dirty="0"/>
              <a:t>Direct Preference</a:t>
            </a:r>
            <a:r>
              <a:rPr spc="33" dirty="0"/>
              <a:t> </a:t>
            </a:r>
            <a:r>
              <a:rPr spc="7" dirty="0"/>
              <a:t>Optimization</a:t>
            </a:r>
          </a:p>
        </p:txBody>
      </p:sp>
      <p:sp>
        <p:nvSpPr>
          <p:cNvPr id="3" name="object 3"/>
          <p:cNvSpPr/>
          <p:nvPr/>
        </p:nvSpPr>
        <p:spPr>
          <a:xfrm>
            <a:off x="6596988" y="1646334"/>
            <a:ext cx="472440" cy="168485"/>
          </a:xfrm>
          <a:custGeom>
            <a:avLst/>
            <a:gdLst/>
            <a:ahLst/>
            <a:cxnLst/>
            <a:rect l="l" t="t" r="r" b="b"/>
            <a:pathLst>
              <a:path w="354329" h="126365">
                <a:moveTo>
                  <a:pt x="353708" y="0"/>
                </a:moveTo>
                <a:lnTo>
                  <a:pt x="0" y="125798"/>
                </a:lnTo>
              </a:path>
            </a:pathLst>
          </a:custGeom>
          <a:ln w="19049">
            <a:solidFill>
              <a:srgbClr val="2E2C28"/>
            </a:solidFill>
          </a:ln>
        </p:spPr>
        <p:txBody>
          <a:bodyPr wrap="square" lIns="0" tIns="0" rIns="0" bIns="0" rtlCol="0"/>
          <a:lstStyle/>
          <a:p>
            <a:pPr defTabSz="1219170"/>
            <a:endParaRPr sz="2400">
              <a:solidFill>
                <a:prstClr val="black"/>
              </a:solidFill>
              <a:latin typeface="Calibri"/>
            </a:endParaRPr>
          </a:p>
        </p:txBody>
      </p:sp>
      <p:sp>
        <p:nvSpPr>
          <p:cNvPr id="4" name="object 4"/>
          <p:cNvSpPr/>
          <p:nvPr/>
        </p:nvSpPr>
        <p:spPr>
          <a:xfrm>
            <a:off x="6475686" y="1761836"/>
            <a:ext cx="148061" cy="104456"/>
          </a:xfrm>
          <a:prstGeom prst="rect">
            <a:avLst/>
          </a:prstGeom>
          <a:blipFill>
            <a:blip r:embed="rId2"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5" name="object 5"/>
          <p:cNvSpPr txBox="1"/>
          <p:nvPr/>
        </p:nvSpPr>
        <p:spPr>
          <a:xfrm>
            <a:off x="2906410" y="4048982"/>
            <a:ext cx="430953" cy="283774"/>
          </a:xfrm>
          <a:prstGeom prst="rect">
            <a:avLst/>
          </a:prstGeom>
        </p:spPr>
        <p:txBody>
          <a:bodyPr vert="horz" wrap="square" lIns="0" tIns="16933" rIns="0" bIns="0" rtlCol="0">
            <a:spAutoFit/>
          </a:bodyPr>
          <a:lstStyle/>
          <a:p>
            <a:pPr marL="16933" defTabSz="1219170">
              <a:spcBef>
                <a:spcPts val="133"/>
              </a:spcBef>
            </a:pPr>
            <a:r>
              <a:rPr sz="1733" spc="-7" dirty="0">
                <a:solidFill>
                  <a:prstClr val="black"/>
                </a:solidFill>
                <a:latin typeface="Calibri"/>
                <a:cs typeface="Calibri"/>
              </a:rPr>
              <a:t>with</a:t>
            </a:r>
            <a:endParaRPr sz="1733">
              <a:solidFill>
                <a:prstClr val="black"/>
              </a:solidFill>
              <a:latin typeface="Calibri"/>
              <a:cs typeface="Calibri"/>
            </a:endParaRPr>
          </a:p>
        </p:txBody>
      </p:sp>
      <p:sp>
        <p:nvSpPr>
          <p:cNvPr id="6" name="object 6"/>
          <p:cNvSpPr txBox="1"/>
          <p:nvPr/>
        </p:nvSpPr>
        <p:spPr>
          <a:xfrm>
            <a:off x="538847" y="1431216"/>
            <a:ext cx="8580967" cy="1148114"/>
          </a:xfrm>
          <a:prstGeom prst="rect">
            <a:avLst/>
          </a:prstGeom>
        </p:spPr>
        <p:txBody>
          <a:bodyPr vert="horz" wrap="square" lIns="0" tIns="16933" rIns="0" bIns="0" rtlCol="0">
            <a:spAutoFit/>
          </a:bodyPr>
          <a:lstStyle/>
          <a:p>
            <a:pPr marR="6773" algn="r" defTabSz="1219170">
              <a:spcBef>
                <a:spcPts val="133"/>
              </a:spcBef>
            </a:pPr>
            <a:r>
              <a:rPr sz="1867" b="1" spc="-20" dirty="0">
                <a:solidFill>
                  <a:prstClr val="black"/>
                </a:solidFill>
                <a:latin typeface="Calibri"/>
                <a:cs typeface="Calibri"/>
              </a:rPr>
              <a:t>any </a:t>
            </a:r>
            <a:r>
              <a:rPr sz="1867" spc="-20" dirty="0">
                <a:solidFill>
                  <a:prstClr val="black"/>
                </a:solidFill>
                <a:latin typeface="Calibri"/>
                <a:cs typeface="Calibri"/>
              </a:rPr>
              <a:t>reward</a:t>
            </a:r>
            <a:r>
              <a:rPr sz="1867" spc="-80" dirty="0">
                <a:solidFill>
                  <a:prstClr val="black"/>
                </a:solidFill>
                <a:latin typeface="Calibri"/>
                <a:cs typeface="Calibri"/>
              </a:rPr>
              <a:t> </a:t>
            </a:r>
            <a:r>
              <a:rPr sz="1867" spc="-7" dirty="0">
                <a:solidFill>
                  <a:prstClr val="black"/>
                </a:solidFill>
                <a:latin typeface="Calibri"/>
                <a:cs typeface="Calibri"/>
              </a:rPr>
              <a:t>function</a:t>
            </a:r>
            <a:endParaRPr sz="1867">
              <a:solidFill>
                <a:prstClr val="black"/>
              </a:solidFill>
              <a:latin typeface="Calibri"/>
              <a:cs typeface="Calibri"/>
            </a:endParaRPr>
          </a:p>
          <a:p>
            <a:pPr marR="6633467" algn="ctr" defTabSz="1219170">
              <a:spcBef>
                <a:spcPts val="87"/>
              </a:spcBef>
            </a:pPr>
            <a:r>
              <a:rPr sz="2400" b="1" spc="-7" dirty="0">
                <a:solidFill>
                  <a:srgbClr val="8C1414"/>
                </a:solidFill>
                <a:latin typeface="Calibri"/>
                <a:cs typeface="Calibri"/>
              </a:rPr>
              <a:t>RLHF</a:t>
            </a:r>
            <a:r>
              <a:rPr sz="2400" b="1" spc="-87" dirty="0">
                <a:solidFill>
                  <a:srgbClr val="8C1414"/>
                </a:solidFill>
                <a:latin typeface="Calibri"/>
                <a:cs typeface="Calibri"/>
              </a:rPr>
              <a:t> </a:t>
            </a:r>
            <a:r>
              <a:rPr sz="2400" b="1" spc="-13" dirty="0">
                <a:solidFill>
                  <a:srgbClr val="8C1414"/>
                </a:solidFill>
                <a:latin typeface="Calibri"/>
                <a:cs typeface="Calibri"/>
              </a:rPr>
              <a:t>Objective</a:t>
            </a:r>
            <a:endParaRPr sz="2400">
              <a:solidFill>
                <a:prstClr val="black"/>
              </a:solidFill>
              <a:latin typeface="Calibri"/>
              <a:cs typeface="Calibri"/>
            </a:endParaRPr>
          </a:p>
          <a:p>
            <a:pPr marR="6630928" algn="ctr" defTabSz="1219170">
              <a:spcBef>
                <a:spcPts val="445"/>
              </a:spcBef>
            </a:pPr>
            <a:r>
              <a:rPr sz="1333" spc="-7" dirty="0">
                <a:solidFill>
                  <a:prstClr val="black"/>
                </a:solidFill>
                <a:latin typeface="Calibri"/>
                <a:cs typeface="Calibri"/>
              </a:rPr>
              <a:t>(get </a:t>
            </a:r>
            <a:r>
              <a:rPr sz="1333" b="1" spc="-7" dirty="0">
                <a:solidFill>
                  <a:prstClr val="black"/>
                </a:solidFill>
                <a:latin typeface="Calibri"/>
                <a:cs typeface="Calibri"/>
              </a:rPr>
              <a:t>high </a:t>
            </a:r>
            <a:r>
              <a:rPr sz="1333" b="1" spc="-13" dirty="0">
                <a:solidFill>
                  <a:prstClr val="black"/>
                </a:solidFill>
                <a:latin typeface="Calibri"/>
                <a:cs typeface="Calibri"/>
              </a:rPr>
              <a:t>reward</a:t>
            </a:r>
            <a:r>
              <a:rPr sz="1333" spc="-13" dirty="0">
                <a:solidFill>
                  <a:prstClr val="black"/>
                </a:solidFill>
                <a:latin typeface="Calibri"/>
                <a:cs typeface="Calibri"/>
              </a:rPr>
              <a:t>, </a:t>
            </a:r>
            <a:r>
              <a:rPr sz="1333" spc="-20" dirty="0">
                <a:solidFill>
                  <a:prstClr val="black"/>
                </a:solidFill>
                <a:latin typeface="Calibri"/>
                <a:cs typeface="Calibri"/>
              </a:rPr>
              <a:t>stay</a:t>
            </a:r>
            <a:r>
              <a:rPr sz="1333" spc="-80" dirty="0">
                <a:solidFill>
                  <a:prstClr val="black"/>
                </a:solidFill>
                <a:latin typeface="Calibri"/>
                <a:cs typeface="Calibri"/>
              </a:rPr>
              <a:t> </a:t>
            </a:r>
            <a:r>
              <a:rPr sz="1333" b="1" spc="-7" dirty="0">
                <a:solidFill>
                  <a:prstClr val="black"/>
                </a:solidFill>
                <a:latin typeface="Calibri"/>
                <a:cs typeface="Calibri"/>
              </a:rPr>
              <a:t>close</a:t>
            </a:r>
            <a:endParaRPr sz="1333">
              <a:solidFill>
                <a:prstClr val="black"/>
              </a:solidFill>
              <a:latin typeface="Calibri"/>
              <a:cs typeface="Calibri"/>
            </a:endParaRPr>
          </a:p>
          <a:p>
            <a:pPr marR="6631774" algn="ctr" defTabSz="1219170"/>
            <a:r>
              <a:rPr sz="1333" spc="-7" dirty="0">
                <a:solidFill>
                  <a:prstClr val="black"/>
                </a:solidFill>
                <a:latin typeface="Calibri"/>
                <a:cs typeface="Calibri"/>
              </a:rPr>
              <a:t>to </a:t>
            </a:r>
            <a:r>
              <a:rPr sz="1333" spc="-13" dirty="0">
                <a:solidFill>
                  <a:prstClr val="black"/>
                </a:solidFill>
                <a:latin typeface="Calibri"/>
                <a:cs typeface="Calibri"/>
              </a:rPr>
              <a:t>reference</a:t>
            </a:r>
            <a:r>
              <a:rPr sz="1333" spc="-33" dirty="0">
                <a:solidFill>
                  <a:prstClr val="black"/>
                </a:solidFill>
                <a:latin typeface="Calibri"/>
                <a:cs typeface="Calibri"/>
              </a:rPr>
              <a:t> </a:t>
            </a:r>
            <a:r>
              <a:rPr sz="1333" spc="-7" dirty="0">
                <a:solidFill>
                  <a:prstClr val="black"/>
                </a:solidFill>
                <a:latin typeface="Calibri"/>
                <a:cs typeface="Calibri"/>
              </a:rPr>
              <a:t>model)</a:t>
            </a:r>
            <a:endParaRPr sz="1333">
              <a:solidFill>
                <a:prstClr val="black"/>
              </a:solidFill>
              <a:latin typeface="Calibri"/>
              <a:cs typeface="Calibri"/>
            </a:endParaRPr>
          </a:p>
        </p:txBody>
      </p:sp>
      <p:sp>
        <p:nvSpPr>
          <p:cNvPr id="7" name="object 7"/>
          <p:cNvSpPr txBox="1"/>
          <p:nvPr/>
        </p:nvSpPr>
        <p:spPr>
          <a:xfrm>
            <a:off x="574566" y="3222167"/>
            <a:ext cx="1865207" cy="1335408"/>
          </a:xfrm>
          <a:prstGeom prst="rect">
            <a:avLst/>
          </a:prstGeom>
        </p:spPr>
        <p:txBody>
          <a:bodyPr vert="horz" wrap="square" lIns="0" tIns="16933" rIns="0" bIns="0" rtlCol="0">
            <a:spAutoFit/>
          </a:bodyPr>
          <a:lstStyle/>
          <a:p>
            <a:pPr marL="16086" marR="6773" indent="847" algn="ctr" defTabSz="1219170">
              <a:spcBef>
                <a:spcPts val="133"/>
              </a:spcBef>
            </a:pPr>
            <a:r>
              <a:rPr sz="2400" b="1" spc="-13" dirty="0">
                <a:solidFill>
                  <a:srgbClr val="8C1414"/>
                </a:solidFill>
                <a:latin typeface="Calibri"/>
                <a:cs typeface="Calibri"/>
              </a:rPr>
              <a:t>Closed-form  </a:t>
            </a:r>
            <a:r>
              <a:rPr sz="2400" b="1" spc="-7" dirty="0">
                <a:solidFill>
                  <a:srgbClr val="8C1414"/>
                </a:solidFill>
                <a:latin typeface="Calibri"/>
                <a:cs typeface="Calibri"/>
              </a:rPr>
              <a:t>Optimal</a:t>
            </a:r>
            <a:r>
              <a:rPr sz="2400" b="1" spc="-127" dirty="0">
                <a:solidFill>
                  <a:srgbClr val="8C1414"/>
                </a:solidFill>
                <a:latin typeface="Calibri"/>
                <a:cs typeface="Calibri"/>
              </a:rPr>
              <a:t> </a:t>
            </a:r>
            <a:r>
              <a:rPr sz="2400" b="1" spc="-13" dirty="0">
                <a:solidFill>
                  <a:srgbClr val="8C1414"/>
                </a:solidFill>
                <a:latin typeface="Calibri"/>
                <a:cs typeface="Calibri"/>
              </a:rPr>
              <a:t>Policy</a:t>
            </a:r>
            <a:endParaRPr sz="2400">
              <a:solidFill>
                <a:prstClr val="black"/>
              </a:solidFill>
              <a:latin typeface="Calibri"/>
              <a:cs typeface="Calibri"/>
            </a:endParaRPr>
          </a:p>
          <a:p>
            <a:pPr marL="49952" marR="36406" indent="-847" algn="ctr" defTabSz="1219170">
              <a:spcBef>
                <a:spcPts val="213"/>
              </a:spcBef>
            </a:pPr>
            <a:r>
              <a:rPr sz="1200" spc="-7" dirty="0">
                <a:solidFill>
                  <a:prstClr val="black"/>
                </a:solidFill>
                <a:latin typeface="Calibri"/>
                <a:cs typeface="Calibri"/>
              </a:rPr>
              <a:t>(write </a:t>
            </a:r>
            <a:r>
              <a:rPr sz="1200" b="1" spc="-7" dirty="0">
                <a:solidFill>
                  <a:prstClr val="black"/>
                </a:solidFill>
                <a:latin typeface="Calibri"/>
                <a:cs typeface="Calibri"/>
              </a:rPr>
              <a:t>optimal policy </a:t>
            </a:r>
            <a:r>
              <a:rPr sz="1200" dirty="0">
                <a:solidFill>
                  <a:prstClr val="black"/>
                </a:solidFill>
                <a:latin typeface="Calibri"/>
                <a:cs typeface="Calibri"/>
              </a:rPr>
              <a:t>as  </a:t>
            </a:r>
            <a:r>
              <a:rPr sz="1200" spc="-7" dirty="0">
                <a:solidFill>
                  <a:prstClr val="black"/>
                </a:solidFill>
                <a:latin typeface="Calibri"/>
                <a:cs typeface="Calibri"/>
              </a:rPr>
              <a:t>function of </a:t>
            </a:r>
            <a:r>
              <a:rPr sz="1200" b="1" spc="-13" dirty="0">
                <a:solidFill>
                  <a:prstClr val="black"/>
                </a:solidFill>
                <a:latin typeface="Calibri"/>
                <a:cs typeface="Calibri"/>
              </a:rPr>
              <a:t>reward</a:t>
            </a:r>
            <a:r>
              <a:rPr sz="1200" b="1" spc="-87" dirty="0">
                <a:solidFill>
                  <a:prstClr val="black"/>
                </a:solidFill>
                <a:latin typeface="Calibri"/>
                <a:cs typeface="Calibri"/>
              </a:rPr>
              <a:t> </a:t>
            </a:r>
            <a:r>
              <a:rPr sz="1200" b="1" spc="-7" dirty="0">
                <a:solidFill>
                  <a:prstClr val="black"/>
                </a:solidFill>
                <a:latin typeface="Calibri"/>
                <a:cs typeface="Calibri"/>
              </a:rPr>
              <a:t>function</a:t>
            </a:r>
            <a:r>
              <a:rPr sz="1200" spc="-7" dirty="0">
                <a:solidFill>
                  <a:prstClr val="black"/>
                </a:solidFill>
                <a:latin typeface="Calibri"/>
                <a:cs typeface="Calibri"/>
              </a:rPr>
              <a:t>;  </a:t>
            </a:r>
            <a:r>
              <a:rPr sz="1200" spc="-13" dirty="0">
                <a:solidFill>
                  <a:prstClr val="black"/>
                </a:solidFill>
                <a:latin typeface="Calibri"/>
                <a:cs typeface="Calibri"/>
              </a:rPr>
              <a:t>from </a:t>
            </a:r>
            <a:r>
              <a:rPr sz="1200" spc="-7" dirty="0">
                <a:solidFill>
                  <a:prstClr val="black"/>
                </a:solidFill>
                <a:latin typeface="Calibri"/>
                <a:cs typeface="Calibri"/>
              </a:rPr>
              <a:t>prior</a:t>
            </a:r>
            <a:r>
              <a:rPr sz="1200" spc="-13" dirty="0">
                <a:solidFill>
                  <a:prstClr val="black"/>
                </a:solidFill>
                <a:latin typeface="Calibri"/>
                <a:cs typeface="Calibri"/>
              </a:rPr>
              <a:t> work)</a:t>
            </a:r>
            <a:endParaRPr sz="1200">
              <a:solidFill>
                <a:prstClr val="black"/>
              </a:solidFill>
              <a:latin typeface="Calibri"/>
              <a:cs typeface="Calibri"/>
            </a:endParaRPr>
          </a:p>
        </p:txBody>
      </p:sp>
      <p:sp>
        <p:nvSpPr>
          <p:cNvPr id="8" name="object 8"/>
          <p:cNvSpPr/>
          <p:nvPr/>
        </p:nvSpPr>
        <p:spPr>
          <a:xfrm>
            <a:off x="3928472" y="3880013"/>
            <a:ext cx="466513" cy="158327"/>
          </a:xfrm>
          <a:custGeom>
            <a:avLst/>
            <a:gdLst/>
            <a:ahLst/>
            <a:cxnLst/>
            <a:rect l="l" t="t" r="r" b="b"/>
            <a:pathLst>
              <a:path w="349885" h="118744">
                <a:moveTo>
                  <a:pt x="0" y="118181"/>
                </a:moveTo>
                <a:lnTo>
                  <a:pt x="349542" y="0"/>
                </a:lnTo>
              </a:path>
            </a:pathLst>
          </a:custGeom>
          <a:ln w="19049">
            <a:solidFill>
              <a:srgbClr val="2E2C28"/>
            </a:solidFill>
          </a:ln>
        </p:spPr>
        <p:txBody>
          <a:bodyPr wrap="square" lIns="0" tIns="0" rIns="0" bIns="0" rtlCol="0"/>
          <a:lstStyle/>
          <a:p>
            <a:pPr defTabSz="1219170"/>
            <a:endParaRPr sz="2400">
              <a:solidFill>
                <a:prstClr val="black"/>
              </a:solidFill>
              <a:latin typeface="Calibri"/>
            </a:endParaRPr>
          </a:p>
        </p:txBody>
      </p:sp>
      <p:sp>
        <p:nvSpPr>
          <p:cNvPr id="9" name="object 9"/>
          <p:cNvSpPr/>
          <p:nvPr/>
        </p:nvSpPr>
        <p:spPr>
          <a:xfrm>
            <a:off x="3806575" y="3985143"/>
            <a:ext cx="148032" cy="104887"/>
          </a:xfrm>
          <a:prstGeom prst="rect">
            <a:avLst/>
          </a:prstGeom>
          <a:blipFill>
            <a:blip r:embed="rId3"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10" name="object 10"/>
          <p:cNvSpPr/>
          <p:nvPr/>
        </p:nvSpPr>
        <p:spPr>
          <a:xfrm>
            <a:off x="4368391" y="3827569"/>
            <a:ext cx="148032" cy="104887"/>
          </a:xfrm>
          <a:prstGeom prst="rect">
            <a:avLst/>
          </a:prstGeom>
          <a:blipFill>
            <a:blip r:embed="rId4"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11" name="object 11"/>
          <p:cNvSpPr/>
          <p:nvPr/>
        </p:nvSpPr>
        <p:spPr>
          <a:xfrm>
            <a:off x="2947533" y="1935067"/>
            <a:ext cx="8133035" cy="482965"/>
          </a:xfrm>
          <a:prstGeom prst="rect">
            <a:avLst/>
          </a:prstGeom>
          <a:blipFill>
            <a:blip r:embed="rId5"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12" name="object 12"/>
          <p:cNvSpPr/>
          <p:nvPr/>
        </p:nvSpPr>
        <p:spPr>
          <a:xfrm>
            <a:off x="2947549" y="3154280"/>
            <a:ext cx="5819115" cy="763600"/>
          </a:xfrm>
          <a:prstGeom prst="rect">
            <a:avLst/>
          </a:prstGeom>
          <a:blipFill>
            <a:blip r:embed="rId6"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13" name="object 13"/>
          <p:cNvSpPr/>
          <p:nvPr/>
        </p:nvSpPr>
        <p:spPr>
          <a:xfrm>
            <a:off x="3433299" y="3971063"/>
            <a:ext cx="3575572" cy="615599"/>
          </a:xfrm>
          <a:prstGeom prst="rect">
            <a:avLst/>
          </a:prstGeom>
          <a:blipFill>
            <a:blip r:embed="rId7" cstate="print"/>
            <a:stretch>
              <a:fillRect/>
            </a:stretch>
          </a:blipFill>
        </p:spPr>
        <p:txBody>
          <a:bodyPr wrap="square" lIns="0" tIns="0" rIns="0" bIns="0" rtlCol="0"/>
          <a:lstStyle/>
          <a:p>
            <a:pPr defTabSz="1219170"/>
            <a:endParaRPr sz="2400">
              <a:solidFill>
                <a:prstClr val="black"/>
              </a:solidFill>
              <a:latin typeface="Calibri"/>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8" y="671226"/>
            <a:ext cx="6750473" cy="607003"/>
          </a:xfrm>
          <a:prstGeom prst="rect">
            <a:avLst/>
          </a:prstGeom>
        </p:spPr>
        <p:txBody>
          <a:bodyPr vert="horz" wrap="square" lIns="0" tIns="22013" rIns="0" bIns="0" rtlCol="0">
            <a:spAutoFit/>
          </a:bodyPr>
          <a:lstStyle/>
          <a:p>
            <a:pPr marL="16933">
              <a:spcBef>
                <a:spcPts val="173"/>
              </a:spcBef>
            </a:pPr>
            <a:r>
              <a:rPr spc="7" dirty="0"/>
              <a:t>Direct Preference</a:t>
            </a:r>
            <a:r>
              <a:rPr spc="33" dirty="0"/>
              <a:t> </a:t>
            </a:r>
            <a:r>
              <a:rPr spc="7" dirty="0"/>
              <a:t>Optimization</a:t>
            </a:r>
          </a:p>
        </p:txBody>
      </p:sp>
      <p:sp>
        <p:nvSpPr>
          <p:cNvPr id="3" name="object 3"/>
          <p:cNvSpPr/>
          <p:nvPr/>
        </p:nvSpPr>
        <p:spPr>
          <a:xfrm>
            <a:off x="6596988" y="1646334"/>
            <a:ext cx="472440" cy="168485"/>
          </a:xfrm>
          <a:custGeom>
            <a:avLst/>
            <a:gdLst/>
            <a:ahLst/>
            <a:cxnLst/>
            <a:rect l="l" t="t" r="r" b="b"/>
            <a:pathLst>
              <a:path w="354329" h="126365">
                <a:moveTo>
                  <a:pt x="353708" y="0"/>
                </a:moveTo>
                <a:lnTo>
                  <a:pt x="0" y="125798"/>
                </a:lnTo>
              </a:path>
            </a:pathLst>
          </a:custGeom>
          <a:ln w="19049">
            <a:solidFill>
              <a:srgbClr val="2E2C28"/>
            </a:solidFill>
          </a:ln>
        </p:spPr>
        <p:txBody>
          <a:bodyPr wrap="square" lIns="0" tIns="0" rIns="0" bIns="0" rtlCol="0"/>
          <a:lstStyle/>
          <a:p>
            <a:pPr defTabSz="1219170"/>
            <a:endParaRPr sz="2400">
              <a:solidFill>
                <a:prstClr val="black"/>
              </a:solidFill>
              <a:latin typeface="Calibri"/>
            </a:endParaRPr>
          </a:p>
        </p:txBody>
      </p:sp>
      <p:sp>
        <p:nvSpPr>
          <p:cNvPr id="4" name="object 4"/>
          <p:cNvSpPr/>
          <p:nvPr/>
        </p:nvSpPr>
        <p:spPr>
          <a:xfrm>
            <a:off x="6475686" y="1761836"/>
            <a:ext cx="148061" cy="104456"/>
          </a:xfrm>
          <a:prstGeom prst="rect">
            <a:avLst/>
          </a:prstGeom>
          <a:blipFill>
            <a:blip r:embed="rId2"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5" name="object 5"/>
          <p:cNvSpPr txBox="1"/>
          <p:nvPr/>
        </p:nvSpPr>
        <p:spPr>
          <a:xfrm>
            <a:off x="2906410" y="4048982"/>
            <a:ext cx="430953" cy="283774"/>
          </a:xfrm>
          <a:prstGeom prst="rect">
            <a:avLst/>
          </a:prstGeom>
        </p:spPr>
        <p:txBody>
          <a:bodyPr vert="horz" wrap="square" lIns="0" tIns="16933" rIns="0" bIns="0" rtlCol="0">
            <a:spAutoFit/>
          </a:bodyPr>
          <a:lstStyle/>
          <a:p>
            <a:pPr marL="16933" defTabSz="1219170">
              <a:spcBef>
                <a:spcPts val="133"/>
              </a:spcBef>
            </a:pPr>
            <a:r>
              <a:rPr sz="1733" spc="-7" dirty="0">
                <a:solidFill>
                  <a:prstClr val="black"/>
                </a:solidFill>
                <a:latin typeface="Calibri"/>
                <a:cs typeface="Calibri"/>
              </a:rPr>
              <a:t>with</a:t>
            </a:r>
            <a:endParaRPr sz="1733">
              <a:solidFill>
                <a:prstClr val="black"/>
              </a:solidFill>
              <a:latin typeface="Calibri"/>
              <a:cs typeface="Calibri"/>
            </a:endParaRPr>
          </a:p>
        </p:txBody>
      </p:sp>
      <p:sp>
        <p:nvSpPr>
          <p:cNvPr id="6" name="object 6"/>
          <p:cNvSpPr txBox="1"/>
          <p:nvPr/>
        </p:nvSpPr>
        <p:spPr>
          <a:xfrm>
            <a:off x="538847" y="1431216"/>
            <a:ext cx="8580967" cy="1148114"/>
          </a:xfrm>
          <a:prstGeom prst="rect">
            <a:avLst/>
          </a:prstGeom>
        </p:spPr>
        <p:txBody>
          <a:bodyPr vert="horz" wrap="square" lIns="0" tIns="16933" rIns="0" bIns="0" rtlCol="0">
            <a:spAutoFit/>
          </a:bodyPr>
          <a:lstStyle/>
          <a:p>
            <a:pPr marR="6773" algn="r" defTabSz="1219170">
              <a:spcBef>
                <a:spcPts val="133"/>
              </a:spcBef>
            </a:pPr>
            <a:r>
              <a:rPr sz="1867" b="1" spc="-20" dirty="0">
                <a:solidFill>
                  <a:prstClr val="black"/>
                </a:solidFill>
                <a:latin typeface="Calibri"/>
                <a:cs typeface="Calibri"/>
              </a:rPr>
              <a:t>any </a:t>
            </a:r>
            <a:r>
              <a:rPr sz="1867" spc="-20" dirty="0">
                <a:solidFill>
                  <a:prstClr val="black"/>
                </a:solidFill>
                <a:latin typeface="Calibri"/>
                <a:cs typeface="Calibri"/>
              </a:rPr>
              <a:t>reward</a:t>
            </a:r>
            <a:r>
              <a:rPr sz="1867" spc="-80" dirty="0">
                <a:solidFill>
                  <a:prstClr val="black"/>
                </a:solidFill>
                <a:latin typeface="Calibri"/>
                <a:cs typeface="Calibri"/>
              </a:rPr>
              <a:t> </a:t>
            </a:r>
            <a:r>
              <a:rPr sz="1867" spc="-7" dirty="0">
                <a:solidFill>
                  <a:prstClr val="black"/>
                </a:solidFill>
                <a:latin typeface="Calibri"/>
                <a:cs typeface="Calibri"/>
              </a:rPr>
              <a:t>function</a:t>
            </a:r>
            <a:endParaRPr sz="1867">
              <a:solidFill>
                <a:prstClr val="black"/>
              </a:solidFill>
              <a:latin typeface="Calibri"/>
              <a:cs typeface="Calibri"/>
            </a:endParaRPr>
          </a:p>
          <a:p>
            <a:pPr marR="6633467" algn="ctr" defTabSz="1219170">
              <a:spcBef>
                <a:spcPts val="87"/>
              </a:spcBef>
            </a:pPr>
            <a:r>
              <a:rPr sz="2400" b="1" spc="-7" dirty="0">
                <a:solidFill>
                  <a:srgbClr val="8C1414"/>
                </a:solidFill>
                <a:latin typeface="Calibri"/>
                <a:cs typeface="Calibri"/>
              </a:rPr>
              <a:t>RLHF</a:t>
            </a:r>
            <a:r>
              <a:rPr sz="2400" b="1" spc="-87" dirty="0">
                <a:solidFill>
                  <a:srgbClr val="8C1414"/>
                </a:solidFill>
                <a:latin typeface="Calibri"/>
                <a:cs typeface="Calibri"/>
              </a:rPr>
              <a:t> </a:t>
            </a:r>
            <a:r>
              <a:rPr sz="2400" b="1" spc="-13" dirty="0">
                <a:solidFill>
                  <a:srgbClr val="8C1414"/>
                </a:solidFill>
                <a:latin typeface="Calibri"/>
                <a:cs typeface="Calibri"/>
              </a:rPr>
              <a:t>Objective</a:t>
            </a:r>
            <a:endParaRPr sz="2400">
              <a:solidFill>
                <a:prstClr val="black"/>
              </a:solidFill>
              <a:latin typeface="Calibri"/>
              <a:cs typeface="Calibri"/>
            </a:endParaRPr>
          </a:p>
          <a:p>
            <a:pPr marR="6630928" algn="ctr" defTabSz="1219170">
              <a:spcBef>
                <a:spcPts val="445"/>
              </a:spcBef>
            </a:pPr>
            <a:r>
              <a:rPr sz="1333" spc="-7" dirty="0">
                <a:solidFill>
                  <a:prstClr val="black"/>
                </a:solidFill>
                <a:latin typeface="Calibri"/>
                <a:cs typeface="Calibri"/>
              </a:rPr>
              <a:t>(get </a:t>
            </a:r>
            <a:r>
              <a:rPr sz="1333" b="1" spc="-7" dirty="0">
                <a:solidFill>
                  <a:prstClr val="black"/>
                </a:solidFill>
                <a:latin typeface="Calibri"/>
                <a:cs typeface="Calibri"/>
              </a:rPr>
              <a:t>high </a:t>
            </a:r>
            <a:r>
              <a:rPr sz="1333" b="1" spc="-13" dirty="0">
                <a:solidFill>
                  <a:prstClr val="black"/>
                </a:solidFill>
                <a:latin typeface="Calibri"/>
                <a:cs typeface="Calibri"/>
              </a:rPr>
              <a:t>reward</a:t>
            </a:r>
            <a:r>
              <a:rPr sz="1333" spc="-13" dirty="0">
                <a:solidFill>
                  <a:prstClr val="black"/>
                </a:solidFill>
                <a:latin typeface="Calibri"/>
                <a:cs typeface="Calibri"/>
              </a:rPr>
              <a:t>, </a:t>
            </a:r>
            <a:r>
              <a:rPr sz="1333" spc="-20" dirty="0">
                <a:solidFill>
                  <a:prstClr val="black"/>
                </a:solidFill>
                <a:latin typeface="Calibri"/>
                <a:cs typeface="Calibri"/>
              </a:rPr>
              <a:t>stay</a:t>
            </a:r>
            <a:r>
              <a:rPr sz="1333" spc="-80" dirty="0">
                <a:solidFill>
                  <a:prstClr val="black"/>
                </a:solidFill>
                <a:latin typeface="Calibri"/>
                <a:cs typeface="Calibri"/>
              </a:rPr>
              <a:t> </a:t>
            </a:r>
            <a:r>
              <a:rPr sz="1333" b="1" spc="-7" dirty="0">
                <a:solidFill>
                  <a:prstClr val="black"/>
                </a:solidFill>
                <a:latin typeface="Calibri"/>
                <a:cs typeface="Calibri"/>
              </a:rPr>
              <a:t>close</a:t>
            </a:r>
            <a:endParaRPr sz="1333">
              <a:solidFill>
                <a:prstClr val="black"/>
              </a:solidFill>
              <a:latin typeface="Calibri"/>
              <a:cs typeface="Calibri"/>
            </a:endParaRPr>
          </a:p>
          <a:p>
            <a:pPr marR="6631774" algn="ctr" defTabSz="1219170"/>
            <a:r>
              <a:rPr sz="1333" spc="-7" dirty="0">
                <a:solidFill>
                  <a:prstClr val="black"/>
                </a:solidFill>
                <a:latin typeface="Calibri"/>
                <a:cs typeface="Calibri"/>
              </a:rPr>
              <a:t>to </a:t>
            </a:r>
            <a:r>
              <a:rPr sz="1333" spc="-13" dirty="0">
                <a:solidFill>
                  <a:prstClr val="black"/>
                </a:solidFill>
                <a:latin typeface="Calibri"/>
                <a:cs typeface="Calibri"/>
              </a:rPr>
              <a:t>reference</a:t>
            </a:r>
            <a:r>
              <a:rPr sz="1333" spc="-33" dirty="0">
                <a:solidFill>
                  <a:prstClr val="black"/>
                </a:solidFill>
                <a:latin typeface="Calibri"/>
                <a:cs typeface="Calibri"/>
              </a:rPr>
              <a:t> </a:t>
            </a:r>
            <a:r>
              <a:rPr sz="1333" spc="-7" dirty="0">
                <a:solidFill>
                  <a:prstClr val="black"/>
                </a:solidFill>
                <a:latin typeface="Calibri"/>
                <a:cs typeface="Calibri"/>
              </a:rPr>
              <a:t>model)</a:t>
            </a:r>
            <a:endParaRPr sz="1333">
              <a:solidFill>
                <a:prstClr val="black"/>
              </a:solidFill>
              <a:latin typeface="Calibri"/>
              <a:cs typeface="Calibri"/>
            </a:endParaRPr>
          </a:p>
        </p:txBody>
      </p:sp>
      <p:sp>
        <p:nvSpPr>
          <p:cNvPr id="7" name="object 7"/>
          <p:cNvSpPr txBox="1"/>
          <p:nvPr/>
        </p:nvSpPr>
        <p:spPr>
          <a:xfrm>
            <a:off x="574566" y="3222167"/>
            <a:ext cx="1865207" cy="1335408"/>
          </a:xfrm>
          <a:prstGeom prst="rect">
            <a:avLst/>
          </a:prstGeom>
        </p:spPr>
        <p:txBody>
          <a:bodyPr vert="horz" wrap="square" lIns="0" tIns="16933" rIns="0" bIns="0" rtlCol="0">
            <a:spAutoFit/>
          </a:bodyPr>
          <a:lstStyle/>
          <a:p>
            <a:pPr marL="16086" marR="6773" indent="847" algn="ctr" defTabSz="1219170">
              <a:spcBef>
                <a:spcPts val="133"/>
              </a:spcBef>
            </a:pPr>
            <a:r>
              <a:rPr sz="2400" b="1" spc="-13" dirty="0">
                <a:solidFill>
                  <a:srgbClr val="8C1414"/>
                </a:solidFill>
                <a:latin typeface="Calibri"/>
                <a:cs typeface="Calibri"/>
              </a:rPr>
              <a:t>Closed-form  </a:t>
            </a:r>
            <a:r>
              <a:rPr sz="2400" b="1" spc="-7" dirty="0">
                <a:solidFill>
                  <a:srgbClr val="8C1414"/>
                </a:solidFill>
                <a:latin typeface="Calibri"/>
                <a:cs typeface="Calibri"/>
              </a:rPr>
              <a:t>Optimal</a:t>
            </a:r>
            <a:r>
              <a:rPr sz="2400" b="1" spc="-127" dirty="0">
                <a:solidFill>
                  <a:srgbClr val="8C1414"/>
                </a:solidFill>
                <a:latin typeface="Calibri"/>
                <a:cs typeface="Calibri"/>
              </a:rPr>
              <a:t> </a:t>
            </a:r>
            <a:r>
              <a:rPr sz="2400" b="1" spc="-13" dirty="0">
                <a:solidFill>
                  <a:srgbClr val="8C1414"/>
                </a:solidFill>
                <a:latin typeface="Calibri"/>
                <a:cs typeface="Calibri"/>
              </a:rPr>
              <a:t>Policy</a:t>
            </a:r>
            <a:endParaRPr sz="2400">
              <a:solidFill>
                <a:prstClr val="black"/>
              </a:solidFill>
              <a:latin typeface="Calibri"/>
              <a:cs typeface="Calibri"/>
            </a:endParaRPr>
          </a:p>
          <a:p>
            <a:pPr marL="49952" marR="36406" indent="-847" algn="ctr" defTabSz="1219170">
              <a:spcBef>
                <a:spcPts val="213"/>
              </a:spcBef>
            </a:pPr>
            <a:r>
              <a:rPr sz="1200" spc="-7" dirty="0">
                <a:solidFill>
                  <a:prstClr val="black"/>
                </a:solidFill>
                <a:latin typeface="Calibri"/>
                <a:cs typeface="Calibri"/>
              </a:rPr>
              <a:t>(write </a:t>
            </a:r>
            <a:r>
              <a:rPr sz="1200" b="1" spc="-7" dirty="0">
                <a:solidFill>
                  <a:prstClr val="black"/>
                </a:solidFill>
                <a:latin typeface="Calibri"/>
                <a:cs typeface="Calibri"/>
              </a:rPr>
              <a:t>optimal policy </a:t>
            </a:r>
            <a:r>
              <a:rPr sz="1200" dirty="0">
                <a:solidFill>
                  <a:prstClr val="black"/>
                </a:solidFill>
                <a:latin typeface="Calibri"/>
                <a:cs typeface="Calibri"/>
              </a:rPr>
              <a:t>as  </a:t>
            </a:r>
            <a:r>
              <a:rPr sz="1200" spc="-7" dirty="0">
                <a:solidFill>
                  <a:prstClr val="black"/>
                </a:solidFill>
                <a:latin typeface="Calibri"/>
                <a:cs typeface="Calibri"/>
              </a:rPr>
              <a:t>function of </a:t>
            </a:r>
            <a:r>
              <a:rPr sz="1200" b="1" spc="-13" dirty="0">
                <a:solidFill>
                  <a:prstClr val="black"/>
                </a:solidFill>
                <a:latin typeface="Calibri"/>
                <a:cs typeface="Calibri"/>
              </a:rPr>
              <a:t>reward</a:t>
            </a:r>
            <a:r>
              <a:rPr sz="1200" b="1" spc="-87" dirty="0">
                <a:solidFill>
                  <a:prstClr val="black"/>
                </a:solidFill>
                <a:latin typeface="Calibri"/>
                <a:cs typeface="Calibri"/>
              </a:rPr>
              <a:t> </a:t>
            </a:r>
            <a:r>
              <a:rPr sz="1200" b="1" spc="-7" dirty="0">
                <a:solidFill>
                  <a:prstClr val="black"/>
                </a:solidFill>
                <a:latin typeface="Calibri"/>
                <a:cs typeface="Calibri"/>
              </a:rPr>
              <a:t>function</a:t>
            </a:r>
            <a:r>
              <a:rPr sz="1200" spc="-7" dirty="0">
                <a:solidFill>
                  <a:prstClr val="black"/>
                </a:solidFill>
                <a:latin typeface="Calibri"/>
                <a:cs typeface="Calibri"/>
              </a:rPr>
              <a:t>;  </a:t>
            </a:r>
            <a:r>
              <a:rPr sz="1200" spc="-13" dirty="0">
                <a:solidFill>
                  <a:prstClr val="black"/>
                </a:solidFill>
                <a:latin typeface="Calibri"/>
                <a:cs typeface="Calibri"/>
              </a:rPr>
              <a:t>from </a:t>
            </a:r>
            <a:r>
              <a:rPr sz="1200" spc="-7" dirty="0">
                <a:solidFill>
                  <a:prstClr val="black"/>
                </a:solidFill>
                <a:latin typeface="Calibri"/>
                <a:cs typeface="Calibri"/>
              </a:rPr>
              <a:t>prior</a:t>
            </a:r>
            <a:r>
              <a:rPr sz="1200" spc="-13" dirty="0">
                <a:solidFill>
                  <a:prstClr val="black"/>
                </a:solidFill>
                <a:latin typeface="Calibri"/>
                <a:cs typeface="Calibri"/>
              </a:rPr>
              <a:t> work)</a:t>
            </a:r>
            <a:endParaRPr sz="1200">
              <a:solidFill>
                <a:prstClr val="black"/>
              </a:solidFill>
              <a:latin typeface="Calibri"/>
              <a:cs typeface="Calibri"/>
            </a:endParaRPr>
          </a:p>
        </p:txBody>
      </p:sp>
      <p:sp>
        <p:nvSpPr>
          <p:cNvPr id="8" name="object 8"/>
          <p:cNvSpPr/>
          <p:nvPr/>
        </p:nvSpPr>
        <p:spPr>
          <a:xfrm>
            <a:off x="3928472" y="3880013"/>
            <a:ext cx="466513" cy="158327"/>
          </a:xfrm>
          <a:custGeom>
            <a:avLst/>
            <a:gdLst/>
            <a:ahLst/>
            <a:cxnLst/>
            <a:rect l="l" t="t" r="r" b="b"/>
            <a:pathLst>
              <a:path w="349885" h="118744">
                <a:moveTo>
                  <a:pt x="0" y="118181"/>
                </a:moveTo>
                <a:lnTo>
                  <a:pt x="349542" y="0"/>
                </a:lnTo>
              </a:path>
            </a:pathLst>
          </a:custGeom>
          <a:ln w="19049">
            <a:solidFill>
              <a:srgbClr val="2E2C28"/>
            </a:solidFill>
          </a:ln>
        </p:spPr>
        <p:txBody>
          <a:bodyPr wrap="square" lIns="0" tIns="0" rIns="0" bIns="0" rtlCol="0"/>
          <a:lstStyle/>
          <a:p>
            <a:pPr defTabSz="1219170"/>
            <a:endParaRPr sz="2400">
              <a:solidFill>
                <a:prstClr val="black"/>
              </a:solidFill>
              <a:latin typeface="Calibri"/>
            </a:endParaRPr>
          </a:p>
        </p:txBody>
      </p:sp>
      <p:sp>
        <p:nvSpPr>
          <p:cNvPr id="9" name="object 9"/>
          <p:cNvSpPr/>
          <p:nvPr/>
        </p:nvSpPr>
        <p:spPr>
          <a:xfrm>
            <a:off x="3806575" y="3985143"/>
            <a:ext cx="148032" cy="104887"/>
          </a:xfrm>
          <a:prstGeom prst="rect">
            <a:avLst/>
          </a:prstGeom>
          <a:blipFill>
            <a:blip r:embed="rId3"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10" name="object 10"/>
          <p:cNvSpPr/>
          <p:nvPr/>
        </p:nvSpPr>
        <p:spPr>
          <a:xfrm>
            <a:off x="4368391" y="3827569"/>
            <a:ext cx="148032" cy="104887"/>
          </a:xfrm>
          <a:prstGeom prst="rect">
            <a:avLst/>
          </a:prstGeom>
          <a:blipFill>
            <a:blip r:embed="rId4"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11" name="object 11"/>
          <p:cNvSpPr/>
          <p:nvPr/>
        </p:nvSpPr>
        <p:spPr>
          <a:xfrm>
            <a:off x="2947533" y="1935067"/>
            <a:ext cx="8133035" cy="482965"/>
          </a:xfrm>
          <a:prstGeom prst="rect">
            <a:avLst/>
          </a:prstGeom>
          <a:blipFill>
            <a:blip r:embed="rId5"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12" name="object 12"/>
          <p:cNvSpPr/>
          <p:nvPr/>
        </p:nvSpPr>
        <p:spPr>
          <a:xfrm>
            <a:off x="7289294" y="4237711"/>
            <a:ext cx="642620" cy="0"/>
          </a:xfrm>
          <a:custGeom>
            <a:avLst/>
            <a:gdLst/>
            <a:ahLst/>
            <a:cxnLst/>
            <a:rect l="l" t="t" r="r" b="b"/>
            <a:pathLst>
              <a:path w="481964">
                <a:moveTo>
                  <a:pt x="0" y="0"/>
                </a:moveTo>
                <a:lnTo>
                  <a:pt x="481799" y="0"/>
                </a:lnTo>
              </a:path>
            </a:pathLst>
          </a:custGeom>
          <a:ln w="19049">
            <a:solidFill>
              <a:srgbClr val="2E2C28"/>
            </a:solidFill>
          </a:ln>
        </p:spPr>
        <p:txBody>
          <a:bodyPr wrap="square" lIns="0" tIns="0" rIns="0" bIns="0" rtlCol="0"/>
          <a:lstStyle/>
          <a:p>
            <a:pPr defTabSz="1219170"/>
            <a:endParaRPr sz="2400">
              <a:solidFill>
                <a:prstClr val="black"/>
              </a:solidFill>
              <a:latin typeface="Calibri"/>
            </a:endParaRPr>
          </a:p>
        </p:txBody>
      </p:sp>
      <p:sp>
        <p:nvSpPr>
          <p:cNvPr id="13" name="object 13"/>
          <p:cNvSpPr/>
          <p:nvPr/>
        </p:nvSpPr>
        <p:spPr>
          <a:xfrm>
            <a:off x="7161325" y="4183057"/>
            <a:ext cx="140667" cy="109307"/>
          </a:xfrm>
          <a:prstGeom prst="rect">
            <a:avLst/>
          </a:prstGeom>
          <a:blipFill>
            <a:blip r:embed="rId6"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14" name="object 14"/>
          <p:cNvSpPr txBox="1"/>
          <p:nvPr/>
        </p:nvSpPr>
        <p:spPr>
          <a:xfrm>
            <a:off x="8039736" y="3961427"/>
            <a:ext cx="2605193" cy="427339"/>
          </a:xfrm>
          <a:prstGeom prst="rect">
            <a:avLst/>
          </a:prstGeom>
        </p:spPr>
        <p:txBody>
          <a:bodyPr vert="horz" wrap="square" lIns="0" tIns="16933" rIns="0" bIns="0" rtlCol="0">
            <a:spAutoFit/>
          </a:bodyPr>
          <a:lstStyle/>
          <a:p>
            <a:pPr marL="16933" marR="6773" indent="79585" defTabSz="1219170">
              <a:spcBef>
                <a:spcPts val="133"/>
              </a:spcBef>
            </a:pPr>
            <a:r>
              <a:rPr sz="1333" spc="-13" dirty="0">
                <a:solidFill>
                  <a:prstClr val="black"/>
                </a:solidFill>
                <a:latin typeface="Calibri"/>
                <a:cs typeface="Calibri"/>
              </a:rPr>
              <a:t>Note </a:t>
            </a:r>
            <a:r>
              <a:rPr sz="1333" b="1" spc="-13" dirty="0">
                <a:solidFill>
                  <a:prstClr val="black"/>
                </a:solidFill>
                <a:latin typeface="Calibri"/>
                <a:cs typeface="Calibri"/>
              </a:rPr>
              <a:t>intractable </a:t>
            </a:r>
            <a:r>
              <a:rPr sz="1333" b="1" spc="-7" dirty="0">
                <a:solidFill>
                  <a:prstClr val="black"/>
                </a:solidFill>
                <a:latin typeface="Calibri"/>
                <a:cs typeface="Calibri"/>
              </a:rPr>
              <a:t>sum </a:t>
            </a:r>
            <a:r>
              <a:rPr sz="1333" spc="-7" dirty="0">
                <a:solidFill>
                  <a:prstClr val="black"/>
                </a:solidFill>
                <a:latin typeface="Calibri"/>
                <a:cs typeface="Calibri"/>
              </a:rPr>
              <a:t>over possible  </a:t>
            </a:r>
            <a:r>
              <a:rPr sz="1333" spc="-13" dirty="0">
                <a:solidFill>
                  <a:prstClr val="black"/>
                </a:solidFill>
                <a:latin typeface="Calibri"/>
                <a:cs typeface="Calibri"/>
              </a:rPr>
              <a:t>responses; </a:t>
            </a:r>
            <a:r>
              <a:rPr sz="1333" spc="-7" dirty="0">
                <a:solidFill>
                  <a:prstClr val="black"/>
                </a:solidFill>
                <a:latin typeface="Calibri"/>
                <a:cs typeface="Calibri"/>
              </a:rPr>
              <a:t>can’t </a:t>
            </a:r>
            <a:r>
              <a:rPr sz="1333" spc="-13" dirty="0">
                <a:solidFill>
                  <a:prstClr val="black"/>
                </a:solidFill>
                <a:latin typeface="Calibri"/>
                <a:cs typeface="Calibri"/>
              </a:rPr>
              <a:t>immediately </a:t>
            </a:r>
            <a:r>
              <a:rPr sz="1333" spc="-7" dirty="0">
                <a:solidFill>
                  <a:prstClr val="black"/>
                </a:solidFill>
                <a:latin typeface="Calibri"/>
                <a:cs typeface="Calibri"/>
              </a:rPr>
              <a:t>use</a:t>
            </a:r>
            <a:r>
              <a:rPr sz="1333" spc="13" dirty="0">
                <a:solidFill>
                  <a:prstClr val="black"/>
                </a:solidFill>
                <a:latin typeface="Calibri"/>
                <a:cs typeface="Calibri"/>
              </a:rPr>
              <a:t> </a:t>
            </a:r>
            <a:r>
              <a:rPr sz="1333" spc="-7" dirty="0">
                <a:solidFill>
                  <a:prstClr val="black"/>
                </a:solidFill>
                <a:latin typeface="Calibri"/>
                <a:cs typeface="Calibri"/>
              </a:rPr>
              <a:t>this</a:t>
            </a:r>
            <a:endParaRPr sz="1333">
              <a:solidFill>
                <a:prstClr val="black"/>
              </a:solidFill>
              <a:latin typeface="Calibri"/>
              <a:cs typeface="Calibri"/>
            </a:endParaRPr>
          </a:p>
        </p:txBody>
      </p:sp>
      <p:sp>
        <p:nvSpPr>
          <p:cNvPr id="15" name="object 15"/>
          <p:cNvSpPr/>
          <p:nvPr/>
        </p:nvSpPr>
        <p:spPr>
          <a:xfrm>
            <a:off x="2947549" y="3154280"/>
            <a:ext cx="5819115" cy="763600"/>
          </a:xfrm>
          <a:prstGeom prst="rect">
            <a:avLst/>
          </a:prstGeom>
          <a:blipFill>
            <a:blip r:embed="rId7"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16" name="object 16"/>
          <p:cNvSpPr/>
          <p:nvPr/>
        </p:nvSpPr>
        <p:spPr>
          <a:xfrm>
            <a:off x="3433299" y="3971063"/>
            <a:ext cx="3575572" cy="615599"/>
          </a:xfrm>
          <a:prstGeom prst="rect">
            <a:avLst/>
          </a:prstGeom>
          <a:blipFill>
            <a:blip r:embed="rId8" cstate="print"/>
            <a:stretch>
              <a:fillRect/>
            </a:stretch>
          </a:blipFill>
        </p:spPr>
        <p:txBody>
          <a:bodyPr wrap="square" lIns="0" tIns="0" rIns="0" bIns="0" rtlCol="0"/>
          <a:lstStyle/>
          <a:p>
            <a:pPr defTabSz="1219170"/>
            <a:endParaRPr sz="2400">
              <a:solidFill>
                <a:prstClr val="black"/>
              </a:solidFill>
              <a:latin typeface="Calibri"/>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8" y="671226"/>
            <a:ext cx="6750473" cy="607003"/>
          </a:xfrm>
          <a:prstGeom prst="rect">
            <a:avLst/>
          </a:prstGeom>
        </p:spPr>
        <p:txBody>
          <a:bodyPr vert="horz" wrap="square" lIns="0" tIns="22013" rIns="0" bIns="0" rtlCol="0">
            <a:spAutoFit/>
          </a:bodyPr>
          <a:lstStyle/>
          <a:p>
            <a:pPr marL="16933">
              <a:spcBef>
                <a:spcPts val="173"/>
              </a:spcBef>
            </a:pPr>
            <a:r>
              <a:rPr spc="7" dirty="0"/>
              <a:t>Direct Preference</a:t>
            </a:r>
            <a:r>
              <a:rPr spc="33" dirty="0"/>
              <a:t> </a:t>
            </a:r>
            <a:r>
              <a:rPr spc="7" dirty="0"/>
              <a:t>Optimization</a:t>
            </a:r>
          </a:p>
        </p:txBody>
      </p:sp>
      <p:sp>
        <p:nvSpPr>
          <p:cNvPr id="3" name="object 3"/>
          <p:cNvSpPr/>
          <p:nvPr/>
        </p:nvSpPr>
        <p:spPr>
          <a:xfrm>
            <a:off x="6596988" y="1646334"/>
            <a:ext cx="472440" cy="168485"/>
          </a:xfrm>
          <a:custGeom>
            <a:avLst/>
            <a:gdLst/>
            <a:ahLst/>
            <a:cxnLst/>
            <a:rect l="l" t="t" r="r" b="b"/>
            <a:pathLst>
              <a:path w="354329" h="126365">
                <a:moveTo>
                  <a:pt x="353708" y="0"/>
                </a:moveTo>
                <a:lnTo>
                  <a:pt x="0" y="125798"/>
                </a:lnTo>
              </a:path>
            </a:pathLst>
          </a:custGeom>
          <a:ln w="19049">
            <a:solidFill>
              <a:srgbClr val="2E2C28"/>
            </a:solidFill>
          </a:ln>
        </p:spPr>
        <p:txBody>
          <a:bodyPr wrap="square" lIns="0" tIns="0" rIns="0" bIns="0" rtlCol="0"/>
          <a:lstStyle/>
          <a:p>
            <a:pPr defTabSz="1219170"/>
            <a:endParaRPr sz="2400">
              <a:solidFill>
                <a:prstClr val="black"/>
              </a:solidFill>
              <a:latin typeface="Calibri"/>
            </a:endParaRPr>
          </a:p>
        </p:txBody>
      </p:sp>
      <p:sp>
        <p:nvSpPr>
          <p:cNvPr id="4" name="object 4"/>
          <p:cNvSpPr/>
          <p:nvPr/>
        </p:nvSpPr>
        <p:spPr>
          <a:xfrm>
            <a:off x="6475686" y="1761836"/>
            <a:ext cx="148061" cy="104456"/>
          </a:xfrm>
          <a:prstGeom prst="rect">
            <a:avLst/>
          </a:prstGeom>
          <a:blipFill>
            <a:blip r:embed="rId2"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5" name="object 5"/>
          <p:cNvSpPr txBox="1"/>
          <p:nvPr/>
        </p:nvSpPr>
        <p:spPr>
          <a:xfrm>
            <a:off x="2906410" y="4048982"/>
            <a:ext cx="430953" cy="283774"/>
          </a:xfrm>
          <a:prstGeom prst="rect">
            <a:avLst/>
          </a:prstGeom>
        </p:spPr>
        <p:txBody>
          <a:bodyPr vert="horz" wrap="square" lIns="0" tIns="16933" rIns="0" bIns="0" rtlCol="0">
            <a:spAutoFit/>
          </a:bodyPr>
          <a:lstStyle/>
          <a:p>
            <a:pPr marL="16933" defTabSz="1219170">
              <a:spcBef>
                <a:spcPts val="133"/>
              </a:spcBef>
            </a:pPr>
            <a:r>
              <a:rPr sz="1733" spc="-7" dirty="0">
                <a:solidFill>
                  <a:prstClr val="black"/>
                </a:solidFill>
                <a:latin typeface="Calibri"/>
                <a:cs typeface="Calibri"/>
              </a:rPr>
              <a:t>with</a:t>
            </a:r>
            <a:endParaRPr sz="1733">
              <a:solidFill>
                <a:prstClr val="black"/>
              </a:solidFill>
              <a:latin typeface="Calibri"/>
              <a:cs typeface="Calibri"/>
            </a:endParaRPr>
          </a:p>
        </p:txBody>
      </p:sp>
      <p:sp>
        <p:nvSpPr>
          <p:cNvPr id="6" name="object 6"/>
          <p:cNvSpPr txBox="1"/>
          <p:nvPr/>
        </p:nvSpPr>
        <p:spPr>
          <a:xfrm>
            <a:off x="538847" y="1431216"/>
            <a:ext cx="8580967" cy="1148114"/>
          </a:xfrm>
          <a:prstGeom prst="rect">
            <a:avLst/>
          </a:prstGeom>
        </p:spPr>
        <p:txBody>
          <a:bodyPr vert="horz" wrap="square" lIns="0" tIns="16933" rIns="0" bIns="0" rtlCol="0">
            <a:spAutoFit/>
          </a:bodyPr>
          <a:lstStyle/>
          <a:p>
            <a:pPr marR="6773" algn="r" defTabSz="1219170">
              <a:spcBef>
                <a:spcPts val="133"/>
              </a:spcBef>
            </a:pPr>
            <a:r>
              <a:rPr sz="1867" b="1" spc="-20" dirty="0">
                <a:solidFill>
                  <a:prstClr val="black"/>
                </a:solidFill>
                <a:latin typeface="Calibri"/>
                <a:cs typeface="Calibri"/>
              </a:rPr>
              <a:t>any </a:t>
            </a:r>
            <a:r>
              <a:rPr sz="1867" spc="-20" dirty="0">
                <a:solidFill>
                  <a:prstClr val="black"/>
                </a:solidFill>
                <a:latin typeface="Calibri"/>
                <a:cs typeface="Calibri"/>
              </a:rPr>
              <a:t>reward</a:t>
            </a:r>
            <a:r>
              <a:rPr sz="1867" spc="-80" dirty="0">
                <a:solidFill>
                  <a:prstClr val="black"/>
                </a:solidFill>
                <a:latin typeface="Calibri"/>
                <a:cs typeface="Calibri"/>
              </a:rPr>
              <a:t> </a:t>
            </a:r>
            <a:r>
              <a:rPr sz="1867" spc="-7" dirty="0">
                <a:solidFill>
                  <a:prstClr val="black"/>
                </a:solidFill>
                <a:latin typeface="Calibri"/>
                <a:cs typeface="Calibri"/>
              </a:rPr>
              <a:t>function</a:t>
            </a:r>
            <a:endParaRPr sz="1867">
              <a:solidFill>
                <a:prstClr val="black"/>
              </a:solidFill>
              <a:latin typeface="Calibri"/>
              <a:cs typeface="Calibri"/>
            </a:endParaRPr>
          </a:p>
          <a:p>
            <a:pPr marR="6633467" algn="ctr" defTabSz="1219170">
              <a:spcBef>
                <a:spcPts val="87"/>
              </a:spcBef>
            </a:pPr>
            <a:r>
              <a:rPr sz="2400" b="1" spc="-7" dirty="0">
                <a:solidFill>
                  <a:srgbClr val="8C1414"/>
                </a:solidFill>
                <a:latin typeface="Calibri"/>
                <a:cs typeface="Calibri"/>
              </a:rPr>
              <a:t>RLHF</a:t>
            </a:r>
            <a:r>
              <a:rPr sz="2400" b="1" spc="-87" dirty="0">
                <a:solidFill>
                  <a:srgbClr val="8C1414"/>
                </a:solidFill>
                <a:latin typeface="Calibri"/>
                <a:cs typeface="Calibri"/>
              </a:rPr>
              <a:t> </a:t>
            </a:r>
            <a:r>
              <a:rPr sz="2400" b="1" spc="-13" dirty="0">
                <a:solidFill>
                  <a:srgbClr val="8C1414"/>
                </a:solidFill>
                <a:latin typeface="Calibri"/>
                <a:cs typeface="Calibri"/>
              </a:rPr>
              <a:t>Objective</a:t>
            </a:r>
            <a:endParaRPr sz="2400">
              <a:solidFill>
                <a:prstClr val="black"/>
              </a:solidFill>
              <a:latin typeface="Calibri"/>
              <a:cs typeface="Calibri"/>
            </a:endParaRPr>
          </a:p>
          <a:p>
            <a:pPr marR="6630928" algn="ctr" defTabSz="1219170">
              <a:spcBef>
                <a:spcPts val="445"/>
              </a:spcBef>
            </a:pPr>
            <a:r>
              <a:rPr sz="1333" spc="-7" dirty="0">
                <a:solidFill>
                  <a:prstClr val="black"/>
                </a:solidFill>
                <a:latin typeface="Calibri"/>
                <a:cs typeface="Calibri"/>
              </a:rPr>
              <a:t>(get </a:t>
            </a:r>
            <a:r>
              <a:rPr sz="1333" b="1" spc="-7" dirty="0">
                <a:solidFill>
                  <a:prstClr val="black"/>
                </a:solidFill>
                <a:latin typeface="Calibri"/>
                <a:cs typeface="Calibri"/>
              </a:rPr>
              <a:t>high </a:t>
            </a:r>
            <a:r>
              <a:rPr sz="1333" b="1" spc="-13" dirty="0">
                <a:solidFill>
                  <a:prstClr val="black"/>
                </a:solidFill>
                <a:latin typeface="Calibri"/>
                <a:cs typeface="Calibri"/>
              </a:rPr>
              <a:t>reward</a:t>
            </a:r>
            <a:r>
              <a:rPr sz="1333" spc="-13" dirty="0">
                <a:solidFill>
                  <a:prstClr val="black"/>
                </a:solidFill>
                <a:latin typeface="Calibri"/>
                <a:cs typeface="Calibri"/>
              </a:rPr>
              <a:t>, </a:t>
            </a:r>
            <a:r>
              <a:rPr sz="1333" spc="-20" dirty="0">
                <a:solidFill>
                  <a:prstClr val="black"/>
                </a:solidFill>
                <a:latin typeface="Calibri"/>
                <a:cs typeface="Calibri"/>
              </a:rPr>
              <a:t>stay</a:t>
            </a:r>
            <a:r>
              <a:rPr sz="1333" spc="-80" dirty="0">
                <a:solidFill>
                  <a:prstClr val="black"/>
                </a:solidFill>
                <a:latin typeface="Calibri"/>
                <a:cs typeface="Calibri"/>
              </a:rPr>
              <a:t> </a:t>
            </a:r>
            <a:r>
              <a:rPr sz="1333" b="1" spc="-7" dirty="0">
                <a:solidFill>
                  <a:prstClr val="black"/>
                </a:solidFill>
                <a:latin typeface="Calibri"/>
                <a:cs typeface="Calibri"/>
              </a:rPr>
              <a:t>close</a:t>
            </a:r>
            <a:endParaRPr sz="1333">
              <a:solidFill>
                <a:prstClr val="black"/>
              </a:solidFill>
              <a:latin typeface="Calibri"/>
              <a:cs typeface="Calibri"/>
            </a:endParaRPr>
          </a:p>
          <a:p>
            <a:pPr marR="6631774" algn="ctr" defTabSz="1219170"/>
            <a:r>
              <a:rPr sz="1333" spc="-7" dirty="0">
                <a:solidFill>
                  <a:prstClr val="black"/>
                </a:solidFill>
                <a:latin typeface="Calibri"/>
                <a:cs typeface="Calibri"/>
              </a:rPr>
              <a:t>to </a:t>
            </a:r>
            <a:r>
              <a:rPr sz="1333" spc="-13" dirty="0">
                <a:solidFill>
                  <a:prstClr val="black"/>
                </a:solidFill>
                <a:latin typeface="Calibri"/>
                <a:cs typeface="Calibri"/>
              </a:rPr>
              <a:t>reference</a:t>
            </a:r>
            <a:r>
              <a:rPr sz="1333" spc="-33" dirty="0">
                <a:solidFill>
                  <a:prstClr val="black"/>
                </a:solidFill>
                <a:latin typeface="Calibri"/>
                <a:cs typeface="Calibri"/>
              </a:rPr>
              <a:t> </a:t>
            </a:r>
            <a:r>
              <a:rPr sz="1333" spc="-7" dirty="0">
                <a:solidFill>
                  <a:prstClr val="black"/>
                </a:solidFill>
                <a:latin typeface="Calibri"/>
                <a:cs typeface="Calibri"/>
              </a:rPr>
              <a:t>model)</a:t>
            </a:r>
            <a:endParaRPr sz="1333">
              <a:solidFill>
                <a:prstClr val="black"/>
              </a:solidFill>
              <a:latin typeface="Calibri"/>
              <a:cs typeface="Calibri"/>
            </a:endParaRPr>
          </a:p>
        </p:txBody>
      </p:sp>
      <p:sp>
        <p:nvSpPr>
          <p:cNvPr id="7" name="object 7"/>
          <p:cNvSpPr txBox="1"/>
          <p:nvPr/>
        </p:nvSpPr>
        <p:spPr>
          <a:xfrm>
            <a:off x="574566" y="3222167"/>
            <a:ext cx="1865207" cy="1335408"/>
          </a:xfrm>
          <a:prstGeom prst="rect">
            <a:avLst/>
          </a:prstGeom>
        </p:spPr>
        <p:txBody>
          <a:bodyPr vert="horz" wrap="square" lIns="0" tIns="16933" rIns="0" bIns="0" rtlCol="0">
            <a:spAutoFit/>
          </a:bodyPr>
          <a:lstStyle/>
          <a:p>
            <a:pPr marL="16086" marR="6773" indent="847" algn="ctr" defTabSz="1219170">
              <a:spcBef>
                <a:spcPts val="133"/>
              </a:spcBef>
            </a:pPr>
            <a:r>
              <a:rPr sz="2400" b="1" spc="-13" dirty="0">
                <a:solidFill>
                  <a:srgbClr val="8C1414"/>
                </a:solidFill>
                <a:latin typeface="Calibri"/>
                <a:cs typeface="Calibri"/>
              </a:rPr>
              <a:t>Closed-form  </a:t>
            </a:r>
            <a:r>
              <a:rPr sz="2400" b="1" spc="-7" dirty="0">
                <a:solidFill>
                  <a:srgbClr val="8C1414"/>
                </a:solidFill>
                <a:latin typeface="Calibri"/>
                <a:cs typeface="Calibri"/>
              </a:rPr>
              <a:t>Optimal</a:t>
            </a:r>
            <a:r>
              <a:rPr sz="2400" b="1" spc="-127" dirty="0">
                <a:solidFill>
                  <a:srgbClr val="8C1414"/>
                </a:solidFill>
                <a:latin typeface="Calibri"/>
                <a:cs typeface="Calibri"/>
              </a:rPr>
              <a:t> </a:t>
            </a:r>
            <a:r>
              <a:rPr sz="2400" b="1" spc="-13" dirty="0">
                <a:solidFill>
                  <a:srgbClr val="8C1414"/>
                </a:solidFill>
                <a:latin typeface="Calibri"/>
                <a:cs typeface="Calibri"/>
              </a:rPr>
              <a:t>Policy</a:t>
            </a:r>
            <a:endParaRPr sz="2400">
              <a:solidFill>
                <a:prstClr val="black"/>
              </a:solidFill>
              <a:latin typeface="Calibri"/>
              <a:cs typeface="Calibri"/>
            </a:endParaRPr>
          </a:p>
          <a:p>
            <a:pPr marL="49952" marR="36406" indent="-847" algn="ctr" defTabSz="1219170">
              <a:spcBef>
                <a:spcPts val="213"/>
              </a:spcBef>
            </a:pPr>
            <a:r>
              <a:rPr sz="1200" spc="-7" dirty="0">
                <a:solidFill>
                  <a:prstClr val="black"/>
                </a:solidFill>
                <a:latin typeface="Calibri"/>
                <a:cs typeface="Calibri"/>
              </a:rPr>
              <a:t>(write </a:t>
            </a:r>
            <a:r>
              <a:rPr sz="1200" b="1" spc="-7" dirty="0">
                <a:solidFill>
                  <a:prstClr val="black"/>
                </a:solidFill>
                <a:latin typeface="Calibri"/>
                <a:cs typeface="Calibri"/>
              </a:rPr>
              <a:t>optimal policy </a:t>
            </a:r>
            <a:r>
              <a:rPr sz="1200" dirty="0">
                <a:solidFill>
                  <a:prstClr val="black"/>
                </a:solidFill>
                <a:latin typeface="Calibri"/>
                <a:cs typeface="Calibri"/>
              </a:rPr>
              <a:t>as  </a:t>
            </a:r>
            <a:r>
              <a:rPr sz="1200" spc="-7" dirty="0">
                <a:solidFill>
                  <a:prstClr val="black"/>
                </a:solidFill>
                <a:latin typeface="Calibri"/>
                <a:cs typeface="Calibri"/>
              </a:rPr>
              <a:t>function of </a:t>
            </a:r>
            <a:r>
              <a:rPr sz="1200" b="1" spc="-13" dirty="0">
                <a:solidFill>
                  <a:prstClr val="black"/>
                </a:solidFill>
                <a:latin typeface="Calibri"/>
                <a:cs typeface="Calibri"/>
              </a:rPr>
              <a:t>reward</a:t>
            </a:r>
            <a:r>
              <a:rPr sz="1200" b="1" spc="-87" dirty="0">
                <a:solidFill>
                  <a:prstClr val="black"/>
                </a:solidFill>
                <a:latin typeface="Calibri"/>
                <a:cs typeface="Calibri"/>
              </a:rPr>
              <a:t> </a:t>
            </a:r>
            <a:r>
              <a:rPr sz="1200" b="1" spc="-7" dirty="0">
                <a:solidFill>
                  <a:prstClr val="black"/>
                </a:solidFill>
                <a:latin typeface="Calibri"/>
                <a:cs typeface="Calibri"/>
              </a:rPr>
              <a:t>function</a:t>
            </a:r>
            <a:r>
              <a:rPr sz="1200" spc="-7" dirty="0">
                <a:solidFill>
                  <a:prstClr val="black"/>
                </a:solidFill>
                <a:latin typeface="Calibri"/>
                <a:cs typeface="Calibri"/>
              </a:rPr>
              <a:t>;  </a:t>
            </a:r>
            <a:r>
              <a:rPr sz="1200" spc="-13" dirty="0">
                <a:solidFill>
                  <a:prstClr val="black"/>
                </a:solidFill>
                <a:latin typeface="Calibri"/>
                <a:cs typeface="Calibri"/>
              </a:rPr>
              <a:t>from </a:t>
            </a:r>
            <a:r>
              <a:rPr sz="1200" spc="-7" dirty="0">
                <a:solidFill>
                  <a:prstClr val="black"/>
                </a:solidFill>
                <a:latin typeface="Calibri"/>
                <a:cs typeface="Calibri"/>
              </a:rPr>
              <a:t>prior</a:t>
            </a:r>
            <a:r>
              <a:rPr sz="1200" spc="-13" dirty="0">
                <a:solidFill>
                  <a:prstClr val="black"/>
                </a:solidFill>
                <a:latin typeface="Calibri"/>
                <a:cs typeface="Calibri"/>
              </a:rPr>
              <a:t> work)</a:t>
            </a:r>
            <a:endParaRPr sz="1200">
              <a:solidFill>
                <a:prstClr val="black"/>
              </a:solidFill>
              <a:latin typeface="Calibri"/>
              <a:cs typeface="Calibri"/>
            </a:endParaRPr>
          </a:p>
        </p:txBody>
      </p:sp>
      <p:sp>
        <p:nvSpPr>
          <p:cNvPr id="8" name="object 8"/>
          <p:cNvSpPr/>
          <p:nvPr/>
        </p:nvSpPr>
        <p:spPr>
          <a:xfrm>
            <a:off x="3928472" y="3880013"/>
            <a:ext cx="466513" cy="158327"/>
          </a:xfrm>
          <a:custGeom>
            <a:avLst/>
            <a:gdLst/>
            <a:ahLst/>
            <a:cxnLst/>
            <a:rect l="l" t="t" r="r" b="b"/>
            <a:pathLst>
              <a:path w="349885" h="118744">
                <a:moveTo>
                  <a:pt x="0" y="118181"/>
                </a:moveTo>
                <a:lnTo>
                  <a:pt x="349542" y="0"/>
                </a:lnTo>
              </a:path>
            </a:pathLst>
          </a:custGeom>
          <a:ln w="19049">
            <a:solidFill>
              <a:srgbClr val="2E2C28"/>
            </a:solidFill>
          </a:ln>
        </p:spPr>
        <p:txBody>
          <a:bodyPr wrap="square" lIns="0" tIns="0" rIns="0" bIns="0" rtlCol="0"/>
          <a:lstStyle/>
          <a:p>
            <a:pPr defTabSz="1219170"/>
            <a:endParaRPr sz="2400">
              <a:solidFill>
                <a:prstClr val="black"/>
              </a:solidFill>
              <a:latin typeface="Calibri"/>
            </a:endParaRPr>
          </a:p>
        </p:txBody>
      </p:sp>
      <p:sp>
        <p:nvSpPr>
          <p:cNvPr id="9" name="object 9"/>
          <p:cNvSpPr/>
          <p:nvPr/>
        </p:nvSpPr>
        <p:spPr>
          <a:xfrm>
            <a:off x="3806575" y="3985143"/>
            <a:ext cx="148032" cy="104887"/>
          </a:xfrm>
          <a:prstGeom prst="rect">
            <a:avLst/>
          </a:prstGeom>
          <a:blipFill>
            <a:blip r:embed="rId3"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10" name="object 10"/>
          <p:cNvSpPr/>
          <p:nvPr/>
        </p:nvSpPr>
        <p:spPr>
          <a:xfrm>
            <a:off x="4368391" y="3827569"/>
            <a:ext cx="148032" cy="104887"/>
          </a:xfrm>
          <a:prstGeom prst="rect">
            <a:avLst/>
          </a:prstGeom>
          <a:blipFill>
            <a:blip r:embed="rId4"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11" name="object 11"/>
          <p:cNvSpPr/>
          <p:nvPr/>
        </p:nvSpPr>
        <p:spPr>
          <a:xfrm>
            <a:off x="2947533" y="1935067"/>
            <a:ext cx="8133035" cy="482965"/>
          </a:xfrm>
          <a:prstGeom prst="rect">
            <a:avLst/>
          </a:prstGeom>
          <a:blipFill>
            <a:blip r:embed="rId5"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12" name="object 12"/>
          <p:cNvSpPr/>
          <p:nvPr/>
        </p:nvSpPr>
        <p:spPr>
          <a:xfrm>
            <a:off x="7289294" y="4237711"/>
            <a:ext cx="642620" cy="0"/>
          </a:xfrm>
          <a:custGeom>
            <a:avLst/>
            <a:gdLst/>
            <a:ahLst/>
            <a:cxnLst/>
            <a:rect l="l" t="t" r="r" b="b"/>
            <a:pathLst>
              <a:path w="481964">
                <a:moveTo>
                  <a:pt x="0" y="0"/>
                </a:moveTo>
                <a:lnTo>
                  <a:pt x="481799" y="0"/>
                </a:lnTo>
              </a:path>
            </a:pathLst>
          </a:custGeom>
          <a:ln w="19049">
            <a:solidFill>
              <a:srgbClr val="2E2C28"/>
            </a:solidFill>
          </a:ln>
        </p:spPr>
        <p:txBody>
          <a:bodyPr wrap="square" lIns="0" tIns="0" rIns="0" bIns="0" rtlCol="0"/>
          <a:lstStyle/>
          <a:p>
            <a:pPr defTabSz="1219170"/>
            <a:endParaRPr sz="2400">
              <a:solidFill>
                <a:prstClr val="black"/>
              </a:solidFill>
              <a:latin typeface="Calibri"/>
            </a:endParaRPr>
          </a:p>
        </p:txBody>
      </p:sp>
      <p:sp>
        <p:nvSpPr>
          <p:cNvPr id="13" name="object 13"/>
          <p:cNvSpPr/>
          <p:nvPr/>
        </p:nvSpPr>
        <p:spPr>
          <a:xfrm>
            <a:off x="7161325" y="4183057"/>
            <a:ext cx="140667" cy="109307"/>
          </a:xfrm>
          <a:prstGeom prst="rect">
            <a:avLst/>
          </a:prstGeom>
          <a:blipFill>
            <a:blip r:embed="rId6"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14" name="object 14"/>
          <p:cNvSpPr/>
          <p:nvPr/>
        </p:nvSpPr>
        <p:spPr>
          <a:xfrm>
            <a:off x="2947549" y="3154280"/>
            <a:ext cx="5819115" cy="763600"/>
          </a:xfrm>
          <a:prstGeom prst="rect">
            <a:avLst/>
          </a:prstGeom>
          <a:blipFill>
            <a:blip r:embed="rId7"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15" name="object 15"/>
          <p:cNvSpPr/>
          <p:nvPr/>
        </p:nvSpPr>
        <p:spPr>
          <a:xfrm>
            <a:off x="3433299" y="3971063"/>
            <a:ext cx="3575572" cy="615599"/>
          </a:xfrm>
          <a:prstGeom prst="rect">
            <a:avLst/>
          </a:prstGeom>
          <a:blipFill>
            <a:blip r:embed="rId8"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16" name="object 16"/>
          <p:cNvSpPr txBox="1"/>
          <p:nvPr/>
        </p:nvSpPr>
        <p:spPr>
          <a:xfrm>
            <a:off x="8039736" y="3961427"/>
            <a:ext cx="2605193" cy="427339"/>
          </a:xfrm>
          <a:prstGeom prst="rect">
            <a:avLst/>
          </a:prstGeom>
        </p:spPr>
        <p:txBody>
          <a:bodyPr vert="horz" wrap="square" lIns="0" tIns="16933" rIns="0" bIns="0" rtlCol="0">
            <a:spAutoFit/>
          </a:bodyPr>
          <a:lstStyle/>
          <a:p>
            <a:pPr marL="16933" marR="6773" indent="79585" defTabSz="1219170">
              <a:spcBef>
                <a:spcPts val="133"/>
              </a:spcBef>
            </a:pPr>
            <a:r>
              <a:rPr sz="1333" spc="-13" dirty="0">
                <a:solidFill>
                  <a:prstClr val="black"/>
                </a:solidFill>
                <a:latin typeface="Calibri"/>
                <a:cs typeface="Calibri"/>
              </a:rPr>
              <a:t>Note </a:t>
            </a:r>
            <a:r>
              <a:rPr sz="1333" b="1" spc="-13" dirty="0">
                <a:solidFill>
                  <a:prstClr val="black"/>
                </a:solidFill>
                <a:latin typeface="Calibri"/>
                <a:cs typeface="Calibri"/>
              </a:rPr>
              <a:t>intractable </a:t>
            </a:r>
            <a:r>
              <a:rPr sz="1333" b="1" spc="-7" dirty="0">
                <a:solidFill>
                  <a:prstClr val="black"/>
                </a:solidFill>
                <a:latin typeface="Calibri"/>
                <a:cs typeface="Calibri"/>
              </a:rPr>
              <a:t>sum </a:t>
            </a:r>
            <a:r>
              <a:rPr sz="1333" spc="-7" dirty="0">
                <a:solidFill>
                  <a:prstClr val="black"/>
                </a:solidFill>
                <a:latin typeface="Calibri"/>
                <a:cs typeface="Calibri"/>
              </a:rPr>
              <a:t>over possible  </a:t>
            </a:r>
            <a:r>
              <a:rPr sz="1333" spc="-13" dirty="0">
                <a:solidFill>
                  <a:prstClr val="black"/>
                </a:solidFill>
                <a:latin typeface="Calibri"/>
                <a:cs typeface="Calibri"/>
              </a:rPr>
              <a:t>responses; </a:t>
            </a:r>
            <a:r>
              <a:rPr sz="1333" spc="-7" dirty="0">
                <a:solidFill>
                  <a:prstClr val="black"/>
                </a:solidFill>
                <a:latin typeface="Calibri"/>
                <a:cs typeface="Calibri"/>
              </a:rPr>
              <a:t>can’t </a:t>
            </a:r>
            <a:r>
              <a:rPr sz="1333" spc="-13" dirty="0">
                <a:solidFill>
                  <a:prstClr val="black"/>
                </a:solidFill>
                <a:latin typeface="Calibri"/>
                <a:cs typeface="Calibri"/>
              </a:rPr>
              <a:t>immediately </a:t>
            </a:r>
            <a:r>
              <a:rPr sz="1333" spc="-7" dirty="0">
                <a:solidFill>
                  <a:prstClr val="black"/>
                </a:solidFill>
                <a:latin typeface="Calibri"/>
                <a:cs typeface="Calibri"/>
              </a:rPr>
              <a:t>use</a:t>
            </a:r>
            <a:r>
              <a:rPr sz="1333" spc="13" dirty="0">
                <a:solidFill>
                  <a:prstClr val="black"/>
                </a:solidFill>
                <a:latin typeface="Calibri"/>
                <a:cs typeface="Calibri"/>
              </a:rPr>
              <a:t> </a:t>
            </a:r>
            <a:r>
              <a:rPr sz="1333" spc="-7" dirty="0">
                <a:solidFill>
                  <a:prstClr val="black"/>
                </a:solidFill>
                <a:latin typeface="Calibri"/>
                <a:cs typeface="Calibri"/>
              </a:rPr>
              <a:t>this</a:t>
            </a:r>
            <a:endParaRPr sz="1333">
              <a:solidFill>
                <a:prstClr val="black"/>
              </a:solidFill>
              <a:latin typeface="Calibri"/>
              <a:cs typeface="Calibri"/>
            </a:endParaRPr>
          </a:p>
        </p:txBody>
      </p:sp>
      <p:sp>
        <p:nvSpPr>
          <p:cNvPr id="17" name="object 17"/>
          <p:cNvSpPr txBox="1"/>
          <p:nvPr/>
        </p:nvSpPr>
        <p:spPr>
          <a:xfrm>
            <a:off x="569284" y="5330379"/>
            <a:ext cx="1878753" cy="766877"/>
          </a:xfrm>
          <a:prstGeom prst="rect">
            <a:avLst/>
          </a:prstGeom>
        </p:spPr>
        <p:txBody>
          <a:bodyPr vert="horz" wrap="square" lIns="0" tIns="0" rIns="0" bIns="0" rtlCol="0">
            <a:spAutoFit/>
          </a:bodyPr>
          <a:lstStyle/>
          <a:p>
            <a:pPr algn="ctr" defTabSz="1219170">
              <a:lnSpc>
                <a:spcPts val="2413"/>
              </a:lnSpc>
            </a:pPr>
            <a:r>
              <a:rPr sz="2400" b="1" spc="-20" dirty="0">
                <a:solidFill>
                  <a:srgbClr val="8C1414"/>
                </a:solidFill>
                <a:latin typeface="Calibri"/>
                <a:cs typeface="Calibri"/>
              </a:rPr>
              <a:t>Rearrange</a:t>
            </a:r>
            <a:endParaRPr sz="2400">
              <a:solidFill>
                <a:prstClr val="black"/>
              </a:solidFill>
              <a:latin typeface="Calibri"/>
              <a:cs typeface="Calibri"/>
            </a:endParaRPr>
          </a:p>
          <a:p>
            <a:pPr marL="16933" marR="6773" algn="ctr" defTabSz="1219170">
              <a:spcBef>
                <a:spcPts val="693"/>
              </a:spcBef>
            </a:pPr>
            <a:r>
              <a:rPr sz="1200" spc="-7" dirty="0">
                <a:solidFill>
                  <a:prstClr val="black"/>
                </a:solidFill>
                <a:latin typeface="Calibri"/>
                <a:cs typeface="Calibri"/>
              </a:rPr>
              <a:t>(write </a:t>
            </a:r>
            <a:r>
              <a:rPr sz="1200" b="1" spc="-13" dirty="0">
                <a:solidFill>
                  <a:prstClr val="black"/>
                </a:solidFill>
                <a:latin typeface="Calibri"/>
                <a:cs typeface="Calibri"/>
              </a:rPr>
              <a:t>any reward </a:t>
            </a:r>
            <a:r>
              <a:rPr sz="1200" b="1" spc="-7" dirty="0">
                <a:solidFill>
                  <a:prstClr val="black"/>
                </a:solidFill>
                <a:latin typeface="Calibri"/>
                <a:cs typeface="Calibri"/>
              </a:rPr>
              <a:t>function</a:t>
            </a:r>
            <a:r>
              <a:rPr sz="1200" b="1" spc="-80" dirty="0">
                <a:solidFill>
                  <a:prstClr val="black"/>
                </a:solidFill>
                <a:latin typeface="Calibri"/>
                <a:cs typeface="Calibri"/>
              </a:rPr>
              <a:t> </a:t>
            </a:r>
            <a:r>
              <a:rPr sz="1200" dirty="0">
                <a:solidFill>
                  <a:prstClr val="black"/>
                </a:solidFill>
                <a:latin typeface="Calibri"/>
                <a:cs typeface="Calibri"/>
              </a:rPr>
              <a:t>as  </a:t>
            </a:r>
            <a:r>
              <a:rPr sz="1200" spc="-7" dirty="0">
                <a:solidFill>
                  <a:prstClr val="black"/>
                </a:solidFill>
                <a:latin typeface="Calibri"/>
                <a:cs typeface="Calibri"/>
              </a:rPr>
              <a:t>function of </a:t>
            </a:r>
            <a:r>
              <a:rPr sz="1200" b="1" spc="-7" dirty="0">
                <a:solidFill>
                  <a:prstClr val="black"/>
                </a:solidFill>
                <a:latin typeface="Calibri"/>
                <a:cs typeface="Calibri"/>
              </a:rPr>
              <a:t>optimal</a:t>
            </a:r>
            <a:r>
              <a:rPr sz="1200" b="1" spc="-47" dirty="0">
                <a:solidFill>
                  <a:prstClr val="black"/>
                </a:solidFill>
                <a:latin typeface="Calibri"/>
                <a:cs typeface="Calibri"/>
              </a:rPr>
              <a:t> </a:t>
            </a:r>
            <a:r>
              <a:rPr sz="1200" b="1" spc="-7" dirty="0">
                <a:solidFill>
                  <a:prstClr val="black"/>
                </a:solidFill>
                <a:latin typeface="Calibri"/>
                <a:cs typeface="Calibri"/>
              </a:rPr>
              <a:t>policy</a:t>
            </a:r>
            <a:r>
              <a:rPr sz="1200" spc="-7" dirty="0">
                <a:solidFill>
                  <a:prstClr val="black"/>
                </a:solidFill>
                <a:latin typeface="Calibri"/>
                <a:cs typeface="Calibri"/>
              </a:rPr>
              <a:t>)</a:t>
            </a:r>
            <a:endParaRPr sz="1200">
              <a:solidFill>
                <a:prstClr val="black"/>
              </a:solidFill>
              <a:latin typeface="Calibri"/>
              <a:cs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8" y="671226"/>
            <a:ext cx="6750473" cy="607003"/>
          </a:xfrm>
          <a:prstGeom prst="rect">
            <a:avLst/>
          </a:prstGeom>
        </p:spPr>
        <p:txBody>
          <a:bodyPr vert="horz" wrap="square" lIns="0" tIns="22013" rIns="0" bIns="0" rtlCol="0">
            <a:spAutoFit/>
          </a:bodyPr>
          <a:lstStyle/>
          <a:p>
            <a:pPr marL="16933">
              <a:spcBef>
                <a:spcPts val="173"/>
              </a:spcBef>
            </a:pPr>
            <a:r>
              <a:rPr spc="7" dirty="0"/>
              <a:t>Direct Preference</a:t>
            </a:r>
            <a:r>
              <a:rPr spc="33" dirty="0"/>
              <a:t> </a:t>
            </a:r>
            <a:r>
              <a:rPr spc="7" dirty="0"/>
              <a:t>Optimization</a:t>
            </a:r>
          </a:p>
        </p:txBody>
      </p:sp>
      <p:sp>
        <p:nvSpPr>
          <p:cNvPr id="3" name="object 3"/>
          <p:cNvSpPr/>
          <p:nvPr/>
        </p:nvSpPr>
        <p:spPr>
          <a:xfrm>
            <a:off x="6596988" y="1646334"/>
            <a:ext cx="472440" cy="168485"/>
          </a:xfrm>
          <a:custGeom>
            <a:avLst/>
            <a:gdLst/>
            <a:ahLst/>
            <a:cxnLst/>
            <a:rect l="l" t="t" r="r" b="b"/>
            <a:pathLst>
              <a:path w="354329" h="126365">
                <a:moveTo>
                  <a:pt x="353708" y="0"/>
                </a:moveTo>
                <a:lnTo>
                  <a:pt x="0" y="125798"/>
                </a:lnTo>
              </a:path>
            </a:pathLst>
          </a:custGeom>
          <a:ln w="19049">
            <a:solidFill>
              <a:srgbClr val="2E2C28"/>
            </a:solidFill>
          </a:ln>
        </p:spPr>
        <p:txBody>
          <a:bodyPr wrap="square" lIns="0" tIns="0" rIns="0" bIns="0" rtlCol="0"/>
          <a:lstStyle/>
          <a:p>
            <a:pPr defTabSz="1219170"/>
            <a:endParaRPr sz="2400">
              <a:solidFill>
                <a:prstClr val="black"/>
              </a:solidFill>
              <a:latin typeface="Calibri"/>
            </a:endParaRPr>
          </a:p>
        </p:txBody>
      </p:sp>
      <p:sp>
        <p:nvSpPr>
          <p:cNvPr id="4" name="object 4"/>
          <p:cNvSpPr/>
          <p:nvPr/>
        </p:nvSpPr>
        <p:spPr>
          <a:xfrm>
            <a:off x="6475686" y="1761836"/>
            <a:ext cx="148061" cy="104456"/>
          </a:xfrm>
          <a:prstGeom prst="rect">
            <a:avLst/>
          </a:prstGeom>
          <a:blipFill>
            <a:blip r:embed="rId2"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5" name="object 5"/>
          <p:cNvSpPr txBox="1"/>
          <p:nvPr/>
        </p:nvSpPr>
        <p:spPr>
          <a:xfrm>
            <a:off x="2906410" y="4048982"/>
            <a:ext cx="430953" cy="283774"/>
          </a:xfrm>
          <a:prstGeom prst="rect">
            <a:avLst/>
          </a:prstGeom>
        </p:spPr>
        <p:txBody>
          <a:bodyPr vert="horz" wrap="square" lIns="0" tIns="16933" rIns="0" bIns="0" rtlCol="0">
            <a:spAutoFit/>
          </a:bodyPr>
          <a:lstStyle/>
          <a:p>
            <a:pPr marL="16933" defTabSz="1219170">
              <a:spcBef>
                <a:spcPts val="133"/>
              </a:spcBef>
            </a:pPr>
            <a:r>
              <a:rPr sz="1733" spc="-7" dirty="0">
                <a:solidFill>
                  <a:prstClr val="black"/>
                </a:solidFill>
                <a:latin typeface="Calibri"/>
                <a:cs typeface="Calibri"/>
              </a:rPr>
              <a:t>with</a:t>
            </a:r>
            <a:endParaRPr sz="1733">
              <a:solidFill>
                <a:prstClr val="black"/>
              </a:solidFill>
              <a:latin typeface="Calibri"/>
              <a:cs typeface="Calibri"/>
            </a:endParaRPr>
          </a:p>
        </p:txBody>
      </p:sp>
      <p:sp>
        <p:nvSpPr>
          <p:cNvPr id="6" name="object 6"/>
          <p:cNvSpPr txBox="1"/>
          <p:nvPr/>
        </p:nvSpPr>
        <p:spPr>
          <a:xfrm>
            <a:off x="538847" y="1431216"/>
            <a:ext cx="8580967" cy="1148114"/>
          </a:xfrm>
          <a:prstGeom prst="rect">
            <a:avLst/>
          </a:prstGeom>
        </p:spPr>
        <p:txBody>
          <a:bodyPr vert="horz" wrap="square" lIns="0" tIns="16933" rIns="0" bIns="0" rtlCol="0">
            <a:spAutoFit/>
          </a:bodyPr>
          <a:lstStyle/>
          <a:p>
            <a:pPr marR="6773" algn="r" defTabSz="1219170">
              <a:spcBef>
                <a:spcPts val="133"/>
              </a:spcBef>
            </a:pPr>
            <a:r>
              <a:rPr sz="1867" b="1" spc="-20" dirty="0">
                <a:solidFill>
                  <a:prstClr val="black"/>
                </a:solidFill>
                <a:latin typeface="Calibri"/>
                <a:cs typeface="Calibri"/>
              </a:rPr>
              <a:t>any </a:t>
            </a:r>
            <a:r>
              <a:rPr sz="1867" spc="-20" dirty="0">
                <a:solidFill>
                  <a:prstClr val="black"/>
                </a:solidFill>
                <a:latin typeface="Calibri"/>
                <a:cs typeface="Calibri"/>
              </a:rPr>
              <a:t>reward</a:t>
            </a:r>
            <a:r>
              <a:rPr sz="1867" spc="-80" dirty="0">
                <a:solidFill>
                  <a:prstClr val="black"/>
                </a:solidFill>
                <a:latin typeface="Calibri"/>
                <a:cs typeface="Calibri"/>
              </a:rPr>
              <a:t> </a:t>
            </a:r>
            <a:r>
              <a:rPr sz="1867" spc="-7" dirty="0">
                <a:solidFill>
                  <a:prstClr val="black"/>
                </a:solidFill>
                <a:latin typeface="Calibri"/>
                <a:cs typeface="Calibri"/>
              </a:rPr>
              <a:t>function</a:t>
            </a:r>
            <a:endParaRPr sz="1867">
              <a:solidFill>
                <a:prstClr val="black"/>
              </a:solidFill>
              <a:latin typeface="Calibri"/>
              <a:cs typeface="Calibri"/>
            </a:endParaRPr>
          </a:p>
          <a:p>
            <a:pPr marR="6633467" algn="ctr" defTabSz="1219170">
              <a:spcBef>
                <a:spcPts val="87"/>
              </a:spcBef>
            </a:pPr>
            <a:r>
              <a:rPr sz="2400" b="1" spc="-7" dirty="0">
                <a:solidFill>
                  <a:srgbClr val="8C1414"/>
                </a:solidFill>
                <a:latin typeface="Calibri"/>
                <a:cs typeface="Calibri"/>
              </a:rPr>
              <a:t>RLHF</a:t>
            </a:r>
            <a:r>
              <a:rPr sz="2400" b="1" spc="-87" dirty="0">
                <a:solidFill>
                  <a:srgbClr val="8C1414"/>
                </a:solidFill>
                <a:latin typeface="Calibri"/>
                <a:cs typeface="Calibri"/>
              </a:rPr>
              <a:t> </a:t>
            </a:r>
            <a:r>
              <a:rPr sz="2400" b="1" spc="-13" dirty="0">
                <a:solidFill>
                  <a:srgbClr val="8C1414"/>
                </a:solidFill>
                <a:latin typeface="Calibri"/>
                <a:cs typeface="Calibri"/>
              </a:rPr>
              <a:t>Objective</a:t>
            </a:r>
            <a:endParaRPr sz="2400">
              <a:solidFill>
                <a:prstClr val="black"/>
              </a:solidFill>
              <a:latin typeface="Calibri"/>
              <a:cs typeface="Calibri"/>
            </a:endParaRPr>
          </a:p>
          <a:p>
            <a:pPr marR="6630928" algn="ctr" defTabSz="1219170">
              <a:spcBef>
                <a:spcPts val="445"/>
              </a:spcBef>
            </a:pPr>
            <a:r>
              <a:rPr sz="1333" spc="-7" dirty="0">
                <a:solidFill>
                  <a:prstClr val="black"/>
                </a:solidFill>
                <a:latin typeface="Calibri"/>
                <a:cs typeface="Calibri"/>
              </a:rPr>
              <a:t>(get </a:t>
            </a:r>
            <a:r>
              <a:rPr sz="1333" b="1" spc="-7" dirty="0">
                <a:solidFill>
                  <a:prstClr val="black"/>
                </a:solidFill>
                <a:latin typeface="Calibri"/>
                <a:cs typeface="Calibri"/>
              </a:rPr>
              <a:t>high </a:t>
            </a:r>
            <a:r>
              <a:rPr sz="1333" b="1" spc="-13" dirty="0">
                <a:solidFill>
                  <a:prstClr val="black"/>
                </a:solidFill>
                <a:latin typeface="Calibri"/>
                <a:cs typeface="Calibri"/>
              </a:rPr>
              <a:t>reward</a:t>
            </a:r>
            <a:r>
              <a:rPr sz="1333" spc="-13" dirty="0">
                <a:solidFill>
                  <a:prstClr val="black"/>
                </a:solidFill>
                <a:latin typeface="Calibri"/>
                <a:cs typeface="Calibri"/>
              </a:rPr>
              <a:t>, </a:t>
            </a:r>
            <a:r>
              <a:rPr sz="1333" spc="-20" dirty="0">
                <a:solidFill>
                  <a:prstClr val="black"/>
                </a:solidFill>
                <a:latin typeface="Calibri"/>
                <a:cs typeface="Calibri"/>
              </a:rPr>
              <a:t>stay</a:t>
            </a:r>
            <a:r>
              <a:rPr sz="1333" spc="-80" dirty="0">
                <a:solidFill>
                  <a:prstClr val="black"/>
                </a:solidFill>
                <a:latin typeface="Calibri"/>
                <a:cs typeface="Calibri"/>
              </a:rPr>
              <a:t> </a:t>
            </a:r>
            <a:r>
              <a:rPr sz="1333" b="1" spc="-7" dirty="0">
                <a:solidFill>
                  <a:prstClr val="black"/>
                </a:solidFill>
                <a:latin typeface="Calibri"/>
                <a:cs typeface="Calibri"/>
              </a:rPr>
              <a:t>close</a:t>
            </a:r>
            <a:endParaRPr sz="1333">
              <a:solidFill>
                <a:prstClr val="black"/>
              </a:solidFill>
              <a:latin typeface="Calibri"/>
              <a:cs typeface="Calibri"/>
            </a:endParaRPr>
          </a:p>
          <a:p>
            <a:pPr marR="6631774" algn="ctr" defTabSz="1219170"/>
            <a:r>
              <a:rPr sz="1333" spc="-7" dirty="0">
                <a:solidFill>
                  <a:prstClr val="black"/>
                </a:solidFill>
                <a:latin typeface="Calibri"/>
                <a:cs typeface="Calibri"/>
              </a:rPr>
              <a:t>to </a:t>
            </a:r>
            <a:r>
              <a:rPr sz="1333" spc="-13" dirty="0">
                <a:solidFill>
                  <a:prstClr val="black"/>
                </a:solidFill>
                <a:latin typeface="Calibri"/>
                <a:cs typeface="Calibri"/>
              </a:rPr>
              <a:t>reference</a:t>
            </a:r>
            <a:r>
              <a:rPr sz="1333" spc="-33" dirty="0">
                <a:solidFill>
                  <a:prstClr val="black"/>
                </a:solidFill>
                <a:latin typeface="Calibri"/>
                <a:cs typeface="Calibri"/>
              </a:rPr>
              <a:t> </a:t>
            </a:r>
            <a:r>
              <a:rPr sz="1333" spc="-7" dirty="0">
                <a:solidFill>
                  <a:prstClr val="black"/>
                </a:solidFill>
                <a:latin typeface="Calibri"/>
                <a:cs typeface="Calibri"/>
              </a:rPr>
              <a:t>model)</a:t>
            </a:r>
            <a:endParaRPr sz="1333">
              <a:solidFill>
                <a:prstClr val="black"/>
              </a:solidFill>
              <a:latin typeface="Calibri"/>
              <a:cs typeface="Calibri"/>
            </a:endParaRPr>
          </a:p>
        </p:txBody>
      </p:sp>
      <p:sp>
        <p:nvSpPr>
          <p:cNvPr id="7" name="object 7"/>
          <p:cNvSpPr txBox="1"/>
          <p:nvPr/>
        </p:nvSpPr>
        <p:spPr>
          <a:xfrm>
            <a:off x="574566" y="3222167"/>
            <a:ext cx="1865207" cy="1335408"/>
          </a:xfrm>
          <a:prstGeom prst="rect">
            <a:avLst/>
          </a:prstGeom>
        </p:spPr>
        <p:txBody>
          <a:bodyPr vert="horz" wrap="square" lIns="0" tIns="16933" rIns="0" bIns="0" rtlCol="0">
            <a:spAutoFit/>
          </a:bodyPr>
          <a:lstStyle/>
          <a:p>
            <a:pPr marL="16086" marR="6773" indent="847" algn="ctr" defTabSz="1219170">
              <a:spcBef>
                <a:spcPts val="133"/>
              </a:spcBef>
            </a:pPr>
            <a:r>
              <a:rPr sz="2400" b="1" spc="-13" dirty="0">
                <a:solidFill>
                  <a:srgbClr val="8C1414"/>
                </a:solidFill>
                <a:latin typeface="Calibri"/>
                <a:cs typeface="Calibri"/>
              </a:rPr>
              <a:t>Closed-form  </a:t>
            </a:r>
            <a:r>
              <a:rPr sz="2400" b="1" spc="-7" dirty="0">
                <a:solidFill>
                  <a:srgbClr val="8C1414"/>
                </a:solidFill>
                <a:latin typeface="Calibri"/>
                <a:cs typeface="Calibri"/>
              </a:rPr>
              <a:t>Optimal</a:t>
            </a:r>
            <a:r>
              <a:rPr sz="2400" b="1" spc="-127" dirty="0">
                <a:solidFill>
                  <a:srgbClr val="8C1414"/>
                </a:solidFill>
                <a:latin typeface="Calibri"/>
                <a:cs typeface="Calibri"/>
              </a:rPr>
              <a:t> </a:t>
            </a:r>
            <a:r>
              <a:rPr sz="2400" b="1" spc="-13" dirty="0">
                <a:solidFill>
                  <a:srgbClr val="8C1414"/>
                </a:solidFill>
                <a:latin typeface="Calibri"/>
                <a:cs typeface="Calibri"/>
              </a:rPr>
              <a:t>Policy</a:t>
            </a:r>
            <a:endParaRPr sz="2400">
              <a:solidFill>
                <a:prstClr val="black"/>
              </a:solidFill>
              <a:latin typeface="Calibri"/>
              <a:cs typeface="Calibri"/>
            </a:endParaRPr>
          </a:p>
          <a:p>
            <a:pPr marL="49952" marR="36406" indent="-847" algn="ctr" defTabSz="1219170">
              <a:spcBef>
                <a:spcPts val="213"/>
              </a:spcBef>
            </a:pPr>
            <a:r>
              <a:rPr sz="1200" spc="-7" dirty="0">
                <a:solidFill>
                  <a:prstClr val="black"/>
                </a:solidFill>
                <a:latin typeface="Calibri"/>
                <a:cs typeface="Calibri"/>
              </a:rPr>
              <a:t>(write </a:t>
            </a:r>
            <a:r>
              <a:rPr sz="1200" b="1" spc="-7" dirty="0">
                <a:solidFill>
                  <a:prstClr val="black"/>
                </a:solidFill>
                <a:latin typeface="Calibri"/>
                <a:cs typeface="Calibri"/>
              </a:rPr>
              <a:t>optimal policy </a:t>
            </a:r>
            <a:r>
              <a:rPr sz="1200" dirty="0">
                <a:solidFill>
                  <a:prstClr val="black"/>
                </a:solidFill>
                <a:latin typeface="Calibri"/>
                <a:cs typeface="Calibri"/>
              </a:rPr>
              <a:t>as  </a:t>
            </a:r>
            <a:r>
              <a:rPr sz="1200" spc="-7" dirty="0">
                <a:solidFill>
                  <a:prstClr val="black"/>
                </a:solidFill>
                <a:latin typeface="Calibri"/>
                <a:cs typeface="Calibri"/>
              </a:rPr>
              <a:t>function of </a:t>
            </a:r>
            <a:r>
              <a:rPr sz="1200" b="1" spc="-13" dirty="0">
                <a:solidFill>
                  <a:prstClr val="black"/>
                </a:solidFill>
                <a:latin typeface="Calibri"/>
                <a:cs typeface="Calibri"/>
              </a:rPr>
              <a:t>reward</a:t>
            </a:r>
            <a:r>
              <a:rPr sz="1200" b="1" spc="-87" dirty="0">
                <a:solidFill>
                  <a:prstClr val="black"/>
                </a:solidFill>
                <a:latin typeface="Calibri"/>
                <a:cs typeface="Calibri"/>
              </a:rPr>
              <a:t> </a:t>
            </a:r>
            <a:r>
              <a:rPr sz="1200" b="1" spc="-7" dirty="0">
                <a:solidFill>
                  <a:prstClr val="black"/>
                </a:solidFill>
                <a:latin typeface="Calibri"/>
                <a:cs typeface="Calibri"/>
              </a:rPr>
              <a:t>function</a:t>
            </a:r>
            <a:r>
              <a:rPr sz="1200" spc="-7" dirty="0">
                <a:solidFill>
                  <a:prstClr val="black"/>
                </a:solidFill>
                <a:latin typeface="Calibri"/>
                <a:cs typeface="Calibri"/>
              </a:rPr>
              <a:t>;  </a:t>
            </a:r>
            <a:r>
              <a:rPr sz="1200" spc="-13" dirty="0">
                <a:solidFill>
                  <a:prstClr val="black"/>
                </a:solidFill>
                <a:latin typeface="Calibri"/>
                <a:cs typeface="Calibri"/>
              </a:rPr>
              <a:t>from </a:t>
            </a:r>
            <a:r>
              <a:rPr sz="1200" spc="-7" dirty="0">
                <a:solidFill>
                  <a:prstClr val="black"/>
                </a:solidFill>
                <a:latin typeface="Calibri"/>
                <a:cs typeface="Calibri"/>
              </a:rPr>
              <a:t>prior</a:t>
            </a:r>
            <a:r>
              <a:rPr sz="1200" spc="-13" dirty="0">
                <a:solidFill>
                  <a:prstClr val="black"/>
                </a:solidFill>
                <a:latin typeface="Calibri"/>
                <a:cs typeface="Calibri"/>
              </a:rPr>
              <a:t> work)</a:t>
            </a:r>
            <a:endParaRPr sz="1200">
              <a:solidFill>
                <a:prstClr val="black"/>
              </a:solidFill>
              <a:latin typeface="Calibri"/>
              <a:cs typeface="Calibri"/>
            </a:endParaRPr>
          </a:p>
        </p:txBody>
      </p:sp>
      <p:sp>
        <p:nvSpPr>
          <p:cNvPr id="8" name="object 8"/>
          <p:cNvSpPr/>
          <p:nvPr/>
        </p:nvSpPr>
        <p:spPr>
          <a:xfrm>
            <a:off x="3928472" y="3880013"/>
            <a:ext cx="466513" cy="158327"/>
          </a:xfrm>
          <a:custGeom>
            <a:avLst/>
            <a:gdLst/>
            <a:ahLst/>
            <a:cxnLst/>
            <a:rect l="l" t="t" r="r" b="b"/>
            <a:pathLst>
              <a:path w="349885" h="118744">
                <a:moveTo>
                  <a:pt x="0" y="118181"/>
                </a:moveTo>
                <a:lnTo>
                  <a:pt x="349542" y="0"/>
                </a:lnTo>
              </a:path>
            </a:pathLst>
          </a:custGeom>
          <a:ln w="19049">
            <a:solidFill>
              <a:srgbClr val="2E2C28"/>
            </a:solidFill>
          </a:ln>
        </p:spPr>
        <p:txBody>
          <a:bodyPr wrap="square" lIns="0" tIns="0" rIns="0" bIns="0" rtlCol="0"/>
          <a:lstStyle/>
          <a:p>
            <a:pPr defTabSz="1219170"/>
            <a:endParaRPr sz="2400">
              <a:solidFill>
                <a:prstClr val="black"/>
              </a:solidFill>
              <a:latin typeface="Calibri"/>
            </a:endParaRPr>
          </a:p>
        </p:txBody>
      </p:sp>
      <p:sp>
        <p:nvSpPr>
          <p:cNvPr id="9" name="object 9"/>
          <p:cNvSpPr/>
          <p:nvPr/>
        </p:nvSpPr>
        <p:spPr>
          <a:xfrm>
            <a:off x="3806575" y="3985143"/>
            <a:ext cx="148032" cy="104887"/>
          </a:xfrm>
          <a:prstGeom prst="rect">
            <a:avLst/>
          </a:prstGeom>
          <a:blipFill>
            <a:blip r:embed="rId3"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10" name="object 10"/>
          <p:cNvSpPr/>
          <p:nvPr/>
        </p:nvSpPr>
        <p:spPr>
          <a:xfrm>
            <a:off x="4368391" y="3827569"/>
            <a:ext cx="148032" cy="104887"/>
          </a:xfrm>
          <a:prstGeom prst="rect">
            <a:avLst/>
          </a:prstGeom>
          <a:blipFill>
            <a:blip r:embed="rId4"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11" name="object 11"/>
          <p:cNvSpPr/>
          <p:nvPr/>
        </p:nvSpPr>
        <p:spPr>
          <a:xfrm>
            <a:off x="2947533" y="1935067"/>
            <a:ext cx="8133035" cy="482965"/>
          </a:xfrm>
          <a:prstGeom prst="rect">
            <a:avLst/>
          </a:prstGeom>
          <a:blipFill>
            <a:blip r:embed="rId5"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12" name="object 12"/>
          <p:cNvSpPr/>
          <p:nvPr/>
        </p:nvSpPr>
        <p:spPr>
          <a:xfrm>
            <a:off x="7289294" y="4237711"/>
            <a:ext cx="642620" cy="0"/>
          </a:xfrm>
          <a:custGeom>
            <a:avLst/>
            <a:gdLst/>
            <a:ahLst/>
            <a:cxnLst/>
            <a:rect l="l" t="t" r="r" b="b"/>
            <a:pathLst>
              <a:path w="481964">
                <a:moveTo>
                  <a:pt x="0" y="0"/>
                </a:moveTo>
                <a:lnTo>
                  <a:pt x="481799" y="0"/>
                </a:lnTo>
              </a:path>
            </a:pathLst>
          </a:custGeom>
          <a:ln w="19049">
            <a:solidFill>
              <a:srgbClr val="2E2C28"/>
            </a:solidFill>
          </a:ln>
        </p:spPr>
        <p:txBody>
          <a:bodyPr wrap="square" lIns="0" tIns="0" rIns="0" bIns="0" rtlCol="0"/>
          <a:lstStyle/>
          <a:p>
            <a:pPr defTabSz="1219170"/>
            <a:endParaRPr sz="2400">
              <a:solidFill>
                <a:prstClr val="black"/>
              </a:solidFill>
              <a:latin typeface="Calibri"/>
            </a:endParaRPr>
          </a:p>
        </p:txBody>
      </p:sp>
      <p:sp>
        <p:nvSpPr>
          <p:cNvPr id="13" name="object 13"/>
          <p:cNvSpPr/>
          <p:nvPr/>
        </p:nvSpPr>
        <p:spPr>
          <a:xfrm>
            <a:off x="7161325" y="4183057"/>
            <a:ext cx="140667" cy="109307"/>
          </a:xfrm>
          <a:prstGeom prst="rect">
            <a:avLst/>
          </a:prstGeom>
          <a:blipFill>
            <a:blip r:embed="rId6"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14" name="object 14"/>
          <p:cNvSpPr/>
          <p:nvPr/>
        </p:nvSpPr>
        <p:spPr>
          <a:xfrm>
            <a:off x="2947549" y="3154280"/>
            <a:ext cx="5819115" cy="763600"/>
          </a:xfrm>
          <a:prstGeom prst="rect">
            <a:avLst/>
          </a:prstGeom>
          <a:blipFill>
            <a:blip r:embed="rId7"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15" name="object 15"/>
          <p:cNvSpPr/>
          <p:nvPr/>
        </p:nvSpPr>
        <p:spPr>
          <a:xfrm>
            <a:off x="3433299" y="3971063"/>
            <a:ext cx="3575572" cy="615599"/>
          </a:xfrm>
          <a:prstGeom prst="rect">
            <a:avLst/>
          </a:prstGeom>
          <a:blipFill>
            <a:blip r:embed="rId8"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16" name="object 16"/>
          <p:cNvSpPr/>
          <p:nvPr/>
        </p:nvSpPr>
        <p:spPr>
          <a:xfrm>
            <a:off x="2919483" y="5296366"/>
            <a:ext cx="5875231" cy="1306665"/>
          </a:xfrm>
          <a:prstGeom prst="rect">
            <a:avLst/>
          </a:prstGeom>
          <a:blipFill>
            <a:blip r:embed="rId9"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17" name="object 17"/>
          <p:cNvSpPr txBox="1"/>
          <p:nvPr/>
        </p:nvSpPr>
        <p:spPr>
          <a:xfrm>
            <a:off x="8039736" y="3961427"/>
            <a:ext cx="2605193" cy="427339"/>
          </a:xfrm>
          <a:prstGeom prst="rect">
            <a:avLst/>
          </a:prstGeom>
        </p:spPr>
        <p:txBody>
          <a:bodyPr vert="horz" wrap="square" lIns="0" tIns="16933" rIns="0" bIns="0" rtlCol="0">
            <a:spAutoFit/>
          </a:bodyPr>
          <a:lstStyle/>
          <a:p>
            <a:pPr marL="16933" marR="6773" indent="79585" defTabSz="1219170">
              <a:spcBef>
                <a:spcPts val="133"/>
              </a:spcBef>
            </a:pPr>
            <a:r>
              <a:rPr sz="1333" spc="-13" dirty="0">
                <a:solidFill>
                  <a:prstClr val="black"/>
                </a:solidFill>
                <a:latin typeface="Calibri"/>
                <a:cs typeface="Calibri"/>
              </a:rPr>
              <a:t>Note </a:t>
            </a:r>
            <a:r>
              <a:rPr sz="1333" b="1" spc="-13" dirty="0">
                <a:solidFill>
                  <a:prstClr val="black"/>
                </a:solidFill>
                <a:latin typeface="Calibri"/>
                <a:cs typeface="Calibri"/>
              </a:rPr>
              <a:t>intractable </a:t>
            </a:r>
            <a:r>
              <a:rPr sz="1333" b="1" spc="-7" dirty="0">
                <a:solidFill>
                  <a:prstClr val="black"/>
                </a:solidFill>
                <a:latin typeface="Calibri"/>
                <a:cs typeface="Calibri"/>
              </a:rPr>
              <a:t>sum </a:t>
            </a:r>
            <a:r>
              <a:rPr sz="1333" spc="-7" dirty="0">
                <a:solidFill>
                  <a:prstClr val="black"/>
                </a:solidFill>
                <a:latin typeface="Calibri"/>
                <a:cs typeface="Calibri"/>
              </a:rPr>
              <a:t>over possible  </a:t>
            </a:r>
            <a:r>
              <a:rPr sz="1333" spc="-13" dirty="0">
                <a:solidFill>
                  <a:prstClr val="black"/>
                </a:solidFill>
                <a:latin typeface="Calibri"/>
                <a:cs typeface="Calibri"/>
              </a:rPr>
              <a:t>responses; </a:t>
            </a:r>
            <a:r>
              <a:rPr sz="1333" spc="-7" dirty="0">
                <a:solidFill>
                  <a:prstClr val="black"/>
                </a:solidFill>
                <a:latin typeface="Calibri"/>
                <a:cs typeface="Calibri"/>
              </a:rPr>
              <a:t>can’t </a:t>
            </a:r>
            <a:r>
              <a:rPr sz="1333" spc="-13" dirty="0">
                <a:solidFill>
                  <a:prstClr val="black"/>
                </a:solidFill>
                <a:latin typeface="Calibri"/>
                <a:cs typeface="Calibri"/>
              </a:rPr>
              <a:t>immediately </a:t>
            </a:r>
            <a:r>
              <a:rPr sz="1333" spc="-7" dirty="0">
                <a:solidFill>
                  <a:prstClr val="black"/>
                </a:solidFill>
                <a:latin typeface="Calibri"/>
                <a:cs typeface="Calibri"/>
              </a:rPr>
              <a:t>use</a:t>
            </a:r>
            <a:r>
              <a:rPr sz="1333" spc="13" dirty="0">
                <a:solidFill>
                  <a:prstClr val="black"/>
                </a:solidFill>
                <a:latin typeface="Calibri"/>
                <a:cs typeface="Calibri"/>
              </a:rPr>
              <a:t> </a:t>
            </a:r>
            <a:r>
              <a:rPr sz="1333" spc="-7" dirty="0">
                <a:solidFill>
                  <a:prstClr val="black"/>
                </a:solidFill>
                <a:latin typeface="Calibri"/>
                <a:cs typeface="Calibri"/>
              </a:rPr>
              <a:t>this</a:t>
            </a:r>
            <a:endParaRPr sz="1333">
              <a:solidFill>
                <a:prstClr val="black"/>
              </a:solidFill>
              <a:latin typeface="Calibri"/>
              <a:cs typeface="Calibri"/>
            </a:endParaRPr>
          </a:p>
        </p:txBody>
      </p:sp>
      <p:sp>
        <p:nvSpPr>
          <p:cNvPr id="18" name="object 18"/>
          <p:cNvSpPr txBox="1"/>
          <p:nvPr/>
        </p:nvSpPr>
        <p:spPr>
          <a:xfrm>
            <a:off x="569284" y="5330379"/>
            <a:ext cx="1878753" cy="766877"/>
          </a:xfrm>
          <a:prstGeom prst="rect">
            <a:avLst/>
          </a:prstGeom>
        </p:spPr>
        <p:txBody>
          <a:bodyPr vert="horz" wrap="square" lIns="0" tIns="0" rIns="0" bIns="0" rtlCol="0">
            <a:spAutoFit/>
          </a:bodyPr>
          <a:lstStyle/>
          <a:p>
            <a:pPr algn="ctr" defTabSz="1219170">
              <a:lnSpc>
                <a:spcPts val="2413"/>
              </a:lnSpc>
            </a:pPr>
            <a:r>
              <a:rPr sz="2400" b="1" spc="-20" dirty="0">
                <a:solidFill>
                  <a:srgbClr val="8C1414"/>
                </a:solidFill>
                <a:latin typeface="Calibri"/>
                <a:cs typeface="Calibri"/>
              </a:rPr>
              <a:t>Rearrange</a:t>
            </a:r>
            <a:endParaRPr sz="2400">
              <a:solidFill>
                <a:prstClr val="black"/>
              </a:solidFill>
              <a:latin typeface="Calibri"/>
              <a:cs typeface="Calibri"/>
            </a:endParaRPr>
          </a:p>
          <a:p>
            <a:pPr marL="16933" marR="6773" algn="ctr" defTabSz="1219170">
              <a:spcBef>
                <a:spcPts val="693"/>
              </a:spcBef>
            </a:pPr>
            <a:r>
              <a:rPr sz="1200" spc="-7" dirty="0">
                <a:solidFill>
                  <a:prstClr val="black"/>
                </a:solidFill>
                <a:latin typeface="Calibri"/>
                <a:cs typeface="Calibri"/>
              </a:rPr>
              <a:t>(write </a:t>
            </a:r>
            <a:r>
              <a:rPr sz="1200" b="1" spc="-13" dirty="0">
                <a:solidFill>
                  <a:prstClr val="black"/>
                </a:solidFill>
                <a:latin typeface="Calibri"/>
                <a:cs typeface="Calibri"/>
              </a:rPr>
              <a:t>any reward </a:t>
            </a:r>
            <a:r>
              <a:rPr sz="1200" b="1" spc="-7" dirty="0">
                <a:solidFill>
                  <a:prstClr val="black"/>
                </a:solidFill>
                <a:latin typeface="Calibri"/>
                <a:cs typeface="Calibri"/>
              </a:rPr>
              <a:t>function</a:t>
            </a:r>
            <a:r>
              <a:rPr sz="1200" b="1" spc="-80" dirty="0">
                <a:solidFill>
                  <a:prstClr val="black"/>
                </a:solidFill>
                <a:latin typeface="Calibri"/>
                <a:cs typeface="Calibri"/>
              </a:rPr>
              <a:t> </a:t>
            </a:r>
            <a:r>
              <a:rPr sz="1200" dirty="0">
                <a:solidFill>
                  <a:prstClr val="black"/>
                </a:solidFill>
                <a:latin typeface="Calibri"/>
                <a:cs typeface="Calibri"/>
              </a:rPr>
              <a:t>as  </a:t>
            </a:r>
            <a:r>
              <a:rPr sz="1200" spc="-7" dirty="0">
                <a:solidFill>
                  <a:prstClr val="black"/>
                </a:solidFill>
                <a:latin typeface="Calibri"/>
                <a:cs typeface="Calibri"/>
              </a:rPr>
              <a:t>function of </a:t>
            </a:r>
            <a:r>
              <a:rPr sz="1200" b="1" spc="-7" dirty="0">
                <a:solidFill>
                  <a:prstClr val="black"/>
                </a:solidFill>
                <a:latin typeface="Calibri"/>
                <a:cs typeface="Calibri"/>
              </a:rPr>
              <a:t>optimal</a:t>
            </a:r>
            <a:r>
              <a:rPr sz="1200" b="1" spc="-47" dirty="0">
                <a:solidFill>
                  <a:prstClr val="black"/>
                </a:solidFill>
                <a:latin typeface="Calibri"/>
                <a:cs typeface="Calibri"/>
              </a:rPr>
              <a:t> </a:t>
            </a:r>
            <a:r>
              <a:rPr sz="1200" b="1" spc="-7" dirty="0">
                <a:solidFill>
                  <a:prstClr val="black"/>
                </a:solidFill>
                <a:latin typeface="Calibri"/>
                <a:cs typeface="Calibri"/>
              </a:rPr>
              <a:t>policy</a:t>
            </a:r>
            <a:r>
              <a:rPr sz="1200" spc="-7" dirty="0">
                <a:solidFill>
                  <a:prstClr val="black"/>
                </a:solidFill>
                <a:latin typeface="Calibri"/>
                <a:cs typeface="Calibri"/>
              </a:rPr>
              <a:t>)</a:t>
            </a:r>
            <a:endParaRPr sz="1200">
              <a:solidFill>
                <a:prstClr val="black"/>
              </a:solidFill>
              <a:latin typeface="Calibri"/>
              <a:cs typeface="Calibri"/>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8" y="671226"/>
            <a:ext cx="6750473" cy="607003"/>
          </a:xfrm>
          <a:prstGeom prst="rect">
            <a:avLst/>
          </a:prstGeom>
        </p:spPr>
        <p:txBody>
          <a:bodyPr vert="horz" wrap="square" lIns="0" tIns="22013" rIns="0" bIns="0" rtlCol="0">
            <a:spAutoFit/>
          </a:bodyPr>
          <a:lstStyle/>
          <a:p>
            <a:pPr marL="16933">
              <a:spcBef>
                <a:spcPts val="173"/>
              </a:spcBef>
            </a:pPr>
            <a:r>
              <a:rPr spc="7" dirty="0"/>
              <a:t>Direct Preference</a:t>
            </a:r>
            <a:r>
              <a:rPr spc="33" dirty="0"/>
              <a:t> </a:t>
            </a:r>
            <a:r>
              <a:rPr spc="7" dirty="0"/>
              <a:t>Optimization</a:t>
            </a:r>
          </a:p>
        </p:txBody>
      </p:sp>
      <p:sp>
        <p:nvSpPr>
          <p:cNvPr id="3" name="object 3"/>
          <p:cNvSpPr/>
          <p:nvPr/>
        </p:nvSpPr>
        <p:spPr>
          <a:xfrm>
            <a:off x="6596988" y="1646334"/>
            <a:ext cx="472440" cy="168485"/>
          </a:xfrm>
          <a:custGeom>
            <a:avLst/>
            <a:gdLst/>
            <a:ahLst/>
            <a:cxnLst/>
            <a:rect l="l" t="t" r="r" b="b"/>
            <a:pathLst>
              <a:path w="354329" h="126365">
                <a:moveTo>
                  <a:pt x="353708" y="0"/>
                </a:moveTo>
                <a:lnTo>
                  <a:pt x="0" y="125798"/>
                </a:lnTo>
              </a:path>
            </a:pathLst>
          </a:custGeom>
          <a:ln w="19049">
            <a:solidFill>
              <a:srgbClr val="2E2C28"/>
            </a:solidFill>
          </a:ln>
        </p:spPr>
        <p:txBody>
          <a:bodyPr wrap="square" lIns="0" tIns="0" rIns="0" bIns="0" rtlCol="0"/>
          <a:lstStyle/>
          <a:p>
            <a:pPr defTabSz="1219170"/>
            <a:endParaRPr sz="2400">
              <a:solidFill>
                <a:prstClr val="black"/>
              </a:solidFill>
              <a:latin typeface="Calibri"/>
            </a:endParaRPr>
          </a:p>
        </p:txBody>
      </p:sp>
      <p:sp>
        <p:nvSpPr>
          <p:cNvPr id="4" name="object 4"/>
          <p:cNvSpPr/>
          <p:nvPr/>
        </p:nvSpPr>
        <p:spPr>
          <a:xfrm>
            <a:off x="6475686" y="1761836"/>
            <a:ext cx="148061" cy="104456"/>
          </a:xfrm>
          <a:prstGeom prst="rect">
            <a:avLst/>
          </a:prstGeom>
          <a:blipFill>
            <a:blip r:embed="rId2"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5" name="object 5"/>
          <p:cNvSpPr txBox="1"/>
          <p:nvPr/>
        </p:nvSpPr>
        <p:spPr>
          <a:xfrm>
            <a:off x="2906410" y="4048982"/>
            <a:ext cx="430953" cy="283774"/>
          </a:xfrm>
          <a:prstGeom prst="rect">
            <a:avLst/>
          </a:prstGeom>
        </p:spPr>
        <p:txBody>
          <a:bodyPr vert="horz" wrap="square" lIns="0" tIns="16933" rIns="0" bIns="0" rtlCol="0">
            <a:spAutoFit/>
          </a:bodyPr>
          <a:lstStyle/>
          <a:p>
            <a:pPr marL="16933" defTabSz="1219170">
              <a:spcBef>
                <a:spcPts val="133"/>
              </a:spcBef>
            </a:pPr>
            <a:r>
              <a:rPr sz="1733" spc="-7" dirty="0">
                <a:solidFill>
                  <a:prstClr val="black"/>
                </a:solidFill>
                <a:latin typeface="Calibri"/>
                <a:cs typeface="Calibri"/>
              </a:rPr>
              <a:t>with</a:t>
            </a:r>
            <a:endParaRPr sz="1733">
              <a:solidFill>
                <a:prstClr val="black"/>
              </a:solidFill>
              <a:latin typeface="Calibri"/>
              <a:cs typeface="Calibri"/>
            </a:endParaRPr>
          </a:p>
        </p:txBody>
      </p:sp>
      <p:sp>
        <p:nvSpPr>
          <p:cNvPr id="6" name="object 6"/>
          <p:cNvSpPr txBox="1"/>
          <p:nvPr/>
        </p:nvSpPr>
        <p:spPr>
          <a:xfrm>
            <a:off x="538847" y="1431216"/>
            <a:ext cx="8580967" cy="1148114"/>
          </a:xfrm>
          <a:prstGeom prst="rect">
            <a:avLst/>
          </a:prstGeom>
        </p:spPr>
        <p:txBody>
          <a:bodyPr vert="horz" wrap="square" lIns="0" tIns="16933" rIns="0" bIns="0" rtlCol="0">
            <a:spAutoFit/>
          </a:bodyPr>
          <a:lstStyle/>
          <a:p>
            <a:pPr marR="6773" algn="r" defTabSz="1219170">
              <a:spcBef>
                <a:spcPts val="133"/>
              </a:spcBef>
            </a:pPr>
            <a:r>
              <a:rPr sz="1867" b="1" spc="-20" dirty="0">
                <a:solidFill>
                  <a:prstClr val="black"/>
                </a:solidFill>
                <a:latin typeface="Calibri"/>
                <a:cs typeface="Calibri"/>
              </a:rPr>
              <a:t>any </a:t>
            </a:r>
            <a:r>
              <a:rPr sz="1867" spc="-20" dirty="0">
                <a:solidFill>
                  <a:prstClr val="black"/>
                </a:solidFill>
                <a:latin typeface="Calibri"/>
                <a:cs typeface="Calibri"/>
              </a:rPr>
              <a:t>reward</a:t>
            </a:r>
            <a:r>
              <a:rPr sz="1867" spc="-80" dirty="0">
                <a:solidFill>
                  <a:prstClr val="black"/>
                </a:solidFill>
                <a:latin typeface="Calibri"/>
                <a:cs typeface="Calibri"/>
              </a:rPr>
              <a:t> </a:t>
            </a:r>
            <a:r>
              <a:rPr sz="1867" spc="-7" dirty="0">
                <a:solidFill>
                  <a:prstClr val="black"/>
                </a:solidFill>
                <a:latin typeface="Calibri"/>
                <a:cs typeface="Calibri"/>
              </a:rPr>
              <a:t>function</a:t>
            </a:r>
            <a:endParaRPr sz="1867">
              <a:solidFill>
                <a:prstClr val="black"/>
              </a:solidFill>
              <a:latin typeface="Calibri"/>
              <a:cs typeface="Calibri"/>
            </a:endParaRPr>
          </a:p>
          <a:p>
            <a:pPr marR="6633467" algn="ctr" defTabSz="1219170">
              <a:spcBef>
                <a:spcPts val="87"/>
              </a:spcBef>
            </a:pPr>
            <a:r>
              <a:rPr sz="2400" b="1" spc="-7" dirty="0">
                <a:solidFill>
                  <a:srgbClr val="8C1414"/>
                </a:solidFill>
                <a:latin typeface="Calibri"/>
                <a:cs typeface="Calibri"/>
              </a:rPr>
              <a:t>RLHF</a:t>
            </a:r>
            <a:r>
              <a:rPr sz="2400" b="1" spc="-87" dirty="0">
                <a:solidFill>
                  <a:srgbClr val="8C1414"/>
                </a:solidFill>
                <a:latin typeface="Calibri"/>
                <a:cs typeface="Calibri"/>
              </a:rPr>
              <a:t> </a:t>
            </a:r>
            <a:r>
              <a:rPr sz="2400" b="1" spc="-13" dirty="0">
                <a:solidFill>
                  <a:srgbClr val="8C1414"/>
                </a:solidFill>
                <a:latin typeface="Calibri"/>
                <a:cs typeface="Calibri"/>
              </a:rPr>
              <a:t>Objective</a:t>
            </a:r>
            <a:endParaRPr sz="2400">
              <a:solidFill>
                <a:prstClr val="black"/>
              </a:solidFill>
              <a:latin typeface="Calibri"/>
              <a:cs typeface="Calibri"/>
            </a:endParaRPr>
          </a:p>
          <a:p>
            <a:pPr marR="6630928" algn="ctr" defTabSz="1219170">
              <a:spcBef>
                <a:spcPts val="445"/>
              </a:spcBef>
            </a:pPr>
            <a:r>
              <a:rPr sz="1333" spc="-7" dirty="0">
                <a:solidFill>
                  <a:prstClr val="black"/>
                </a:solidFill>
                <a:latin typeface="Calibri"/>
                <a:cs typeface="Calibri"/>
              </a:rPr>
              <a:t>(get </a:t>
            </a:r>
            <a:r>
              <a:rPr sz="1333" b="1" spc="-7" dirty="0">
                <a:solidFill>
                  <a:prstClr val="black"/>
                </a:solidFill>
                <a:latin typeface="Calibri"/>
                <a:cs typeface="Calibri"/>
              </a:rPr>
              <a:t>high </a:t>
            </a:r>
            <a:r>
              <a:rPr sz="1333" b="1" spc="-13" dirty="0">
                <a:solidFill>
                  <a:prstClr val="black"/>
                </a:solidFill>
                <a:latin typeface="Calibri"/>
                <a:cs typeface="Calibri"/>
              </a:rPr>
              <a:t>reward</a:t>
            </a:r>
            <a:r>
              <a:rPr sz="1333" spc="-13" dirty="0">
                <a:solidFill>
                  <a:prstClr val="black"/>
                </a:solidFill>
                <a:latin typeface="Calibri"/>
                <a:cs typeface="Calibri"/>
              </a:rPr>
              <a:t>, </a:t>
            </a:r>
            <a:r>
              <a:rPr sz="1333" spc="-20" dirty="0">
                <a:solidFill>
                  <a:prstClr val="black"/>
                </a:solidFill>
                <a:latin typeface="Calibri"/>
                <a:cs typeface="Calibri"/>
              </a:rPr>
              <a:t>stay</a:t>
            </a:r>
            <a:r>
              <a:rPr sz="1333" spc="-80" dirty="0">
                <a:solidFill>
                  <a:prstClr val="black"/>
                </a:solidFill>
                <a:latin typeface="Calibri"/>
                <a:cs typeface="Calibri"/>
              </a:rPr>
              <a:t> </a:t>
            </a:r>
            <a:r>
              <a:rPr sz="1333" b="1" spc="-7" dirty="0">
                <a:solidFill>
                  <a:prstClr val="black"/>
                </a:solidFill>
                <a:latin typeface="Calibri"/>
                <a:cs typeface="Calibri"/>
              </a:rPr>
              <a:t>close</a:t>
            </a:r>
            <a:endParaRPr sz="1333">
              <a:solidFill>
                <a:prstClr val="black"/>
              </a:solidFill>
              <a:latin typeface="Calibri"/>
              <a:cs typeface="Calibri"/>
            </a:endParaRPr>
          </a:p>
          <a:p>
            <a:pPr marR="6631774" algn="ctr" defTabSz="1219170"/>
            <a:r>
              <a:rPr sz="1333" spc="-7" dirty="0">
                <a:solidFill>
                  <a:prstClr val="black"/>
                </a:solidFill>
                <a:latin typeface="Calibri"/>
                <a:cs typeface="Calibri"/>
              </a:rPr>
              <a:t>to </a:t>
            </a:r>
            <a:r>
              <a:rPr sz="1333" spc="-13" dirty="0">
                <a:solidFill>
                  <a:prstClr val="black"/>
                </a:solidFill>
                <a:latin typeface="Calibri"/>
                <a:cs typeface="Calibri"/>
              </a:rPr>
              <a:t>reference</a:t>
            </a:r>
            <a:r>
              <a:rPr sz="1333" spc="-33" dirty="0">
                <a:solidFill>
                  <a:prstClr val="black"/>
                </a:solidFill>
                <a:latin typeface="Calibri"/>
                <a:cs typeface="Calibri"/>
              </a:rPr>
              <a:t> </a:t>
            </a:r>
            <a:r>
              <a:rPr sz="1333" spc="-7" dirty="0">
                <a:solidFill>
                  <a:prstClr val="black"/>
                </a:solidFill>
                <a:latin typeface="Calibri"/>
                <a:cs typeface="Calibri"/>
              </a:rPr>
              <a:t>model)</a:t>
            </a:r>
            <a:endParaRPr sz="1333">
              <a:solidFill>
                <a:prstClr val="black"/>
              </a:solidFill>
              <a:latin typeface="Calibri"/>
              <a:cs typeface="Calibri"/>
            </a:endParaRPr>
          </a:p>
        </p:txBody>
      </p:sp>
      <p:sp>
        <p:nvSpPr>
          <p:cNvPr id="7" name="object 7"/>
          <p:cNvSpPr txBox="1"/>
          <p:nvPr/>
        </p:nvSpPr>
        <p:spPr>
          <a:xfrm>
            <a:off x="574566" y="3222167"/>
            <a:ext cx="1865207" cy="1335408"/>
          </a:xfrm>
          <a:prstGeom prst="rect">
            <a:avLst/>
          </a:prstGeom>
        </p:spPr>
        <p:txBody>
          <a:bodyPr vert="horz" wrap="square" lIns="0" tIns="16933" rIns="0" bIns="0" rtlCol="0">
            <a:spAutoFit/>
          </a:bodyPr>
          <a:lstStyle/>
          <a:p>
            <a:pPr marL="16086" marR="6773" indent="847" algn="ctr" defTabSz="1219170">
              <a:spcBef>
                <a:spcPts val="133"/>
              </a:spcBef>
            </a:pPr>
            <a:r>
              <a:rPr sz="2400" b="1" spc="-13" dirty="0">
                <a:solidFill>
                  <a:srgbClr val="8C1414"/>
                </a:solidFill>
                <a:latin typeface="Calibri"/>
                <a:cs typeface="Calibri"/>
              </a:rPr>
              <a:t>Closed-form  </a:t>
            </a:r>
            <a:r>
              <a:rPr sz="2400" b="1" spc="-7" dirty="0">
                <a:solidFill>
                  <a:srgbClr val="8C1414"/>
                </a:solidFill>
                <a:latin typeface="Calibri"/>
                <a:cs typeface="Calibri"/>
              </a:rPr>
              <a:t>Optimal</a:t>
            </a:r>
            <a:r>
              <a:rPr sz="2400" b="1" spc="-127" dirty="0">
                <a:solidFill>
                  <a:srgbClr val="8C1414"/>
                </a:solidFill>
                <a:latin typeface="Calibri"/>
                <a:cs typeface="Calibri"/>
              </a:rPr>
              <a:t> </a:t>
            </a:r>
            <a:r>
              <a:rPr sz="2400" b="1" spc="-13" dirty="0">
                <a:solidFill>
                  <a:srgbClr val="8C1414"/>
                </a:solidFill>
                <a:latin typeface="Calibri"/>
                <a:cs typeface="Calibri"/>
              </a:rPr>
              <a:t>Policy</a:t>
            </a:r>
            <a:endParaRPr sz="2400">
              <a:solidFill>
                <a:prstClr val="black"/>
              </a:solidFill>
              <a:latin typeface="Calibri"/>
              <a:cs typeface="Calibri"/>
            </a:endParaRPr>
          </a:p>
          <a:p>
            <a:pPr marL="49952" marR="36406" indent="-847" algn="ctr" defTabSz="1219170">
              <a:spcBef>
                <a:spcPts val="213"/>
              </a:spcBef>
            </a:pPr>
            <a:r>
              <a:rPr sz="1200" spc="-7" dirty="0">
                <a:solidFill>
                  <a:prstClr val="black"/>
                </a:solidFill>
                <a:latin typeface="Calibri"/>
                <a:cs typeface="Calibri"/>
              </a:rPr>
              <a:t>(write </a:t>
            </a:r>
            <a:r>
              <a:rPr sz="1200" b="1" spc="-7" dirty="0">
                <a:solidFill>
                  <a:prstClr val="black"/>
                </a:solidFill>
                <a:latin typeface="Calibri"/>
                <a:cs typeface="Calibri"/>
              </a:rPr>
              <a:t>optimal policy </a:t>
            </a:r>
            <a:r>
              <a:rPr sz="1200" dirty="0">
                <a:solidFill>
                  <a:prstClr val="black"/>
                </a:solidFill>
                <a:latin typeface="Calibri"/>
                <a:cs typeface="Calibri"/>
              </a:rPr>
              <a:t>as  </a:t>
            </a:r>
            <a:r>
              <a:rPr sz="1200" spc="-7" dirty="0">
                <a:solidFill>
                  <a:prstClr val="black"/>
                </a:solidFill>
                <a:latin typeface="Calibri"/>
                <a:cs typeface="Calibri"/>
              </a:rPr>
              <a:t>function of </a:t>
            </a:r>
            <a:r>
              <a:rPr sz="1200" b="1" spc="-13" dirty="0">
                <a:solidFill>
                  <a:prstClr val="black"/>
                </a:solidFill>
                <a:latin typeface="Calibri"/>
                <a:cs typeface="Calibri"/>
              </a:rPr>
              <a:t>reward</a:t>
            </a:r>
            <a:r>
              <a:rPr sz="1200" b="1" spc="-87" dirty="0">
                <a:solidFill>
                  <a:prstClr val="black"/>
                </a:solidFill>
                <a:latin typeface="Calibri"/>
                <a:cs typeface="Calibri"/>
              </a:rPr>
              <a:t> </a:t>
            </a:r>
            <a:r>
              <a:rPr sz="1200" b="1" spc="-7" dirty="0">
                <a:solidFill>
                  <a:prstClr val="black"/>
                </a:solidFill>
                <a:latin typeface="Calibri"/>
                <a:cs typeface="Calibri"/>
              </a:rPr>
              <a:t>function</a:t>
            </a:r>
            <a:r>
              <a:rPr sz="1200" spc="-7" dirty="0">
                <a:solidFill>
                  <a:prstClr val="black"/>
                </a:solidFill>
                <a:latin typeface="Calibri"/>
                <a:cs typeface="Calibri"/>
              </a:rPr>
              <a:t>;  </a:t>
            </a:r>
            <a:r>
              <a:rPr sz="1200" spc="-13" dirty="0">
                <a:solidFill>
                  <a:prstClr val="black"/>
                </a:solidFill>
                <a:latin typeface="Calibri"/>
                <a:cs typeface="Calibri"/>
              </a:rPr>
              <a:t>from </a:t>
            </a:r>
            <a:r>
              <a:rPr sz="1200" spc="-7" dirty="0">
                <a:solidFill>
                  <a:prstClr val="black"/>
                </a:solidFill>
                <a:latin typeface="Calibri"/>
                <a:cs typeface="Calibri"/>
              </a:rPr>
              <a:t>prior</a:t>
            </a:r>
            <a:r>
              <a:rPr sz="1200" spc="-13" dirty="0">
                <a:solidFill>
                  <a:prstClr val="black"/>
                </a:solidFill>
                <a:latin typeface="Calibri"/>
                <a:cs typeface="Calibri"/>
              </a:rPr>
              <a:t> work)</a:t>
            </a:r>
            <a:endParaRPr sz="1200">
              <a:solidFill>
                <a:prstClr val="black"/>
              </a:solidFill>
              <a:latin typeface="Calibri"/>
              <a:cs typeface="Calibri"/>
            </a:endParaRPr>
          </a:p>
        </p:txBody>
      </p:sp>
      <p:sp>
        <p:nvSpPr>
          <p:cNvPr id="8" name="object 8"/>
          <p:cNvSpPr/>
          <p:nvPr/>
        </p:nvSpPr>
        <p:spPr>
          <a:xfrm>
            <a:off x="3928472" y="3880013"/>
            <a:ext cx="466513" cy="158327"/>
          </a:xfrm>
          <a:custGeom>
            <a:avLst/>
            <a:gdLst/>
            <a:ahLst/>
            <a:cxnLst/>
            <a:rect l="l" t="t" r="r" b="b"/>
            <a:pathLst>
              <a:path w="349885" h="118744">
                <a:moveTo>
                  <a:pt x="0" y="118181"/>
                </a:moveTo>
                <a:lnTo>
                  <a:pt x="349542" y="0"/>
                </a:lnTo>
              </a:path>
            </a:pathLst>
          </a:custGeom>
          <a:ln w="19049">
            <a:solidFill>
              <a:srgbClr val="2E2C28"/>
            </a:solidFill>
          </a:ln>
        </p:spPr>
        <p:txBody>
          <a:bodyPr wrap="square" lIns="0" tIns="0" rIns="0" bIns="0" rtlCol="0"/>
          <a:lstStyle/>
          <a:p>
            <a:pPr defTabSz="1219170"/>
            <a:endParaRPr sz="2400">
              <a:solidFill>
                <a:prstClr val="black"/>
              </a:solidFill>
              <a:latin typeface="Calibri"/>
            </a:endParaRPr>
          </a:p>
        </p:txBody>
      </p:sp>
      <p:sp>
        <p:nvSpPr>
          <p:cNvPr id="9" name="object 9"/>
          <p:cNvSpPr/>
          <p:nvPr/>
        </p:nvSpPr>
        <p:spPr>
          <a:xfrm>
            <a:off x="3806575" y="3985143"/>
            <a:ext cx="148032" cy="104887"/>
          </a:xfrm>
          <a:prstGeom prst="rect">
            <a:avLst/>
          </a:prstGeom>
          <a:blipFill>
            <a:blip r:embed="rId3"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10" name="object 10"/>
          <p:cNvSpPr/>
          <p:nvPr/>
        </p:nvSpPr>
        <p:spPr>
          <a:xfrm>
            <a:off x="4368391" y="3827569"/>
            <a:ext cx="148032" cy="104887"/>
          </a:xfrm>
          <a:prstGeom prst="rect">
            <a:avLst/>
          </a:prstGeom>
          <a:blipFill>
            <a:blip r:embed="rId4"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11" name="object 11"/>
          <p:cNvSpPr/>
          <p:nvPr/>
        </p:nvSpPr>
        <p:spPr>
          <a:xfrm>
            <a:off x="2947533" y="1935067"/>
            <a:ext cx="8133035" cy="482965"/>
          </a:xfrm>
          <a:prstGeom prst="rect">
            <a:avLst/>
          </a:prstGeom>
          <a:blipFill>
            <a:blip r:embed="rId5"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12" name="object 12"/>
          <p:cNvSpPr/>
          <p:nvPr/>
        </p:nvSpPr>
        <p:spPr>
          <a:xfrm>
            <a:off x="7289294" y="4237711"/>
            <a:ext cx="642620" cy="0"/>
          </a:xfrm>
          <a:custGeom>
            <a:avLst/>
            <a:gdLst/>
            <a:ahLst/>
            <a:cxnLst/>
            <a:rect l="l" t="t" r="r" b="b"/>
            <a:pathLst>
              <a:path w="481964">
                <a:moveTo>
                  <a:pt x="0" y="0"/>
                </a:moveTo>
                <a:lnTo>
                  <a:pt x="481799" y="0"/>
                </a:lnTo>
              </a:path>
            </a:pathLst>
          </a:custGeom>
          <a:ln w="19049">
            <a:solidFill>
              <a:srgbClr val="2E2C28"/>
            </a:solidFill>
          </a:ln>
        </p:spPr>
        <p:txBody>
          <a:bodyPr wrap="square" lIns="0" tIns="0" rIns="0" bIns="0" rtlCol="0"/>
          <a:lstStyle/>
          <a:p>
            <a:pPr defTabSz="1219170"/>
            <a:endParaRPr sz="2400">
              <a:solidFill>
                <a:prstClr val="black"/>
              </a:solidFill>
              <a:latin typeface="Calibri"/>
            </a:endParaRPr>
          </a:p>
        </p:txBody>
      </p:sp>
      <p:sp>
        <p:nvSpPr>
          <p:cNvPr id="13" name="object 13"/>
          <p:cNvSpPr/>
          <p:nvPr/>
        </p:nvSpPr>
        <p:spPr>
          <a:xfrm>
            <a:off x="7161325" y="4183057"/>
            <a:ext cx="140667" cy="109307"/>
          </a:xfrm>
          <a:prstGeom prst="rect">
            <a:avLst/>
          </a:prstGeom>
          <a:blipFill>
            <a:blip r:embed="rId6"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14" name="object 14"/>
          <p:cNvSpPr/>
          <p:nvPr/>
        </p:nvSpPr>
        <p:spPr>
          <a:xfrm>
            <a:off x="2947549" y="3154280"/>
            <a:ext cx="5819115" cy="763600"/>
          </a:xfrm>
          <a:prstGeom prst="rect">
            <a:avLst/>
          </a:prstGeom>
          <a:blipFill>
            <a:blip r:embed="rId7"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15" name="object 15"/>
          <p:cNvSpPr/>
          <p:nvPr/>
        </p:nvSpPr>
        <p:spPr>
          <a:xfrm>
            <a:off x="3433299" y="3971063"/>
            <a:ext cx="3575572" cy="615599"/>
          </a:xfrm>
          <a:prstGeom prst="rect">
            <a:avLst/>
          </a:prstGeom>
          <a:blipFill>
            <a:blip r:embed="rId8"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16" name="object 16"/>
          <p:cNvSpPr/>
          <p:nvPr/>
        </p:nvSpPr>
        <p:spPr>
          <a:xfrm>
            <a:off x="2919483" y="5296366"/>
            <a:ext cx="5875231" cy="1306665"/>
          </a:xfrm>
          <a:prstGeom prst="rect">
            <a:avLst/>
          </a:prstGeom>
          <a:blipFill>
            <a:blip r:embed="rId9"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17" name="object 17"/>
          <p:cNvSpPr/>
          <p:nvPr/>
        </p:nvSpPr>
        <p:spPr>
          <a:xfrm>
            <a:off x="6787257" y="5038367"/>
            <a:ext cx="760307" cy="341205"/>
          </a:xfrm>
          <a:custGeom>
            <a:avLst/>
            <a:gdLst/>
            <a:ahLst/>
            <a:cxnLst/>
            <a:rect l="l" t="t" r="r" b="b"/>
            <a:pathLst>
              <a:path w="570229" h="255904">
                <a:moveTo>
                  <a:pt x="569756" y="0"/>
                </a:moveTo>
                <a:lnTo>
                  <a:pt x="0" y="255607"/>
                </a:lnTo>
              </a:path>
            </a:pathLst>
          </a:custGeom>
          <a:ln w="9524">
            <a:solidFill>
              <a:srgbClr val="2E2C28"/>
            </a:solidFill>
          </a:ln>
        </p:spPr>
        <p:txBody>
          <a:bodyPr wrap="square" lIns="0" tIns="0" rIns="0" bIns="0" rtlCol="0"/>
          <a:lstStyle/>
          <a:p>
            <a:pPr defTabSz="1219170"/>
            <a:endParaRPr sz="2400">
              <a:solidFill>
                <a:prstClr val="black"/>
              </a:solidFill>
              <a:latin typeface="Calibri"/>
            </a:endParaRPr>
          </a:p>
        </p:txBody>
      </p:sp>
      <p:sp>
        <p:nvSpPr>
          <p:cNvPr id="18" name="object 18"/>
          <p:cNvSpPr/>
          <p:nvPr/>
        </p:nvSpPr>
        <p:spPr>
          <a:xfrm>
            <a:off x="6734673" y="5360036"/>
            <a:ext cx="61807" cy="43179"/>
          </a:xfrm>
          <a:custGeom>
            <a:avLst/>
            <a:gdLst/>
            <a:ahLst/>
            <a:cxnLst/>
            <a:rect l="l" t="t" r="r" b="b"/>
            <a:pathLst>
              <a:path w="46354" h="32385">
                <a:moveTo>
                  <a:pt x="0" y="32047"/>
                </a:moveTo>
                <a:lnTo>
                  <a:pt x="32998" y="0"/>
                </a:lnTo>
                <a:lnTo>
                  <a:pt x="45877" y="28708"/>
                </a:lnTo>
                <a:lnTo>
                  <a:pt x="0" y="32047"/>
                </a:lnTo>
                <a:close/>
              </a:path>
            </a:pathLst>
          </a:custGeom>
          <a:solidFill>
            <a:srgbClr val="2E2C28"/>
          </a:solidFill>
        </p:spPr>
        <p:txBody>
          <a:bodyPr wrap="square" lIns="0" tIns="0" rIns="0" bIns="0" rtlCol="0"/>
          <a:lstStyle/>
          <a:p>
            <a:pPr defTabSz="1219170"/>
            <a:endParaRPr sz="2400">
              <a:solidFill>
                <a:prstClr val="black"/>
              </a:solidFill>
              <a:latin typeface="Calibri"/>
            </a:endParaRPr>
          </a:p>
        </p:txBody>
      </p:sp>
      <p:sp>
        <p:nvSpPr>
          <p:cNvPr id="19" name="object 19"/>
          <p:cNvSpPr/>
          <p:nvPr/>
        </p:nvSpPr>
        <p:spPr>
          <a:xfrm>
            <a:off x="6734673" y="5360036"/>
            <a:ext cx="61807" cy="43179"/>
          </a:xfrm>
          <a:custGeom>
            <a:avLst/>
            <a:gdLst/>
            <a:ahLst/>
            <a:cxnLst/>
            <a:rect l="l" t="t" r="r" b="b"/>
            <a:pathLst>
              <a:path w="46354" h="32385">
                <a:moveTo>
                  <a:pt x="32998" y="0"/>
                </a:moveTo>
                <a:lnTo>
                  <a:pt x="0" y="32047"/>
                </a:lnTo>
                <a:lnTo>
                  <a:pt x="45877" y="28708"/>
                </a:lnTo>
                <a:lnTo>
                  <a:pt x="32998" y="0"/>
                </a:lnTo>
                <a:close/>
              </a:path>
            </a:pathLst>
          </a:custGeom>
          <a:ln w="9524">
            <a:solidFill>
              <a:srgbClr val="2E2C28"/>
            </a:solidFill>
          </a:ln>
        </p:spPr>
        <p:txBody>
          <a:bodyPr wrap="square" lIns="0" tIns="0" rIns="0" bIns="0" rtlCol="0"/>
          <a:lstStyle/>
          <a:p>
            <a:pPr defTabSz="1219170"/>
            <a:endParaRPr sz="2400">
              <a:solidFill>
                <a:prstClr val="black"/>
              </a:solidFill>
              <a:latin typeface="Calibri"/>
            </a:endParaRPr>
          </a:p>
        </p:txBody>
      </p:sp>
      <p:sp>
        <p:nvSpPr>
          <p:cNvPr id="20" name="object 20"/>
          <p:cNvSpPr txBox="1"/>
          <p:nvPr/>
        </p:nvSpPr>
        <p:spPr>
          <a:xfrm>
            <a:off x="7587268" y="4761408"/>
            <a:ext cx="2540000" cy="571096"/>
          </a:xfrm>
          <a:prstGeom prst="rect">
            <a:avLst/>
          </a:prstGeom>
        </p:spPr>
        <p:txBody>
          <a:bodyPr vert="horz" wrap="square" lIns="0" tIns="16933" rIns="0" bIns="0" rtlCol="0">
            <a:spAutoFit/>
          </a:bodyPr>
          <a:lstStyle/>
          <a:p>
            <a:pPr marL="16933" marR="6773" indent="55032" algn="just" defTabSz="1219170">
              <a:spcBef>
                <a:spcPts val="133"/>
              </a:spcBef>
            </a:pPr>
            <a:r>
              <a:rPr sz="1200" spc="-7" dirty="0">
                <a:solidFill>
                  <a:prstClr val="black"/>
                </a:solidFill>
                <a:latin typeface="Calibri"/>
                <a:cs typeface="Calibri"/>
              </a:rPr>
              <a:t>Ratio is </a:t>
            </a:r>
            <a:r>
              <a:rPr sz="1200" b="1" spc="-7" dirty="0">
                <a:solidFill>
                  <a:prstClr val="black"/>
                </a:solidFill>
                <a:latin typeface="Calibri"/>
                <a:cs typeface="Calibri"/>
              </a:rPr>
              <a:t>positive </a:t>
            </a:r>
            <a:r>
              <a:rPr sz="1200" spc="-7" dirty="0">
                <a:solidFill>
                  <a:prstClr val="black"/>
                </a:solidFill>
                <a:latin typeface="Calibri"/>
                <a:cs typeface="Calibri"/>
              </a:rPr>
              <a:t>if policy </a:t>
            </a:r>
            <a:r>
              <a:rPr sz="1200" spc="-13" dirty="0">
                <a:solidFill>
                  <a:prstClr val="black"/>
                </a:solidFill>
                <a:latin typeface="Calibri"/>
                <a:cs typeface="Calibri"/>
              </a:rPr>
              <a:t>likes response  more </a:t>
            </a:r>
            <a:r>
              <a:rPr sz="1200" spc="-7" dirty="0">
                <a:solidFill>
                  <a:prstClr val="black"/>
                </a:solidFill>
                <a:latin typeface="Calibri"/>
                <a:cs typeface="Calibri"/>
              </a:rPr>
              <a:t>than </a:t>
            </a:r>
            <a:r>
              <a:rPr sz="1200" spc="-13" dirty="0">
                <a:solidFill>
                  <a:prstClr val="black"/>
                </a:solidFill>
                <a:latin typeface="Calibri"/>
                <a:cs typeface="Calibri"/>
              </a:rPr>
              <a:t>reference </a:t>
            </a:r>
            <a:r>
              <a:rPr sz="1200" spc="-7" dirty="0">
                <a:solidFill>
                  <a:prstClr val="black"/>
                </a:solidFill>
                <a:latin typeface="Calibri"/>
                <a:cs typeface="Calibri"/>
              </a:rPr>
              <a:t>model, </a:t>
            </a:r>
            <a:r>
              <a:rPr sz="1200" b="1" spc="-13" dirty="0">
                <a:solidFill>
                  <a:prstClr val="black"/>
                </a:solidFill>
                <a:latin typeface="Calibri"/>
                <a:cs typeface="Calibri"/>
              </a:rPr>
              <a:t>negative </a:t>
            </a:r>
            <a:r>
              <a:rPr sz="1200" spc="-7" dirty="0">
                <a:solidFill>
                  <a:prstClr val="black"/>
                </a:solidFill>
                <a:latin typeface="Calibri"/>
                <a:cs typeface="Calibri"/>
              </a:rPr>
              <a:t>if  policy </a:t>
            </a:r>
            <a:r>
              <a:rPr sz="1200" spc="-13" dirty="0">
                <a:solidFill>
                  <a:prstClr val="black"/>
                </a:solidFill>
                <a:latin typeface="Calibri"/>
                <a:cs typeface="Calibri"/>
              </a:rPr>
              <a:t>likes response </a:t>
            </a:r>
            <a:r>
              <a:rPr sz="1200" spc="-7" dirty="0">
                <a:solidFill>
                  <a:prstClr val="black"/>
                </a:solidFill>
                <a:latin typeface="Calibri"/>
                <a:cs typeface="Calibri"/>
              </a:rPr>
              <a:t>less than </a:t>
            </a:r>
            <a:r>
              <a:rPr sz="1200" spc="-33" dirty="0">
                <a:solidFill>
                  <a:prstClr val="black"/>
                </a:solidFill>
                <a:latin typeface="Calibri"/>
                <a:cs typeface="Calibri"/>
              </a:rPr>
              <a:t>ref. </a:t>
            </a:r>
            <a:r>
              <a:rPr sz="1200" spc="-7" dirty="0">
                <a:solidFill>
                  <a:prstClr val="black"/>
                </a:solidFill>
                <a:latin typeface="Calibri"/>
                <a:cs typeface="Calibri"/>
              </a:rPr>
              <a:t>model</a:t>
            </a:r>
            <a:endParaRPr sz="1200">
              <a:solidFill>
                <a:prstClr val="black"/>
              </a:solidFill>
              <a:latin typeface="Calibri"/>
              <a:cs typeface="Calibri"/>
            </a:endParaRPr>
          </a:p>
        </p:txBody>
      </p:sp>
      <p:sp>
        <p:nvSpPr>
          <p:cNvPr id="22" name="object 22"/>
          <p:cNvSpPr txBox="1"/>
          <p:nvPr/>
        </p:nvSpPr>
        <p:spPr>
          <a:xfrm>
            <a:off x="569284" y="5330379"/>
            <a:ext cx="1878753" cy="766877"/>
          </a:xfrm>
          <a:prstGeom prst="rect">
            <a:avLst/>
          </a:prstGeom>
        </p:spPr>
        <p:txBody>
          <a:bodyPr vert="horz" wrap="square" lIns="0" tIns="0" rIns="0" bIns="0" rtlCol="0">
            <a:spAutoFit/>
          </a:bodyPr>
          <a:lstStyle/>
          <a:p>
            <a:pPr algn="ctr" defTabSz="1219170">
              <a:lnSpc>
                <a:spcPts val="2413"/>
              </a:lnSpc>
            </a:pPr>
            <a:r>
              <a:rPr sz="2400" b="1" spc="-20" dirty="0">
                <a:solidFill>
                  <a:srgbClr val="8C1414"/>
                </a:solidFill>
                <a:latin typeface="Calibri"/>
                <a:cs typeface="Calibri"/>
              </a:rPr>
              <a:t>Rearrange</a:t>
            </a:r>
            <a:endParaRPr sz="2400">
              <a:solidFill>
                <a:prstClr val="black"/>
              </a:solidFill>
              <a:latin typeface="Calibri"/>
              <a:cs typeface="Calibri"/>
            </a:endParaRPr>
          </a:p>
          <a:p>
            <a:pPr marL="16933" marR="6773" algn="ctr" defTabSz="1219170">
              <a:spcBef>
                <a:spcPts val="693"/>
              </a:spcBef>
            </a:pPr>
            <a:r>
              <a:rPr sz="1200" spc="-7" dirty="0">
                <a:solidFill>
                  <a:prstClr val="black"/>
                </a:solidFill>
                <a:latin typeface="Calibri"/>
                <a:cs typeface="Calibri"/>
              </a:rPr>
              <a:t>(write </a:t>
            </a:r>
            <a:r>
              <a:rPr sz="1200" b="1" spc="-13" dirty="0">
                <a:solidFill>
                  <a:prstClr val="black"/>
                </a:solidFill>
                <a:latin typeface="Calibri"/>
                <a:cs typeface="Calibri"/>
              </a:rPr>
              <a:t>any reward </a:t>
            </a:r>
            <a:r>
              <a:rPr sz="1200" b="1" spc="-7" dirty="0">
                <a:solidFill>
                  <a:prstClr val="black"/>
                </a:solidFill>
                <a:latin typeface="Calibri"/>
                <a:cs typeface="Calibri"/>
              </a:rPr>
              <a:t>function</a:t>
            </a:r>
            <a:r>
              <a:rPr sz="1200" b="1" spc="-80" dirty="0">
                <a:solidFill>
                  <a:prstClr val="black"/>
                </a:solidFill>
                <a:latin typeface="Calibri"/>
                <a:cs typeface="Calibri"/>
              </a:rPr>
              <a:t> </a:t>
            </a:r>
            <a:r>
              <a:rPr sz="1200" dirty="0">
                <a:solidFill>
                  <a:prstClr val="black"/>
                </a:solidFill>
                <a:latin typeface="Calibri"/>
                <a:cs typeface="Calibri"/>
              </a:rPr>
              <a:t>as  </a:t>
            </a:r>
            <a:r>
              <a:rPr sz="1200" spc="-7" dirty="0">
                <a:solidFill>
                  <a:prstClr val="black"/>
                </a:solidFill>
                <a:latin typeface="Calibri"/>
                <a:cs typeface="Calibri"/>
              </a:rPr>
              <a:t>function of </a:t>
            </a:r>
            <a:r>
              <a:rPr sz="1200" b="1" spc="-7" dirty="0">
                <a:solidFill>
                  <a:prstClr val="black"/>
                </a:solidFill>
                <a:latin typeface="Calibri"/>
                <a:cs typeface="Calibri"/>
              </a:rPr>
              <a:t>optimal</a:t>
            </a:r>
            <a:r>
              <a:rPr sz="1200" b="1" spc="-47" dirty="0">
                <a:solidFill>
                  <a:prstClr val="black"/>
                </a:solidFill>
                <a:latin typeface="Calibri"/>
                <a:cs typeface="Calibri"/>
              </a:rPr>
              <a:t> </a:t>
            </a:r>
            <a:r>
              <a:rPr sz="1200" b="1" spc="-7" dirty="0">
                <a:solidFill>
                  <a:prstClr val="black"/>
                </a:solidFill>
                <a:latin typeface="Calibri"/>
                <a:cs typeface="Calibri"/>
              </a:rPr>
              <a:t>policy</a:t>
            </a:r>
            <a:r>
              <a:rPr sz="1200" spc="-7" dirty="0">
                <a:solidFill>
                  <a:prstClr val="black"/>
                </a:solidFill>
                <a:latin typeface="Calibri"/>
                <a:cs typeface="Calibri"/>
              </a:rPr>
              <a:t>)</a:t>
            </a:r>
            <a:endParaRPr sz="1200">
              <a:solidFill>
                <a:prstClr val="black"/>
              </a:solidFill>
              <a:latin typeface="Calibri"/>
              <a:cs typeface="Calibri"/>
            </a:endParaRPr>
          </a:p>
        </p:txBody>
      </p:sp>
      <p:sp>
        <p:nvSpPr>
          <p:cNvPr id="21" name="object 21"/>
          <p:cNvSpPr txBox="1"/>
          <p:nvPr/>
        </p:nvSpPr>
        <p:spPr>
          <a:xfrm>
            <a:off x="8039736" y="3961427"/>
            <a:ext cx="2605193" cy="427339"/>
          </a:xfrm>
          <a:prstGeom prst="rect">
            <a:avLst/>
          </a:prstGeom>
        </p:spPr>
        <p:txBody>
          <a:bodyPr vert="horz" wrap="square" lIns="0" tIns="16933" rIns="0" bIns="0" rtlCol="0">
            <a:spAutoFit/>
          </a:bodyPr>
          <a:lstStyle/>
          <a:p>
            <a:pPr marL="16933" marR="6773" indent="79585" defTabSz="1219170">
              <a:spcBef>
                <a:spcPts val="133"/>
              </a:spcBef>
            </a:pPr>
            <a:r>
              <a:rPr sz="1333" spc="-13" dirty="0">
                <a:solidFill>
                  <a:prstClr val="black"/>
                </a:solidFill>
                <a:latin typeface="Calibri"/>
                <a:cs typeface="Calibri"/>
              </a:rPr>
              <a:t>Note </a:t>
            </a:r>
            <a:r>
              <a:rPr sz="1333" b="1" spc="-13" dirty="0">
                <a:solidFill>
                  <a:prstClr val="black"/>
                </a:solidFill>
                <a:latin typeface="Calibri"/>
                <a:cs typeface="Calibri"/>
              </a:rPr>
              <a:t>intractable </a:t>
            </a:r>
            <a:r>
              <a:rPr sz="1333" b="1" spc="-7" dirty="0">
                <a:solidFill>
                  <a:prstClr val="black"/>
                </a:solidFill>
                <a:latin typeface="Calibri"/>
                <a:cs typeface="Calibri"/>
              </a:rPr>
              <a:t>sum </a:t>
            </a:r>
            <a:r>
              <a:rPr sz="1333" spc="-7" dirty="0">
                <a:solidFill>
                  <a:prstClr val="black"/>
                </a:solidFill>
                <a:latin typeface="Calibri"/>
                <a:cs typeface="Calibri"/>
              </a:rPr>
              <a:t>over possible  </a:t>
            </a:r>
            <a:r>
              <a:rPr sz="1333" spc="-13" dirty="0">
                <a:solidFill>
                  <a:prstClr val="black"/>
                </a:solidFill>
                <a:latin typeface="Calibri"/>
                <a:cs typeface="Calibri"/>
              </a:rPr>
              <a:t>responses; </a:t>
            </a:r>
            <a:r>
              <a:rPr sz="1333" spc="-7" dirty="0">
                <a:solidFill>
                  <a:prstClr val="black"/>
                </a:solidFill>
                <a:latin typeface="Calibri"/>
                <a:cs typeface="Calibri"/>
              </a:rPr>
              <a:t>can’t </a:t>
            </a:r>
            <a:r>
              <a:rPr sz="1333" spc="-13" dirty="0">
                <a:solidFill>
                  <a:prstClr val="black"/>
                </a:solidFill>
                <a:latin typeface="Calibri"/>
                <a:cs typeface="Calibri"/>
              </a:rPr>
              <a:t>immediately </a:t>
            </a:r>
            <a:r>
              <a:rPr sz="1333" spc="-7" dirty="0">
                <a:solidFill>
                  <a:prstClr val="black"/>
                </a:solidFill>
                <a:latin typeface="Calibri"/>
                <a:cs typeface="Calibri"/>
              </a:rPr>
              <a:t>use</a:t>
            </a:r>
            <a:r>
              <a:rPr sz="1333" spc="13" dirty="0">
                <a:solidFill>
                  <a:prstClr val="black"/>
                </a:solidFill>
                <a:latin typeface="Calibri"/>
                <a:cs typeface="Calibri"/>
              </a:rPr>
              <a:t> </a:t>
            </a:r>
            <a:r>
              <a:rPr sz="1333" spc="-7" dirty="0">
                <a:solidFill>
                  <a:prstClr val="black"/>
                </a:solidFill>
                <a:latin typeface="Calibri"/>
                <a:cs typeface="Calibri"/>
              </a:rPr>
              <a:t>this</a:t>
            </a:r>
            <a:endParaRPr sz="1333">
              <a:solidFill>
                <a:prstClr val="black"/>
              </a:solidFill>
              <a:latin typeface="Calibri"/>
              <a:cs typeface="Calibri"/>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7" y="671226"/>
            <a:ext cx="10955020" cy="607003"/>
          </a:xfrm>
          <a:prstGeom prst="rect">
            <a:avLst/>
          </a:prstGeom>
        </p:spPr>
        <p:txBody>
          <a:bodyPr vert="horz" wrap="square" lIns="0" tIns="22013" rIns="0" bIns="0" rtlCol="0">
            <a:spAutoFit/>
          </a:bodyPr>
          <a:lstStyle/>
          <a:p>
            <a:pPr marL="16933">
              <a:spcBef>
                <a:spcPts val="173"/>
              </a:spcBef>
            </a:pPr>
            <a:r>
              <a:rPr spc="7" dirty="0"/>
              <a:t>Direct Preference Optimization: Putting </a:t>
            </a:r>
            <a:r>
              <a:rPr dirty="0"/>
              <a:t>it</a:t>
            </a:r>
            <a:r>
              <a:rPr spc="120" dirty="0"/>
              <a:t> </a:t>
            </a:r>
            <a:r>
              <a:rPr spc="7" dirty="0"/>
              <a:t>together</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12967" y="671226"/>
            <a:ext cx="10955020" cy="607003"/>
          </a:xfrm>
          <a:prstGeom prst="rect">
            <a:avLst/>
          </a:prstGeom>
        </p:spPr>
        <p:txBody>
          <a:bodyPr vert="horz" wrap="square" lIns="0" tIns="22013" rIns="0" bIns="0" rtlCol="0">
            <a:spAutoFit/>
          </a:bodyPr>
          <a:lstStyle/>
          <a:p>
            <a:pPr marL="16933" defTabSz="1219170">
              <a:spcBef>
                <a:spcPts val="173"/>
              </a:spcBef>
            </a:pPr>
            <a:r>
              <a:rPr sz="3800" spc="7" dirty="0">
                <a:solidFill>
                  <a:srgbClr val="8C1414"/>
                </a:solidFill>
                <a:latin typeface="Georgia"/>
                <a:cs typeface="Georgia"/>
              </a:rPr>
              <a:t>Direct Preference Optimization: Putting </a:t>
            </a:r>
            <a:r>
              <a:rPr sz="3800" dirty="0">
                <a:solidFill>
                  <a:srgbClr val="8C1414"/>
                </a:solidFill>
                <a:latin typeface="Georgia"/>
                <a:cs typeface="Georgia"/>
              </a:rPr>
              <a:t>it</a:t>
            </a:r>
            <a:r>
              <a:rPr sz="3800" spc="120" dirty="0">
                <a:solidFill>
                  <a:srgbClr val="8C1414"/>
                </a:solidFill>
                <a:latin typeface="Georgia"/>
                <a:cs typeface="Georgia"/>
              </a:rPr>
              <a:t> </a:t>
            </a:r>
            <a:r>
              <a:rPr sz="3800" spc="7" dirty="0">
                <a:solidFill>
                  <a:srgbClr val="8C1414"/>
                </a:solidFill>
                <a:latin typeface="Georgia"/>
                <a:cs typeface="Georgia"/>
              </a:rPr>
              <a:t>together</a:t>
            </a:r>
            <a:endParaRPr sz="3800">
              <a:solidFill>
                <a:prstClr val="black"/>
              </a:solidFill>
              <a:latin typeface="Georgia"/>
              <a:cs typeface="Georgia"/>
            </a:endParaRPr>
          </a:p>
        </p:txBody>
      </p:sp>
      <p:sp>
        <p:nvSpPr>
          <p:cNvPr id="3" name="object 3"/>
          <p:cNvSpPr txBox="1"/>
          <p:nvPr/>
        </p:nvSpPr>
        <p:spPr>
          <a:xfrm>
            <a:off x="406668" y="1601840"/>
            <a:ext cx="2289385" cy="755762"/>
          </a:xfrm>
          <a:prstGeom prst="rect">
            <a:avLst/>
          </a:prstGeom>
        </p:spPr>
        <p:txBody>
          <a:bodyPr vert="horz" wrap="square" lIns="0" tIns="16933" rIns="0" bIns="0" rtlCol="0">
            <a:spAutoFit/>
          </a:bodyPr>
          <a:lstStyle/>
          <a:p>
            <a:pPr marL="16933" marR="6773" defTabSz="1219170">
              <a:spcBef>
                <a:spcPts val="133"/>
              </a:spcBef>
            </a:pPr>
            <a:r>
              <a:rPr sz="2400" b="1" dirty="0">
                <a:solidFill>
                  <a:srgbClr val="8C1414"/>
                </a:solidFill>
                <a:latin typeface="Calibri"/>
                <a:cs typeface="Calibri"/>
              </a:rPr>
              <a:t>A </a:t>
            </a:r>
            <a:r>
              <a:rPr sz="2400" b="1" spc="-7" dirty="0">
                <a:solidFill>
                  <a:srgbClr val="8C1414"/>
                </a:solidFill>
                <a:latin typeface="Calibri"/>
                <a:cs typeface="Calibri"/>
              </a:rPr>
              <a:t>loss function</a:t>
            </a:r>
            <a:r>
              <a:rPr sz="2400" b="1" spc="-133" dirty="0">
                <a:solidFill>
                  <a:srgbClr val="8C1414"/>
                </a:solidFill>
                <a:latin typeface="Calibri"/>
                <a:cs typeface="Calibri"/>
              </a:rPr>
              <a:t> </a:t>
            </a:r>
            <a:r>
              <a:rPr sz="2400" b="1" spc="-7" dirty="0">
                <a:solidFill>
                  <a:srgbClr val="8C1414"/>
                </a:solidFill>
                <a:latin typeface="Calibri"/>
                <a:cs typeface="Calibri"/>
              </a:rPr>
              <a:t>on  </a:t>
            </a:r>
            <a:r>
              <a:rPr sz="2400" b="1" u="heavy" spc="-20" dirty="0">
                <a:solidFill>
                  <a:srgbClr val="8C1414"/>
                </a:solidFill>
                <a:uFill>
                  <a:solidFill>
                    <a:srgbClr val="8C1414"/>
                  </a:solidFill>
                </a:uFill>
                <a:latin typeface="Calibri"/>
                <a:cs typeface="Calibri"/>
              </a:rPr>
              <a:t>reward</a:t>
            </a:r>
            <a:r>
              <a:rPr sz="2400" b="1" u="heavy" spc="-53" dirty="0">
                <a:solidFill>
                  <a:srgbClr val="8C1414"/>
                </a:solidFill>
                <a:uFill>
                  <a:solidFill>
                    <a:srgbClr val="8C1414"/>
                  </a:solidFill>
                </a:uFill>
                <a:latin typeface="Calibri"/>
                <a:cs typeface="Calibri"/>
              </a:rPr>
              <a:t> </a:t>
            </a:r>
            <a:r>
              <a:rPr sz="2400" b="1" u="heavy" spc="-7" dirty="0">
                <a:solidFill>
                  <a:srgbClr val="8C1414"/>
                </a:solidFill>
                <a:uFill>
                  <a:solidFill>
                    <a:srgbClr val="8C1414"/>
                  </a:solidFill>
                </a:uFill>
                <a:latin typeface="Calibri"/>
                <a:cs typeface="Calibri"/>
              </a:rPr>
              <a:t>functions</a:t>
            </a:r>
            <a:endParaRPr sz="2400">
              <a:solidFill>
                <a:prstClr val="black"/>
              </a:solidFill>
              <a:latin typeface="Calibri"/>
              <a:cs typeface="Calibri"/>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7" y="671226"/>
            <a:ext cx="10955020" cy="607003"/>
          </a:xfrm>
          <a:prstGeom prst="rect">
            <a:avLst/>
          </a:prstGeom>
        </p:spPr>
        <p:txBody>
          <a:bodyPr vert="horz" wrap="square" lIns="0" tIns="22013" rIns="0" bIns="0" rtlCol="0">
            <a:spAutoFit/>
          </a:bodyPr>
          <a:lstStyle/>
          <a:p>
            <a:pPr marL="16933">
              <a:spcBef>
                <a:spcPts val="173"/>
              </a:spcBef>
            </a:pPr>
            <a:r>
              <a:rPr spc="7" dirty="0"/>
              <a:t>Direct Preference Optimization: Putting </a:t>
            </a:r>
            <a:r>
              <a:rPr dirty="0"/>
              <a:t>it</a:t>
            </a:r>
            <a:r>
              <a:rPr spc="120" dirty="0"/>
              <a:t> </a:t>
            </a:r>
            <a:r>
              <a:rPr spc="7" dirty="0"/>
              <a:t>together</a:t>
            </a:r>
          </a:p>
        </p:txBody>
      </p:sp>
      <p:sp>
        <p:nvSpPr>
          <p:cNvPr id="3" name="object 3"/>
          <p:cNvSpPr txBox="1"/>
          <p:nvPr/>
        </p:nvSpPr>
        <p:spPr>
          <a:xfrm>
            <a:off x="406668" y="1601840"/>
            <a:ext cx="2782993" cy="2558820"/>
          </a:xfrm>
          <a:prstGeom prst="rect">
            <a:avLst/>
          </a:prstGeom>
        </p:spPr>
        <p:txBody>
          <a:bodyPr vert="horz" wrap="square" lIns="0" tIns="16933" rIns="0" bIns="0" rtlCol="0">
            <a:spAutoFit/>
          </a:bodyPr>
          <a:lstStyle/>
          <a:p>
            <a:pPr marL="16933" marR="500367" defTabSz="1219170">
              <a:spcBef>
                <a:spcPts val="133"/>
              </a:spcBef>
            </a:pPr>
            <a:r>
              <a:rPr sz="2400" b="1" dirty="0">
                <a:solidFill>
                  <a:srgbClr val="8C1414"/>
                </a:solidFill>
                <a:latin typeface="Calibri"/>
                <a:cs typeface="Calibri"/>
              </a:rPr>
              <a:t>A </a:t>
            </a:r>
            <a:r>
              <a:rPr sz="2400" b="1" spc="-7" dirty="0">
                <a:solidFill>
                  <a:srgbClr val="8C1414"/>
                </a:solidFill>
                <a:latin typeface="Calibri"/>
                <a:cs typeface="Calibri"/>
              </a:rPr>
              <a:t>loss function</a:t>
            </a:r>
            <a:r>
              <a:rPr sz="2400" b="1" spc="-133" dirty="0">
                <a:solidFill>
                  <a:srgbClr val="8C1414"/>
                </a:solidFill>
                <a:latin typeface="Calibri"/>
                <a:cs typeface="Calibri"/>
              </a:rPr>
              <a:t> </a:t>
            </a:r>
            <a:r>
              <a:rPr sz="2400" b="1" spc="-7" dirty="0">
                <a:solidFill>
                  <a:srgbClr val="8C1414"/>
                </a:solidFill>
                <a:latin typeface="Calibri"/>
                <a:cs typeface="Calibri"/>
              </a:rPr>
              <a:t>on  </a:t>
            </a:r>
            <a:r>
              <a:rPr sz="2400" b="1" u="heavy" spc="-20" dirty="0">
                <a:solidFill>
                  <a:srgbClr val="8C1414"/>
                </a:solidFill>
                <a:uFill>
                  <a:solidFill>
                    <a:srgbClr val="8C1414"/>
                  </a:solidFill>
                </a:uFill>
                <a:latin typeface="Calibri"/>
                <a:cs typeface="Calibri"/>
              </a:rPr>
              <a:t>reward</a:t>
            </a:r>
            <a:r>
              <a:rPr sz="2400" b="1" u="heavy" spc="-53" dirty="0">
                <a:solidFill>
                  <a:srgbClr val="8C1414"/>
                </a:solidFill>
                <a:uFill>
                  <a:solidFill>
                    <a:srgbClr val="8C1414"/>
                  </a:solidFill>
                </a:uFill>
                <a:latin typeface="Calibri"/>
                <a:cs typeface="Calibri"/>
              </a:rPr>
              <a:t> </a:t>
            </a:r>
            <a:r>
              <a:rPr sz="2400" b="1" u="heavy" spc="-7" dirty="0">
                <a:solidFill>
                  <a:srgbClr val="8C1414"/>
                </a:solidFill>
                <a:uFill>
                  <a:solidFill>
                    <a:srgbClr val="8C1414"/>
                  </a:solidFill>
                </a:uFill>
                <a:latin typeface="Calibri"/>
                <a:cs typeface="Calibri"/>
              </a:rPr>
              <a:t>functions</a:t>
            </a:r>
            <a:endParaRPr sz="2400">
              <a:solidFill>
                <a:prstClr val="black"/>
              </a:solidFill>
              <a:latin typeface="Calibri"/>
              <a:cs typeface="Calibri"/>
            </a:endParaRPr>
          </a:p>
          <a:p>
            <a:pPr marL="877125" defTabSz="1219170">
              <a:lnSpc>
                <a:spcPts val="5833"/>
              </a:lnSpc>
            </a:pPr>
            <a:r>
              <a:rPr sz="6667" b="1" dirty="0">
                <a:solidFill>
                  <a:srgbClr val="8C1414"/>
                </a:solidFill>
                <a:latin typeface="Calibri"/>
                <a:cs typeface="Calibri"/>
              </a:rPr>
              <a:t>+</a:t>
            </a:r>
            <a:endParaRPr sz="6667">
              <a:solidFill>
                <a:prstClr val="black"/>
              </a:solidFill>
              <a:latin typeface="Calibri"/>
              <a:cs typeface="Calibri"/>
            </a:endParaRPr>
          </a:p>
          <a:p>
            <a:pPr marL="16933" defTabSz="1219170">
              <a:lnSpc>
                <a:spcPts val="2485"/>
              </a:lnSpc>
            </a:pPr>
            <a:r>
              <a:rPr sz="2400" b="1" dirty="0">
                <a:solidFill>
                  <a:srgbClr val="8C1414"/>
                </a:solidFill>
                <a:latin typeface="Calibri"/>
                <a:cs typeface="Calibri"/>
              </a:rPr>
              <a:t>A</a:t>
            </a:r>
            <a:r>
              <a:rPr sz="2400" b="1" spc="-73" dirty="0">
                <a:solidFill>
                  <a:srgbClr val="8C1414"/>
                </a:solidFill>
                <a:latin typeface="Calibri"/>
                <a:cs typeface="Calibri"/>
              </a:rPr>
              <a:t> </a:t>
            </a:r>
            <a:r>
              <a:rPr sz="2400" b="1" spc="-20" dirty="0">
                <a:solidFill>
                  <a:srgbClr val="8C1414"/>
                </a:solidFill>
                <a:latin typeface="Calibri"/>
                <a:cs typeface="Calibri"/>
              </a:rPr>
              <a:t>transformation</a:t>
            </a:r>
            <a:endParaRPr sz="2400">
              <a:solidFill>
                <a:prstClr val="black"/>
              </a:solidFill>
              <a:latin typeface="Calibri"/>
              <a:cs typeface="Calibri"/>
            </a:endParaRPr>
          </a:p>
          <a:p>
            <a:pPr marL="16933" marR="6773" defTabSz="1219170"/>
            <a:r>
              <a:rPr sz="2400" b="1" spc="-13" dirty="0">
                <a:solidFill>
                  <a:srgbClr val="8C1414"/>
                </a:solidFill>
                <a:latin typeface="Calibri"/>
                <a:cs typeface="Calibri"/>
              </a:rPr>
              <a:t>between </a:t>
            </a:r>
            <a:r>
              <a:rPr sz="2400" b="1" u="heavy" spc="-20" dirty="0">
                <a:solidFill>
                  <a:srgbClr val="8C1414"/>
                </a:solidFill>
                <a:uFill>
                  <a:solidFill>
                    <a:srgbClr val="8C1414"/>
                  </a:solidFill>
                </a:uFill>
                <a:latin typeface="Calibri"/>
                <a:cs typeface="Calibri"/>
              </a:rPr>
              <a:t>reward </a:t>
            </a:r>
            <a:r>
              <a:rPr sz="2400" b="1" spc="-20" dirty="0">
                <a:solidFill>
                  <a:srgbClr val="8C1414"/>
                </a:solidFill>
                <a:latin typeface="Calibri"/>
                <a:cs typeface="Calibri"/>
              </a:rPr>
              <a:t> </a:t>
            </a:r>
            <a:r>
              <a:rPr sz="2400" b="1" u="heavy" spc="-7" dirty="0">
                <a:solidFill>
                  <a:srgbClr val="8C1414"/>
                </a:solidFill>
                <a:uFill>
                  <a:solidFill>
                    <a:srgbClr val="8C1414"/>
                  </a:solidFill>
                </a:uFill>
                <a:latin typeface="Calibri"/>
                <a:cs typeface="Calibri"/>
              </a:rPr>
              <a:t>functions</a:t>
            </a:r>
            <a:r>
              <a:rPr sz="2400" b="1" spc="-7" dirty="0">
                <a:solidFill>
                  <a:srgbClr val="8C1414"/>
                </a:solidFill>
                <a:latin typeface="Calibri"/>
                <a:cs typeface="Calibri"/>
              </a:rPr>
              <a:t> and</a:t>
            </a:r>
            <a:r>
              <a:rPr sz="2400" b="1" spc="-100" dirty="0">
                <a:solidFill>
                  <a:srgbClr val="8C1414"/>
                </a:solidFill>
                <a:latin typeface="Calibri"/>
                <a:cs typeface="Calibri"/>
              </a:rPr>
              <a:t> </a:t>
            </a:r>
            <a:r>
              <a:rPr sz="2400" b="1" u="heavy" spc="-7" dirty="0">
                <a:solidFill>
                  <a:srgbClr val="8C1414"/>
                </a:solidFill>
                <a:uFill>
                  <a:solidFill>
                    <a:srgbClr val="8C1414"/>
                  </a:solidFill>
                </a:uFill>
                <a:latin typeface="Calibri"/>
                <a:cs typeface="Calibri"/>
              </a:rPr>
              <a:t>policies</a:t>
            </a:r>
            <a:endParaRPr sz="2400">
              <a:solidFill>
                <a:prstClr val="black"/>
              </a:solidFill>
              <a:latin typeface="Calibri"/>
              <a:cs typeface="Calibri"/>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7" y="671226"/>
            <a:ext cx="10955020" cy="607003"/>
          </a:xfrm>
          <a:prstGeom prst="rect">
            <a:avLst/>
          </a:prstGeom>
        </p:spPr>
        <p:txBody>
          <a:bodyPr vert="horz" wrap="square" lIns="0" tIns="22013" rIns="0" bIns="0" rtlCol="0">
            <a:spAutoFit/>
          </a:bodyPr>
          <a:lstStyle/>
          <a:p>
            <a:pPr marL="16933">
              <a:spcBef>
                <a:spcPts val="173"/>
              </a:spcBef>
            </a:pPr>
            <a:r>
              <a:rPr spc="7" dirty="0"/>
              <a:t>Direct Preference Optimization: Putting </a:t>
            </a:r>
            <a:r>
              <a:rPr dirty="0"/>
              <a:t>it</a:t>
            </a:r>
            <a:r>
              <a:rPr spc="120" dirty="0"/>
              <a:t> </a:t>
            </a:r>
            <a:r>
              <a:rPr spc="7" dirty="0"/>
              <a:t>together</a:t>
            </a:r>
          </a:p>
        </p:txBody>
      </p:sp>
      <p:sp>
        <p:nvSpPr>
          <p:cNvPr id="3" name="object 3"/>
          <p:cNvSpPr txBox="1"/>
          <p:nvPr/>
        </p:nvSpPr>
        <p:spPr>
          <a:xfrm>
            <a:off x="406668" y="1601841"/>
            <a:ext cx="2782993" cy="4284933"/>
          </a:xfrm>
          <a:prstGeom prst="rect">
            <a:avLst/>
          </a:prstGeom>
        </p:spPr>
        <p:txBody>
          <a:bodyPr vert="horz" wrap="square" lIns="0" tIns="16933" rIns="0" bIns="0" rtlCol="0">
            <a:spAutoFit/>
          </a:bodyPr>
          <a:lstStyle/>
          <a:p>
            <a:pPr marL="16933" marR="500367" defTabSz="1219170">
              <a:spcBef>
                <a:spcPts val="133"/>
              </a:spcBef>
            </a:pPr>
            <a:r>
              <a:rPr sz="2400" b="1" dirty="0">
                <a:solidFill>
                  <a:srgbClr val="8C1414"/>
                </a:solidFill>
                <a:latin typeface="Calibri"/>
                <a:cs typeface="Calibri"/>
              </a:rPr>
              <a:t>A </a:t>
            </a:r>
            <a:r>
              <a:rPr sz="2400" b="1" spc="-7" dirty="0">
                <a:solidFill>
                  <a:srgbClr val="8C1414"/>
                </a:solidFill>
                <a:latin typeface="Calibri"/>
                <a:cs typeface="Calibri"/>
              </a:rPr>
              <a:t>loss function</a:t>
            </a:r>
            <a:r>
              <a:rPr sz="2400" b="1" spc="-133" dirty="0">
                <a:solidFill>
                  <a:srgbClr val="8C1414"/>
                </a:solidFill>
                <a:latin typeface="Calibri"/>
                <a:cs typeface="Calibri"/>
              </a:rPr>
              <a:t> </a:t>
            </a:r>
            <a:r>
              <a:rPr sz="2400" b="1" spc="-7" dirty="0">
                <a:solidFill>
                  <a:srgbClr val="8C1414"/>
                </a:solidFill>
                <a:latin typeface="Calibri"/>
                <a:cs typeface="Calibri"/>
              </a:rPr>
              <a:t>on  </a:t>
            </a:r>
            <a:r>
              <a:rPr sz="2400" b="1" u="heavy" spc="-20" dirty="0">
                <a:solidFill>
                  <a:srgbClr val="8C1414"/>
                </a:solidFill>
                <a:uFill>
                  <a:solidFill>
                    <a:srgbClr val="8C1414"/>
                  </a:solidFill>
                </a:uFill>
                <a:latin typeface="Calibri"/>
                <a:cs typeface="Calibri"/>
              </a:rPr>
              <a:t>reward</a:t>
            </a:r>
            <a:r>
              <a:rPr sz="2400" b="1" u="heavy" spc="-53" dirty="0">
                <a:solidFill>
                  <a:srgbClr val="8C1414"/>
                </a:solidFill>
                <a:uFill>
                  <a:solidFill>
                    <a:srgbClr val="8C1414"/>
                  </a:solidFill>
                </a:uFill>
                <a:latin typeface="Calibri"/>
                <a:cs typeface="Calibri"/>
              </a:rPr>
              <a:t> </a:t>
            </a:r>
            <a:r>
              <a:rPr sz="2400" b="1" u="heavy" spc="-7" dirty="0">
                <a:solidFill>
                  <a:srgbClr val="8C1414"/>
                </a:solidFill>
                <a:uFill>
                  <a:solidFill>
                    <a:srgbClr val="8C1414"/>
                  </a:solidFill>
                </a:uFill>
                <a:latin typeface="Calibri"/>
                <a:cs typeface="Calibri"/>
              </a:rPr>
              <a:t>functions</a:t>
            </a:r>
            <a:endParaRPr sz="2400">
              <a:solidFill>
                <a:prstClr val="black"/>
              </a:solidFill>
              <a:latin typeface="Calibri"/>
              <a:cs typeface="Calibri"/>
            </a:endParaRPr>
          </a:p>
          <a:p>
            <a:pPr marL="877125" defTabSz="1219170">
              <a:lnSpc>
                <a:spcPts val="5833"/>
              </a:lnSpc>
            </a:pPr>
            <a:r>
              <a:rPr sz="6667" b="1" dirty="0">
                <a:solidFill>
                  <a:srgbClr val="8C1414"/>
                </a:solidFill>
                <a:latin typeface="Calibri"/>
                <a:cs typeface="Calibri"/>
              </a:rPr>
              <a:t>+</a:t>
            </a:r>
            <a:endParaRPr sz="6667">
              <a:solidFill>
                <a:prstClr val="black"/>
              </a:solidFill>
              <a:latin typeface="Calibri"/>
              <a:cs typeface="Calibri"/>
            </a:endParaRPr>
          </a:p>
          <a:p>
            <a:pPr marL="16933" defTabSz="1219170">
              <a:lnSpc>
                <a:spcPts val="2485"/>
              </a:lnSpc>
            </a:pPr>
            <a:r>
              <a:rPr sz="2400" b="1" dirty="0">
                <a:solidFill>
                  <a:srgbClr val="8C1414"/>
                </a:solidFill>
                <a:latin typeface="Calibri"/>
                <a:cs typeface="Calibri"/>
              </a:rPr>
              <a:t>A</a:t>
            </a:r>
            <a:r>
              <a:rPr sz="2400" b="1" spc="-73" dirty="0">
                <a:solidFill>
                  <a:srgbClr val="8C1414"/>
                </a:solidFill>
                <a:latin typeface="Calibri"/>
                <a:cs typeface="Calibri"/>
              </a:rPr>
              <a:t> </a:t>
            </a:r>
            <a:r>
              <a:rPr sz="2400" b="1" spc="-20" dirty="0">
                <a:solidFill>
                  <a:srgbClr val="8C1414"/>
                </a:solidFill>
                <a:latin typeface="Calibri"/>
                <a:cs typeface="Calibri"/>
              </a:rPr>
              <a:t>transformation</a:t>
            </a:r>
            <a:endParaRPr sz="2400">
              <a:solidFill>
                <a:prstClr val="black"/>
              </a:solidFill>
              <a:latin typeface="Calibri"/>
              <a:cs typeface="Calibri"/>
            </a:endParaRPr>
          </a:p>
          <a:p>
            <a:pPr marL="16933" marR="6773" defTabSz="1219170"/>
            <a:r>
              <a:rPr sz="2400" b="1" spc="-13" dirty="0">
                <a:solidFill>
                  <a:srgbClr val="8C1414"/>
                </a:solidFill>
                <a:latin typeface="Calibri"/>
                <a:cs typeface="Calibri"/>
              </a:rPr>
              <a:t>between </a:t>
            </a:r>
            <a:r>
              <a:rPr sz="2400" b="1" u="heavy" spc="-20" dirty="0">
                <a:solidFill>
                  <a:srgbClr val="8C1414"/>
                </a:solidFill>
                <a:uFill>
                  <a:solidFill>
                    <a:srgbClr val="8C1414"/>
                  </a:solidFill>
                </a:uFill>
                <a:latin typeface="Calibri"/>
                <a:cs typeface="Calibri"/>
              </a:rPr>
              <a:t>reward </a:t>
            </a:r>
            <a:r>
              <a:rPr sz="2400" b="1" spc="-20" dirty="0">
                <a:solidFill>
                  <a:srgbClr val="8C1414"/>
                </a:solidFill>
                <a:latin typeface="Calibri"/>
                <a:cs typeface="Calibri"/>
              </a:rPr>
              <a:t> </a:t>
            </a:r>
            <a:r>
              <a:rPr sz="2400" b="1" u="heavy" spc="-7" dirty="0">
                <a:solidFill>
                  <a:srgbClr val="8C1414"/>
                </a:solidFill>
                <a:uFill>
                  <a:solidFill>
                    <a:srgbClr val="8C1414"/>
                  </a:solidFill>
                </a:uFill>
                <a:latin typeface="Calibri"/>
                <a:cs typeface="Calibri"/>
              </a:rPr>
              <a:t>functions</a:t>
            </a:r>
            <a:r>
              <a:rPr sz="2400" b="1" spc="-7" dirty="0">
                <a:solidFill>
                  <a:srgbClr val="8C1414"/>
                </a:solidFill>
                <a:latin typeface="Calibri"/>
                <a:cs typeface="Calibri"/>
              </a:rPr>
              <a:t> and</a:t>
            </a:r>
            <a:r>
              <a:rPr sz="2400" b="1" spc="-100" dirty="0">
                <a:solidFill>
                  <a:srgbClr val="8C1414"/>
                </a:solidFill>
                <a:latin typeface="Calibri"/>
                <a:cs typeface="Calibri"/>
              </a:rPr>
              <a:t> </a:t>
            </a:r>
            <a:r>
              <a:rPr sz="2400" b="1" u="heavy" spc="-7" dirty="0">
                <a:solidFill>
                  <a:srgbClr val="8C1414"/>
                </a:solidFill>
                <a:uFill>
                  <a:solidFill>
                    <a:srgbClr val="8C1414"/>
                  </a:solidFill>
                </a:uFill>
                <a:latin typeface="Calibri"/>
                <a:cs typeface="Calibri"/>
              </a:rPr>
              <a:t>policies</a:t>
            </a:r>
            <a:endParaRPr sz="2400">
              <a:solidFill>
                <a:prstClr val="black"/>
              </a:solidFill>
              <a:latin typeface="Calibri"/>
              <a:cs typeface="Calibri"/>
            </a:endParaRPr>
          </a:p>
          <a:p>
            <a:pPr marL="909297" defTabSz="1219170">
              <a:lnSpc>
                <a:spcPts val="7546"/>
              </a:lnSpc>
            </a:pPr>
            <a:r>
              <a:rPr sz="6667" b="1" dirty="0">
                <a:solidFill>
                  <a:srgbClr val="8C1414"/>
                </a:solidFill>
                <a:latin typeface="Calibri"/>
                <a:cs typeface="Calibri"/>
              </a:rPr>
              <a:t>=</a:t>
            </a:r>
            <a:endParaRPr sz="6667">
              <a:solidFill>
                <a:prstClr val="black"/>
              </a:solidFill>
              <a:latin typeface="Calibri"/>
              <a:cs typeface="Calibri"/>
            </a:endParaRPr>
          </a:p>
          <a:p>
            <a:pPr marL="16933" marR="895751" defTabSz="1219170">
              <a:spcBef>
                <a:spcPts val="220"/>
              </a:spcBef>
            </a:pPr>
            <a:r>
              <a:rPr sz="2400" b="1" dirty="0">
                <a:solidFill>
                  <a:srgbClr val="8C1414"/>
                </a:solidFill>
                <a:latin typeface="Calibri"/>
                <a:cs typeface="Calibri"/>
              </a:rPr>
              <a:t>A </a:t>
            </a:r>
            <a:r>
              <a:rPr sz="2400" b="1" spc="-7" dirty="0">
                <a:solidFill>
                  <a:srgbClr val="8C1414"/>
                </a:solidFill>
                <a:latin typeface="Calibri"/>
                <a:cs typeface="Calibri"/>
              </a:rPr>
              <a:t>loss</a:t>
            </a:r>
            <a:r>
              <a:rPr sz="2400" b="1" spc="-133" dirty="0">
                <a:solidFill>
                  <a:srgbClr val="8C1414"/>
                </a:solidFill>
                <a:latin typeface="Calibri"/>
                <a:cs typeface="Calibri"/>
              </a:rPr>
              <a:t> </a:t>
            </a:r>
            <a:r>
              <a:rPr sz="2400" b="1" spc="-7" dirty="0">
                <a:solidFill>
                  <a:srgbClr val="8C1414"/>
                </a:solidFill>
                <a:latin typeface="Calibri"/>
                <a:cs typeface="Calibri"/>
              </a:rPr>
              <a:t>function  on</a:t>
            </a:r>
            <a:r>
              <a:rPr sz="2400" b="1" spc="-20" dirty="0">
                <a:solidFill>
                  <a:srgbClr val="8C1414"/>
                </a:solidFill>
                <a:latin typeface="Calibri"/>
                <a:cs typeface="Calibri"/>
              </a:rPr>
              <a:t> </a:t>
            </a:r>
            <a:r>
              <a:rPr sz="2400" b="1" u="heavy" spc="-7" dirty="0">
                <a:solidFill>
                  <a:srgbClr val="8C1414"/>
                </a:solidFill>
                <a:uFill>
                  <a:solidFill>
                    <a:srgbClr val="8C1414"/>
                  </a:solidFill>
                </a:uFill>
                <a:latin typeface="Calibri"/>
                <a:cs typeface="Calibri"/>
              </a:rPr>
              <a:t>policies</a:t>
            </a:r>
            <a:endParaRPr sz="2400">
              <a:solidFill>
                <a:prstClr val="black"/>
              </a:solidFill>
              <a:latin typeface="Calibri"/>
              <a:cs typeface="Calibri"/>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7" y="671226"/>
            <a:ext cx="10955020" cy="607003"/>
          </a:xfrm>
          <a:prstGeom prst="rect">
            <a:avLst/>
          </a:prstGeom>
        </p:spPr>
        <p:txBody>
          <a:bodyPr vert="horz" wrap="square" lIns="0" tIns="22013" rIns="0" bIns="0" rtlCol="0">
            <a:spAutoFit/>
          </a:bodyPr>
          <a:lstStyle/>
          <a:p>
            <a:pPr marL="16933">
              <a:spcBef>
                <a:spcPts val="173"/>
              </a:spcBef>
            </a:pPr>
            <a:r>
              <a:rPr spc="7" dirty="0"/>
              <a:t>Direct Preference Optimization: Putting </a:t>
            </a:r>
            <a:r>
              <a:rPr dirty="0"/>
              <a:t>it</a:t>
            </a:r>
            <a:r>
              <a:rPr spc="120" dirty="0"/>
              <a:t> </a:t>
            </a:r>
            <a:r>
              <a:rPr spc="7" dirty="0"/>
              <a:t>together</a:t>
            </a:r>
          </a:p>
        </p:txBody>
      </p:sp>
      <p:sp>
        <p:nvSpPr>
          <p:cNvPr id="3" name="object 3"/>
          <p:cNvSpPr/>
          <p:nvPr/>
        </p:nvSpPr>
        <p:spPr>
          <a:xfrm>
            <a:off x="3677767" y="1871499"/>
            <a:ext cx="7503800" cy="385532"/>
          </a:xfrm>
          <a:prstGeom prst="rect">
            <a:avLst/>
          </a:prstGeom>
          <a:blipFill>
            <a:blip r:embed="rId2"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4" name="object 4"/>
          <p:cNvSpPr txBox="1"/>
          <p:nvPr/>
        </p:nvSpPr>
        <p:spPr>
          <a:xfrm>
            <a:off x="406667" y="1476648"/>
            <a:ext cx="10035540" cy="4418303"/>
          </a:xfrm>
          <a:prstGeom prst="rect">
            <a:avLst/>
          </a:prstGeom>
        </p:spPr>
        <p:txBody>
          <a:bodyPr vert="horz" wrap="square" lIns="0" tIns="16933" rIns="0" bIns="0" rtlCol="0">
            <a:spAutoFit/>
          </a:bodyPr>
          <a:lstStyle/>
          <a:p>
            <a:pPr marL="5827461" defTabSz="1219170">
              <a:lnSpc>
                <a:spcPts val="1292"/>
              </a:lnSpc>
              <a:spcBef>
                <a:spcPts val="133"/>
              </a:spcBef>
            </a:pPr>
            <a:r>
              <a:rPr sz="1333" spc="-7" dirty="0">
                <a:solidFill>
                  <a:prstClr val="black"/>
                </a:solidFill>
                <a:latin typeface="Calibri"/>
                <a:cs typeface="Calibri"/>
              </a:rPr>
              <a:t>Derived </a:t>
            </a:r>
            <a:r>
              <a:rPr sz="1333" spc="-13" dirty="0">
                <a:solidFill>
                  <a:prstClr val="black"/>
                </a:solidFill>
                <a:latin typeface="Calibri"/>
                <a:cs typeface="Calibri"/>
              </a:rPr>
              <a:t>from </a:t>
            </a:r>
            <a:r>
              <a:rPr sz="1333" spc="-7" dirty="0">
                <a:solidFill>
                  <a:prstClr val="black"/>
                </a:solidFill>
                <a:latin typeface="Calibri"/>
                <a:cs typeface="Calibri"/>
              </a:rPr>
              <a:t>the </a:t>
            </a:r>
            <a:r>
              <a:rPr sz="1333" spc="-20" dirty="0">
                <a:solidFill>
                  <a:prstClr val="black"/>
                </a:solidFill>
                <a:latin typeface="Calibri"/>
                <a:cs typeface="Calibri"/>
              </a:rPr>
              <a:t>Bradley-Terry </a:t>
            </a:r>
            <a:r>
              <a:rPr sz="1333" spc="-7" dirty="0">
                <a:solidFill>
                  <a:prstClr val="black"/>
                </a:solidFill>
                <a:latin typeface="Calibri"/>
                <a:cs typeface="Calibri"/>
              </a:rPr>
              <a:t>model of human</a:t>
            </a:r>
            <a:r>
              <a:rPr sz="1333" spc="-27" dirty="0">
                <a:solidFill>
                  <a:prstClr val="black"/>
                </a:solidFill>
                <a:latin typeface="Calibri"/>
                <a:cs typeface="Calibri"/>
              </a:rPr>
              <a:t> </a:t>
            </a:r>
            <a:r>
              <a:rPr sz="1333" spc="-13" dirty="0">
                <a:solidFill>
                  <a:prstClr val="black"/>
                </a:solidFill>
                <a:latin typeface="Calibri"/>
                <a:cs typeface="Calibri"/>
              </a:rPr>
              <a:t>preferences:</a:t>
            </a:r>
            <a:endParaRPr sz="1333">
              <a:solidFill>
                <a:prstClr val="black"/>
              </a:solidFill>
              <a:latin typeface="Calibri"/>
              <a:cs typeface="Calibri"/>
            </a:endParaRPr>
          </a:p>
          <a:p>
            <a:pPr marL="16933" defTabSz="1219170">
              <a:lnSpc>
                <a:spcPts val="2573"/>
              </a:lnSpc>
            </a:pPr>
            <a:r>
              <a:rPr sz="2400" b="1" dirty="0">
                <a:solidFill>
                  <a:srgbClr val="8C1414"/>
                </a:solidFill>
                <a:latin typeface="Calibri"/>
                <a:cs typeface="Calibri"/>
              </a:rPr>
              <a:t>A </a:t>
            </a:r>
            <a:r>
              <a:rPr sz="2400" b="1" spc="-7" dirty="0">
                <a:solidFill>
                  <a:srgbClr val="8C1414"/>
                </a:solidFill>
                <a:latin typeface="Calibri"/>
                <a:cs typeface="Calibri"/>
              </a:rPr>
              <a:t>loss function</a:t>
            </a:r>
            <a:r>
              <a:rPr sz="2400" b="1" spc="-20" dirty="0">
                <a:solidFill>
                  <a:srgbClr val="8C1414"/>
                </a:solidFill>
                <a:latin typeface="Calibri"/>
                <a:cs typeface="Calibri"/>
              </a:rPr>
              <a:t> </a:t>
            </a:r>
            <a:r>
              <a:rPr sz="2400" b="1" spc="-7" dirty="0">
                <a:solidFill>
                  <a:srgbClr val="8C1414"/>
                </a:solidFill>
                <a:latin typeface="Calibri"/>
                <a:cs typeface="Calibri"/>
              </a:rPr>
              <a:t>on</a:t>
            </a:r>
            <a:endParaRPr sz="2400">
              <a:solidFill>
                <a:prstClr val="black"/>
              </a:solidFill>
              <a:latin typeface="Calibri"/>
              <a:cs typeface="Calibri"/>
            </a:endParaRPr>
          </a:p>
          <a:p>
            <a:pPr marL="16933" defTabSz="1219170">
              <a:lnSpc>
                <a:spcPts val="1993"/>
              </a:lnSpc>
            </a:pPr>
            <a:r>
              <a:rPr sz="2400" b="1" u="heavy" spc="-20" dirty="0">
                <a:solidFill>
                  <a:srgbClr val="8C1414"/>
                </a:solidFill>
                <a:uFill>
                  <a:solidFill>
                    <a:srgbClr val="8C1414"/>
                  </a:solidFill>
                </a:uFill>
                <a:latin typeface="Calibri"/>
                <a:cs typeface="Calibri"/>
              </a:rPr>
              <a:t>reward</a:t>
            </a:r>
            <a:r>
              <a:rPr sz="2400" b="1" u="heavy" spc="-133" dirty="0">
                <a:solidFill>
                  <a:srgbClr val="8C1414"/>
                </a:solidFill>
                <a:uFill>
                  <a:solidFill>
                    <a:srgbClr val="8C1414"/>
                  </a:solidFill>
                </a:uFill>
                <a:latin typeface="Calibri"/>
                <a:cs typeface="Calibri"/>
              </a:rPr>
              <a:t> </a:t>
            </a:r>
            <a:r>
              <a:rPr sz="2400" b="1" u="heavy" spc="-7" dirty="0">
                <a:solidFill>
                  <a:srgbClr val="8C1414"/>
                </a:solidFill>
                <a:uFill>
                  <a:solidFill>
                    <a:srgbClr val="8C1414"/>
                  </a:solidFill>
                </a:uFill>
                <a:latin typeface="Calibri"/>
                <a:cs typeface="Calibri"/>
              </a:rPr>
              <a:t>functions</a:t>
            </a:r>
            <a:endParaRPr sz="2400">
              <a:solidFill>
                <a:prstClr val="black"/>
              </a:solidFill>
              <a:latin typeface="Calibri"/>
              <a:cs typeface="Calibri"/>
            </a:endParaRPr>
          </a:p>
          <a:p>
            <a:pPr marL="877125" defTabSz="1219170">
              <a:lnSpc>
                <a:spcPts val="6720"/>
              </a:lnSpc>
            </a:pPr>
            <a:r>
              <a:rPr sz="6667" b="1" dirty="0">
                <a:solidFill>
                  <a:srgbClr val="8C1414"/>
                </a:solidFill>
                <a:latin typeface="Calibri"/>
                <a:cs typeface="Calibri"/>
              </a:rPr>
              <a:t>+</a:t>
            </a:r>
            <a:endParaRPr sz="6667">
              <a:solidFill>
                <a:prstClr val="black"/>
              </a:solidFill>
              <a:latin typeface="Calibri"/>
              <a:cs typeface="Calibri"/>
            </a:endParaRPr>
          </a:p>
          <a:p>
            <a:pPr marL="16933" defTabSz="1219170">
              <a:lnSpc>
                <a:spcPts val="2485"/>
              </a:lnSpc>
            </a:pPr>
            <a:r>
              <a:rPr sz="2400" b="1" dirty="0">
                <a:solidFill>
                  <a:srgbClr val="8C1414"/>
                </a:solidFill>
                <a:latin typeface="Calibri"/>
                <a:cs typeface="Calibri"/>
              </a:rPr>
              <a:t>A</a:t>
            </a:r>
            <a:r>
              <a:rPr sz="2400" b="1" spc="-73" dirty="0">
                <a:solidFill>
                  <a:srgbClr val="8C1414"/>
                </a:solidFill>
                <a:latin typeface="Calibri"/>
                <a:cs typeface="Calibri"/>
              </a:rPr>
              <a:t> </a:t>
            </a:r>
            <a:r>
              <a:rPr sz="2400" b="1" spc="-20" dirty="0">
                <a:solidFill>
                  <a:srgbClr val="8C1414"/>
                </a:solidFill>
                <a:latin typeface="Calibri"/>
                <a:cs typeface="Calibri"/>
              </a:rPr>
              <a:t>transformation</a:t>
            </a:r>
            <a:endParaRPr sz="2400">
              <a:solidFill>
                <a:prstClr val="black"/>
              </a:solidFill>
              <a:latin typeface="Calibri"/>
              <a:cs typeface="Calibri"/>
            </a:endParaRPr>
          </a:p>
          <a:p>
            <a:pPr marL="16933" marR="7258292" defTabSz="1219170"/>
            <a:r>
              <a:rPr sz="2400" b="1" spc="-13" dirty="0">
                <a:solidFill>
                  <a:srgbClr val="8C1414"/>
                </a:solidFill>
                <a:latin typeface="Calibri"/>
                <a:cs typeface="Calibri"/>
              </a:rPr>
              <a:t>between </a:t>
            </a:r>
            <a:r>
              <a:rPr sz="2400" b="1" u="heavy" spc="-20" dirty="0">
                <a:solidFill>
                  <a:srgbClr val="8C1414"/>
                </a:solidFill>
                <a:uFill>
                  <a:solidFill>
                    <a:srgbClr val="8C1414"/>
                  </a:solidFill>
                </a:uFill>
                <a:latin typeface="Calibri"/>
                <a:cs typeface="Calibri"/>
              </a:rPr>
              <a:t>reward </a:t>
            </a:r>
            <a:r>
              <a:rPr sz="2400" b="1" spc="-20" dirty="0">
                <a:solidFill>
                  <a:srgbClr val="8C1414"/>
                </a:solidFill>
                <a:latin typeface="Calibri"/>
                <a:cs typeface="Calibri"/>
              </a:rPr>
              <a:t> </a:t>
            </a:r>
            <a:r>
              <a:rPr sz="2400" b="1" u="heavy" spc="-7" dirty="0">
                <a:solidFill>
                  <a:srgbClr val="8C1414"/>
                </a:solidFill>
                <a:uFill>
                  <a:solidFill>
                    <a:srgbClr val="8C1414"/>
                  </a:solidFill>
                </a:uFill>
                <a:latin typeface="Calibri"/>
                <a:cs typeface="Calibri"/>
              </a:rPr>
              <a:t>functions</a:t>
            </a:r>
            <a:r>
              <a:rPr sz="2400" b="1" spc="-7" dirty="0">
                <a:solidFill>
                  <a:srgbClr val="8C1414"/>
                </a:solidFill>
                <a:latin typeface="Calibri"/>
                <a:cs typeface="Calibri"/>
              </a:rPr>
              <a:t> and</a:t>
            </a:r>
            <a:r>
              <a:rPr sz="2400" b="1" spc="-100" dirty="0">
                <a:solidFill>
                  <a:srgbClr val="8C1414"/>
                </a:solidFill>
                <a:latin typeface="Calibri"/>
                <a:cs typeface="Calibri"/>
              </a:rPr>
              <a:t> </a:t>
            </a:r>
            <a:r>
              <a:rPr sz="2400" b="1" u="heavy" spc="-7" dirty="0">
                <a:solidFill>
                  <a:srgbClr val="8C1414"/>
                </a:solidFill>
                <a:uFill>
                  <a:solidFill>
                    <a:srgbClr val="8C1414"/>
                  </a:solidFill>
                </a:uFill>
                <a:latin typeface="Calibri"/>
                <a:cs typeface="Calibri"/>
              </a:rPr>
              <a:t>policies</a:t>
            </a:r>
            <a:endParaRPr sz="2400">
              <a:solidFill>
                <a:prstClr val="black"/>
              </a:solidFill>
              <a:latin typeface="Calibri"/>
              <a:cs typeface="Calibri"/>
            </a:endParaRPr>
          </a:p>
          <a:p>
            <a:pPr marL="909297" defTabSz="1219170">
              <a:lnSpc>
                <a:spcPts val="7546"/>
              </a:lnSpc>
            </a:pPr>
            <a:r>
              <a:rPr sz="6667" b="1" dirty="0">
                <a:solidFill>
                  <a:srgbClr val="8C1414"/>
                </a:solidFill>
                <a:latin typeface="Calibri"/>
                <a:cs typeface="Calibri"/>
              </a:rPr>
              <a:t>=</a:t>
            </a:r>
            <a:endParaRPr sz="6667">
              <a:solidFill>
                <a:prstClr val="black"/>
              </a:solidFill>
              <a:latin typeface="Calibri"/>
              <a:cs typeface="Calibri"/>
            </a:endParaRPr>
          </a:p>
          <a:p>
            <a:pPr marL="16933" marR="8148116" defTabSz="1219170">
              <a:spcBef>
                <a:spcPts val="220"/>
              </a:spcBef>
            </a:pPr>
            <a:r>
              <a:rPr sz="2400" b="1" dirty="0">
                <a:solidFill>
                  <a:srgbClr val="8C1414"/>
                </a:solidFill>
                <a:latin typeface="Calibri"/>
                <a:cs typeface="Calibri"/>
              </a:rPr>
              <a:t>A </a:t>
            </a:r>
            <a:r>
              <a:rPr sz="2400" b="1" spc="-7" dirty="0">
                <a:solidFill>
                  <a:srgbClr val="8C1414"/>
                </a:solidFill>
                <a:latin typeface="Calibri"/>
                <a:cs typeface="Calibri"/>
              </a:rPr>
              <a:t>loss</a:t>
            </a:r>
            <a:r>
              <a:rPr sz="2400" b="1" spc="-133" dirty="0">
                <a:solidFill>
                  <a:srgbClr val="8C1414"/>
                </a:solidFill>
                <a:latin typeface="Calibri"/>
                <a:cs typeface="Calibri"/>
              </a:rPr>
              <a:t> </a:t>
            </a:r>
            <a:r>
              <a:rPr sz="2400" b="1" spc="-7" dirty="0">
                <a:solidFill>
                  <a:srgbClr val="8C1414"/>
                </a:solidFill>
                <a:latin typeface="Calibri"/>
                <a:cs typeface="Calibri"/>
              </a:rPr>
              <a:t>function  on</a:t>
            </a:r>
            <a:r>
              <a:rPr sz="2400" b="1" spc="-20" dirty="0">
                <a:solidFill>
                  <a:srgbClr val="8C1414"/>
                </a:solidFill>
                <a:latin typeface="Calibri"/>
                <a:cs typeface="Calibri"/>
              </a:rPr>
              <a:t> </a:t>
            </a:r>
            <a:r>
              <a:rPr sz="2400" b="1" u="heavy" spc="-7" dirty="0">
                <a:solidFill>
                  <a:srgbClr val="8C1414"/>
                </a:solidFill>
                <a:uFill>
                  <a:solidFill>
                    <a:srgbClr val="8C1414"/>
                  </a:solidFill>
                </a:uFill>
                <a:latin typeface="Calibri"/>
                <a:cs typeface="Calibri"/>
              </a:rPr>
              <a:t>policies</a:t>
            </a:r>
            <a:endParaRPr sz="2400">
              <a:solidFill>
                <a:prstClr val="black"/>
              </a:solidFill>
              <a:latin typeface="Calibri"/>
              <a:cs typeface="Calibri"/>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7" y="671226"/>
            <a:ext cx="10955020" cy="607003"/>
          </a:xfrm>
          <a:prstGeom prst="rect">
            <a:avLst/>
          </a:prstGeom>
        </p:spPr>
        <p:txBody>
          <a:bodyPr vert="horz" wrap="square" lIns="0" tIns="22013" rIns="0" bIns="0" rtlCol="0">
            <a:spAutoFit/>
          </a:bodyPr>
          <a:lstStyle/>
          <a:p>
            <a:pPr marL="16933">
              <a:spcBef>
                <a:spcPts val="173"/>
              </a:spcBef>
            </a:pPr>
            <a:r>
              <a:rPr spc="7" dirty="0"/>
              <a:t>Direct Preference Optimization: Putting </a:t>
            </a:r>
            <a:r>
              <a:rPr dirty="0"/>
              <a:t>it</a:t>
            </a:r>
            <a:r>
              <a:rPr spc="120" dirty="0"/>
              <a:t> </a:t>
            </a:r>
            <a:r>
              <a:rPr spc="7" dirty="0"/>
              <a:t>together</a:t>
            </a:r>
          </a:p>
        </p:txBody>
      </p:sp>
      <p:sp>
        <p:nvSpPr>
          <p:cNvPr id="3" name="object 3"/>
          <p:cNvSpPr/>
          <p:nvPr/>
        </p:nvSpPr>
        <p:spPr>
          <a:xfrm>
            <a:off x="3677768" y="3209666"/>
            <a:ext cx="5915955" cy="824599"/>
          </a:xfrm>
          <a:prstGeom prst="rect">
            <a:avLst/>
          </a:prstGeom>
          <a:blipFill>
            <a:blip r:embed="rId2"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4" name="object 4"/>
          <p:cNvSpPr/>
          <p:nvPr/>
        </p:nvSpPr>
        <p:spPr>
          <a:xfrm>
            <a:off x="3677767" y="1871499"/>
            <a:ext cx="7503800" cy="385532"/>
          </a:xfrm>
          <a:prstGeom prst="rect">
            <a:avLst/>
          </a:prstGeom>
          <a:blipFill>
            <a:blip r:embed="rId3"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5" name="object 5"/>
          <p:cNvSpPr/>
          <p:nvPr/>
        </p:nvSpPr>
        <p:spPr>
          <a:xfrm>
            <a:off x="3869100" y="3825883"/>
            <a:ext cx="755227" cy="62653"/>
          </a:xfrm>
          <a:custGeom>
            <a:avLst/>
            <a:gdLst/>
            <a:ahLst/>
            <a:cxnLst/>
            <a:rect l="l" t="t" r="r" b="b"/>
            <a:pathLst>
              <a:path w="566420" h="46989">
                <a:moveTo>
                  <a:pt x="0" y="0"/>
                </a:moveTo>
                <a:lnTo>
                  <a:pt x="566099" y="0"/>
                </a:lnTo>
                <a:lnTo>
                  <a:pt x="566099" y="46799"/>
                </a:lnTo>
                <a:lnTo>
                  <a:pt x="0" y="46799"/>
                </a:lnTo>
                <a:lnTo>
                  <a:pt x="0" y="0"/>
                </a:lnTo>
                <a:close/>
              </a:path>
            </a:pathLst>
          </a:custGeom>
          <a:ln w="9524">
            <a:solidFill>
              <a:srgbClr val="FFFFFF"/>
            </a:solidFill>
          </a:ln>
        </p:spPr>
        <p:txBody>
          <a:bodyPr wrap="square" lIns="0" tIns="0" rIns="0" bIns="0" rtlCol="0"/>
          <a:lstStyle/>
          <a:p>
            <a:pPr defTabSz="1219170"/>
            <a:endParaRPr sz="2400">
              <a:solidFill>
                <a:prstClr val="black"/>
              </a:solidFill>
              <a:latin typeface="Calibri"/>
            </a:endParaRPr>
          </a:p>
        </p:txBody>
      </p:sp>
      <p:sp>
        <p:nvSpPr>
          <p:cNvPr id="6" name="object 6"/>
          <p:cNvSpPr txBox="1"/>
          <p:nvPr/>
        </p:nvSpPr>
        <p:spPr>
          <a:xfrm>
            <a:off x="406667" y="1476648"/>
            <a:ext cx="10035540" cy="4048971"/>
          </a:xfrm>
          <a:prstGeom prst="rect">
            <a:avLst/>
          </a:prstGeom>
        </p:spPr>
        <p:txBody>
          <a:bodyPr vert="horz" wrap="square" lIns="0" tIns="16933" rIns="0" bIns="0" rtlCol="0">
            <a:spAutoFit/>
          </a:bodyPr>
          <a:lstStyle/>
          <a:p>
            <a:pPr marL="5827461" defTabSz="1219170">
              <a:lnSpc>
                <a:spcPts val="1292"/>
              </a:lnSpc>
              <a:spcBef>
                <a:spcPts val="133"/>
              </a:spcBef>
            </a:pPr>
            <a:r>
              <a:rPr sz="1333" spc="-7" dirty="0">
                <a:solidFill>
                  <a:prstClr val="black"/>
                </a:solidFill>
                <a:latin typeface="Calibri"/>
                <a:cs typeface="Calibri"/>
              </a:rPr>
              <a:t>Derived </a:t>
            </a:r>
            <a:r>
              <a:rPr sz="1333" spc="-13" dirty="0">
                <a:solidFill>
                  <a:prstClr val="black"/>
                </a:solidFill>
                <a:latin typeface="Calibri"/>
                <a:cs typeface="Calibri"/>
              </a:rPr>
              <a:t>from </a:t>
            </a:r>
            <a:r>
              <a:rPr sz="1333" spc="-7" dirty="0">
                <a:solidFill>
                  <a:prstClr val="black"/>
                </a:solidFill>
                <a:latin typeface="Calibri"/>
                <a:cs typeface="Calibri"/>
              </a:rPr>
              <a:t>the </a:t>
            </a:r>
            <a:r>
              <a:rPr sz="1333" spc="-20" dirty="0">
                <a:solidFill>
                  <a:prstClr val="black"/>
                </a:solidFill>
                <a:latin typeface="Calibri"/>
                <a:cs typeface="Calibri"/>
              </a:rPr>
              <a:t>Bradley-Terry </a:t>
            </a:r>
            <a:r>
              <a:rPr sz="1333" spc="-7" dirty="0">
                <a:solidFill>
                  <a:prstClr val="black"/>
                </a:solidFill>
                <a:latin typeface="Calibri"/>
                <a:cs typeface="Calibri"/>
              </a:rPr>
              <a:t>model of human</a:t>
            </a:r>
            <a:r>
              <a:rPr sz="1333" spc="-27" dirty="0">
                <a:solidFill>
                  <a:prstClr val="black"/>
                </a:solidFill>
                <a:latin typeface="Calibri"/>
                <a:cs typeface="Calibri"/>
              </a:rPr>
              <a:t> </a:t>
            </a:r>
            <a:r>
              <a:rPr sz="1333" spc="-13" dirty="0">
                <a:solidFill>
                  <a:prstClr val="black"/>
                </a:solidFill>
                <a:latin typeface="Calibri"/>
                <a:cs typeface="Calibri"/>
              </a:rPr>
              <a:t>preferences:</a:t>
            </a:r>
            <a:endParaRPr sz="1333">
              <a:solidFill>
                <a:prstClr val="black"/>
              </a:solidFill>
              <a:latin typeface="Calibri"/>
              <a:cs typeface="Calibri"/>
            </a:endParaRPr>
          </a:p>
          <a:p>
            <a:pPr marL="16933" defTabSz="1219170">
              <a:lnSpc>
                <a:spcPts val="2573"/>
              </a:lnSpc>
            </a:pPr>
            <a:r>
              <a:rPr sz="2400" b="1" dirty="0">
                <a:solidFill>
                  <a:srgbClr val="8C1414"/>
                </a:solidFill>
                <a:latin typeface="Calibri"/>
                <a:cs typeface="Calibri"/>
              </a:rPr>
              <a:t>A </a:t>
            </a:r>
            <a:r>
              <a:rPr sz="2400" b="1" spc="-7" dirty="0">
                <a:solidFill>
                  <a:srgbClr val="8C1414"/>
                </a:solidFill>
                <a:latin typeface="Calibri"/>
                <a:cs typeface="Calibri"/>
              </a:rPr>
              <a:t>loss function</a:t>
            </a:r>
            <a:r>
              <a:rPr sz="2400" b="1" spc="-20" dirty="0">
                <a:solidFill>
                  <a:srgbClr val="8C1414"/>
                </a:solidFill>
                <a:latin typeface="Calibri"/>
                <a:cs typeface="Calibri"/>
              </a:rPr>
              <a:t> </a:t>
            </a:r>
            <a:r>
              <a:rPr sz="2400" b="1" spc="-7" dirty="0">
                <a:solidFill>
                  <a:srgbClr val="8C1414"/>
                </a:solidFill>
                <a:latin typeface="Calibri"/>
                <a:cs typeface="Calibri"/>
              </a:rPr>
              <a:t>on</a:t>
            </a:r>
            <a:endParaRPr sz="2400">
              <a:solidFill>
                <a:prstClr val="black"/>
              </a:solidFill>
              <a:latin typeface="Calibri"/>
              <a:cs typeface="Calibri"/>
            </a:endParaRPr>
          </a:p>
          <a:p>
            <a:pPr marL="16933" defTabSz="1219170">
              <a:lnSpc>
                <a:spcPts val="1993"/>
              </a:lnSpc>
            </a:pPr>
            <a:r>
              <a:rPr sz="2400" b="1" u="heavy" spc="-20" dirty="0">
                <a:solidFill>
                  <a:srgbClr val="8C1414"/>
                </a:solidFill>
                <a:uFill>
                  <a:solidFill>
                    <a:srgbClr val="8C1414"/>
                  </a:solidFill>
                </a:uFill>
                <a:latin typeface="Calibri"/>
                <a:cs typeface="Calibri"/>
              </a:rPr>
              <a:t>reward</a:t>
            </a:r>
            <a:r>
              <a:rPr sz="2400" b="1" u="heavy" spc="-133" dirty="0">
                <a:solidFill>
                  <a:srgbClr val="8C1414"/>
                </a:solidFill>
                <a:uFill>
                  <a:solidFill>
                    <a:srgbClr val="8C1414"/>
                  </a:solidFill>
                </a:uFill>
                <a:latin typeface="Calibri"/>
                <a:cs typeface="Calibri"/>
              </a:rPr>
              <a:t> </a:t>
            </a:r>
            <a:r>
              <a:rPr sz="2400" b="1" u="heavy" spc="-7" dirty="0">
                <a:solidFill>
                  <a:srgbClr val="8C1414"/>
                </a:solidFill>
                <a:uFill>
                  <a:solidFill>
                    <a:srgbClr val="8C1414"/>
                  </a:solidFill>
                </a:uFill>
                <a:latin typeface="Calibri"/>
                <a:cs typeface="Calibri"/>
              </a:rPr>
              <a:t>functions</a:t>
            </a:r>
            <a:endParaRPr sz="2400">
              <a:solidFill>
                <a:prstClr val="black"/>
              </a:solidFill>
              <a:latin typeface="Calibri"/>
              <a:cs typeface="Calibri"/>
            </a:endParaRPr>
          </a:p>
          <a:p>
            <a:pPr marL="877125" defTabSz="1219170">
              <a:lnSpc>
                <a:spcPts val="6720"/>
              </a:lnSpc>
            </a:pPr>
            <a:r>
              <a:rPr sz="6667" b="1" dirty="0">
                <a:solidFill>
                  <a:srgbClr val="8C1414"/>
                </a:solidFill>
                <a:latin typeface="Calibri"/>
                <a:cs typeface="Calibri"/>
              </a:rPr>
              <a:t>+</a:t>
            </a:r>
            <a:endParaRPr sz="6667">
              <a:solidFill>
                <a:prstClr val="black"/>
              </a:solidFill>
              <a:latin typeface="Calibri"/>
              <a:cs typeface="Calibri"/>
            </a:endParaRPr>
          </a:p>
          <a:p>
            <a:pPr marL="16933" defTabSz="1219170">
              <a:lnSpc>
                <a:spcPts val="2485"/>
              </a:lnSpc>
            </a:pPr>
            <a:r>
              <a:rPr sz="2400" b="1" dirty="0">
                <a:solidFill>
                  <a:srgbClr val="8C1414"/>
                </a:solidFill>
                <a:latin typeface="Calibri"/>
                <a:cs typeface="Calibri"/>
              </a:rPr>
              <a:t>A</a:t>
            </a:r>
            <a:r>
              <a:rPr sz="2400" b="1" spc="-73" dirty="0">
                <a:solidFill>
                  <a:srgbClr val="8C1414"/>
                </a:solidFill>
                <a:latin typeface="Calibri"/>
                <a:cs typeface="Calibri"/>
              </a:rPr>
              <a:t> </a:t>
            </a:r>
            <a:r>
              <a:rPr sz="2400" b="1" spc="-20" dirty="0">
                <a:solidFill>
                  <a:srgbClr val="8C1414"/>
                </a:solidFill>
                <a:latin typeface="Calibri"/>
                <a:cs typeface="Calibri"/>
              </a:rPr>
              <a:t>transformation</a:t>
            </a:r>
            <a:endParaRPr sz="2400">
              <a:solidFill>
                <a:prstClr val="black"/>
              </a:solidFill>
              <a:latin typeface="Calibri"/>
              <a:cs typeface="Calibri"/>
            </a:endParaRPr>
          </a:p>
          <a:p>
            <a:pPr marL="16933" marR="7258292" defTabSz="1219170"/>
            <a:r>
              <a:rPr sz="2400" b="1" spc="-13" dirty="0">
                <a:solidFill>
                  <a:srgbClr val="8C1414"/>
                </a:solidFill>
                <a:latin typeface="Calibri"/>
                <a:cs typeface="Calibri"/>
              </a:rPr>
              <a:t>between </a:t>
            </a:r>
            <a:r>
              <a:rPr sz="2400" b="1" u="heavy" spc="-20" dirty="0">
                <a:solidFill>
                  <a:srgbClr val="8C1414"/>
                </a:solidFill>
                <a:uFill>
                  <a:solidFill>
                    <a:srgbClr val="8C1414"/>
                  </a:solidFill>
                </a:uFill>
                <a:latin typeface="Calibri"/>
                <a:cs typeface="Calibri"/>
              </a:rPr>
              <a:t>reward </a:t>
            </a:r>
            <a:r>
              <a:rPr sz="2400" b="1" spc="-20" dirty="0">
                <a:solidFill>
                  <a:srgbClr val="8C1414"/>
                </a:solidFill>
                <a:latin typeface="Calibri"/>
                <a:cs typeface="Calibri"/>
              </a:rPr>
              <a:t> </a:t>
            </a:r>
            <a:r>
              <a:rPr sz="2400" b="1" u="heavy" spc="-7" dirty="0">
                <a:solidFill>
                  <a:srgbClr val="8C1414"/>
                </a:solidFill>
                <a:uFill>
                  <a:solidFill>
                    <a:srgbClr val="8C1414"/>
                  </a:solidFill>
                </a:uFill>
                <a:latin typeface="Calibri"/>
                <a:cs typeface="Calibri"/>
              </a:rPr>
              <a:t>functions</a:t>
            </a:r>
            <a:r>
              <a:rPr sz="2400" b="1" spc="-7" dirty="0">
                <a:solidFill>
                  <a:srgbClr val="8C1414"/>
                </a:solidFill>
                <a:latin typeface="Calibri"/>
                <a:cs typeface="Calibri"/>
              </a:rPr>
              <a:t> and</a:t>
            </a:r>
            <a:r>
              <a:rPr sz="2400" b="1" spc="-100" dirty="0">
                <a:solidFill>
                  <a:srgbClr val="8C1414"/>
                </a:solidFill>
                <a:latin typeface="Calibri"/>
                <a:cs typeface="Calibri"/>
              </a:rPr>
              <a:t> </a:t>
            </a:r>
            <a:r>
              <a:rPr sz="2400" b="1" u="heavy" spc="-7" dirty="0">
                <a:solidFill>
                  <a:srgbClr val="8C1414"/>
                </a:solidFill>
                <a:uFill>
                  <a:solidFill>
                    <a:srgbClr val="8C1414"/>
                  </a:solidFill>
                </a:uFill>
                <a:latin typeface="Calibri"/>
                <a:cs typeface="Calibri"/>
              </a:rPr>
              <a:t>policies</a:t>
            </a:r>
            <a:endParaRPr sz="2400">
              <a:solidFill>
                <a:prstClr val="black"/>
              </a:solidFill>
              <a:latin typeface="Calibri"/>
              <a:cs typeface="Calibri"/>
            </a:endParaRPr>
          </a:p>
          <a:p>
            <a:pPr marL="909297" defTabSz="1219170">
              <a:lnSpc>
                <a:spcPts val="7546"/>
              </a:lnSpc>
            </a:pPr>
            <a:r>
              <a:rPr sz="6667" b="1" dirty="0">
                <a:solidFill>
                  <a:srgbClr val="8C1414"/>
                </a:solidFill>
                <a:latin typeface="Calibri"/>
                <a:cs typeface="Calibri"/>
              </a:rPr>
              <a:t>=</a:t>
            </a:r>
            <a:endParaRPr sz="6667">
              <a:solidFill>
                <a:prstClr val="black"/>
              </a:solidFill>
              <a:latin typeface="Calibri"/>
              <a:cs typeface="Calibri"/>
            </a:endParaRPr>
          </a:p>
          <a:p>
            <a:pPr marL="16933" defTabSz="1219170">
              <a:spcBef>
                <a:spcPts val="220"/>
              </a:spcBef>
            </a:pPr>
            <a:r>
              <a:rPr sz="2400" b="1" dirty="0">
                <a:solidFill>
                  <a:srgbClr val="8C1414"/>
                </a:solidFill>
                <a:latin typeface="Calibri"/>
                <a:cs typeface="Calibri"/>
              </a:rPr>
              <a:t>A </a:t>
            </a:r>
            <a:r>
              <a:rPr sz="2400" b="1" spc="-7" dirty="0">
                <a:solidFill>
                  <a:srgbClr val="8C1414"/>
                </a:solidFill>
                <a:latin typeface="Calibri"/>
                <a:cs typeface="Calibri"/>
              </a:rPr>
              <a:t>loss</a:t>
            </a:r>
            <a:r>
              <a:rPr sz="2400" b="1" spc="-20" dirty="0">
                <a:solidFill>
                  <a:srgbClr val="8C1414"/>
                </a:solidFill>
                <a:latin typeface="Calibri"/>
                <a:cs typeface="Calibri"/>
              </a:rPr>
              <a:t> </a:t>
            </a:r>
            <a:r>
              <a:rPr sz="2400" b="1" spc="-7" dirty="0">
                <a:solidFill>
                  <a:srgbClr val="8C1414"/>
                </a:solidFill>
                <a:latin typeface="Calibri"/>
                <a:cs typeface="Calibri"/>
              </a:rPr>
              <a:t>function</a:t>
            </a:r>
            <a:endParaRPr sz="2400">
              <a:solidFill>
                <a:prstClr val="black"/>
              </a:solidFill>
              <a:latin typeface="Calibri"/>
              <a:cs typeface="Calibri"/>
            </a:endParaRPr>
          </a:p>
        </p:txBody>
      </p:sp>
      <p:sp>
        <p:nvSpPr>
          <p:cNvPr id="7" name="object 7"/>
          <p:cNvSpPr txBox="1"/>
          <p:nvPr/>
        </p:nvSpPr>
        <p:spPr>
          <a:xfrm>
            <a:off x="406667" y="5549435"/>
            <a:ext cx="1383453" cy="312073"/>
          </a:xfrm>
          <a:prstGeom prst="rect">
            <a:avLst/>
          </a:prstGeom>
        </p:spPr>
        <p:txBody>
          <a:bodyPr vert="horz" wrap="square" lIns="0" tIns="0" rIns="0" bIns="0" rtlCol="0">
            <a:spAutoFit/>
          </a:bodyPr>
          <a:lstStyle/>
          <a:p>
            <a:pPr marL="16933" defTabSz="1219170">
              <a:lnSpc>
                <a:spcPts val="2413"/>
              </a:lnSpc>
            </a:pPr>
            <a:r>
              <a:rPr sz="2400" b="1" spc="-7" dirty="0">
                <a:solidFill>
                  <a:srgbClr val="8C1414"/>
                </a:solidFill>
                <a:latin typeface="Calibri"/>
                <a:cs typeface="Calibri"/>
              </a:rPr>
              <a:t>on</a:t>
            </a:r>
            <a:r>
              <a:rPr sz="2400" b="1" spc="-100" dirty="0">
                <a:solidFill>
                  <a:srgbClr val="8C1414"/>
                </a:solidFill>
                <a:latin typeface="Calibri"/>
                <a:cs typeface="Calibri"/>
              </a:rPr>
              <a:t> </a:t>
            </a:r>
            <a:r>
              <a:rPr sz="2400" b="1" u="heavy" spc="-7" dirty="0">
                <a:solidFill>
                  <a:srgbClr val="8C1414"/>
                </a:solidFill>
                <a:uFill>
                  <a:solidFill>
                    <a:srgbClr val="8C1414"/>
                  </a:solidFill>
                </a:uFill>
                <a:latin typeface="Calibri"/>
                <a:cs typeface="Calibri"/>
              </a:rPr>
              <a:t>policies</a:t>
            </a:r>
            <a:endParaRPr sz="2400">
              <a:solidFill>
                <a:prstClr val="black"/>
              </a:solidFill>
              <a:latin typeface="Calibri"/>
              <a:cs typeface="Calibri"/>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317156" y="5339540"/>
            <a:ext cx="9649672" cy="813835"/>
          </a:xfrm>
          <a:prstGeom prst="rect">
            <a:avLst/>
          </a:prstGeom>
          <a:blipFill>
            <a:blip r:embed="rId2"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3" name="object 3"/>
          <p:cNvSpPr txBox="1">
            <a:spLocks noGrp="1"/>
          </p:cNvSpPr>
          <p:nvPr>
            <p:ph type="title"/>
          </p:nvPr>
        </p:nvSpPr>
        <p:spPr>
          <a:xfrm>
            <a:off x="512967" y="671226"/>
            <a:ext cx="10955020" cy="607003"/>
          </a:xfrm>
          <a:prstGeom prst="rect">
            <a:avLst/>
          </a:prstGeom>
        </p:spPr>
        <p:txBody>
          <a:bodyPr vert="horz" wrap="square" lIns="0" tIns="22013" rIns="0" bIns="0" rtlCol="0">
            <a:spAutoFit/>
          </a:bodyPr>
          <a:lstStyle/>
          <a:p>
            <a:pPr marL="16933">
              <a:spcBef>
                <a:spcPts val="173"/>
              </a:spcBef>
            </a:pPr>
            <a:r>
              <a:rPr spc="7" dirty="0"/>
              <a:t>Direct Preference Optimization: Putting </a:t>
            </a:r>
            <a:r>
              <a:rPr dirty="0"/>
              <a:t>it</a:t>
            </a:r>
            <a:r>
              <a:rPr spc="120" dirty="0"/>
              <a:t> </a:t>
            </a:r>
            <a:r>
              <a:rPr spc="7" dirty="0"/>
              <a:t>together</a:t>
            </a:r>
          </a:p>
        </p:txBody>
      </p:sp>
      <p:sp>
        <p:nvSpPr>
          <p:cNvPr id="4" name="object 4"/>
          <p:cNvSpPr/>
          <p:nvPr/>
        </p:nvSpPr>
        <p:spPr>
          <a:xfrm>
            <a:off x="3677768" y="3209666"/>
            <a:ext cx="5915955" cy="824599"/>
          </a:xfrm>
          <a:prstGeom prst="rect">
            <a:avLst/>
          </a:prstGeom>
          <a:blipFill>
            <a:blip r:embed="rId3"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5" name="object 5"/>
          <p:cNvSpPr/>
          <p:nvPr/>
        </p:nvSpPr>
        <p:spPr>
          <a:xfrm>
            <a:off x="3677767" y="1871499"/>
            <a:ext cx="7503800" cy="385532"/>
          </a:xfrm>
          <a:prstGeom prst="rect">
            <a:avLst/>
          </a:prstGeom>
          <a:blipFill>
            <a:blip r:embed="rId4"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6" name="object 6"/>
          <p:cNvSpPr txBox="1"/>
          <p:nvPr/>
        </p:nvSpPr>
        <p:spPr>
          <a:xfrm>
            <a:off x="406668" y="3024242"/>
            <a:ext cx="2782993" cy="2481876"/>
          </a:xfrm>
          <a:prstGeom prst="rect">
            <a:avLst/>
          </a:prstGeom>
        </p:spPr>
        <p:txBody>
          <a:bodyPr vert="horz" wrap="square" lIns="0" tIns="16933" rIns="0" bIns="0" rtlCol="0">
            <a:spAutoFit/>
          </a:bodyPr>
          <a:lstStyle/>
          <a:p>
            <a:pPr marL="16933" marR="6773" defTabSz="1219170">
              <a:spcBef>
                <a:spcPts val="133"/>
              </a:spcBef>
            </a:pPr>
            <a:r>
              <a:rPr sz="2400" b="1" dirty="0">
                <a:solidFill>
                  <a:srgbClr val="8C1414"/>
                </a:solidFill>
                <a:latin typeface="Calibri"/>
                <a:cs typeface="Calibri"/>
              </a:rPr>
              <a:t>A </a:t>
            </a:r>
            <a:r>
              <a:rPr sz="2400" b="1" spc="-20" dirty="0">
                <a:solidFill>
                  <a:srgbClr val="8C1414"/>
                </a:solidFill>
                <a:latin typeface="Calibri"/>
                <a:cs typeface="Calibri"/>
              </a:rPr>
              <a:t>transformation  </a:t>
            </a:r>
            <a:r>
              <a:rPr sz="2400" b="1" spc="-13" dirty="0">
                <a:solidFill>
                  <a:srgbClr val="8C1414"/>
                </a:solidFill>
                <a:latin typeface="Calibri"/>
                <a:cs typeface="Calibri"/>
              </a:rPr>
              <a:t>between </a:t>
            </a:r>
            <a:r>
              <a:rPr sz="2400" b="1" u="heavy" spc="-20" dirty="0">
                <a:solidFill>
                  <a:srgbClr val="8C1414"/>
                </a:solidFill>
                <a:uFill>
                  <a:solidFill>
                    <a:srgbClr val="8C1414"/>
                  </a:solidFill>
                </a:uFill>
                <a:latin typeface="Calibri"/>
                <a:cs typeface="Calibri"/>
              </a:rPr>
              <a:t>reward </a:t>
            </a:r>
            <a:r>
              <a:rPr sz="2400" b="1" spc="-20" dirty="0">
                <a:solidFill>
                  <a:srgbClr val="8C1414"/>
                </a:solidFill>
                <a:latin typeface="Calibri"/>
                <a:cs typeface="Calibri"/>
              </a:rPr>
              <a:t> </a:t>
            </a:r>
            <a:r>
              <a:rPr sz="2400" b="1" u="heavy" spc="-7" dirty="0">
                <a:solidFill>
                  <a:srgbClr val="8C1414"/>
                </a:solidFill>
                <a:uFill>
                  <a:solidFill>
                    <a:srgbClr val="8C1414"/>
                  </a:solidFill>
                </a:uFill>
                <a:latin typeface="Calibri"/>
                <a:cs typeface="Calibri"/>
              </a:rPr>
              <a:t>functions</a:t>
            </a:r>
            <a:r>
              <a:rPr sz="2400" b="1" spc="-7" dirty="0">
                <a:solidFill>
                  <a:srgbClr val="8C1414"/>
                </a:solidFill>
                <a:latin typeface="Calibri"/>
                <a:cs typeface="Calibri"/>
              </a:rPr>
              <a:t> and</a:t>
            </a:r>
            <a:r>
              <a:rPr sz="2400" b="1" spc="-100" dirty="0">
                <a:solidFill>
                  <a:srgbClr val="8C1414"/>
                </a:solidFill>
                <a:latin typeface="Calibri"/>
                <a:cs typeface="Calibri"/>
              </a:rPr>
              <a:t> </a:t>
            </a:r>
            <a:r>
              <a:rPr sz="2400" b="1" u="heavy" spc="-7" dirty="0">
                <a:solidFill>
                  <a:srgbClr val="8C1414"/>
                </a:solidFill>
                <a:uFill>
                  <a:solidFill>
                    <a:srgbClr val="8C1414"/>
                  </a:solidFill>
                </a:uFill>
                <a:latin typeface="Calibri"/>
                <a:cs typeface="Calibri"/>
              </a:rPr>
              <a:t>policies</a:t>
            </a:r>
            <a:endParaRPr sz="2400">
              <a:solidFill>
                <a:prstClr val="black"/>
              </a:solidFill>
              <a:latin typeface="Calibri"/>
              <a:cs typeface="Calibri"/>
            </a:endParaRPr>
          </a:p>
          <a:p>
            <a:pPr marL="909297" defTabSz="1219170">
              <a:lnSpc>
                <a:spcPts val="7546"/>
              </a:lnSpc>
            </a:pPr>
            <a:r>
              <a:rPr sz="6667" b="1" dirty="0">
                <a:solidFill>
                  <a:srgbClr val="8C1414"/>
                </a:solidFill>
                <a:latin typeface="Calibri"/>
                <a:cs typeface="Calibri"/>
              </a:rPr>
              <a:t>=</a:t>
            </a:r>
            <a:endParaRPr sz="6667">
              <a:solidFill>
                <a:prstClr val="black"/>
              </a:solidFill>
              <a:latin typeface="Calibri"/>
              <a:cs typeface="Calibri"/>
            </a:endParaRPr>
          </a:p>
          <a:p>
            <a:pPr marL="16933" defTabSz="1219170">
              <a:spcBef>
                <a:spcPts val="220"/>
              </a:spcBef>
            </a:pPr>
            <a:r>
              <a:rPr sz="2400" b="1" dirty="0">
                <a:solidFill>
                  <a:srgbClr val="8C1414"/>
                </a:solidFill>
                <a:latin typeface="Calibri"/>
                <a:cs typeface="Calibri"/>
              </a:rPr>
              <a:t>A </a:t>
            </a:r>
            <a:r>
              <a:rPr sz="2400" b="1" spc="-7" dirty="0">
                <a:solidFill>
                  <a:srgbClr val="8C1414"/>
                </a:solidFill>
                <a:latin typeface="Calibri"/>
                <a:cs typeface="Calibri"/>
              </a:rPr>
              <a:t>loss</a:t>
            </a:r>
            <a:r>
              <a:rPr sz="2400" b="1" spc="-33" dirty="0">
                <a:solidFill>
                  <a:srgbClr val="8C1414"/>
                </a:solidFill>
                <a:latin typeface="Calibri"/>
                <a:cs typeface="Calibri"/>
              </a:rPr>
              <a:t> </a:t>
            </a:r>
            <a:r>
              <a:rPr sz="2400" b="1" spc="-7" dirty="0">
                <a:solidFill>
                  <a:srgbClr val="8C1414"/>
                </a:solidFill>
                <a:latin typeface="Calibri"/>
                <a:cs typeface="Calibri"/>
              </a:rPr>
              <a:t>function</a:t>
            </a:r>
            <a:endParaRPr sz="2400">
              <a:solidFill>
                <a:prstClr val="black"/>
              </a:solidFill>
              <a:latin typeface="Calibri"/>
              <a:cs typeface="Calibri"/>
            </a:endParaRPr>
          </a:p>
        </p:txBody>
      </p:sp>
      <p:sp>
        <p:nvSpPr>
          <p:cNvPr id="7" name="object 7"/>
          <p:cNvSpPr/>
          <p:nvPr/>
        </p:nvSpPr>
        <p:spPr>
          <a:xfrm>
            <a:off x="4246499" y="3888283"/>
            <a:ext cx="4191000" cy="1214120"/>
          </a:xfrm>
          <a:custGeom>
            <a:avLst/>
            <a:gdLst/>
            <a:ahLst/>
            <a:cxnLst/>
            <a:rect l="l" t="t" r="r" b="b"/>
            <a:pathLst>
              <a:path w="3143250" h="910589">
                <a:moveTo>
                  <a:pt x="0" y="0"/>
                </a:moveTo>
                <a:lnTo>
                  <a:pt x="0" y="540739"/>
                </a:lnTo>
                <a:lnTo>
                  <a:pt x="3142799" y="540739"/>
                </a:lnTo>
                <a:lnTo>
                  <a:pt x="3142799" y="910050"/>
                </a:lnTo>
              </a:path>
            </a:pathLst>
          </a:custGeom>
          <a:ln w="28574">
            <a:solidFill>
              <a:srgbClr val="2E2C28"/>
            </a:solidFill>
          </a:ln>
        </p:spPr>
        <p:txBody>
          <a:bodyPr wrap="square" lIns="0" tIns="0" rIns="0" bIns="0" rtlCol="0"/>
          <a:lstStyle/>
          <a:p>
            <a:pPr defTabSz="1219170"/>
            <a:endParaRPr sz="2400">
              <a:solidFill>
                <a:prstClr val="black"/>
              </a:solidFill>
              <a:latin typeface="Calibri"/>
            </a:endParaRPr>
          </a:p>
        </p:txBody>
      </p:sp>
      <p:sp>
        <p:nvSpPr>
          <p:cNvPr id="8" name="object 8"/>
          <p:cNvSpPr/>
          <p:nvPr/>
        </p:nvSpPr>
        <p:spPr>
          <a:xfrm>
            <a:off x="8354918" y="5082633"/>
            <a:ext cx="163961" cy="211000"/>
          </a:xfrm>
          <a:prstGeom prst="rect">
            <a:avLst/>
          </a:prstGeom>
          <a:blipFill>
            <a:blip r:embed="rId5"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9" name="object 9"/>
          <p:cNvSpPr/>
          <p:nvPr/>
        </p:nvSpPr>
        <p:spPr>
          <a:xfrm>
            <a:off x="3869100" y="3825883"/>
            <a:ext cx="755227" cy="62653"/>
          </a:xfrm>
          <a:custGeom>
            <a:avLst/>
            <a:gdLst/>
            <a:ahLst/>
            <a:cxnLst/>
            <a:rect l="l" t="t" r="r" b="b"/>
            <a:pathLst>
              <a:path w="566420" h="46989">
                <a:moveTo>
                  <a:pt x="0" y="0"/>
                </a:moveTo>
                <a:lnTo>
                  <a:pt x="566099" y="0"/>
                </a:lnTo>
                <a:lnTo>
                  <a:pt x="566099" y="46799"/>
                </a:lnTo>
                <a:lnTo>
                  <a:pt x="0" y="46799"/>
                </a:lnTo>
                <a:lnTo>
                  <a:pt x="0" y="0"/>
                </a:lnTo>
                <a:close/>
              </a:path>
            </a:pathLst>
          </a:custGeom>
          <a:ln w="9524">
            <a:solidFill>
              <a:srgbClr val="FFFFFF"/>
            </a:solidFill>
          </a:ln>
        </p:spPr>
        <p:txBody>
          <a:bodyPr wrap="square" lIns="0" tIns="0" rIns="0" bIns="0" rtlCol="0"/>
          <a:lstStyle/>
          <a:p>
            <a:pPr defTabSz="1219170"/>
            <a:endParaRPr sz="2400">
              <a:solidFill>
                <a:prstClr val="black"/>
              </a:solidFill>
              <a:latin typeface="Calibri"/>
            </a:endParaRPr>
          </a:p>
        </p:txBody>
      </p:sp>
      <p:sp>
        <p:nvSpPr>
          <p:cNvPr id="10" name="object 10"/>
          <p:cNvSpPr/>
          <p:nvPr/>
        </p:nvSpPr>
        <p:spPr>
          <a:xfrm>
            <a:off x="8059576" y="5361464"/>
            <a:ext cx="755227" cy="0"/>
          </a:xfrm>
          <a:custGeom>
            <a:avLst/>
            <a:gdLst/>
            <a:ahLst/>
            <a:cxnLst/>
            <a:rect l="l" t="t" r="r" b="b"/>
            <a:pathLst>
              <a:path w="566420">
                <a:moveTo>
                  <a:pt x="0" y="0"/>
                </a:moveTo>
                <a:lnTo>
                  <a:pt x="566099" y="0"/>
                </a:lnTo>
              </a:path>
            </a:pathLst>
          </a:custGeom>
          <a:ln w="46799">
            <a:solidFill>
              <a:srgbClr val="FFFFFF"/>
            </a:solidFill>
          </a:ln>
        </p:spPr>
        <p:txBody>
          <a:bodyPr wrap="square" lIns="0" tIns="0" rIns="0" bIns="0" rtlCol="0"/>
          <a:lstStyle/>
          <a:p>
            <a:pPr defTabSz="1219170"/>
            <a:endParaRPr sz="2400">
              <a:solidFill>
                <a:prstClr val="black"/>
              </a:solidFill>
              <a:latin typeface="Calibri"/>
            </a:endParaRPr>
          </a:p>
        </p:txBody>
      </p:sp>
      <p:sp>
        <p:nvSpPr>
          <p:cNvPr id="11" name="object 11"/>
          <p:cNvSpPr/>
          <p:nvPr/>
        </p:nvSpPr>
        <p:spPr>
          <a:xfrm>
            <a:off x="8059576" y="5330264"/>
            <a:ext cx="755227" cy="62653"/>
          </a:xfrm>
          <a:custGeom>
            <a:avLst/>
            <a:gdLst/>
            <a:ahLst/>
            <a:cxnLst/>
            <a:rect l="l" t="t" r="r" b="b"/>
            <a:pathLst>
              <a:path w="566420" h="46989">
                <a:moveTo>
                  <a:pt x="0" y="0"/>
                </a:moveTo>
                <a:lnTo>
                  <a:pt x="566099" y="0"/>
                </a:lnTo>
                <a:lnTo>
                  <a:pt x="566099" y="46799"/>
                </a:lnTo>
                <a:lnTo>
                  <a:pt x="0" y="46799"/>
                </a:lnTo>
                <a:lnTo>
                  <a:pt x="0" y="0"/>
                </a:lnTo>
                <a:close/>
              </a:path>
            </a:pathLst>
          </a:custGeom>
          <a:ln w="9524">
            <a:solidFill>
              <a:srgbClr val="FFFFFF"/>
            </a:solidFill>
          </a:ln>
        </p:spPr>
        <p:txBody>
          <a:bodyPr wrap="square" lIns="0" tIns="0" rIns="0" bIns="0" rtlCol="0"/>
          <a:lstStyle/>
          <a:p>
            <a:pPr defTabSz="1219170"/>
            <a:endParaRPr sz="2400">
              <a:solidFill>
                <a:prstClr val="black"/>
              </a:solidFill>
              <a:latin typeface="Calibri"/>
            </a:endParaRPr>
          </a:p>
        </p:txBody>
      </p:sp>
      <p:sp>
        <p:nvSpPr>
          <p:cNvPr id="12" name="object 12"/>
          <p:cNvSpPr/>
          <p:nvPr/>
        </p:nvSpPr>
        <p:spPr>
          <a:xfrm>
            <a:off x="10471221" y="5361464"/>
            <a:ext cx="755227" cy="0"/>
          </a:xfrm>
          <a:custGeom>
            <a:avLst/>
            <a:gdLst/>
            <a:ahLst/>
            <a:cxnLst/>
            <a:rect l="l" t="t" r="r" b="b"/>
            <a:pathLst>
              <a:path w="566420">
                <a:moveTo>
                  <a:pt x="0" y="0"/>
                </a:moveTo>
                <a:lnTo>
                  <a:pt x="566099" y="0"/>
                </a:lnTo>
              </a:path>
            </a:pathLst>
          </a:custGeom>
          <a:ln w="46799">
            <a:solidFill>
              <a:srgbClr val="FFFFFF"/>
            </a:solidFill>
          </a:ln>
        </p:spPr>
        <p:txBody>
          <a:bodyPr wrap="square" lIns="0" tIns="0" rIns="0" bIns="0" rtlCol="0"/>
          <a:lstStyle/>
          <a:p>
            <a:pPr defTabSz="1219170"/>
            <a:endParaRPr sz="2400">
              <a:solidFill>
                <a:prstClr val="black"/>
              </a:solidFill>
              <a:latin typeface="Calibri"/>
            </a:endParaRPr>
          </a:p>
        </p:txBody>
      </p:sp>
      <p:sp>
        <p:nvSpPr>
          <p:cNvPr id="13" name="object 13"/>
          <p:cNvSpPr/>
          <p:nvPr/>
        </p:nvSpPr>
        <p:spPr>
          <a:xfrm>
            <a:off x="10471221" y="5330264"/>
            <a:ext cx="755227" cy="62653"/>
          </a:xfrm>
          <a:custGeom>
            <a:avLst/>
            <a:gdLst/>
            <a:ahLst/>
            <a:cxnLst/>
            <a:rect l="l" t="t" r="r" b="b"/>
            <a:pathLst>
              <a:path w="566420" h="46989">
                <a:moveTo>
                  <a:pt x="0" y="0"/>
                </a:moveTo>
                <a:lnTo>
                  <a:pt x="566099" y="0"/>
                </a:lnTo>
                <a:lnTo>
                  <a:pt x="566099" y="46799"/>
                </a:lnTo>
                <a:lnTo>
                  <a:pt x="0" y="46799"/>
                </a:lnTo>
                <a:lnTo>
                  <a:pt x="0" y="0"/>
                </a:lnTo>
                <a:close/>
              </a:path>
            </a:pathLst>
          </a:custGeom>
          <a:ln w="9524">
            <a:solidFill>
              <a:srgbClr val="FFFFFF"/>
            </a:solidFill>
          </a:ln>
        </p:spPr>
        <p:txBody>
          <a:bodyPr wrap="square" lIns="0" tIns="0" rIns="0" bIns="0" rtlCol="0"/>
          <a:lstStyle/>
          <a:p>
            <a:pPr defTabSz="1219170"/>
            <a:endParaRPr sz="2400">
              <a:solidFill>
                <a:prstClr val="black"/>
              </a:solidFill>
              <a:latin typeface="Calibri"/>
            </a:endParaRPr>
          </a:p>
        </p:txBody>
      </p:sp>
      <p:sp>
        <p:nvSpPr>
          <p:cNvPr id="14" name="object 14"/>
          <p:cNvSpPr/>
          <p:nvPr/>
        </p:nvSpPr>
        <p:spPr>
          <a:xfrm>
            <a:off x="4246499" y="3888283"/>
            <a:ext cx="6602307" cy="1214120"/>
          </a:xfrm>
          <a:custGeom>
            <a:avLst/>
            <a:gdLst/>
            <a:ahLst/>
            <a:cxnLst/>
            <a:rect l="l" t="t" r="r" b="b"/>
            <a:pathLst>
              <a:path w="4951730" h="910589">
                <a:moveTo>
                  <a:pt x="0" y="0"/>
                </a:moveTo>
                <a:lnTo>
                  <a:pt x="0" y="540739"/>
                </a:lnTo>
                <a:lnTo>
                  <a:pt x="4951499" y="540739"/>
                </a:lnTo>
                <a:lnTo>
                  <a:pt x="4951499" y="910050"/>
                </a:lnTo>
              </a:path>
            </a:pathLst>
          </a:custGeom>
          <a:ln w="28574">
            <a:solidFill>
              <a:srgbClr val="2E2C28"/>
            </a:solidFill>
          </a:ln>
        </p:spPr>
        <p:txBody>
          <a:bodyPr wrap="square" lIns="0" tIns="0" rIns="0" bIns="0" rtlCol="0"/>
          <a:lstStyle/>
          <a:p>
            <a:pPr defTabSz="1219170"/>
            <a:endParaRPr sz="2400">
              <a:solidFill>
                <a:prstClr val="black"/>
              </a:solidFill>
              <a:latin typeface="Calibri"/>
            </a:endParaRPr>
          </a:p>
        </p:txBody>
      </p:sp>
      <p:sp>
        <p:nvSpPr>
          <p:cNvPr id="15" name="object 15"/>
          <p:cNvSpPr/>
          <p:nvPr/>
        </p:nvSpPr>
        <p:spPr>
          <a:xfrm>
            <a:off x="10766520" y="5082633"/>
            <a:ext cx="163961" cy="211000"/>
          </a:xfrm>
          <a:prstGeom prst="rect">
            <a:avLst/>
          </a:prstGeom>
          <a:blipFill>
            <a:blip r:embed="rId6"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16" name="object 16"/>
          <p:cNvSpPr txBox="1"/>
          <p:nvPr/>
        </p:nvSpPr>
        <p:spPr>
          <a:xfrm>
            <a:off x="7527667" y="4689666"/>
            <a:ext cx="731520" cy="632460"/>
          </a:xfrm>
          <a:prstGeom prst="rect">
            <a:avLst/>
          </a:prstGeom>
        </p:spPr>
        <p:txBody>
          <a:bodyPr vert="horz" wrap="square" lIns="0" tIns="16933" rIns="0" bIns="0" rtlCol="0">
            <a:spAutoFit/>
          </a:bodyPr>
          <a:lstStyle/>
          <a:p>
            <a:pPr marL="16933" marR="6773" algn="just" defTabSz="1219170">
              <a:spcBef>
                <a:spcPts val="133"/>
              </a:spcBef>
            </a:pPr>
            <a:r>
              <a:rPr sz="1333" spc="-13" dirty="0">
                <a:solidFill>
                  <a:prstClr val="black"/>
                </a:solidFill>
                <a:latin typeface="Calibri"/>
                <a:cs typeface="Calibri"/>
              </a:rPr>
              <a:t>Reward</a:t>
            </a:r>
            <a:r>
              <a:rPr sz="1333" spc="-120" dirty="0">
                <a:solidFill>
                  <a:prstClr val="black"/>
                </a:solidFill>
                <a:latin typeface="Calibri"/>
                <a:cs typeface="Calibri"/>
              </a:rPr>
              <a:t> </a:t>
            </a:r>
            <a:r>
              <a:rPr sz="1333" spc="-7" dirty="0">
                <a:solidFill>
                  <a:prstClr val="black"/>
                </a:solidFill>
                <a:latin typeface="Calibri"/>
                <a:cs typeface="Calibri"/>
              </a:rPr>
              <a:t>of  </a:t>
            </a:r>
            <a:r>
              <a:rPr sz="1333" b="1" spc="-13" dirty="0">
                <a:solidFill>
                  <a:prstClr val="black"/>
                </a:solidFill>
                <a:latin typeface="Calibri"/>
                <a:cs typeface="Calibri"/>
              </a:rPr>
              <a:t>preferred  </a:t>
            </a:r>
            <a:r>
              <a:rPr sz="1333" spc="-13" dirty="0">
                <a:solidFill>
                  <a:prstClr val="black"/>
                </a:solidFill>
                <a:latin typeface="Calibri"/>
                <a:cs typeface="Calibri"/>
              </a:rPr>
              <a:t>response</a:t>
            </a:r>
            <a:endParaRPr sz="1333">
              <a:solidFill>
                <a:prstClr val="black"/>
              </a:solidFill>
              <a:latin typeface="Calibri"/>
              <a:cs typeface="Calibri"/>
            </a:endParaRPr>
          </a:p>
        </p:txBody>
      </p:sp>
      <p:sp>
        <p:nvSpPr>
          <p:cNvPr id="19" name="object 19"/>
          <p:cNvSpPr txBox="1"/>
          <p:nvPr/>
        </p:nvSpPr>
        <p:spPr>
          <a:xfrm>
            <a:off x="406667" y="5549435"/>
            <a:ext cx="1383453" cy="312073"/>
          </a:xfrm>
          <a:prstGeom prst="rect">
            <a:avLst/>
          </a:prstGeom>
        </p:spPr>
        <p:txBody>
          <a:bodyPr vert="horz" wrap="square" lIns="0" tIns="0" rIns="0" bIns="0" rtlCol="0">
            <a:spAutoFit/>
          </a:bodyPr>
          <a:lstStyle/>
          <a:p>
            <a:pPr marL="16933" defTabSz="1219170">
              <a:lnSpc>
                <a:spcPts val="2413"/>
              </a:lnSpc>
            </a:pPr>
            <a:r>
              <a:rPr sz="2400" b="1" spc="-7" dirty="0">
                <a:solidFill>
                  <a:srgbClr val="8C1414"/>
                </a:solidFill>
                <a:latin typeface="Calibri"/>
                <a:cs typeface="Calibri"/>
              </a:rPr>
              <a:t>on</a:t>
            </a:r>
            <a:r>
              <a:rPr sz="2400" b="1" spc="-100" dirty="0">
                <a:solidFill>
                  <a:srgbClr val="8C1414"/>
                </a:solidFill>
                <a:latin typeface="Calibri"/>
                <a:cs typeface="Calibri"/>
              </a:rPr>
              <a:t> </a:t>
            </a:r>
            <a:r>
              <a:rPr sz="2400" b="1" u="heavy" spc="-7" dirty="0">
                <a:solidFill>
                  <a:srgbClr val="8C1414"/>
                </a:solidFill>
                <a:uFill>
                  <a:solidFill>
                    <a:srgbClr val="8C1414"/>
                  </a:solidFill>
                </a:uFill>
                <a:latin typeface="Calibri"/>
                <a:cs typeface="Calibri"/>
              </a:rPr>
              <a:t>policies</a:t>
            </a:r>
            <a:endParaRPr sz="2400">
              <a:solidFill>
                <a:prstClr val="black"/>
              </a:solidFill>
              <a:latin typeface="Calibri"/>
              <a:cs typeface="Calibri"/>
            </a:endParaRPr>
          </a:p>
        </p:txBody>
      </p:sp>
      <p:sp>
        <p:nvSpPr>
          <p:cNvPr id="17" name="object 17"/>
          <p:cNvSpPr txBox="1"/>
          <p:nvPr/>
        </p:nvSpPr>
        <p:spPr>
          <a:xfrm>
            <a:off x="9792700" y="4689665"/>
            <a:ext cx="897467" cy="632460"/>
          </a:xfrm>
          <a:prstGeom prst="rect">
            <a:avLst/>
          </a:prstGeom>
        </p:spPr>
        <p:txBody>
          <a:bodyPr vert="horz" wrap="square" lIns="0" tIns="16933" rIns="0" bIns="0" rtlCol="0">
            <a:spAutoFit/>
          </a:bodyPr>
          <a:lstStyle/>
          <a:p>
            <a:pPr marL="16933" marR="6773" defTabSz="1219170">
              <a:spcBef>
                <a:spcPts val="133"/>
              </a:spcBef>
            </a:pPr>
            <a:r>
              <a:rPr sz="1333" spc="-13" dirty="0">
                <a:solidFill>
                  <a:prstClr val="black"/>
                </a:solidFill>
                <a:latin typeface="Calibri"/>
                <a:cs typeface="Calibri"/>
              </a:rPr>
              <a:t>Reward </a:t>
            </a:r>
            <a:r>
              <a:rPr sz="1333" spc="-7" dirty="0">
                <a:solidFill>
                  <a:prstClr val="black"/>
                </a:solidFill>
                <a:latin typeface="Calibri"/>
                <a:cs typeface="Calibri"/>
              </a:rPr>
              <a:t>of  </a:t>
            </a:r>
            <a:r>
              <a:rPr sz="1333" b="1" spc="-7" dirty="0">
                <a:solidFill>
                  <a:prstClr val="black"/>
                </a:solidFill>
                <a:latin typeface="Calibri"/>
                <a:cs typeface="Calibri"/>
              </a:rPr>
              <a:t>disp</a:t>
            </a:r>
            <a:r>
              <a:rPr sz="1333" b="1" spc="-20" dirty="0">
                <a:solidFill>
                  <a:prstClr val="black"/>
                </a:solidFill>
                <a:latin typeface="Calibri"/>
                <a:cs typeface="Calibri"/>
              </a:rPr>
              <a:t>r</a:t>
            </a:r>
            <a:r>
              <a:rPr sz="1333" b="1" spc="-13" dirty="0">
                <a:solidFill>
                  <a:prstClr val="black"/>
                </a:solidFill>
                <a:latin typeface="Calibri"/>
                <a:cs typeface="Calibri"/>
              </a:rPr>
              <a:t>e</a:t>
            </a:r>
            <a:r>
              <a:rPr sz="1333" b="1" spc="-27" dirty="0">
                <a:solidFill>
                  <a:prstClr val="black"/>
                </a:solidFill>
                <a:latin typeface="Calibri"/>
                <a:cs typeface="Calibri"/>
              </a:rPr>
              <a:t>f</a:t>
            </a:r>
            <a:r>
              <a:rPr sz="1333" b="1" spc="-7" dirty="0">
                <a:solidFill>
                  <a:prstClr val="black"/>
                </a:solidFill>
                <a:latin typeface="Calibri"/>
                <a:cs typeface="Calibri"/>
              </a:rPr>
              <a:t>er</a:t>
            </a:r>
            <a:r>
              <a:rPr sz="1333" b="1" spc="-20" dirty="0">
                <a:solidFill>
                  <a:prstClr val="black"/>
                </a:solidFill>
                <a:latin typeface="Calibri"/>
                <a:cs typeface="Calibri"/>
              </a:rPr>
              <a:t>r</a:t>
            </a:r>
            <a:r>
              <a:rPr sz="1333" b="1" spc="-7" dirty="0">
                <a:solidFill>
                  <a:prstClr val="black"/>
                </a:solidFill>
                <a:latin typeface="Calibri"/>
                <a:cs typeface="Calibri"/>
              </a:rPr>
              <a:t>ed  </a:t>
            </a:r>
            <a:r>
              <a:rPr sz="1333" spc="-13" dirty="0">
                <a:solidFill>
                  <a:prstClr val="black"/>
                </a:solidFill>
                <a:latin typeface="Calibri"/>
                <a:cs typeface="Calibri"/>
              </a:rPr>
              <a:t>response</a:t>
            </a:r>
            <a:endParaRPr sz="1333">
              <a:solidFill>
                <a:prstClr val="black"/>
              </a:solidFill>
              <a:latin typeface="Calibri"/>
              <a:cs typeface="Calibri"/>
            </a:endParaRPr>
          </a:p>
        </p:txBody>
      </p:sp>
      <p:sp>
        <p:nvSpPr>
          <p:cNvPr id="18" name="object 18"/>
          <p:cNvSpPr txBox="1">
            <a:spLocks noGrp="1"/>
          </p:cNvSpPr>
          <p:nvPr>
            <p:ph type="body" idx="1"/>
          </p:nvPr>
        </p:nvSpPr>
        <p:spPr>
          <a:xfrm>
            <a:off x="542223" y="1968866"/>
            <a:ext cx="13380720" cy="1684221"/>
          </a:xfrm>
          <a:prstGeom prst="rect">
            <a:avLst/>
          </a:prstGeom>
        </p:spPr>
        <p:txBody>
          <a:bodyPr vert="horz" wrap="square" lIns="0" tIns="16933" rIns="0" bIns="0" rtlCol="0">
            <a:spAutoFit/>
          </a:bodyPr>
          <a:lstStyle/>
          <a:p>
            <a:pPr marL="5827461">
              <a:lnSpc>
                <a:spcPts val="1292"/>
              </a:lnSpc>
              <a:spcBef>
                <a:spcPts val="133"/>
              </a:spcBef>
            </a:pPr>
            <a:r>
              <a:rPr spc="-7" dirty="0"/>
              <a:t>Derived </a:t>
            </a:r>
            <a:r>
              <a:rPr spc="-13" dirty="0"/>
              <a:t>from </a:t>
            </a:r>
            <a:r>
              <a:rPr spc="-7" dirty="0"/>
              <a:t>the </a:t>
            </a:r>
            <a:r>
              <a:rPr spc="-20" dirty="0"/>
              <a:t>Bradley-Terry </a:t>
            </a:r>
            <a:r>
              <a:rPr spc="-7" dirty="0"/>
              <a:t>model of human</a:t>
            </a:r>
            <a:r>
              <a:rPr spc="-27" dirty="0"/>
              <a:t> </a:t>
            </a:r>
            <a:r>
              <a:rPr spc="-13" dirty="0"/>
              <a:t>preferences:</a:t>
            </a:r>
          </a:p>
          <a:p>
            <a:pPr marL="16933">
              <a:lnSpc>
                <a:spcPts val="2573"/>
              </a:lnSpc>
            </a:pPr>
            <a:r>
              <a:rPr sz="2400" b="1" dirty="0">
                <a:solidFill>
                  <a:srgbClr val="8C1414"/>
                </a:solidFill>
              </a:rPr>
              <a:t>A </a:t>
            </a:r>
            <a:r>
              <a:rPr sz="2400" b="1" spc="-7" dirty="0">
                <a:solidFill>
                  <a:srgbClr val="8C1414"/>
                </a:solidFill>
              </a:rPr>
              <a:t>loss function</a:t>
            </a:r>
            <a:r>
              <a:rPr sz="2400" b="1" spc="-20" dirty="0">
                <a:solidFill>
                  <a:srgbClr val="8C1414"/>
                </a:solidFill>
              </a:rPr>
              <a:t> </a:t>
            </a:r>
            <a:r>
              <a:rPr sz="2400" b="1" spc="-7" dirty="0">
                <a:solidFill>
                  <a:srgbClr val="8C1414"/>
                </a:solidFill>
              </a:rPr>
              <a:t>on</a:t>
            </a:r>
            <a:endParaRPr sz="2400"/>
          </a:p>
          <a:p>
            <a:pPr marL="16933">
              <a:lnSpc>
                <a:spcPts val="1993"/>
              </a:lnSpc>
            </a:pPr>
            <a:r>
              <a:rPr sz="2400" b="1" u="heavy" spc="-20" dirty="0">
                <a:solidFill>
                  <a:srgbClr val="8C1414"/>
                </a:solidFill>
                <a:uFill>
                  <a:solidFill>
                    <a:srgbClr val="8C1414"/>
                  </a:solidFill>
                </a:uFill>
              </a:rPr>
              <a:t>reward</a:t>
            </a:r>
            <a:r>
              <a:rPr sz="2400" b="1" u="heavy" spc="-13" dirty="0">
                <a:solidFill>
                  <a:srgbClr val="8C1414"/>
                </a:solidFill>
                <a:uFill>
                  <a:solidFill>
                    <a:srgbClr val="8C1414"/>
                  </a:solidFill>
                </a:uFill>
              </a:rPr>
              <a:t> </a:t>
            </a:r>
            <a:r>
              <a:rPr sz="2400" b="1" u="heavy" spc="-7" dirty="0">
                <a:solidFill>
                  <a:srgbClr val="8C1414"/>
                </a:solidFill>
                <a:uFill>
                  <a:solidFill>
                    <a:srgbClr val="8C1414"/>
                  </a:solidFill>
                </a:uFill>
              </a:rPr>
              <a:t>functions</a:t>
            </a:r>
            <a:endParaRPr sz="2400"/>
          </a:p>
          <a:p>
            <a:pPr marL="877125">
              <a:lnSpc>
                <a:spcPts val="7113"/>
              </a:lnSpc>
            </a:pPr>
            <a:r>
              <a:rPr sz="6667" b="1" dirty="0">
                <a:solidFill>
                  <a:srgbClr val="8C1414"/>
                </a:solidFill>
              </a:rPr>
              <a:t>+</a:t>
            </a:r>
            <a:endParaRPr sz="6667"/>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317156" y="5339540"/>
            <a:ext cx="9649672" cy="813835"/>
          </a:xfrm>
          <a:prstGeom prst="rect">
            <a:avLst/>
          </a:prstGeom>
          <a:blipFill>
            <a:blip r:embed="rId2"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3" name="object 3"/>
          <p:cNvSpPr txBox="1">
            <a:spLocks noGrp="1"/>
          </p:cNvSpPr>
          <p:nvPr>
            <p:ph type="title"/>
          </p:nvPr>
        </p:nvSpPr>
        <p:spPr>
          <a:xfrm>
            <a:off x="512967" y="671226"/>
            <a:ext cx="10955020" cy="607003"/>
          </a:xfrm>
          <a:prstGeom prst="rect">
            <a:avLst/>
          </a:prstGeom>
        </p:spPr>
        <p:txBody>
          <a:bodyPr vert="horz" wrap="square" lIns="0" tIns="22013" rIns="0" bIns="0" rtlCol="0">
            <a:spAutoFit/>
          </a:bodyPr>
          <a:lstStyle/>
          <a:p>
            <a:pPr marL="16933">
              <a:spcBef>
                <a:spcPts val="173"/>
              </a:spcBef>
            </a:pPr>
            <a:r>
              <a:rPr spc="7" dirty="0"/>
              <a:t>Direct Preference Optimization: Putting </a:t>
            </a:r>
            <a:r>
              <a:rPr dirty="0"/>
              <a:t>it</a:t>
            </a:r>
            <a:r>
              <a:rPr spc="120" dirty="0"/>
              <a:t> </a:t>
            </a:r>
            <a:r>
              <a:rPr spc="7" dirty="0"/>
              <a:t>together</a:t>
            </a:r>
          </a:p>
        </p:txBody>
      </p:sp>
      <p:sp>
        <p:nvSpPr>
          <p:cNvPr id="4" name="object 4"/>
          <p:cNvSpPr/>
          <p:nvPr/>
        </p:nvSpPr>
        <p:spPr>
          <a:xfrm>
            <a:off x="3677768" y="3209666"/>
            <a:ext cx="5915955" cy="824599"/>
          </a:xfrm>
          <a:prstGeom prst="rect">
            <a:avLst/>
          </a:prstGeom>
          <a:blipFill>
            <a:blip r:embed="rId3"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5" name="object 5"/>
          <p:cNvSpPr/>
          <p:nvPr/>
        </p:nvSpPr>
        <p:spPr>
          <a:xfrm>
            <a:off x="3677767" y="1871499"/>
            <a:ext cx="7503800" cy="385532"/>
          </a:xfrm>
          <a:prstGeom prst="rect">
            <a:avLst/>
          </a:prstGeom>
          <a:blipFill>
            <a:blip r:embed="rId4"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6" name="object 6"/>
          <p:cNvSpPr txBox="1"/>
          <p:nvPr/>
        </p:nvSpPr>
        <p:spPr>
          <a:xfrm>
            <a:off x="406668" y="3024242"/>
            <a:ext cx="2782993" cy="2851208"/>
          </a:xfrm>
          <a:prstGeom prst="rect">
            <a:avLst/>
          </a:prstGeom>
        </p:spPr>
        <p:txBody>
          <a:bodyPr vert="horz" wrap="square" lIns="0" tIns="16933" rIns="0" bIns="0" rtlCol="0">
            <a:spAutoFit/>
          </a:bodyPr>
          <a:lstStyle/>
          <a:p>
            <a:pPr marL="16933" marR="6773" defTabSz="1219170">
              <a:spcBef>
                <a:spcPts val="133"/>
              </a:spcBef>
            </a:pPr>
            <a:r>
              <a:rPr sz="2400" b="1" dirty="0">
                <a:solidFill>
                  <a:srgbClr val="8C1414"/>
                </a:solidFill>
                <a:latin typeface="Calibri"/>
                <a:cs typeface="Calibri"/>
              </a:rPr>
              <a:t>A </a:t>
            </a:r>
            <a:r>
              <a:rPr sz="2400" b="1" spc="-20" dirty="0">
                <a:solidFill>
                  <a:srgbClr val="8C1414"/>
                </a:solidFill>
                <a:latin typeface="Calibri"/>
                <a:cs typeface="Calibri"/>
              </a:rPr>
              <a:t>transformation  </a:t>
            </a:r>
            <a:r>
              <a:rPr sz="2400" b="1" spc="-13" dirty="0">
                <a:solidFill>
                  <a:srgbClr val="8C1414"/>
                </a:solidFill>
                <a:latin typeface="Calibri"/>
                <a:cs typeface="Calibri"/>
              </a:rPr>
              <a:t>between </a:t>
            </a:r>
            <a:r>
              <a:rPr sz="2400" b="1" u="heavy" spc="-20" dirty="0">
                <a:solidFill>
                  <a:srgbClr val="8C1414"/>
                </a:solidFill>
                <a:uFill>
                  <a:solidFill>
                    <a:srgbClr val="8C1414"/>
                  </a:solidFill>
                </a:uFill>
                <a:latin typeface="Calibri"/>
                <a:cs typeface="Calibri"/>
              </a:rPr>
              <a:t>reward </a:t>
            </a:r>
            <a:r>
              <a:rPr sz="2400" b="1" spc="-20" dirty="0">
                <a:solidFill>
                  <a:srgbClr val="8C1414"/>
                </a:solidFill>
                <a:latin typeface="Calibri"/>
                <a:cs typeface="Calibri"/>
              </a:rPr>
              <a:t> </a:t>
            </a:r>
            <a:r>
              <a:rPr sz="2400" b="1" u="heavy" spc="-7" dirty="0">
                <a:solidFill>
                  <a:srgbClr val="8C1414"/>
                </a:solidFill>
                <a:uFill>
                  <a:solidFill>
                    <a:srgbClr val="8C1414"/>
                  </a:solidFill>
                </a:uFill>
                <a:latin typeface="Calibri"/>
                <a:cs typeface="Calibri"/>
              </a:rPr>
              <a:t>functions</a:t>
            </a:r>
            <a:r>
              <a:rPr sz="2400" b="1" spc="-7" dirty="0">
                <a:solidFill>
                  <a:srgbClr val="8C1414"/>
                </a:solidFill>
                <a:latin typeface="Calibri"/>
                <a:cs typeface="Calibri"/>
              </a:rPr>
              <a:t> and</a:t>
            </a:r>
            <a:r>
              <a:rPr sz="2400" b="1" spc="-100" dirty="0">
                <a:solidFill>
                  <a:srgbClr val="8C1414"/>
                </a:solidFill>
                <a:latin typeface="Calibri"/>
                <a:cs typeface="Calibri"/>
              </a:rPr>
              <a:t> </a:t>
            </a:r>
            <a:r>
              <a:rPr sz="2400" b="1" u="heavy" spc="-7" dirty="0">
                <a:solidFill>
                  <a:srgbClr val="8C1414"/>
                </a:solidFill>
                <a:uFill>
                  <a:solidFill>
                    <a:srgbClr val="8C1414"/>
                  </a:solidFill>
                </a:uFill>
                <a:latin typeface="Calibri"/>
                <a:cs typeface="Calibri"/>
              </a:rPr>
              <a:t>policies</a:t>
            </a:r>
            <a:endParaRPr sz="2400">
              <a:solidFill>
                <a:prstClr val="black"/>
              </a:solidFill>
              <a:latin typeface="Calibri"/>
              <a:cs typeface="Calibri"/>
            </a:endParaRPr>
          </a:p>
          <a:p>
            <a:pPr marL="909297" defTabSz="1219170">
              <a:lnSpc>
                <a:spcPts val="7546"/>
              </a:lnSpc>
            </a:pPr>
            <a:r>
              <a:rPr sz="6667" b="1" dirty="0">
                <a:solidFill>
                  <a:srgbClr val="8C1414"/>
                </a:solidFill>
                <a:latin typeface="Calibri"/>
                <a:cs typeface="Calibri"/>
              </a:rPr>
              <a:t>=</a:t>
            </a:r>
            <a:endParaRPr sz="6667">
              <a:solidFill>
                <a:prstClr val="black"/>
              </a:solidFill>
              <a:latin typeface="Calibri"/>
              <a:cs typeface="Calibri"/>
            </a:endParaRPr>
          </a:p>
          <a:p>
            <a:pPr marL="16933" marR="895751" defTabSz="1219170">
              <a:spcBef>
                <a:spcPts val="220"/>
              </a:spcBef>
            </a:pPr>
            <a:r>
              <a:rPr sz="2400" b="1" dirty="0">
                <a:solidFill>
                  <a:srgbClr val="8C1414"/>
                </a:solidFill>
                <a:latin typeface="Calibri"/>
                <a:cs typeface="Calibri"/>
              </a:rPr>
              <a:t>A </a:t>
            </a:r>
            <a:r>
              <a:rPr sz="2400" b="1" spc="-7" dirty="0">
                <a:solidFill>
                  <a:srgbClr val="8C1414"/>
                </a:solidFill>
                <a:latin typeface="Calibri"/>
                <a:cs typeface="Calibri"/>
              </a:rPr>
              <a:t>loss</a:t>
            </a:r>
            <a:r>
              <a:rPr sz="2400" b="1" spc="-133" dirty="0">
                <a:solidFill>
                  <a:srgbClr val="8C1414"/>
                </a:solidFill>
                <a:latin typeface="Calibri"/>
                <a:cs typeface="Calibri"/>
              </a:rPr>
              <a:t> </a:t>
            </a:r>
            <a:r>
              <a:rPr sz="2400" b="1" spc="-7" dirty="0">
                <a:solidFill>
                  <a:srgbClr val="8C1414"/>
                </a:solidFill>
                <a:latin typeface="Calibri"/>
                <a:cs typeface="Calibri"/>
              </a:rPr>
              <a:t>function  on</a:t>
            </a:r>
            <a:r>
              <a:rPr sz="2400" b="1" spc="-20" dirty="0">
                <a:solidFill>
                  <a:srgbClr val="8C1414"/>
                </a:solidFill>
                <a:latin typeface="Calibri"/>
                <a:cs typeface="Calibri"/>
              </a:rPr>
              <a:t> </a:t>
            </a:r>
            <a:r>
              <a:rPr sz="2400" b="1" u="heavy" spc="-7" dirty="0">
                <a:solidFill>
                  <a:srgbClr val="8C1414"/>
                </a:solidFill>
                <a:uFill>
                  <a:solidFill>
                    <a:srgbClr val="8C1414"/>
                  </a:solidFill>
                </a:uFill>
                <a:latin typeface="Calibri"/>
                <a:cs typeface="Calibri"/>
              </a:rPr>
              <a:t>policies</a:t>
            </a:r>
            <a:endParaRPr sz="2400">
              <a:solidFill>
                <a:prstClr val="black"/>
              </a:solidFill>
              <a:latin typeface="Calibri"/>
              <a:cs typeface="Calibri"/>
            </a:endParaRPr>
          </a:p>
        </p:txBody>
      </p:sp>
      <p:sp>
        <p:nvSpPr>
          <p:cNvPr id="7" name="object 7"/>
          <p:cNvSpPr txBox="1"/>
          <p:nvPr/>
        </p:nvSpPr>
        <p:spPr>
          <a:xfrm>
            <a:off x="4413578" y="4258349"/>
            <a:ext cx="6796193" cy="222219"/>
          </a:xfrm>
          <a:prstGeom prst="rect">
            <a:avLst/>
          </a:prstGeom>
        </p:spPr>
        <p:txBody>
          <a:bodyPr vert="horz" wrap="square" lIns="0" tIns="16933" rIns="0" bIns="0" rtlCol="0">
            <a:spAutoFit/>
          </a:bodyPr>
          <a:lstStyle/>
          <a:p>
            <a:pPr marL="16933" defTabSz="1219170">
              <a:spcBef>
                <a:spcPts val="133"/>
              </a:spcBef>
            </a:pPr>
            <a:r>
              <a:rPr sz="1333" spc="-7" dirty="0">
                <a:solidFill>
                  <a:prstClr val="black"/>
                </a:solidFill>
                <a:latin typeface="Calibri"/>
                <a:cs typeface="Calibri"/>
              </a:rPr>
              <a:t>When substituting, the </a:t>
            </a:r>
            <a:r>
              <a:rPr sz="1333" b="1" spc="-7" dirty="0">
                <a:solidFill>
                  <a:prstClr val="black"/>
                </a:solidFill>
                <a:latin typeface="Calibri"/>
                <a:cs typeface="Calibri"/>
              </a:rPr>
              <a:t>log </a:t>
            </a:r>
            <a:r>
              <a:rPr sz="1333" b="1" dirty="0">
                <a:solidFill>
                  <a:prstClr val="black"/>
                </a:solidFill>
                <a:latin typeface="Calibri"/>
                <a:cs typeface="Calibri"/>
              </a:rPr>
              <a:t>Z </a:t>
            </a:r>
            <a:r>
              <a:rPr sz="1333" b="1" spc="-13" dirty="0">
                <a:solidFill>
                  <a:prstClr val="black"/>
                </a:solidFill>
                <a:latin typeface="Calibri"/>
                <a:cs typeface="Calibri"/>
              </a:rPr>
              <a:t>term </a:t>
            </a:r>
            <a:r>
              <a:rPr sz="1333" b="1" spc="-7" dirty="0">
                <a:solidFill>
                  <a:prstClr val="black"/>
                </a:solidFill>
                <a:latin typeface="Calibri"/>
                <a:cs typeface="Calibri"/>
              </a:rPr>
              <a:t>cancels</a:t>
            </a:r>
            <a:r>
              <a:rPr sz="1333" spc="-7" dirty="0">
                <a:solidFill>
                  <a:prstClr val="black"/>
                </a:solidFill>
                <a:latin typeface="Calibri"/>
                <a:cs typeface="Calibri"/>
              </a:rPr>
              <a:t>, because the loss only </a:t>
            </a:r>
            <a:r>
              <a:rPr sz="1333" spc="-13" dirty="0">
                <a:solidFill>
                  <a:prstClr val="black"/>
                </a:solidFill>
                <a:latin typeface="Calibri"/>
                <a:cs typeface="Calibri"/>
              </a:rPr>
              <a:t>cares </a:t>
            </a:r>
            <a:r>
              <a:rPr sz="1333" dirty="0">
                <a:solidFill>
                  <a:prstClr val="black"/>
                </a:solidFill>
                <a:latin typeface="Calibri"/>
                <a:cs typeface="Calibri"/>
              </a:rPr>
              <a:t>about </a:t>
            </a:r>
            <a:r>
              <a:rPr sz="1333" b="1" spc="-13" dirty="0">
                <a:solidFill>
                  <a:prstClr val="black"/>
                </a:solidFill>
                <a:latin typeface="Calibri"/>
                <a:cs typeface="Calibri"/>
              </a:rPr>
              <a:t>difference </a:t>
            </a:r>
            <a:r>
              <a:rPr sz="1333" spc="-7" dirty="0">
                <a:solidFill>
                  <a:prstClr val="black"/>
                </a:solidFill>
                <a:latin typeface="Calibri"/>
                <a:cs typeface="Calibri"/>
              </a:rPr>
              <a:t>in</a:t>
            </a:r>
            <a:r>
              <a:rPr sz="1333" spc="100" dirty="0">
                <a:solidFill>
                  <a:prstClr val="black"/>
                </a:solidFill>
                <a:latin typeface="Calibri"/>
                <a:cs typeface="Calibri"/>
              </a:rPr>
              <a:t> </a:t>
            </a:r>
            <a:r>
              <a:rPr sz="1333" spc="-13" dirty="0">
                <a:solidFill>
                  <a:prstClr val="black"/>
                </a:solidFill>
                <a:latin typeface="Calibri"/>
                <a:cs typeface="Calibri"/>
              </a:rPr>
              <a:t>rewards</a:t>
            </a:r>
            <a:endParaRPr sz="1333">
              <a:solidFill>
                <a:prstClr val="black"/>
              </a:solidFill>
              <a:latin typeface="Calibri"/>
              <a:cs typeface="Calibri"/>
            </a:endParaRPr>
          </a:p>
        </p:txBody>
      </p:sp>
      <p:sp>
        <p:nvSpPr>
          <p:cNvPr id="8" name="object 8"/>
          <p:cNvSpPr/>
          <p:nvPr/>
        </p:nvSpPr>
        <p:spPr>
          <a:xfrm>
            <a:off x="4246499" y="3888283"/>
            <a:ext cx="4191000" cy="1214120"/>
          </a:xfrm>
          <a:custGeom>
            <a:avLst/>
            <a:gdLst/>
            <a:ahLst/>
            <a:cxnLst/>
            <a:rect l="l" t="t" r="r" b="b"/>
            <a:pathLst>
              <a:path w="3143250" h="910589">
                <a:moveTo>
                  <a:pt x="0" y="0"/>
                </a:moveTo>
                <a:lnTo>
                  <a:pt x="0" y="540739"/>
                </a:lnTo>
                <a:lnTo>
                  <a:pt x="3142799" y="540739"/>
                </a:lnTo>
                <a:lnTo>
                  <a:pt x="3142799" y="910050"/>
                </a:lnTo>
              </a:path>
            </a:pathLst>
          </a:custGeom>
          <a:ln w="28574">
            <a:solidFill>
              <a:srgbClr val="2E2C28"/>
            </a:solidFill>
          </a:ln>
        </p:spPr>
        <p:txBody>
          <a:bodyPr wrap="square" lIns="0" tIns="0" rIns="0" bIns="0" rtlCol="0"/>
          <a:lstStyle/>
          <a:p>
            <a:pPr defTabSz="1219170"/>
            <a:endParaRPr sz="2400">
              <a:solidFill>
                <a:prstClr val="black"/>
              </a:solidFill>
              <a:latin typeface="Calibri"/>
            </a:endParaRPr>
          </a:p>
        </p:txBody>
      </p:sp>
      <p:sp>
        <p:nvSpPr>
          <p:cNvPr id="9" name="object 9"/>
          <p:cNvSpPr/>
          <p:nvPr/>
        </p:nvSpPr>
        <p:spPr>
          <a:xfrm>
            <a:off x="8354918" y="5082633"/>
            <a:ext cx="163961" cy="211000"/>
          </a:xfrm>
          <a:prstGeom prst="rect">
            <a:avLst/>
          </a:prstGeom>
          <a:blipFill>
            <a:blip r:embed="rId5"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10" name="object 10"/>
          <p:cNvSpPr/>
          <p:nvPr/>
        </p:nvSpPr>
        <p:spPr>
          <a:xfrm>
            <a:off x="3869100" y="3825883"/>
            <a:ext cx="755227" cy="62653"/>
          </a:xfrm>
          <a:custGeom>
            <a:avLst/>
            <a:gdLst/>
            <a:ahLst/>
            <a:cxnLst/>
            <a:rect l="l" t="t" r="r" b="b"/>
            <a:pathLst>
              <a:path w="566420" h="46989">
                <a:moveTo>
                  <a:pt x="0" y="0"/>
                </a:moveTo>
                <a:lnTo>
                  <a:pt x="566099" y="0"/>
                </a:lnTo>
                <a:lnTo>
                  <a:pt x="566099" y="46799"/>
                </a:lnTo>
                <a:lnTo>
                  <a:pt x="0" y="46799"/>
                </a:lnTo>
                <a:lnTo>
                  <a:pt x="0" y="0"/>
                </a:lnTo>
                <a:close/>
              </a:path>
            </a:pathLst>
          </a:custGeom>
          <a:ln w="9524">
            <a:solidFill>
              <a:srgbClr val="FFFFFF"/>
            </a:solidFill>
          </a:ln>
        </p:spPr>
        <p:txBody>
          <a:bodyPr wrap="square" lIns="0" tIns="0" rIns="0" bIns="0" rtlCol="0"/>
          <a:lstStyle/>
          <a:p>
            <a:pPr defTabSz="1219170"/>
            <a:endParaRPr sz="2400">
              <a:solidFill>
                <a:prstClr val="black"/>
              </a:solidFill>
              <a:latin typeface="Calibri"/>
            </a:endParaRPr>
          </a:p>
        </p:txBody>
      </p:sp>
      <p:sp>
        <p:nvSpPr>
          <p:cNvPr id="11" name="object 11"/>
          <p:cNvSpPr/>
          <p:nvPr/>
        </p:nvSpPr>
        <p:spPr>
          <a:xfrm>
            <a:off x="8059576" y="5361464"/>
            <a:ext cx="755227" cy="0"/>
          </a:xfrm>
          <a:custGeom>
            <a:avLst/>
            <a:gdLst/>
            <a:ahLst/>
            <a:cxnLst/>
            <a:rect l="l" t="t" r="r" b="b"/>
            <a:pathLst>
              <a:path w="566420">
                <a:moveTo>
                  <a:pt x="0" y="0"/>
                </a:moveTo>
                <a:lnTo>
                  <a:pt x="566099" y="0"/>
                </a:lnTo>
              </a:path>
            </a:pathLst>
          </a:custGeom>
          <a:ln w="46799">
            <a:solidFill>
              <a:srgbClr val="FFFFFF"/>
            </a:solidFill>
          </a:ln>
        </p:spPr>
        <p:txBody>
          <a:bodyPr wrap="square" lIns="0" tIns="0" rIns="0" bIns="0" rtlCol="0"/>
          <a:lstStyle/>
          <a:p>
            <a:pPr defTabSz="1219170"/>
            <a:endParaRPr sz="2400">
              <a:solidFill>
                <a:prstClr val="black"/>
              </a:solidFill>
              <a:latin typeface="Calibri"/>
            </a:endParaRPr>
          </a:p>
        </p:txBody>
      </p:sp>
      <p:sp>
        <p:nvSpPr>
          <p:cNvPr id="12" name="object 12"/>
          <p:cNvSpPr/>
          <p:nvPr/>
        </p:nvSpPr>
        <p:spPr>
          <a:xfrm>
            <a:off x="8059576" y="5330264"/>
            <a:ext cx="755227" cy="62653"/>
          </a:xfrm>
          <a:custGeom>
            <a:avLst/>
            <a:gdLst/>
            <a:ahLst/>
            <a:cxnLst/>
            <a:rect l="l" t="t" r="r" b="b"/>
            <a:pathLst>
              <a:path w="566420" h="46989">
                <a:moveTo>
                  <a:pt x="0" y="0"/>
                </a:moveTo>
                <a:lnTo>
                  <a:pt x="566099" y="0"/>
                </a:lnTo>
                <a:lnTo>
                  <a:pt x="566099" y="46799"/>
                </a:lnTo>
                <a:lnTo>
                  <a:pt x="0" y="46799"/>
                </a:lnTo>
                <a:lnTo>
                  <a:pt x="0" y="0"/>
                </a:lnTo>
                <a:close/>
              </a:path>
            </a:pathLst>
          </a:custGeom>
          <a:ln w="9524">
            <a:solidFill>
              <a:srgbClr val="FFFFFF"/>
            </a:solidFill>
          </a:ln>
        </p:spPr>
        <p:txBody>
          <a:bodyPr wrap="square" lIns="0" tIns="0" rIns="0" bIns="0" rtlCol="0"/>
          <a:lstStyle/>
          <a:p>
            <a:pPr defTabSz="1219170"/>
            <a:endParaRPr sz="2400">
              <a:solidFill>
                <a:prstClr val="black"/>
              </a:solidFill>
              <a:latin typeface="Calibri"/>
            </a:endParaRPr>
          </a:p>
        </p:txBody>
      </p:sp>
      <p:sp>
        <p:nvSpPr>
          <p:cNvPr id="13" name="object 13"/>
          <p:cNvSpPr/>
          <p:nvPr/>
        </p:nvSpPr>
        <p:spPr>
          <a:xfrm>
            <a:off x="10471221" y="5361464"/>
            <a:ext cx="755227" cy="0"/>
          </a:xfrm>
          <a:custGeom>
            <a:avLst/>
            <a:gdLst/>
            <a:ahLst/>
            <a:cxnLst/>
            <a:rect l="l" t="t" r="r" b="b"/>
            <a:pathLst>
              <a:path w="566420">
                <a:moveTo>
                  <a:pt x="0" y="0"/>
                </a:moveTo>
                <a:lnTo>
                  <a:pt x="566099" y="0"/>
                </a:lnTo>
              </a:path>
            </a:pathLst>
          </a:custGeom>
          <a:ln w="46799">
            <a:solidFill>
              <a:srgbClr val="FFFFFF"/>
            </a:solidFill>
          </a:ln>
        </p:spPr>
        <p:txBody>
          <a:bodyPr wrap="square" lIns="0" tIns="0" rIns="0" bIns="0" rtlCol="0"/>
          <a:lstStyle/>
          <a:p>
            <a:pPr defTabSz="1219170"/>
            <a:endParaRPr sz="2400">
              <a:solidFill>
                <a:prstClr val="black"/>
              </a:solidFill>
              <a:latin typeface="Calibri"/>
            </a:endParaRPr>
          </a:p>
        </p:txBody>
      </p:sp>
      <p:sp>
        <p:nvSpPr>
          <p:cNvPr id="14" name="object 14"/>
          <p:cNvSpPr/>
          <p:nvPr/>
        </p:nvSpPr>
        <p:spPr>
          <a:xfrm>
            <a:off x="10471221" y="5330264"/>
            <a:ext cx="755227" cy="62653"/>
          </a:xfrm>
          <a:custGeom>
            <a:avLst/>
            <a:gdLst/>
            <a:ahLst/>
            <a:cxnLst/>
            <a:rect l="l" t="t" r="r" b="b"/>
            <a:pathLst>
              <a:path w="566420" h="46989">
                <a:moveTo>
                  <a:pt x="0" y="0"/>
                </a:moveTo>
                <a:lnTo>
                  <a:pt x="566099" y="0"/>
                </a:lnTo>
                <a:lnTo>
                  <a:pt x="566099" y="46799"/>
                </a:lnTo>
                <a:lnTo>
                  <a:pt x="0" y="46799"/>
                </a:lnTo>
                <a:lnTo>
                  <a:pt x="0" y="0"/>
                </a:lnTo>
                <a:close/>
              </a:path>
            </a:pathLst>
          </a:custGeom>
          <a:ln w="9524">
            <a:solidFill>
              <a:srgbClr val="FFFFFF"/>
            </a:solidFill>
          </a:ln>
        </p:spPr>
        <p:txBody>
          <a:bodyPr wrap="square" lIns="0" tIns="0" rIns="0" bIns="0" rtlCol="0"/>
          <a:lstStyle/>
          <a:p>
            <a:pPr defTabSz="1219170"/>
            <a:endParaRPr sz="2400">
              <a:solidFill>
                <a:prstClr val="black"/>
              </a:solidFill>
              <a:latin typeface="Calibri"/>
            </a:endParaRPr>
          </a:p>
        </p:txBody>
      </p:sp>
      <p:sp>
        <p:nvSpPr>
          <p:cNvPr id="15" name="object 15"/>
          <p:cNvSpPr/>
          <p:nvPr/>
        </p:nvSpPr>
        <p:spPr>
          <a:xfrm>
            <a:off x="4246499" y="3888283"/>
            <a:ext cx="6602307" cy="1214120"/>
          </a:xfrm>
          <a:custGeom>
            <a:avLst/>
            <a:gdLst/>
            <a:ahLst/>
            <a:cxnLst/>
            <a:rect l="l" t="t" r="r" b="b"/>
            <a:pathLst>
              <a:path w="4951730" h="910589">
                <a:moveTo>
                  <a:pt x="0" y="0"/>
                </a:moveTo>
                <a:lnTo>
                  <a:pt x="0" y="540739"/>
                </a:lnTo>
                <a:lnTo>
                  <a:pt x="4951499" y="540739"/>
                </a:lnTo>
                <a:lnTo>
                  <a:pt x="4951499" y="910050"/>
                </a:lnTo>
              </a:path>
            </a:pathLst>
          </a:custGeom>
          <a:ln w="28574">
            <a:solidFill>
              <a:srgbClr val="2E2C28"/>
            </a:solidFill>
          </a:ln>
        </p:spPr>
        <p:txBody>
          <a:bodyPr wrap="square" lIns="0" tIns="0" rIns="0" bIns="0" rtlCol="0"/>
          <a:lstStyle/>
          <a:p>
            <a:pPr defTabSz="1219170"/>
            <a:endParaRPr sz="2400">
              <a:solidFill>
                <a:prstClr val="black"/>
              </a:solidFill>
              <a:latin typeface="Calibri"/>
            </a:endParaRPr>
          </a:p>
        </p:txBody>
      </p:sp>
      <p:sp>
        <p:nvSpPr>
          <p:cNvPr id="16" name="object 16"/>
          <p:cNvSpPr/>
          <p:nvPr/>
        </p:nvSpPr>
        <p:spPr>
          <a:xfrm>
            <a:off x="10766520" y="5082633"/>
            <a:ext cx="163961" cy="211000"/>
          </a:xfrm>
          <a:prstGeom prst="rect">
            <a:avLst/>
          </a:prstGeom>
          <a:blipFill>
            <a:blip r:embed="rId6"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17" name="object 17"/>
          <p:cNvSpPr txBox="1"/>
          <p:nvPr/>
        </p:nvSpPr>
        <p:spPr>
          <a:xfrm>
            <a:off x="7527667" y="4689666"/>
            <a:ext cx="731520" cy="632460"/>
          </a:xfrm>
          <a:prstGeom prst="rect">
            <a:avLst/>
          </a:prstGeom>
        </p:spPr>
        <p:txBody>
          <a:bodyPr vert="horz" wrap="square" lIns="0" tIns="16933" rIns="0" bIns="0" rtlCol="0">
            <a:spAutoFit/>
          </a:bodyPr>
          <a:lstStyle/>
          <a:p>
            <a:pPr marL="16933" marR="6773" algn="just" defTabSz="1219170">
              <a:spcBef>
                <a:spcPts val="133"/>
              </a:spcBef>
            </a:pPr>
            <a:r>
              <a:rPr sz="1333" spc="-13" dirty="0">
                <a:solidFill>
                  <a:prstClr val="black"/>
                </a:solidFill>
                <a:latin typeface="Calibri"/>
                <a:cs typeface="Calibri"/>
              </a:rPr>
              <a:t>Reward</a:t>
            </a:r>
            <a:r>
              <a:rPr sz="1333" spc="-120" dirty="0">
                <a:solidFill>
                  <a:prstClr val="black"/>
                </a:solidFill>
                <a:latin typeface="Calibri"/>
                <a:cs typeface="Calibri"/>
              </a:rPr>
              <a:t> </a:t>
            </a:r>
            <a:r>
              <a:rPr sz="1333" spc="-7" dirty="0">
                <a:solidFill>
                  <a:prstClr val="black"/>
                </a:solidFill>
                <a:latin typeface="Calibri"/>
                <a:cs typeface="Calibri"/>
              </a:rPr>
              <a:t>of  </a:t>
            </a:r>
            <a:r>
              <a:rPr sz="1333" b="1" spc="-13" dirty="0">
                <a:solidFill>
                  <a:prstClr val="black"/>
                </a:solidFill>
                <a:latin typeface="Calibri"/>
                <a:cs typeface="Calibri"/>
              </a:rPr>
              <a:t>preferred  </a:t>
            </a:r>
            <a:r>
              <a:rPr sz="1333" spc="-13" dirty="0">
                <a:solidFill>
                  <a:prstClr val="black"/>
                </a:solidFill>
                <a:latin typeface="Calibri"/>
                <a:cs typeface="Calibri"/>
              </a:rPr>
              <a:t>response</a:t>
            </a:r>
            <a:endParaRPr sz="1333">
              <a:solidFill>
                <a:prstClr val="black"/>
              </a:solidFill>
              <a:latin typeface="Calibri"/>
              <a:cs typeface="Calibri"/>
            </a:endParaRPr>
          </a:p>
        </p:txBody>
      </p:sp>
      <p:sp>
        <p:nvSpPr>
          <p:cNvPr id="18" name="object 18"/>
          <p:cNvSpPr txBox="1"/>
          <p:nvPr/>
        </p:nvSpPr>
        <p:spPr>
          <a:xfrm>
            <a:off x="9792700" y="4689665"/>
            <a:ext cx="897467" cy="632460"/>
          </a:xfrm>
          <a:prstGeom prst="rect">
            <a:avLst/>
          </a:prstGeom>
        </p:spPr>
        <p:txBody>
          <a:bodyPr vert="horz" wrap="square" lIns="0" tIns="16933" rIns="0" bIns="0" rtlCol="0">
            <a:spAutoFit/>
          </a:bodyPr>
          <a:lstStyle/>
          <a:p>
            <a:pPr marL="16933" marR="6773" defTabSz="1219170">
              <a:spcBef>
                <a:spcPts val="133"/>
              </a:spcBef>
            </a:pPr>
            <a:r>
              <a:rPr sz="1333" spc="-13" dirty="0">
                <a:solidFill>
                  <a:prstClr val="black"/>
                </a:solidFill>
                <a:latin typeface="Calibri"/>
                <a:cs typeface="Calibri"/>
              </a:rPr>
              <a:t>Reward </a:t>
            </a:r>
            <a:r>
              <a:rPr sz="1333" spc="-7" dirty="0">
                <a:solidFill>
                  <a:prstClr val="black"/>
                </a:solidFill>
                <a:latin typeface="Calibri"/>
                <a:cs typeface="Calibri"/>
              </a:rPr>
              <a:t>of  </a:t>
            </a:r>
            <a:r>
              <a:rPr sz="1333" b="1" spc="-7" dirty="0">
                <a:solidFill>
                  <a:prstClr val="black"/>
                </a:solidFill>
                <a:latin typeface="Calibri"/>
                <a:cs typeface="Calibri"/>
              </a:rPr>
              <a:t>disp</a:t>
            </a:r>
            <a:r>
              <a:rPr sz="1333" b="1" spc="-20" dirty="0">
                <a:solidFill>
                  <a:prstClr val="black"/>
                </a:solidFill>
                <a:latin typeface="Calibri"/>
                <a:cs typeface="Calibri"/>
              </a:rPr>
              <a:t>r</a:t>
            </a:r>
            <a:r>
              <a:rPr sz="1333" b="1" spc="-13" dirty="0">
                <a:solidFill>
                  <a:prstClr val="black"/>
                </a:solidFill>
                <a:latin typeface="Calibri"/>
                <a:cs typeface="Calibri"/>
              </a:rPr>
              <a:t>e</a:t>
            </a:r>
            <a:r>
              <a:rPr sz="1333" b="1" spc="-27" dirty="0">
                <a:solidFill>
                  <a:prstClr val="black"/>
                </a:solidFill>
                <a:latin typeface="Calibri"/>
                <a:cs typeface="Calibri"/>
              </a:rPr>
              <a:t>f</a:t>
            </a:r>
            <a:r>
              <a:rPr sz="1333" b="1" spc="-7" dirty="0">
                <a:solidFill>
                  <a:prstClr val="black"/>
                </a:solidFill>
                <a:latin typeface="Calibri"/>
                <a:cs typeface="Calibri"/>
              </a:rPr>
              <a:t>er</a:t>
            </a:r>
            <a:r>
              <a:rPr sz="1333" b="1" spc="-20" dirty="0">
                <a:solidFill>
                  <a:prstClr val="black"/>
                </a:solidFill>
                <a:latin typeface="Calibri"/>
                <a:cs typeface="Calibri"/>
              </a:rPr>
              <a:t>r</a:t>
            </a:r>
            <a:r>
              <a:rPr sz="1333" b="1" spc="-7" dirty="0">
                <a:solidFill>
                  <a:prstClr val="black"/>
                </a:solidFill>
                <a:latin typeface="Calibri"/>
                <a:cs typeface="Calibri"/>
              </a:rPr>
              <a:t>ed  </a:t>
            </a:r>
            <a:r>
              <a:rPr sz="1333" spc="-13" dirty="0">
                <a:solidFill>
                  <a:prstClr val="black"/>
                </a:solidFill>
                <a:latin typeface="Calibri"/>
                <a:cs typeface="Calibri"/>
              </a:rPr>
              <a:t>response</a:t>
            </a:r>
            <a:endParaRPr sz="1333">
              <a:solidFill>
                <a:prstClr val="black"/>
              </a:solidFill>
              <a:latin typeface="Calibri"/>
              <a:cs typeface="Calibri"/>
            </a:endParaRPr>
          </a:p>
        </p:txBody>
      </p:sp>
      <p:sp>
        <p:nvSpPr>
          <p:cNvPr id="19" name="object 19"/>
          <p:cNvSpPr txBox="1">
            <a:spLocks noGrp="1"/>
          </p:cNvSpPr>
          <p:nvPr>
            <p:ph type="body" idx="1"/>
          </p:nvPr>
        </p:nvSpPr>
        <p:spPr>
          <a:xfrm>
            <a:off x="542223" y="1968866"/>
            <a:ext cx="13380720" cy="1684221"/>
          </a:xfrm>
          <a:prstGeom prst="rect">
            <a:avLst/>
          </a:prstGeom>
        </p:spPr>
        <p:txBody>
          <a:bodyPr vert="horz" wrap="square" lIns="0" tIns="16933" rIns="0" bIns="0" rtlCol="0">
            <a:spAutoFit/>
          </a:bodyPr>
          <a:lstStyle/>
          <a:p>
            <a:pPr marL="5827461">
              <a:lnSpc>
                <a:spcPts val="1292"/>
              </a:lnSpc>
              <a:spcBef>
                <a:spcPts val="133"/>
              </a:spcBef>
            </a:pPr>
            <a:r>
              <a:rPr spc="-7" dirty="0"/>
              <a:t>Derived </a:t>
            </a:r>
            <a:r>
              <a:rPr spc="-13" dirty="0"/>
              <a:t>from </a:t>
            </a:r>
            <a:r>
              <a:rPr spc="-7" dirty="0"/>
              <a:t>the </a:t>
            </a:r>
            <a:r>
              <a:rPr spc="-20" dirty="0"/>
              <a:t>Bradley-Terry </a:t>
            </a:r>
            <a:r>
              <a:rPr spc="-7" dirty="0"/>
              <a:t>model of human</a:t>
            </a:r>
            <a:r>
              <a:rPr spc="-27" dirty="0"/>
              <a:t> </a:t>
            </a:r>
            <a:r>
              <a:rPr spc="-13" dirty="0"/>
              <a:t>preferences:</a:t>
            </a:r>
          </a:p>
          <a:p>
            <a:pPr marL="16933">
              <a:lnSpc>
                <a:spcPts val="2573"/>
              </a:lnSpc>
            </a:pPr>
            <a:r>
              <a:rPr sz="2400" b="1" dirty="0">
                <a:solidFill>
                  <a:srgbClr val="8C1414"/>
                </a:solidFill>
              </a:rPr>
              <a:t>A </a:t>
            </a:r>
            <a:r>
              <a:rPr sz="2400" b="1" spc="-7" dirty="0">
                <a:solidFill>
                  <a:srgbClr val="8C1414"/>
                </a:solidFill>
              </a:rPr>
              <a:t>loss function</a:t>
            </a:r>
            <a:r>
              <a:rPr sz="2400" b="1" spc="-20" dirty="0">
                <a:solidFill>
                  <a:srgbClr val="8C1414"/>
                </a:solidFill>
              </a:rPr>
              <a:t> </a:t>
            </a:r>
            <a:r>
              <a:rPr sz="2400" b="1" spc="-7" dirty="0">
                <a:solidFill>
                  <a:srgbClr val="8C1414"/>
                </a:solidFill>
              </a:rPr>
              <a:t>on</a:t>
            </a:r>
            <a:endParaRPr sz="2400"/>
          </a:p>
          <a:p>
            <a:pPr marL="16933">
              <a:lnSpc>
                <a:spcPts val="1993"/>
              </a:lnSpc>
            </a:pPr>
            <a:r>
              <a:rPr sz="2400" b="1" u="heavy" spc="-20" dirty="0">
                <a:solidFill>
                  <a:srgbClr val="8C1414"/>
                </a:solidFill>
                <a:uFill>
                  <a:solidFill>
                    <a:srgbClr val="8C1414"/>
                  </a:solidFill>
                </a:uFill>
              </a:rPr>
              <a:t>reward</a:t>
            </a:r>
            <a:r>
              <a:rPr sz="2400" b="1" u="heavy" spc="-13" dirty="0">
                <a:solidFill>
                  <a:srgbClr val="8C1414"/>
                </a:solidFill>
                <a:uFill>
                  <a:solidFill>
                    <a:srgbClr val="8C1414"/>
                  </a:solidFill>
                </a:uFill>
              </a:rPr>
              <a:t> </a:t>
            </a:r>
            <a:r>
              <a:rPr sz="2400" b="1" u="heavy" spc="-7" dirty="0">
                <a:solidFill>
                  <a:srgbClr val="8C1414"/>
                </a:solidFill>
                <a:uFill>
                  <a:solidFill>
                    <a:srgbClr val="8C1414"/>
                  </a:solidFill>
                </a:uFill>
              </a:rPr>
              <a:t>functions</a:t>
            </a:r>
            <a:endParaRPr sz="2400"/>
          </a:p>
          <a:p>
            <a:pPr marL="877125">
              <a:lnSpc>
                <a:spcPts val="7113"/>
              </a:lnSpc>
            </a:pPr>
            <a:r>
              <a:rPr sz="6667" b="1" dirty="0">
                <a:solidFill>
                  <a:srgbClr val="8C1414"/>
                </a:solidFill>
              </a:rPr>
              <a:t>+</a:t>
            </a:r>
            <a:endParaRPr sz="6667"/>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317156" y="5339540"/>
            <a:ext cx="9649672" cy="813835"/>
          </a:xfrm>
          <a:prstGeom prst="rect">
            <a:avLst/>
          </a:prstGeom>
          <a:blipFill>
            <a:blip r:embed="rId2"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3" name="object 3"/>
          <p:cNvSpPr txBox="1">
            <a:spLocks noGrp="1"/>
          </p:cNvSpPr>
          <p:nvPr>
            <p:ph type="title"/>
          </p:nvPr>
        </p:nvSpPr>
        <p:spPr>
          <a:xfrm>
            <a:off x="512967" y="671226"/>
            <a:ext cx="10955020" cy="607003"/>
          </a:xfrm>
          <a:prstGeom prst="rect">
            <a:avLst/>
          </a:prstGeom>
        </p:spPr>
        <p:txBody>
          <a:bodyPr vert="horz" wrap="square" lIns="0" tIns="22013" rIns="0" bIns="0" rtlCol="0">
            <a:spAutoFit/>
          </a:bodyPr>
          <a:lstStyle/>
          <a:p>
            <a:pPr marL="16933">
              <a:spcBef>
                <a:spcPts val="173"/>
              </a:spcBef>
            </a:pPr>
            <a:r>
              <a:rPr spc="7" dirty="0"/>
              <a:t>Direct Preference Optimization: Putting </a:t>
            </a:r>
            <a:r>
              <a:rPr dirty="0"/>
              <a:t>it</a:t>
            </a:r>
            <a:r>
              <a:rPr spc="120" dirty="0"/>
              <a:t> </a:t>
            </a:r>
            <a:r>
              <a:rPr spc="7" dirty="0"/>
              <a:t>together</a:t>
            </a:r>
          </a:p>
        </p:txBody>
      </p:sp>
      <p:sp>
        <p:nvSpPr>
          <p:cNvPr id="4" name="object 4"/>
          <p:cNvSpPr/>
          <p:nvPr/>
        </p:nvSpPr>
        <p:spPr>
          <a:xfrm>
            <a:off x="3677768" y="3209666"/>
            <a:ext cx="5915955" cy="824599"/>
          </a:xfrm>
          <a:prstGeom prst="rect">
            <a:avLst/>
          </a:prstGeom>
          <a:blipFill>
            <a:blip r:embed="rId3"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5" name="object 5"/>
          <p:cNvSpPr/>
          <p:nvPr/>
        </p:nvSpPr>
        <p:spPr>
          <a:xfrm>
            <a:off x="3677767" y="1871499"/>
            <a:ext cx="7503800" cy="385532"/>
          </a:xfrm>
          <a:prstGeom prst="rect">
            <a:avLst/>
          </a:prstGeom>
          <a:blipFill>
            <a:blip r:embed="rId4"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6" name="object 6"/>
          <p:cNvSpPr/>
          <p:nvPr/>
        </p:nvSpPr>
        <p:spPr>
          <a:xfrm>
            <a:off x="3869100" y="3825883"/>
            <a:ext cx="755227" cy="62653"/>
          </a:xfrm>
          <a:custGeom>
            <a:avLst/>
            <a:gdLst/>
            <a:ahLst/>
            <a:cxnLst/>
            <a:rect l="l" t="t" r="r" b="b"/>
            <a:pathLst>
              <a:path w="566420" h="46989">
                <a:moveTo>
                  <a:pt x="0" y="0"/>
                </a:moveTo>
                <a:lnTo>
                  <a:pt x="566099" y="0"/>
                </a:lnTo>
                <a:lnTo>
                  <a:pt x="566099" y="46799"/>
                </a:lnTo>
                <a:lnTo>
                  <a:pt x="0" y="46799"/>
                </a:lnTo>
                <a:lnTo>
                  <a:pt x="0" y="0"/>
                </a:lnTo>
                <a:close/>
              </a:path>
            </a:pathLst>
          </a:custGeom>
          <a:ln w="9524">
            <a:solidFill>
              <a:srgbClr val="FFFFFF"/>
            </a:solidFill>
          </a:ln>
        </p:spPr>
        <p:txBody>
          <a:bodyPr wrap="square" lIns="0" tIns="0" rIns="0" bIns="0" rtlCol="0"/>
          <a:lstStyle/>
          <a:p>
            <a:pPr defTabSz="1219170"/>
            <a:endParaRPr sz="2400">
              <a:solidFill>
                <a:prstClr val="black"/>
              </a:solidFill>
              <a:latin typeface="Calibri"/>
            </a:endParaRPr>
          </a:p>
        </p:txBody>
      </p:sp>
      <p:sp>
        <p:nvSpPr>
          <p:cNvPr id="7" name="object 7"/>
          <p:cNvSpPr/>
          <p:nvPr/>
        </p:nvSpPr>
        <p:spPr>
          <a:xfrm>
            <a:off x="8059576" y="5361464"/>
            <a:ext cx="755227" cy="0"/>
          </a:xfrm>
          <a:custGeom>
            <a:avLst/>
            <a:gdLst/>
            <a:ahLst/>
            <a:cxnLst/>
            <a:rect l="l" t="t" r="r" b="b"/>
            <a:pathLst>
              <a:path w="566420">
                <a:moveTo>
                  <a:pt x="0" y="0"/>
                </a:moveTo>
                <a:lnTo>
                  <a:pt x="566099" y="0"/>
                </a:lnTo>
              </a:path>
            </a:pathLst>
          </a:custGeom>
          <a:ln w="46799">
            <a:solidFill>
              <a:srgbClr val="FFFFFF"/>
            </a:solidFill>
          </a:ln>
        </p:spPr>
        <p:txBody>
          <a:bodyPr wrap="square" lIns="0" tIns="0" rIns="0" bIns="0" rtlCol="0"/>
          <a:lstStyle/>
          <a:p>
            <a:pPr defTabSz="1219170"/>
            <a:endParaRPr sz="2400">
              <a:solidFill>
                <a:prstClr val="black"/>
              </a:solidFill>
              <a:latin typeface="Calibri"/>
            </a:endParaRPr>
          </a:p>
        </p:txBody>
      </p:sp>
      <p:sp>
        <p:nvSpPr>
          <p:cNvPr id="8" name="object 8"/>
          <p:cNvSpPr/>
          <p:nvPr/>
        </p:nvSpPr>
        <p:spPr>
          <a:xfrm>
            <a:off x="8059576" y="5330264"/>
            <a:ext cx="755227" cy="62653"/>
          </a:xfrm>
          <a:custGeom>
            <a:avLst/>
            <a:gdLst/>
            <a:ahLst/>
            <a:cxnLst/>
            <a:rect l="l" t="t" r="r" b="b"/>
            <a:pathLst>
              <a:path w="566420" h="46989">
                <a:moveTo>
                  <a:pt x="0" y="0"/>
                </a:moveTo>
                <a:lnTo>
                  <a:pt x="566099" y="0"/>
                </a:lnTo>
                <a:lnTo>
                  <a:pt x="566099" y="46799"/>
                </a:lnTo>
                <a:lnTo>
                  <a:pt x="0" y="46799"/>
                </a:lnTo>
                <a:lnTo>
                  <a:pt x="0" y="0"/>
                </a:lnTo>
                <a:close/>
              </a:path>
            </a:pathLst>
          </a:custGeom>
          <a:ln w="9524">
            <a:solidFill>
              <a:srgbClr val="FFFFFF"/>
            </a:solidFill>
          </a:ln>
        </p:spPr>
        <p:txBody>
          <a:bodyPr wrap="square" lIns="0" tIns="0" rIns="0" bIns="0" rtlCol="0"/>
          <a:lstStyle/>
          <a:p>
            <a:pPr defTabSz="1219170"/>
            <a:endParaRPr sz="2400">
              <a:solidFill>
                <a:prstClr val="black"/>
              </a:solidFill>
              <a:latin typeface="Calibri"/>
            </a:endParaRPr>
          </a:p>
        </p:txBody>
      </p:sp>
      <p:sp>
        <p:nvSpPr>
          <p:cNvPr id="9" name="object 9"/>
          <p:cNvSpPr/>
          <p:nvPr/>
        </p:nvSpPr>
        <p:spPr>
          <a:xfrm>
            <a:off x="10471221" y="5361464"/>
            <a:ext cx="755227" cy="0"/>
          </a:xfrm>
          <a:custGeom>
            <a:avLst/>
            <a:gdLst/>
            <a:ahLst/>
            <a:cxnLst/>
            <a:rect l="l" t="t" r="r" b="b"/>
            <a:pathLst>
              <a:path w="566420">
                <a:moveTo>
                  <a:pt x="0" y="0"/>
                </a:moveTo>
                <a:lnTo>
                  <a:pt x="566099" y="0"/>
                </a:lnTo>
              </a:path>
            </a:pathLst>
          </a:custGeom>
          <a:ln w="46799">
            <a:solidFill>
              <a:srgbClr val="FFFFFF"/>
            </a:solidFill>
          </a:ln>
        </p:spPr>
        <p:txBody>
          <a:bodyPr wrap="square" lIns="0" tIns="0" rIns="0" bIns="0" rtlCol="0"/>
          <a:lstStyle/>
          <a:p>
            <a:pPr defTabSz="1219170"/>
            <a:endParaRPr sz="2400">
              <a:solidFill>
                <a:prstClr val="black"/>
              </a:solidFill>
              <a:latin typeface="Calibri"/>
            </a:endParaRPr>
          </a:p>
        </p:txBody>
      </p:sp>
      <p:sp>
        <p:nvSpPr>
          <p:cNvPr id="10" name="object 10"/>
          <p:cNvSpPr/>
          <p:nvPr/>
        </p:nvSpPr>
        <p:spPr>
          <a:xfrm>
            <a:off x="10471221" y="5330264"/>
            <a:ext cx="755227" cy="62653"/>
          </a:xfrm>
          <a:custGeom>
            <a:avLst/>
            <a:gdLst/>
            <a:ahLst/>
            <a:cxnLst/>
            <a:rect l="l" t="t" r="r" b="b"/>
            <a:pathLst>
              <a:path w="566420" h="46989">
                <a:moveTo>
                  <a:pt x="0" y="0"/>
                </a:moveTo>
                <a:lnTo>
                  <a:pt x="566099" y="0"/>
                </a:lnTo>
                <a:lnTo>
                  <a:pt x="566099" y="46799"/>
                </a:lnTo>
                <a:lnTo>
                  <a:pt x="0" y="46799"/>
                </a:lnTo>
                <a:lnTo>
                  <a:pt x="0" y="0"/>
                </a:lnTo>
                <a:close/>
              </a:path>
            </a:pathLst>
          </a:custGeom>
          <a:ln w="9524">
            <a:solidFill>
              <a:srgbClr val="FFFFFF"/>
            </a:solidFill>
          </a:ln>
        </p:spPr>
        <p:txBody>
          <a:bodyPr wrap="square" lIns="0" tIns="0" rIns="0" bIns="0" rtlCol="0"/>
          <a:lstStyle/>
          <a:p>
            <a:pPr defTabSz="1219170"/>
            <a:endParaRPr sz="2400">
              <a:solidFill>
                <a:prstClr val="black"/>
              </a:solidFill>
              <a:latin typeface="Calibri"/>
            </a:endParaRPr>
          </a:p>
        </p:txBody>
      </p:sp>
      <p:sp>
        <p:nvSpPr>
          <p:cNvPr id="11" name="object 11"/>
          <p:cNvSpPr txBox="1"/>
          <p:nvPr/>
        </p:nvSpPr>
        <p:spPr>
          <a:xfrm>
            <a:off x="7241433" y="6208094"/>
            <a:ext cx="2095500" cy="222219"/>
          </a:xfrm>
          <a:prstGeom prst="rect">
            <a:avLst/>
          </a:prstGeom>
        </p:spPr>
        <p:txBody>
          <a:bodyPr vert="horz" wrap="square" lIns="0" tIns="16933" rIns="0" bIns="0" rtlCol="0">
            <a:spAutoFit/>
          </a:bodyPr>
          <a:lstStyle/>
          <a:p>
            <a:pPr marL="16933" defTabSz="1219170">
              <a:spcBef>
                <a:spcPts val="133"/>
              </a:spcBef>
            </a:pPr>
            <a:r>
              <a:rPr sz="1333" spc="-13" dirty="0">
                <a:solidFill>
                  <a:srgbClr val="279988"/>
                </a:solidFill>
                <a:latin typeface="Calibri"/>
                <a:cs typeface="Calibri"/>
              </a:rPr>
              <a:t>Reward </a:t>
            </a:r>
            <a:r>
              <a:rPr sz="1333" spc="-7" dirty="0">
                <a:solidFill>
                  <a:srgbClr val="279988"/>
                </a:solidFill>
                <a:latin typeface="Calibri"/>
                <a:cs typeface="Calibri"/>
              </a:rPr>
              <a:t>of </a:t>
            </a:r>
            <a:r>
              <a:rPr sz="1333" b="1" spc="-13" dirty="0">
                <a:solidFill>
                  <a:srgbClr val="279988"/>
                </a:solidFill>
                <a:latin typeface="Calibri"/>
                <a:cs typeface="Calibri"/>
              </a:rPr>
              <a:t>preferred</a:t>
            </a:r>
            <a:r>
              <a:rPr sz="1333" b="1" spc="-47" dirty="0">
                <a:solidFill>
                  <a:srgbClr val="279988"/>
                </a:solidFill>
                <a:latin typeface="Calibri"/>
                <a:cs typeface="Calibri"/>
              </a:rPr>
              <a:t> </a:t>
            </a:r>
            <a:r>
              <a:rPr sz="1333" spc="-13" dirty="0">
                <a:solidFill>
                  <a:srgbClr val="279988"/>
                </a:solidFill>
                <a:latin typeface="Calibri"/>
                <a:cs typeface="Calibri"/>
              </a:rPr>
              <a:t>response</a:t>
            </a:r>
            <a:endParaRPr sz="1333">
              <a:solidFill>
                <a:prstClr val="black"/>
              </a:solidFill>
              <a:latin typeface="Calibri"/>
              <a:cs typeface="Calibri"/>
            </a:endParaRPr>
          </a:p>
        </p:txBody>
      </p:sp>
      <p:sp>
        <p:nvSpPr>
          <p:cNvPr id="12" name="object 12"/>
          <p:cNvSpPr txBox="1"/>
          <p:nvPr/>
        </p:nvSpPr>
        <p:spPr>
          <a:xfrm>
            <a:off x="9652201" y="6208094"/>
            <a:ext cx="2295313" cy="222219"/>
          </a:xfrm>
          <a:prstGeom prst="rect">
            <a:avLst/>
          </a:prstGeom>
        </p:spPr>
        <p:txBody>
          <a:bodyPr vert="horz" wrap="square" lIns="0" tIns="16933" rIns="0" bIns="0" rtlCol="0">
            <a:spAutoFit/>
          </a:bodyPr>
          <a:lstStyle/>
          <a:p>
            <a:pPr marL="16933" defTabSz="1219170">
              <a:spcBef>
                <a:spcPts val="133"/>
              </a:spcBef>
            </a:pPr>
            <a:r>
              <a:rPr sz="1333" spc="-13" dirty="0">
                <a:solidFill>
                  <a:srgbClr val="CC0000"/>
                </a:solidFill>
                <a:latin typeface="Calibri"/>
                <a:cs typeface="Calibri"/>
              </a:rPr>
              <a:t>Reward </a:t>
            </a:r>
            <a:r>
              <a:rPr sz="1333" spc="-7" dirty="0">
                <a:solidFill>
                  <a:srgbClr val="CC0000"/>
                </a:solidFill>
                <a:latin typeface="Calibri"/>
                <a:cs typeface="Calibri"/>
              </a:rPr>
              <a:t>of </a:t>
            </a:r>
            <a:r>
              <a:rPr sz="1333" b="1" spc="-13" dirty="0">
                <a:solidFill>
                  <a:srgbClr val="CC0000"/>
                </a:solidFill>
                <a:latin typeface="Calibri"/>
                <a:cs typeface="Calibri"/>
              </a:rPr>
              <a:t>dispreferred</a:t>
            </a:r>
            <a:r>
              <a:rPr sz="1333" b="1" spc="-33" dirty="0">
                <a:solidFill>
                  <a:srgbClr val="CC0000"/>
                </a:solidFill>
                <a:latin typeface="Calibri"/>
                <a:cs typeface="Calibri"/>
              </a:rPr>
              <a:t> </a:t>
            </a:r>
            <a:r>
              <a:rPr sz="1333" spc="-13" dirty="0">
                <a:solidFill>
                  <a:srgbClr val="CC0000"/>
                </a:solidFill>
                <a:latin typeface="Calibri"/>
                <a:cs typeface="Calibri"/>
              </a:rPr>
              <a:t>response</a:t>
            </a:r>
            <a:endParaRPr sz="1333">
              <a:solidFill>
                <a:prstClr val="black"/>
              </a:solidFill>
              <a:latin typeface="Calibri"/>
              <a:cs typeface="Calibri"/>
            </a:endParaRPr>
          </a:p>
        </p:txBody>
      </p:sp>
      <p:sp>
        <p:nvSpPr>
          <p:cNvPr id="13" name="object 13"/>
          <p:cNvSpPr txBox="1"/>
          <p:nvPr/>
        </p:nvSpPr>
        <p:spPr>
          <a:xfrm>
            <a:off x="406667" y="1476649"/>
            <a:ext cx="10035540" cy="2692190"/>
          </a:xfrm>
          <a:prstGeom prst="rect">
            <a:avLst/>
          </a:prstGeom>
        </p:spPr>
        <p:txBody>
          <a:bodyPr vert="horz" wrap="square" lIns="0" tIns="16933" rIns="0" bIns="0" rtlCol="0">
            <a:spAutoFit/>
          </a:bodyPr>
          <a:lstStyle/>
          <a:p>
            <a:pPr marL="5827461" defTabSz="1219170">
              <a:lnSpc>
                <a:spcPts val="1292"/>
              </a:lnSpc>
              <a:spcBef>
                <a:spcPts val="133"/>
              </a:spcBef>
            </a:pPr>
            <a:r>
              <a:rPr sz="1333" spc="-7" dirty="0">
                <a:solidFill>
                  <a:prstClr val="black"/>
                </a:solidFill>
                <a:latin typeface="Calibri"/>
                <a:cs typeface="Calibri"/>
              </a:rPr>
              <a:t>Derived </a:t>
            </a:r>
            <a:r>
              <a:rPr sz="1333" spc="-13" dirty="0">
                <a:solidFill>
                  <a:prstClr val="black"/>
                </a:solidFill>
                <a:latin typeface="Calibri"/>
                <a:cs typeface="Calibri"/>
              </a:rPr>
              <a:t>from </a:t>
            </a:r>
            <a:r>
              <a:rPr sz="1333" spc="-7" dirty="0">
                <a:solidFill>
                  <a:prstClr val="black"/>
                </a:solidFill>
                <a:latin typeface="Calibri"/>
                <a:cs typeface="Calibri"/>
              </a:rPr>
              <a:t>the </a:t>
            </a:r>
            <a:r>
              <a:rPr sz="1333" spc="-20" dirty="0">
                <a:solidFill>
                  <a:prstClr val="black"/>
                </a:solidFill>
                <a:latin typeface="Calibri"/>
                <a:cs typeface="Calibri"/>
              </a:rPr>
              <a:t>Bradley-Terry </a:t>
            </a:r>
            <a:r>
              <a:rPr sz="1333" spc="-7" dirty="0">
                <a:solidFill>
                  <a:prstClr val="black"/>
                </a:solidFill>
                <a:latin typeface="Calibri"/>
                <a:cs typeface="Calibri"/>
              </a:rPr>
              <a:t>model of human</a:t>
            </a:r>
            <a:r>
              <a:rPr sz="1333" spc="-27" dirty="0">
                <a:solidFill>
                  <a:prstClr val="black"/>
                </a:solidFill>
                <a:latin typeface="Calibri"/>
                <a:cs typeface="Calibri"/>
              </a:rPr>
              <a:t> </a:t>
            </a:r>
            <a:r>
              <a:rPr sz="1333" spc="-13" dirty="0">
                <a:solidFill>
                  <a:prstClr val="black"/>
                </a:solidFill>
                <a:latin typeface="Calibri"/>
                <a:cs typeface="Calibri"/>
              </a:rPr>
              <a:t>preferences:</a:t>
            </a:r>
            <a:endParaRPr sz="1333">
              <a:solidFill>
                <a:prstClr val="black"/>
              </a:solidFill>
              <a:latin typeface="Calibri"/>
              <a:cs typeface="Calibri"/>
            </a:endParaRPr>
          </a:p>
          <a:p>
            <a:pPr marL="16933" defTabSz="1219170">
              <a:lnSpc>
                <a:spcPts val="2573"/>
              </a:lnSpc>
            </a:pPr>
            <a:r>
              <a:rPr sz="2400" b="1" dirty="0">
                <a:solidFill>
                  <a:srgbClr val="8C1414"/>
                </a:solidFill>
                <a:latin typeface="Calibri"/>
                <a:cs typeface="Calibri"/>
              </a:rPr>
              <a:t>A </a:t>
            </a:r>
            <a:r>
              <a:rPr sz="2400" b="1" spc="-7" dirty="0">
                <a:solidFill>
                  <a:srgbClr val="8C1414"/>
                </a:solidFill>
                <a:latin typeface="Calibri"/>
                <a:cs typeface="Calibri"/>
              </a:rPr>
              <a:t>loss function</a:t>
            </a:r>
            <a:r>
              <a:rPr sz="2400" b="1" spc="-20" dirty="0">
                <a:solidFill>
                  <a:srgbClr val="8C1414"/>
                </a:solidFill>
                <a:latin typeface="Calibri"/>
                <a:cs typeface="Calibri"/>
              </a:rPr>
              <a:t> </a:t>
            </a:r>
            <a:r>
              <a:rPr sz="2400" b="1" spc="-7" dirty="0">
                <a:solidFill>
                  <a:srgbClr val="8C1414"/>
                </a:solidFill>
                <a:latin typeface="Calibri"/>
                <a:cs typeface="Calibri"/>
              </a:rPr>
              <a:t>on</a:t>
            </a:r>
            <a:endParaRPr sz="2400">
              <a:solidFill>
                <a:prstClr val="black"/>
              </a:solidFill>
              <a:latin typeface="Calibri"/>
              <a:cs typeface="Calibri"/>
            </a:endParaRPr>
          </a:p>
          <a:p>
            <a:pPr marL="16933" defTabSz="1219170">
              <a:lnSpc>
                <a:spcPts val="1993"/>
              </a:lnSpc>
            </a:pPr>
            <a:r>
              <a:rPr sz="2400" b="1" u="heavy" spc="-20" dirty="0">
                <a:solidFill>
                  <a:srgbClr val="8C1414"/>
                </a:solidFill>
                <a:uFill>
                  <a:solidFill>
                    <a:srgbClr val="8C1414"/>
                  </a:solidFill>
                </a:uFill>
                <a:latin typeface="Calibri"/>
                <a:cs typeface="Calibri"/>
              </a:rPr>
              <a:t>reward</a:t>
            </a:r>
            <a:r>
              <a:rPr sz="2400" b="1" u="heavy" spc="-133" dirty="0">
                <a:solidFill>
                  <a:srgbClr val="8C1414"/>
                </a:solidFill>
                <a:uFill>
                  <a:solidFill>
                    <a:srgbClr val="8C1414"/>
                  </a:solidFill>
                </a:uFill>
                <a:latin typeface="Calibri"/>
                <a:cs typeface="Calibri"/>
              </a:rPr>
              <a:t> </a:t>
            </a:r>
            <a:r>
              <a:rPr sz="2400" b="1" u="heavy" spc="-7" dirty="0">
                <a:solidFill>
                  <a:srgbClr val="8C1414"/>
                </a:solidFill>
                <a:uFill>
                  <a:solidFill>
                    <a:srgbClr val="8C1414"/>
                  </a:solidFill>
                </a:uFill>
                <a:latin typeface="Calibri"/>
                <a:cs typeface="Calibri"/>
              </a:rPr>
              <a:t>functions</a:t>
            </a:r>
            <a:endParaRPr sz="2400">
              <a:solidFill>
                <a:prstClr val="black"/>
              </a:solidFill>
              <a:latin typeface="Calibri"/>
              <a:cs typeface="Calibri"/>
            </a:endParaRPr>
          </a:p>
          <a:p>
            <a:pPr marL="877125" defTabSz="1219170">
              <a:lnSpc>
                <a:spcPts val="6720"/>
              </a:lnSpc>
            </a:pPr>
            <a:r>
              <a:rPr sz="6667" b="1" dirty="0">
                <a:solidFill>
                  <a:srgbClr val="8C1414"/>
                </a:solidFill>
                <a:latin typeface="Calibri"/>
                <a:cs typeface="Calibri"/>
              </a:rPr>
              <a:t>+</a:t>
            </a:r>
            <a:endParaRPr sz="6667">
              <a:solidFill>
                <a:prstClr val="black"/>
              </a:solidFill>
              <a:latin typeface="Calibri"/>
              <a:cs typeface="Calibri"/>
            </a:endParaRPr>
          </a:p>
          <a:p>
            <a:pPr marL="16933" defTabSz="1219170">
              <a:lnSpc>
                <a:spcPts val="2485"/>
              </a:lnSpc>
            </a:pPr>
            <a:r>
              <a:rPr sz="2400" b="1" dirty="0">
                <a:solidFill>
                  <a:srgbClr val="8C1414"/>
                </a:solidFill>
                <a:latin typeface="Calibri"/>
                <a:cs typeface="Calibri"/>
              </a:rPr>
              <a:t>A</a:t>
            </a:r>
            <a:r>
              <a:rPr sz="2400" b="1" spc="-73" dirty="0">
                <a:solidFill>
                  <a:srgbClr val="8C1414"/>
                </a:solidFill>
                <a:latin typeface="Calibri"/>
                <a:cs typeface="Calibri"/>
              </a:rPr>
              <a:t> </a:t>
            </a:r>
            <a:r>
              <a:rPr sz="2400" b="1" spc="-20" dirty="0">
                <a:solidFill>
                  <a:srgbClr val="8C1414"/>
                </a:solidFill>
                <a:latin typeface="Calibri"/>
                <a:cs typeface="Calibri"/>
              </a:rPr>
              <a:t>transformation</a:t>
            </a:r>
            <a:endParaRPr sz="2400">
              <a:solidFill>
                <a:prstClr val="black"/>
              </a:solidFill>
              <a:latin typeface="Calibri"/>
              <a:cs typeface="Calibri"/>
            </a:endParaRPr>
          </a:p>
          <a:p>
            <a:pPr marL="16933" marR="7258292" defTabSz="1219170"/>
            <a:r>
              <a:rPr sz="2400" b="1" spc="-13" dirty="0">
                <a:solidFill>
                  <a:srgbClr val="8C1414"/>
                </a:solidFill>
                <a:latin typeface="Calibri"/>
                <a:cs typeface="Calibri"/>
              </a:rPr>
              <a:t>between </a:t>
            </a:r>
            <a:r>
              <a:rPr sz="2400" b="1" u="heavy" spc="-20" dirty="0">
                <a:solidFill>
                  <a:srgbClr val="8C1414"/>
                </a:solidFill>
                <a:uFill>
                  <a:solidFill>
                    <a:srgbClr val="8C1414"/>
                  </a:solidFill>
                </a:uFill>
                <a:latin typeface="Calibri"/>
                <a:cs typeface="Calibri"/>
              </a:rPr>
              <a:t>reward </a:t>
            </a:r>
            <a:r>
              <a:rPr sz="2400" b="1" spc="-20" dirty="0">
                <a:solidFill>
                  <a:srgbClr val="8C1414"/>
                </a:solidFill>
                <a:latin typeface="Calibri"/>
                <a:cs typeface="Calibri"/>
              </a:rPr>
              <a:t> </a:t>
            </a:r>
            <a:r>
              <a:rPr sz="2400" b="1" u="heavy" spc="-7" dirty="0">
                <a:solidFill>
                  <a:srgbClr val="8C1414"/>
                </a:solidFill>
                <a:uFill>
                  <a:solidFill>
                    <a:srgbClr val="8C1414"/>
                  </a:solidFill>
                </a:uFill>
                <a:latin typeface="Calibri"/>
                <a:cs typeface="Calibri"/>
              </a:rPr>
              <a:t>functions</a:t>
            </a:r>
            <a:r>
              <a:rPr sz="2400" b="1" spc="-7" dirty="0">
                <a:solidFill>
                  <a:srgbClr val="8C1414"/>
                </a:solidFill>
                <a:latin typeface="Calibri"/>
                <a:cs typeface="Calibri"/>
              </a:rPr>
              <a:t> and</a:t>
            </a:r>
            <a:r>
              <a:rPr sz="2400" b="1" spc="-100" dirty="0">
                <a:solidFill>
                  <a:srgbClr val="8C1414"/>
                </a:solidFill>
                <a:latin typeface="Calibri"/>
                <a:cs typeface="Calibri"/>
              </a:rPr>
              <a:t> </a:t>
            </a:r>
            <a:r>
              <a:rPr sz="2400" b="1" u="heavy" spc="-7" dirty="0">
                <a:solidFill>
                  <a:srgbClr val="8C1414"/>
                </a:solidFill>
                <a:uFill>
                  <a:solidFill>
                    <a:srgbClr val="8C1414"/>
                  </a:solidFill>
                </a:uFill>
                <a:latin typeface="Calibri"/>
                <a:cs typeface="Calibri"/>
              </a:rPr>
              <a:t>policies</a:t>
            </a:r>
            <a:endParaRPr sz="2400">
              <a:solidFill>
                <a:prstClr val="black"/>
              </a:solidFill>
              <a:latin typeface="Calibri"/>
              <a:cs typeface="Calibri"/>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662;p84">
            <a:extLst>
              <a:ext uri="{FF2B5EF4-FFF2-40B4-BE49-F238E27FC236}">
                <a16:creationId xmlns:a16="http://schemas.microsoft.com/office/drawing/2014/main" id="{B127E47E-8285-44E6-BCA5-25AC07B3D7DA}"/>
              </a:ext>
            </a:extLst>
          </p:cNvPr>
          <p:cNvSpPr txBox="1">
            <a:spLocks/>
          </p:cNvSpPr>
          <p:nvPr/>
        </p:nvSpPr>
        <p:spPr>
          <a:xfrm>
            <a:off x="415600" y="2481000"/>
            <a:ext cx="11360800" cy="2281600"/>
          </a:xfrm>
          <a:prstGeom prst="rect">
            <a:avLst/>
          </a:prstGeom>
          <a:noFill/>
          <a:ln>
            <a:noFill/>
          </a:ln>
        </p:spPr>
        <p:txBody>
          <a:bodyPr spcFirstLastPara="1" vert="horz" wrap="square" lIns="121900" tIns="121900" rIns="121900" bIns="121900" rtlCol="0" anchor="t"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4533" dirty="0">
                <a:solidFill>
                  <a:srgbClr val="FF0000"/>
                </a:solidFill>
                <a:latin typeface="Times New Roman"/>
                <a:ea typeface="Times New Roman"/>
                <a:cs typeface="Times New Roman"/>
                <a:sym typeface="Times New Roman"/>
              </a:rPr>
              <a:t>Other variants of RLHF</a:t>
            </a:r>
          </a:p>
          <a:p>
            <a:pPr algn="ctr"/>
            <a:r>
              <a:rPr lang="en-US" altLang="zh-CN" sz="4533" dirty="0">
                <a:solidFill>
                  <a:srgbClr val="FF0000"/>
                </a:solidFill>
                <a:latin typeface="Times New Roman"/>
                <a:ea typeface="Times New Roman"/>
                <a:cs typeface="Times New Roman"/>
                <a:sym typeface="Times New Roman"/>
              </a:rPr>
              <a:t>DPO and </a:t>
            </a:r>
            <a:r>
              <a:rPr lang="en-US" altLang="zh-CN" sz="4533" b="1" dirty="0" err="1">
                <a:solidFill>
                  <a:srgbClr val="FF0000"/>
                </a:solidFill>
                <a:latin typeface="Times New Roman"/>
                <a:ea typeface="Times New Roman"/>
                <a:cs typeface="Times New Roman"/>
                <a:sym typeface="Times New Roman"/>
              </a:rPr>
              <a:t>Remax</a:t>
            </a:r>
            <a:endParaRPr lang="en-US" sz="4533" b="1" dirty="0">
              <a:solidFill>
                <a:srgbClr val="FF0000"/>
              </a:solidFill>
              <a:latin typeface="Times New Roman"/>
              <a:ea typeface="Times New Roman"/>
              <a:cs typeface="Times New Roman"/>
              <a:sym typeface="Times New Roman"/>
            </a:endParaRPr>
          </a:p>
        </p:txBody>
      </p:sp>
      <p:sp>
        <p:nvSpPr>
          <p:cNvPr id="5" name="AutoShape 2" descr="DPO-PPO Diagram">
            <a:extLst>
              <a:ext uri="{FF2B5EF4-FFF2-40B4-BE49-F238E27FC236}">
                <a16:creationId xmlns:a16="http://schemas.microsoft.com/office/drawing/2014/main" id="{C6463FF0-0F1C-4B59-89D5-27D6241DD4E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249507258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B2082-C6BF-4FC4-8070-2D0CEF83D04B}"/>
              </a:ext>
            </a:extLst>
          </p:cNvPr>
          <p:cNvSpPr>
            <a:spLocks noGrp="1"/>
          </p:cNvSpPr>
          <p:nvPr>
            <p:ph type="title"/>
          </p:nvPr>
        </p:nvSpPr>
        <p:spPr>
          <a:xfrm>
            <a:off x="838200" y="365125"/>
            <a:ext cx="10515600" cy="1325563"/>
          </a:xfrm>
        </p:spPr>
        <p:txBody>
          <a:bodyPr/>
          <a:lstStyle/>
          <a:p>
            <a:endParaRPr lang="zh-CN" altLang="en-US" dirty="0"/>
          </a:p>
        </p:txBody>
      </p:sp>
      <p:pic>
        <p:nvPicPr>
          <p:cNvPr id="6146" name="Picture 2" descr="https://github.com/liziniu/ReMax/raw/master/images/framework.png">
            <a:extLst>
              <a:ext uri="{FF2B5EF4-FFF2-40B4-BE49-F238E27FC236}">
                <a16:creationId xmlns:a16="http://schemas.microsoft.com/office/drawing/2014/main" id="{272477CF-38C0-49A1-844F-0582D07847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2467" y="2531533"/>
            <a:ext cx="8370602" cy="22822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123419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616"/>
        <p:cNvGrpSpPr/>
        <p:nvPr/>
      </p:nvGrpSpPr>
      <p:grpSpPr>
        <a:xfrm>
          <a:off x="0" y="0"/>
          <a:ext cx="0" cy="0"/>
          <a:chOff x="0" y="0"/>
          <a:chExt cx="0" cy="0"/>
        </a:xfrm>
      </p:grpSpPr>
      <p:sp>
        <p:nvSpPr>
          <p:cNvPr id="617" name="Google Shape;617;p79"/>
          <p:cNvSpPr txBox="1">
            <a:spLocks noGrp="1"/>
          </p:cNvSpPr>
          <p:nvPr>
            <p:ph type="title"/>
          </p:nvPr>
        </p:nvSpPr>
        <p:spPr>
          <a:xfrm>
            <a:off x="415600" y="593367"/>
            <a:ext cx="11360800" cy="763600"/>
          </a:xfrm>
          <a:prstGeom prst="rect">
            <a:avLst/>
          </a:prstGeom>
          <a:noFill/>
          <a:ln>
            <a:noFill/>
          </a:ln>
        </p:spPr>
        <p:txBody>
          <a:bodyPr spcFirstLastPara="1" vert="horz" wrap="square" lIns="121900" tIns="121900" rIns="121900" bIns="121900" rtlCol="0" anchor="t" anchorCtr="0">
            <a:normAutofit fontScale="90000"/>
          </a:bodyPr>
          <a:lstStyle/>
          <a:p>
            <a:pPr>
              <a:buSzPct val="111111"/>
            </a:pPr>
            <a:r>
              <a:rPr lang="zh-CN" dirty="0"/>
              <a:t>Reference data: </a:t>
            </a:r>
            <a:r>
              <a:rPr lang="en-US" altLang="zh-CN" dirty="0"/>
              <a:t>a</a:t>
            </a:r>
            <a:r>
              <a:rPr lang="zh-CN" dirty="0"/>
              <a:t> example</a:t>
            </a:r>
            <a:endParaRPr dirty="0"/>
          </a:p>
        </p:txBody>
      </p:sp>
      <p:graphicFrame>
        <p:nvGraphicFramePr>
          <p:cNvPr id="618" name="Google Shape;618;p79"/>
          <p:cNvGraphicFramePr/>
          <p:nvPr/>
        </p:nvGraphicFramePr>
        <p:xfrm>
          <a:off x="415618" y="1883600"/>
          <a:ext cx="11360767" cy="4704358"/>
        </p:xfrm>
        <a:graphic>
          <a:graphicData uri="http://schemas.openxmlformats.org/drawingml/2006/table">
            <a:tbl>
              <a:tblPr>
                <a:solidFill>
                  <a:srgbClr val="FFFFFF"/>
                </a:solidFill>
              </a:tblPr>
              <a:tblGrid>
                <a:gridCol w="3479233">
                  <a:extLst>
                    <a:ext uri="{9D8B030D-6E8A-4147-A177-3AD203B41FA5}">
                      <a16:colId xmlns:a16="http://schemas.microsoft.com/office/drawing/2014/main" val="20000"/>
                    </a:ext>
                  </a:extLst>
                </a:gridCol>
                <a:gridCol w="3940767">
                  <a:extLst>
                    <a:ext uri="{9D8B030D-6E8A-4147-A177-3AD203B41FA5}">
                      <a16:colId xmlns:a16="http://schemas.microsoft.com/office/drawing/2014/main" val="20001"/>
                    </a:ext>
                  </a:extLst>
                </a:gridCol>
                <a:gridCol w="3940767">
                  <a:extLst>
                    <a:ext uri="{9D8B030D-6E8A-4147-A177-3AD203B41FA5}">
                      <a16:colId xmlns:a16="http://schemas.microsoft.com/office/drawing/2014/main" val="20002"/>
                    </a:ext>
                  </a:extLst>
                </a:gridCol>
              </a:tblGrid>
              <a:tr h="4605235">
                <a:tc>
                  <a:txBody>
                    <a:bodyPr/>
                    <a:lstStyle/>
                    <a:p>
                      <a:pPr marL="0" marR="0" lvl="0" indent="0" algn="l" rtl="0">
                        <a:lnSpc>
                          <a:spcPct val="115000"/>
                        </a:lnSpc>
                        <a:spcBef>
                          <a:spcPts val="0"/>
                        </a:spcBef>
                        <a:spcAft>
                          <a:spcPts val="0"/>
                        </a:spcAft>
                        <a:buClr>
                          <a:srgbClr val="000000"/>
                        </a:buClr>
                        <a:buSzPts val="1100"/>
                        <a:buFont typeface="Arial"/>
                        <a:buNone/>
                      </a:pPr>
                      <a:r>
                        <a:rPr lang="zh-CN" sz="1500" u="none" strike="noStrike" cap="none" dirty="0">
                          <a:highlight>
                            <a:srgbClr val="FFFFFF"/>
                          </a:highlight>
                          <a:latin typeface="Courier New"/>
                          <a:ea typeface="Courier New"/>
                          <a:cs typeface="Courier New"/>
                          <a:sym typeface="Courier New"/>
                        </a:rPr>
                        <a:t>Human: What are pros and cons of electrical cars?</a:t>
                      </a:r>
                      <a:endParaRPr sz="1500" u="none" strike="noStrike" cap="none" dirty="0">
                        <a:highlight>
                          <a:srgbClr val="FFFFFF"/>
                        </a:highlight>
                        <a:latin typeface="Courier New"/>
                        <a:ea typeface="Courier New"/>
                        <a:cs typeface="Courier New"/>
                        <a:sym typeface="Courier New"/>
                      </a:endParaRPr>
                    </a:p>
                  </a:txBody>
                  <a:tcPr marL="121900" marR="121900" marT="121900" marB="121900">
                    <a:lnL w="9525" cap="flat" cmpd="sng">
                      <a:solidFill>
                        <a:srgbClr val="E5E7EB"/>
                      </a:solidFill>
                      <a:prstDash val="solid"/>
                      <a:round/>
                      <a:headEnd type="none" w="sm" len="sm"/>
                      <a:tailEnd type="none" w="sm" len="sm"/>
                    </a:lnL>
                    <a:lnR w="9525" cap="flat" cmpd="sng">
                      <a:solidFill>
                        <a:srgbClr val="E5E7EB"/>
                      </a:solidFill>
                      <a:prstDash val="solid"/>
                      <a:round/>
                      <a:headEnd type="none" w="sm" len="sm"/>
                      <a:tailEnd type="none" w="sm" len="sm"/>
                    </a:lnR>
                    <a:lnT w="9525" cap="flat" cmpd="sng">
                      <a:solidFill>
                        <a:srgbClr val="E5E7EB"/>
                      </a:solidFill>
                      <a:prstDash val="solid"/>
                      <a:round/>
                      <a:headEnd type="none" w="sm" len="sm"/>
                      <a:tailEnd type="none" w="sm" len="sm"/>
                    </a:lnT>
                    <a:lnB w="9525" cap="flat" cmpd="sng">
                      <a:solidFill>
                        <a:srgbClr val="E5E7EB"/>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100"/>
                        <a:buFont typeface="Arial"/>
                        <a:buNone/>
                      </a:pPr>
                      <a:r>
                        <a:rPr lang="zh-CN" sz="1500" u="none" strike="noStrike" cap="none" dirty="0">
                          <a:highlight>
                            <a:srgbClr val="FFFFFF"/>
                          </a:highlight>
                          <a:latin typeface="Courier New"/>
                          <a:ea typeface="Courier New"/>
                          <a:cs typeface="Courier New"/>
                          <a:sym typeface="Courier New"/>
                        </a:rPr>
                        <a:t>Assistant: Pro-electrical cars: 1) They charge using renewable energy 2) They are environmentally friendly, and require less energy than gasoline cars 3) They can use renewable energy sources like wind, and solar 4) They are quieter 5) They are more efficient 6) They are less polluting Con-electrical cars: 1) They have a limited range (if they need charging) 2) They are expensive, because they require batteries 3) They are a bit heavier than gasoline cars, due to the batteries</a:t>
                      </a:r>
                      <a:endParaRPr sz="1500" u="none" strike="noStrike" cap="none" dirty="0">
                        <a:highlight>
                          <a:srgbClr val="FFFFFF"/>
                        </a:highlight>
                        <a:latin typeface="Courier New"/>
                        <a:ea typeface="Courier New"/>
                        <a:cs typeface="Courier New"/>
                        <a:sym typeface="Courier New"/>
                      </a:endParaRPr>
                    </a:p>
                  </a:txBody>
                  <a:tcPr marL="121900" marR="121900" marT="121900" marB="121900">
                    <a:lnL w="9525" cap="flat" cmpd="sng">
                      <a:solidFill>
                        <a:srgbClr val="E5E7EB"/>
                      </a:solidFill>
                      <a:prstDash val="solid"/>
                      <a:round/>
                      <a:headEnd type="none" w="sm" len="sm"/>
                      <a:tailEnd type="none" w="sm" len="sm"/>
                    </a:lnL>
                    <a:lnR w="9525" cap="flat" cmpd="sng">
                      <a:solidFill>
                        <a:srgbClr val="E5E7EB"/>
                      </a:solidFill>
                      <a:prstDash val="solid"/>
                      <a:round/>
                      <a:headEnd type="none" w="sm" len="sm"/>
                      <a:tailEnd type="none" w="sm" len="sm"/>
                    </a:lnR>
                    <a:lnT w="9525" cap="flat" cmpd="sng">
                      <a:solidFill>
                        <a:srgbClr val="E5E7EB"/>
                      </a:solidFill>
                      <a:prstDash val="solid"/>
                      <a:round/>
                      <a:headEnd type="none" w="sm" len="sm"/>
                      <a:tailEnd type="none" w="sm" len="sm"/>
                    </a:lnT>
                    <a:lnB w="9525" cap="flat" cmpd="sng">
                      <a:solidFill>
                        <a:srgbClr val="E5E7EB"/>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100"/>
                        <a:buFont typeface="Arial"/>
                        <a:buNone/>
                      </a:pPr>
                      <a:r>
                        <a:rPr lang="zh-CN" sz="1500" u="none" strike="noStrike" cap="none" dirty="0">
                          <a:highlight>
                            <a:srgbClr val="FFFFFF"/>
                          </a:highlight>
                          <a:latin typeface="Courier New"/>
                          <a:ea typeface="Courier New"/>
                          <a:cs typeface="Courier New"/>
                          <a:sym typeface="Courier New"/>
                        </a:rPr>
                        <a:t>Assistant: The pros are they reduce pollution, and some also feel they’re more fun to drive than gas-powered cars. The cons are that the batteries require electricity, which is a limited resource, and the cars are more expensive.</a:t>
                      </a:r>
                      <a:endParaRPr sz="1500" u="none" strike="noStrike" cap="none" dirty="0">
                        <a:highlight>
                          <a:srgbClr val="FFFFFF"/>
                        </a:highlight>
                        <a:latin typeface="Courier New"/>
                        <a:ea typeface="Courier New"/>
                        <a:cs typeface="Courier New"/>
                        <a:sym typeface="Courier New"/>
                      </a:endParaRPr>
                    </a:p>
                  </a:txBody>
                  <a:tcPr marL="121900" marR="121900" marT="121900" marB="121900">
                    <a:lnL w="9525" cap="flat" cmpd="sng">
                      <a:solidFill>
                        <a:srgbClr val="E5E7EB"/>
                      </a:solidFill>
                      <a:prstDash val="solid"/>
                      <a:round/>
                      <a:headEnd type="none" w="sm" len="sm"/>
                      <a:tailEnd type="none" w="sm" len="sm"/>
                    </a:lnL>
                    <a:lnR w="9525" cap="flat" cmpd="sng">
                      <a:solidFill>
                        <a:srgbClr val="E5E7EB"/>
                      </a:solidFill>
                      <a:prstDash val="solid"/>
                      <a:round/>
                      <a:headEnd type="none" w="sm" len="sm"/>
                      <a:tailEnd type="none" w="sm" len="sm"/>
                    </a:lnR>
                    <a:lnT w="9525" cap="flat" cmpd="sng">
                      <a:solidFill>
                        <a:srgbClr val="E5E7EB"/>
                      </a:solidFill>
                      <a:prstDash val="solid"/>
                      <a:round/>
                      <a:headEnd type="none" w="sm" len="sm"/>
                      <a:tailEnd type="none" w="sm" len="sm"/>
                    </a:lnT>
                    <a:lnB w="9525" cap="flat" cmpd="sng">
                      <a:solidFill>
                        <a:srgbClr val="E5E7EB"/>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619" name="Google Shape;619;p79"/>
          <p:cNvSpPr txBox="1"/>
          <p:nvPr/>
        </p:nvSpPr>
        <p:spPr>
          <a:xfrm>
            <a:off x="1298400" y="6419722"/>
            <a:ext cx="10893600" cy="533504"/>
          </a:xfrm>
          <a:prstGeom prst="rect">
            <a:avLst/>
          </a:prstGeom>
          <a:noFill/>
          <a:ln>
            <a:noFill/>
          </a:ln>
        </p:spPr>
        <p:txBody>
          <a:bodyPr spcFirstLastPara="1" wrap="square" lIns="121900" tIns="121900" rIns="121900" bIns="121900" anchor="t" anchorCtr="0">
            <a:spAutoFit/>
          </a:bodyPr>
          <a:lstStyle/>
          <a:p>
            <a:pPr>
              <a:buClr>
                <a:srgbClr val="000000"/>
              </a:buClr>
              <a:buSzPts val="1400"/>
            </a:pPr>
            <a:r>
              <a:rPr lang="en-US" altLang="zh-CN" sz="1867" dirty="0">
                <a:solidFill>
                  <a:srgbClr val="000000"/>
                </a:solidFill>
                <a:latin typeface="Arial"/>
                <a:ea typeface="Arial"/>
                <a:cs typeface="Arial"/>
                <a:sym typeface="Arial"/>
              </a:rPr>
              <a:t>https://huggingface.co/datasets/yitingxie/rlhf-reward-datasets/viewer/default/train?row=31</a:t>
            </a:r>
            <a:endParaRPr sz="1867" dirty="0">
              <a:solidFill>
                <a:srgbClr val="000000"/>
              </a:solidFill>
              <a:latin typeface="Arial"/>
              <a:ea typeface="Arial"/>
              <a:cs typeface="Arial"/>
              <a:sym typeface="Arial"/>
            </a:endParaRPr>
          </a:p>
        </p:txBody>
      </p:sp>
      <p:sp>
        <p:nvSpPr>
          <p:cNvPr id="620" name="Google Shape;620;p79"/>
          <p:cNvSpPr txBox="1"/>
          <p:nvPr/>
        </p:nvSpPr>
        <p:spPr>
          <a:xfrm>
            <a:off x="1173767" y="1455484"/>
            <a:ext cx="1246400" cy="329600"/>
          </a:xfrm>
          <a:prstGeom prst="rect">
            <a:avLst/>
          </a:prstGeom>
          <a:noFill/>
          <a:ln>
            <a:noFill/>
          </a:ln>
        </p:spPr>
        <p:txBody>
          <a:bodyPr spcFirstLastPara="1" wrap="square" lIns="121900" tIns="121900" rIns="121900" bIns="121900" anchor="t" anchorCtr="0">
            <a:noAutofit/>
          </a:bodyPr>
          <a:lstStyle/>
          <a:p>
            <a:pPr>
              <a:buClr>
                <a:srgbClr val="000000"/>
              </a:buClr>
              <a:buSzPts val="1400"/>
            </a:pPr>
            <a:r>
              <a:rPr lang="en-US" altLang="zh-CN" sz="1867">
                <a:solidFill>
                  <a:srgbClr val="000000"/>
                </a:solidFill>
                <a:latin typeface="Arial"/>
                <a:ea typeface="Arial"/>
                <a:cs typeface="Arial"/>
                <a:sym typeface="Arial"/>
              </a:rPr>
              <a:t>Question</a:t>
            </a:r>
            <a:endParaRPr sz="1867">
              <a:solidFill>
                <a:srgbClr val="000000"/>
              </a:solidFill>
              <a:latin typeface="Arial"/>
              <a:ea typeface="Arial"/>
              <a:cs typeface="Arial"/>
              <a:sym typeface="Arial"/>
            </a:endParaRPr>
          </a:p>
        </p:txBody>
      </p:sp>
      <p:sp>
        <p:nvSpPr>
          <p:cNvPr id="621" name="Google Shape;621;p79"/>
          <p:cNvSpPr txBox="1"/>
          <p:nvPr/>
        </p:nvSpPr>
        <p:spPr>
          <a:xfrm>
            <a:off x="4713633" y="1455467"/>
            <a:ext cx="1246400" cy="329600"/>
          </a:xfrm>
          <a:prstGeom prst="rect">
            <a:avLst/>
          </a:prstGeom>
          <a:noFill/>
          <a:ln>
            <a:noFill/>
          </a:ln>
        </p:spPr>
        <p:txBody>
          <a:bodyPr spcFirstLastPara="1" wrap="square" lIns="121900" tIns="121900" rIns="121900" bIns="121900" anchor="t" anchorCtr="0">
            <a:noAutofit/>
          </a:bodyPr>
          <a:lstStyle/>
          <a:p>
            <a:pPr>
              <a:buClr>
                <a:srgbClr val="000000"/>
              </a:buClr>
              <a:buSzPts val="1400"/>
            </a:pPr>
            <a:r>
              <a:rPr lang="en-US" altLang="zh-CN" sz="1867">
                <a:solidFill>
                  <a:srgbClr val="000000"/>
                </a:solidFill>
                <a:latin typeface="Arial"/>
                <a:ea typeface="Arial"/>
                <a:cs typeface="Arial"/>
                <a:sym typeface="Arial"/>
              </a:rPr>
              <a:t>Chosen</a:t>
            </a:r>
            <a:endParaRPr sz="1867">
              <a:solidFill>
                <a:srgbClr val="000000"/>
              </a:solidFill>
              <a:latin typeface="Arial"/>
              <a:ea typeface="Arial"/>
              <a:cs typeface="Arial"/>
              <a:sym typeface="Arial"/>
            </a:endParaRPr>
          </a:p>
        </p:txBody>
      </p:sp>
      <p:sp>
        <p:nvSpPr>
          <p:cNvPr id="622" name="Google Shape;622;p79"/>
          <p:cNvSpPr txBox="1"/>
          <p:nvPr/>
        </p:nvSpPr>
        <p:spPr>
          <a:xfrm>
            <a:off x="8866767" y="1554000"/>
            <a:ext cx="1246400" cy="329600"/>
          </a:xfrm>
          <a:prstGeom prst="rect">
            <a:avLst/>
          </a:prstGeom>
          <a:noFill/>
          <a:ln>
            <a:noFill/>
          </a:ln>
        </p:spPr>
        <p:txBody>
          <a:bodyPr spcFirstLastPara="1" wrap="square" lIns="121900" tIns="121900" rIns="121900" bIns="121900" anchor="t" anchorCtr="0">
            <a:noAutofit/>
          </a:bodyPr>
          <a:lstStyle/>
          <a:p>
            <a:pPr>
              <a:buClr>
                <a:srgbClr val="000000"/>
              </a:buClr>
              <a:buSzPts val="1400"/>
            </a:pPr>
            <a:r>
              <a:rPr lang="en-US" altLang="zh-CN" sz="1867">
                <a:solidFill>
                  <a:srgbClr val="000000"/>
                </a:solidFill>
                <a:latin typeface="Arial"/>
                <a:ea typeface="Arial"/>
                <a:cs typeface="Arial"/>
                <a:sym typeface="Arial"/>
              </a:rPr>
              <a:t>Rejected</a:t>
            </a:r>
            <a:endParaRPr sz="1867">
              <a:solidFill>
                <a:srgbClr val="000000"/>
              </a:solidFill>
              <a:latin typeface="Arial"/>
              <a:ea typeface="Arial"/>
              <a:cs typeface="Arial"/>
              <a:sym typeface="Arial"/>
            </a:endParaRPr>
          </a:p>
        </p:txBody>
      </p:sp>
    </p:spTree>
    <p:extLst>
      <p:ext uri="{BB962C8B-B14F-4D97-AF65-F5344CB8AC3E}">
        <p14:creationId xmlns:p14="http://schemas.microsoft.com/office/powerpoint/2010/main" val="151396634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51368" y="6099051"/>
            <a:ext cx="5322993" cy="201764"/>
          </a:xfrm>
          <a:prstGeom prst="rect">
            <a:avLst/>
          </a:prstGeom>
        </p:spPr>
        <p:txBody>
          <a:bodyPr vert="horz" wrap="square" lIns="0" tIns="16933" rIns="0" bIns="0" rtlCol="0">
            <a:spAutoFit/>
          </a:bodyPr>
          <a:lstStyle/>
          <a:p>
            <a:pPr marL="16933">
              <a:spcBef>
                <a:spcPts val="133"/>
              </a:spcBef>
            </a:pPr>
            <a:r>
              <a:rPr sz="1200" b="1" spc="-7" dirty="0">
                <a:solidFill>
                  <a:srgbClr val="8C1414"/>
                </a:solidFill>
                <a:latin typeface="Arial"/>
                <a:cs typeface="Arial"/>
              </a:rPr>
              <a:t>Secrets of RLHF in Large Language </a:t>
            </a:r>
            <a:r>
              <a:rPr sz="1200" b="1" dirty="0">
                <a:solidFill>
                  <a:srgbClr val="8C1414"/>
                </a:solidFill>
                <a:latin typeface="Arial"/>
                <a:cs typeface="Arial"/>
              </a:rPr>
              <a:t>Models </a:t>
            </a:r>
            <a:r>
              <a:rPr sz="1200" b="1" spc="-7" dirty="0">
                <a:solidFill>
                  <a:srgbClr val="8C1414"/>
                </a:solidFill>
                <a:latin typeface="Arial"/>
                <a:cs typeface="Arial"/>
              </a:rPr>
              <a:t>Part I: PPO, Zheng et.al.</a:t>
            </a:r>
            <a:r>
              <a:rPr sz="1200" b="1" spc="-73" dirty="0">
                <a:solidFill>
                  <a:srgbClr val="8C1414"/>
                </a:solidFill>
                <a:latin typeface="Arial"/>
                <a:cs typeface="Arial"/>
              </a:rPr>
              <a:t> </a:t>
            </a:r>
            <a:r>
              <a:rPr sz="1200" b="1" spc="-7" dirty="0">
                <a:solidFill>
                  <a:srgbClr val="8C1414"/>
                </a:solidFill>
                <a:latin typeface="Arial"/>
                <a:cs typeface="Arial"/>
              </a:rPr>
              <a:t>2023</a:t>
            </a:r>
            <a:endParaRPr sz="1200">
              <a:latin typeface="Arial"/>
              <a:cs typeface="Arial"/>
            </a:endParaRPr>
          </a:p>
        </p:txBody>
      </p:sp>
      <p:sp>
        <p:nvSpPr>
          <p:cNvPr id="3" name="object 3"/>
          <p:cNvSpPr/>
          <p:nvPr/>
        </p:nvSpPr>
        <p:spPr>
          <a:xfrm>
            <a:off x="1119613" y="1524107"/>
            <a:ext cx="9192655" cy="4498827"/>
          </a:xfrm>
          <a:prstGeom prst="rect">
            <a:avLst/>
          </a:prstGeom>
          <a:blipFill>
            <a:blip r:embed="rId2" cstate="print"/>
            <a:stretch>
              <a:fillRect/>
            </a:stretch>
          </a:blipFill>
        </p:spPr>
        <p:txBody>
          <a:bodyPr wrap="square" lIns="0" tIns="0" rIns="0" bIns="0" rtlCol="0"/>
          <a:lstStyle/>
          <a:p>
            <a:endParaRPr sz="2400"/>
          </a:p>
        </p:txBody>
      </p:sp>
      <p:sp>
        <p:nvSpPr>
          <p:cNvPr id="4" name="object 4"/>
          <p:cNvSpPr txBox="1">
            <a:spLocks noGrp="1"/>
          </p:cNvSpPr>
          <p:nvPr>
            <p:ph type="title"/>
          </p:nvPr>
        </p:nvSpPr>
        <p:spPr>
          <a:xfrm>
            <a:off x="512967" y="667109"/>
            <a:ext cx="10296312" cy="571096"/>
          </a:xfrm>
          <a:prstGeom prst="rect">
            <a:avLst/>
          </a:prstGeom>
        </p:spPr>
        <p:txBody>
          <a:bodyPr spcFirstLastPara="1" vert="horz" wrap="square" lIns="0" tIns="22013" rIns="0" bIns="0" rtlCol="0" anchor="ctr" anchorCtr="0">
            <a:spAutoFit/>
          </a:bodyPr>
          <a:lstStyle/>
          <a:p>
            <a:pPr marL="16933">
              <a:lnSpc>
                <a:spcPct val="100000"/>
              </a:lnSpc>
              <a:spcBef>
                <a:spcPts val="173"/>
              </a:spcBef>
            </a:pPr>
            <a:r>
              <a:rPr sz="3400" spc="13" dirty="0"/>
              <a:t>RLHF: Learning </a:t>
            </a:r>
            <a:r>
              <a:rPr sz="3400" spc="20" dirty="0"/>
              <a:t>a </a:t>
            </a:r>
            <a:r>
              <a:rPr sz="3400" b="1" spc="13" dirty="0">
                <a:latin typeface="Georgia"/>
                <a:cs typeface="Georgia"/>
              </a:rPr>
              <a:t>policy </a:t>
            </a:r>
            <a:r>
              <a:rPr sz="3400" spc="7" dirty="0"/>
              <a:t>that optimizes </a:t>
            </a:r>
            <a:r>
              <a:rPr sz="3400" spc="13" dirty="0"/>
              <a:t>the</a:t>
            </a:r>
            <a:r>
              <a:rPr sz="3400" dirty="0"/>
              <a:t> </a:t>
            </a:r>
            <a:r>
              <a:rPr sz="3400" b="1" spc="13" dirty="0">
                <a:latin typeface="Georgia"/>
                <a:cs typeface="Georgia"/>
              </a:rPr>
              <a:t>reward</a:t>
            </a:r>
            <a:endParaRPr sz="3400">
              <a:latin typeface="Georgia"/>
              <a:cs typeface="Georgia"/>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647"/>
        <p:cNvGrpSpPr/>
        <p:nvPr/>
      </p:nvGrpSpPr>
      <p:grpSpPr>
        <a:xfrm>
          <a:off x="0" y="0"/>
          <a:ext cx="0" cy="0"/>
          <a:chOff x="0" y="0"/>
          <a:chExt cx="0" cy="0"/>
        </a:xfrm>
      </p:grpSpPr>
      <p:sp>
        <p:nvSpPr>
          <p:cNvPr id="648" name="Google Shape;648;p82"/>
          <p:cNvSpPr txBox="1">
            <a:spLocks noGrp="1"/>
          </p:cNvSpPr>
          <p:nvPr>
            <p:ph type="title"/>
          </p:nvPr>
        </p:nvSpPr>
        <p:spPr>
          <a:xfrm>
            <a:off x="415600" y="593367"/>
            <a:ext cx="11360800" cy="763600"/>
          </a:xfrm>
          <a:prstGeom prst="rect">
            <a:avLst/>
          </a:prstGeom>
          <a:noFill/>
          <a:ln>
            <a:noFill/>
          </a:ln>
        </p:spPr>
        <p:txBody>
          <a:bodyPr spcFirstLastPara="1" vert="horz" wrap="square" lIns="121900" tIns="121900" rIns="121900" bIns="121900" rtlCol="0" anchor="t" anchorCtr="0">
            <a:normAutofit fontScale="90000"/>
          </a:bodyPr>
          <a:lstStyle/>
          <a:p>
            <a:pPr>
              <a:buSzPct val="184307"/>
            </a:pPr>
            <a:r>
              <a:rPr lang="zh-CN">
                <a:latin typeface="Times New Roman"/>
                <a:ea typeface="Times New Roman"/>
                <a:cs typeface="Times New Roman"/>
                <a:sym typeface="Times New Roman"/>
              </a:rPr>
              <a:t>RLHF provides gains over pretraining + finetuning</a:t>
            </a:r>
            <a:endParaRPr sz="2249">
              <a:latin typeface="Times New Roman"/>
              <a:ea typeface="Times New Roman"/>
              <a:cs typeface="Times New Roman"/>
              <a:sym typeface="Times New Roman"/>
            </a:endParaRPr>
          </a:p>
        </p:txBody>
      </p:sp>
      <p:pic>
        <p:nvPicPr>
          <p:cNvPr id="649" name="Google Shape;649;p82"/>
          <p:cNvPicPr preferRelativeResize="0"/>
          <p:nvPr/>
        </p:nvPicPr>
        <p:blipFill rotWithShape="1">
          <a:blip r:embed="rId3">
            <a:alphaModFix/>
          </a:blip>
          <a:srcRect/>
          <a:stretch/>
        </p:blipFill>
        <p:spPr>
          <a:xfrm>
            <a:off x="2155134" y="1255367"/>
            <a:ext cx="7881733" cy="4946299"/>
          </a:xfrm>
          <a:prstGeom prst="rect">
            <a:avLst/>
          </a:prstGeom>
          <a:noFill/>
          <a:ln>
            <a:noFill/>
          </a:ln>
        </p:spPr>
      </p:pic>
      <p:sp>
        <p:nvSpPr>
          <p:cNvPr id="650" name="Google Shape;650;p82"/>
          <p:cNvSpPr txBox="1"/>
          <p:nvPr/>
        </p:nvSpPr>
        <p:spPr>
          <a:xfrm>
            <a:off x="1536600" y="6159500"/>
            <a:ext cx="9118800" cy="533600"/>
          </a:xfrm>
          <a:prstGeom prst="rect">
            <a:avLst/>
          </a:prstGeom>
          <a:noFill/>
          <a:ln>
            <a:noFill/>
          </a:ln>
        </p:spPr>
        <p:txBody>
          <a:bodyPr spcFirstLastPara="1" wrap="square" lIns="121900" tIns="121900" rIns="121900" bIns="121900" anchor="t" anchorCtr="0">
            <a:noAutofit/>
          </a:bodyPr>
          <a:lstStyle/>
          <a:p>
            <a:pPr>
              <a:buClr>
                <a:srgbClr val="000000"/>
              </a:buClr>
              <a:buSzPts val="1000"/>
            </a:pPr>
            <a:r>
              <a:rPr lang="en-US" altLang="zh-CN" sz="1333">
                <a:solidFill>
                  <a:schemeClr val="accent3"/>
                </a:solidFill>
                <a:highlight>
                  <a:srgbClr val="FFFFFF"/>
                </a:highlight>
                <a:latin typeface="Times New Roman"/>
                <a:ea typeface="Times New Roman"/>
                <a:cs typeface="Times New Roman"/>
                <a:sym typeface="Times New Roman"/>
              </a:rPr>
              <a:t>Stiennon, Nisan, et al. "Learning to summarize with human feedback." Advances in Neural Information Processing Systems 33 (2020): 3008-3021.</a:t>
            </a:r>
            <a:endParaRPr sz="1333">
              <a:solidFill>
                <a:schemeClr val="accent3"/>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654"/>
        <p:cNvGrpSpPr/>
        <p:nvPr/>
      </p:nvGrpSpPr>
      <p:grpSpPr>
        <a:xfrm>
          <a:off x="0" y="0"/>
          <a:ext cx="0" cy="0"/>
          <a:chOff x="0" y="0"/>
          <a:chExt cx="0" cy="0"/>
        </a:xfrm>
      </p:grpSpPr>
      <p:sp>
        <p:nvSpPr>
          <p:cNvPr id="655" name="Google Shape;655;p83"/>
          <p:cNvSpPr txBox="1">
            <a:spLocks noGrp="1"/>
          </p:cNvSpPr>
          <p:nvPr>
            <p:ph type="title"/>
          </p:nvPr>
        </p:nvSpPr>
        <p:spPr>
          <a:xfrm>
            <a:off x="415600" y="593367"/>
            <a:ext cx="11360800" cy="763600"/>
          </a:xfrm>
          <a:prstGeom prst="rect">
            <a:avLst/>
          </a:prstGeom>
          <a:noFill/>
          <a:ln>
            <a:noFill/>
          </a:ln>
        </p:spPr>
        <p:txBody>
          <a:bodyPr spcFirstLastPara="1" vert="horz" wrap="square" lIns="121900" tIns="121900" rIns="121900" bIns="121900" rtlCol="0" anchor="t" anchorCtr="0">
            <a:normAutofit fontScale="90000"/>
          </a:bodyPr>
          <a:lstStyle/>
          <a:p>
            <a:pPr>
              <a:buSzPct val="111111"/>
            </a:pPr>
            <a:r>
              <a:rPr lang="zh-CN" dirty="0"/>
              <a:t>A solution: UltraFeedback</a:t>
            </a:r>
            <a:endParaRPr dirty="0"/>
          </a:p>
        </p:txBody>
      </p:sp>
      <p:sp>
        <p:nvSpPr>
          <p:cNvPr id="656" name="Google Shape;656;p83"/>
          <p:cNvSpPr txBox="1"/>
          <p:nvPr/>
        </p:nvSpPr>
        <p:spPr>
          <a:xfrm>
            <a:off x="232000" y="6201200"/>
            <a:ext cx="11850000" cy="656421"/>
          </a:xfrm>
          <a:prstGeom prst="rect">
            <a:avLst/>
          </a:prstGeom>
          <a:noFill/>
          <a:ln>
            <a:noFill/>
          </a:ln>
        </p:spPr>
        <p:txBody>
          <a:bodyPr spcFirstLastPara="1" wrap="square" lIns="121900" tIns="121900" rIns="121900" bIns="121900" anchor="t" anchorCtr="0">
            <a:spAutoFit/>
          </a:bodyPr>
          <a:lstStyle/>
          <a:p>
            <a:pPr>
              <a:buClr>
                <a:srgbClr val="000000"/>
              </a:buClr>
              <a:buSzPts val="1000"/>
            </a:pPr>
            <a:r>
              <a:rPr lang="en-US" altLang="zh-CN" sz="1333">
                <a:solidFill>
                  <a:srgbClr val="222222"/>
                </a:solidFill>
                <a:highlight>
                  <a:srgbClr val="FFFFFF"/>
                </a:highlight>
                <a:latin typeface="Arial"/>
                <a:ea typeface="Arial"/>
                <a:cs typeface="Arial"/>
                <a:sym typeface="Arial"/>
              </a:rPr>
              <a:t>Cui, G., Yuan, L., Ding, N., Yao, G., Zhu, W., Ni, Y., Xie, G., Liu, Z. and Sun, M., 2023. UltraFeedback: Boosting Language Models with High-quality Feedback. </a:t>
            </a:r>
            <a:r>
              <a:rPr lang="en-US" altLang="zh-CN" sz="1333" i="1">
                <a:solidFill>
                  <a:srgbClr val="222222"/>
                </a:solidFill>
                <a:highlight>
                  <a:srgbClr val="FFFFFF"/>
                </a:highlight>
                <a:latin typeface="Arial"/>
                <a:ea typeface="Arial"/>
                <a:cs typeface="Arial"/>
                <a:sym typeface="Arial"/>
              </a:rPr>
              <a:t>arXiv preprint arXiv:2310.01377</a:t>
            </a:r>
            <a:r>
              <a:rPr lang="en-US" altLang="zh-CN" sz="1333">
                <a:solidFill>
                  <a:srgbClr val="222222"/>
                </a:solidFill>
                <a:highlight>
                  <a:srgbClr val="FFFFFF"/>
                </a:highlight>
                <a:latin typeface="Arial"/>
                <a:ea typeface="Arial"/>
                <a:cs typeface="Arial"/>
                <a:sym typeface="Arial"/>
              </a:rPr>
              <a:t>.</a:t>
            </a:r>
            <a:endParaRPr sz="1867">
              <a:solidFill>
                <a:srgbClr val="000000"/>
              </a:solidFill>
              <a:latin typeface="Arial"/>
              <a:ea typeface="Arial"/>
              <a:cs typeface="Arial"/>
              <a:sym typeface="Arial"/>
            </a:endParaRPr>
          </a:p>
        </p:txBody>
      </p:sp>
      <p:pic>
        <p:nvPicPr>
          <p:cNvPr id="657" name="Google Shape;657;p83"/>
          <p:cNvPicPr preferRelativeResize="0"/>
          <p:nvPr/>
        </p:nvPicPr>
        <p:blipFill rotWithShape="1">
          <a:blip r:embed="rId3">
            <a:alphaModFix/>
          </a:blip>
          <a:srcRect/>
          <a:stretch/>
        </p:blipFill>
        <p:spPr>
          <a:xfrm>
            <a:off x="969668" y="1560168"/>
            <a:ext cx="9980937" cy="4437833"/>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p84"/>
          <p:cNvSpPr txBox="1">
            <a:spLocks noGrp="1"/>
          </p:cNvSpPr>
          <p:nvPr>
            <p:ph type="title"/>
          </p:nvPr>
        </p:nvSpPr>
        <p:spPr>
          <a:xfrm>
            <a:off x="415600" y="2481000"/>
            <a:ext cx="11360800" cy="2281600"/>
          </a:xfrm>
          <a:prstGeom prst="rect">
            <a:avLst/>
          </a:prstGeom>
          <a:noFill/>
          <a:ln>
            <a:noFill/>
          </a:ln>
        </p:spPr>
        <p:txBody>
          <a:bodyPr spcFirstLastPara="1" vert="horz" wrap="square" lIns="121900" tIns="121900" rIns="121900" bIns="121900" rtlCol="0" anchor="t" anchorCtr="0">
            <a:normAutofit/>
          </a:bodyPr>
          <a:lstStyle/>
          <a:p>
            <a:pPr algn="ctr"/>
            <a:r>
              <a:rPr lang="en-US" altLang="zh-CN" sz="4533" dirty="0">
                <a:solidFill>
                  <a:srgbClr val="FF0000"/>
                </a:solidFill>
                <a:latin typeface="Times New Roman"/>
                <a:ea typeface="Times New Roman"/>
                <a:cs typeface="Times New Roman"/>
                <a:sym typeface="Times New Roman"/>
              </a:rPr>
              <a:t>RLHF in </a:t>
            </a:r>
            <a:r>
              <a:rPr lang="en-US" altLang="zh-CN" sz="4533" dirty="0" err="1">
                <a:solidFill>
                  <a:srgbClr val="FF0000"/>
                </a:solidFill>
                <a:latin typeface="Times New Roman"/>
                <a:ea typeface="Times New Roman"/>
                <a:cs typeface="Times New Roman"/>
                <a:sym typeface="Times New Roman"/>
              </a:rPr>
              <a:t>InstructGPT</a:t>
            </a:r>
            <a:endParaRPr sz="4533" dirty="0">
              <a:solidFill>
                <a:srgbClr val="FF0000"/>
              </a:solidFill>
              <a:latin typeface="Times New Roman"/>
              <a:ea typeface="Times New Roman"/>
              <a:cs typeface="Times New Roman"/>
              <a:sym typeface="Times New Roman"/>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680"/>
        <p:cNvGrpSpPr/>
        <p:nvPr/>
      </p:nvGrpSpPr>
      <p:grpSpPr>
        <a:xfrm>
          <a:off x="0" y="0"/>
          <a:ext cx="0" cy="0"/>
          <a:chOff x="0" y="0"/>
          <a:chExt cx="0" cy="0"/>
        </a:xfrm>
      </p:grpSpPr>
      <p:sp>
        <p:nvSpPr>
          <p:cNvPr id="681" name="Google Shape;681;p87"/>
          <p:cNvSpPr txBox="1">
            <a:spLocks noGrp="1"/>
          </p:cNvSpPr>
          <p:nvPr>
            <p:ph type="title"/>
          </p:nvPr>
        </p:nvSpPr>
        <p:spPr>
          <a:xfrm>
            <a:off x="415600" y="593367"/>
            <a:ext cx="11360800" cy="763600"/>
          </a:xfrm>
          <a:prstGeom prst="rect">
            <a:avLst/>
          </a:prstGeom>
          <a:noFill/>
          <a:ln>
            <a:noFill/>
          </a:ln>
        </p:spPr>
        <p:txBody>
          <a:bodyPr spcFirstLastPara="1" vert="horz" wrap="square" lIns="121900" tIns="121900" rIns="121900" bIns="121900" rtlCol="0" anchor="t" anchorCtr="0">
            <a:normAutofit fontScale="90000"/>
          </a:bodyPr>
          <a:lstStyle/>
          <a:p>
            <a:pPr>
              <a:buSzPct val="111111"/>
            </a:pPr>
            <a:r>
              <a:rPr lang="en-US" altLang="zh-CN" dirty="0">
                <a:latin typeface="Times New Roman"/>
                <a:ea typeface="Times New Roman"/>
                <a:cs typeface="Times New Roman"/>
                <a:sym typeface="Times New Roman"/>
              </a:rPr>
              <a:t>GPT with or without </a:t>
            </a:r>
            <a:r>
              <a:rPr lang="zh-CN" dirty="0">
                <a:latin typeface="Times New Roman"/>
                <a:ea typeface="Times New Roman"/>
                <a:cs typeface="Times New Roman"/>
                <a:sym typeface="Times New Roman"/>
              </a:rPr>
              <a:t>Instruct</a:t>
            </a:r>
            <a:r>
              <a:rPr lang="en-US" altLang="zh-CN" dirty="0">
                <a:latin typeface="Times New Roman"/>
                <a:ea typeface="Times New Roman"/>
                <a:cs typeface="Times New Roman"/>
                <a:sym typeface="Times New Roman"/>
              </a:rPr>
              <a:t> Tuning</a:t>
            </a:r>
            <a:endParaRPr dirty="0">
              <a:latin typeface="Times New Roman"/>
              <a:ea typeface="Times New Roman"/>
              <a:cs typeface="Times New Roman"/>
              <a:sym typeface="Times New Roman"/>
            </a:endParaRPr>
          </a:p>
        </p:txBody>
      </p:sp>
      <p:pic>
        <p:nvPicPr>
          <p:cNvPr id="682" name="Google Shape;682;p87"/>
          <p:cNvPicPr preferRelativeResize="0"/>
          <p:nvPr/>
        </p:nvPicPr>
        <p:blipFill rotWithShape="1">
          <a:blip r:embed="rId3">
            <a:alphaModFix/>
          </a:blip>
          <a:srcRect/>
          <a:stretch/>
        </p:blipFill>
        <p:spPr>
          <a:xfrm>
            <a:off x="1408496" y="1356968"/>
            <a:ext cx="9499601" cy="4849633"/>
          </a:xfrm>
          <a:prstGeom prst="rect">
            <a:avLst/>
          </a:prstGeom>
          <a:noFill/>
          <a:ln>
            <a:noFill/>
          </a:ln>
        </p:spPr>
      </p:pic>
      <p:pic>
        <p:nvPicPr>
          <p:cNvPr id="4098" name="Picture 2" descr="01-对牛弹琴 (简体) Diagram | Quizlet">
            <a:extLst>
              <a:ext uri="{FF2B5EF4-FFF2-40B4-BE49-F238E27FC236}">
                <a16:creationId xmlns:a16="http://schemas.microsoft.com/office/drawing/2014/main" id="{C1DC792A-03FC-4037-AF7B-8D66C082DA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38005" y="3337226"/>
            <a:ext cx="1329692" cy="88646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EFDE3E8B-933D-4F70-8B15-BD972EEB7562}"/>
              </a:ext>
            </a:extLst>
          </p:cNvPr>
          <p:cNvSpPr/>
          <p:nvPr/>
        </p:nvSpPr>
        <p:spPr>
          <a:xfrm>
            <a:off x="304800" y="6203946"/>
            <a:ext cx="11706989" cy="543867"/>
          </a:xfrm>
          <a:prstGeom prst="rect">
            <a:avLst/>
          </a:prstGeom>
        </p:spPr>
        <p:txBody>
          <a:bodyPr wrap="square">
            <a:spAutoFit/>
          </a:bodyPr>
          <a:lstStyle/>
          <a:p>
            <a:r>
              <a:rPr lang="en-US" altLang="zh-CN" sz="1467" dirty="0"/>
              <a:t>Ouyang, Long, et al. "Training language models to follow instructions with human feedback." Advances in Neural Information Processing Systems 35 (2022): 27730-27744.</a:t>
            </a:r>
          </a:p>
        </p:txBody>
      </p:sp>
    </p:spTree>
    <p:extLst>
      <p:ext uri="{BB962C8B-B14F-4D97-AF65-F5344CB8AC3E}">
        <p14:creationId xmlns:p14="http://schemas.microsoft.com/office/powerpoint/2010/main" val="420918933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p85"/>
          <p:cNvSpPr txBox="1">
            <a:spLocks noGrp="1"/>
          </p:cNvSpPr>
          <p:nvPr>
            <p:ph type="title"/>
          </p:nvPr>
        </p:nvSpPr>
        <p:spPr>
          <a:xfrm>
            <a:off x="415600" y="593367"/>
            <a:ext cx="11360800" cy="763600"/>
          </a:xfrm>
          <a:prstGeom prst="rect">
            <a:avLst/>
          </a:prstGeom>
          <a:noFill/>
          <a:ln>
            <a:noFill/>
          </a:ln>
        </p:spPr>
        <p:txBody>
          <a:bodyPr spcFirstLastPara="1" vert="horz" wrap="square" lIns="121900" tIns="121900" rIns="121900" bIns="121900" rtlCol="0" anchor="t" anchorCtr="0">
            <a:normAutofit/>
          </a:bodyPr>
          <a:lstStyle/>
          <a:p>
            <a:r>
              <a:rPr lang="en-US" altLang="zh-CN" sz="3333">
                <a:latin typeface="Times New Roman"/>
                <a:ea typeface="Times New Roman"/>
                <a:cs typeface="Times New Roman"/>
                <a:sym typeface="Times New Roman"/>
              </a:rPr>
              <a:t>InstructGPT: scaling up RLHF to tens of thousands of tasks</a:t>
            </a:r>
            <a:endParaRPr sz="3333">
              <a:latin typeface="Times New Roman"/>
              <a:ea typeface="Times New Roman"/>
              <a:cs typeface="Times New Roman"/>
              <a:sym typeface="Times New Roman"/>
            </a:endParaRPr>
          </a:p>
        </p:txBody>
      </p:sp>
      <p:sp>
        <p:nvSpPr>
          <p:cNvPr id="668" name="Google Shape;668;p85"/>
          <p:cNvSpPr txBox="1"/>
          <p:nvPr/>
        </p:nvSpPr>
        <p:spPr>
          <a:xfrm>
            <a:off x="1536600" y="6159500"/>
            <a:ext cx="9118800" cy="533600"/>
          </a:xfrm>
          <a:prstGeom prst="rect">
            <a:avLst/>
          </a:prstGeom>
          <a:noFill/>
          <a:ln>
            <a:noFill/>
          </a:ln>
        </p:spPr>
        <p:txBody>
          <a:bodyPr spcFirstLastPara="1" wrap="square" lIns="121900" tIns="121900" rIns="121900" bIns="121900" anchor="t" anchorCtr="0">
            <a:noAutofit/>
          </a:bodyPr>
          <a:lstStyle/>
          <a:p>
            <a:pPr>
              <a:buClr>
                <a:srgbClr val="000000"/>
              </a:buClr>
              <a:buSzPts val="1000"/>
            </a:pPr>
            <a:r>
              <a:rPr lang="en-US" altLang="zh-CN" sz="1333" dirty="0">
                <a:solidFill>
                  <a:schemeClr val="accent3"/>
                </a:solidFill>
                <a:highlight>
                  <a:srgbClr val="FFFFFF"/>
                </a:highlight>
                <a:latin typeface="Times New Roman"/>
                <a:ea typeface="Times New Roman"/>
                <a:cs typeface="Times New Roman"/>
                <a:sym typeface="Times New Roman"/>
              </a:rPr>
              <a:t>Ouyang, Long, et al. "Training language models to follow instructions with human feedback." Advances in Neural Information Processing Systems 35 (2022): 27730-27744.</a:t>
            </a:r>
            <a:endParaRPr sz="1333" dirty="0">
              <a:solidFill>
                <a:schemeClr val="accent3"/>
              </a:solidFill>
              <a:highlight>
                <a:srgbClr val="FFFFFF"/>
              </a:highlight>
              <a:latin typeface="Times New Roman"/>
              <a:ea typeface="Times New Roman"/>
              <a:cs typeface="Times New Roman"/>
              <a:sym typeface="Times New Roman"/>
            </a:endParaRPr>
          </a:p>
        </p:txBody>
      </p:sp>
      <p:pic>
        <p:nvPicPr>
          <p:cNvPr id="669" name="Google Shape;669;p85"/>
          <p:cNvPicPr preferRelativeResize="0"/>
          <p:nvPr/>
        </p:nvPicPr>
        <p:blipFill rotWithShape="1">
          <a:blip r:embed="rId3">
            <a:alphaModFix/>
          </a:blip>
          <a:srcRect/>
          <a:stretch/>
        </p:blipFill>
        <p:spPr>
          <a:xfrm>
            <a:off x="1937735" y="1356967"/>
            <a:ext cx="8316547" cy="4802533"/>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673"/>
        <p:cNvGrpSpPr/>
        <p:nvPr/>
      </p:nvGrpSpPr>
      <p:grpSpPr>
        <a:xfrm>
          <a:off x="0" y="0"/>
          <a:ext cx="0" cy="0"/>
          <a:chOff x="0" y="0"/>
          <a:chExt cx="0" cy="0"/>
        </a:xfrm>
      </p:grpSpPr>
      <p:sp>
        <p:nvSpPr>
          <p:cNvPr id="674" name="Google Shape;674;p86"/>
          <p:cNvSpPr txBox="1">
            <a:spLocks noGrp="1"/>
          </p:cNvSpPr>
          <p:nvPr>
            <p:ph type="title"/>
          </p:nvPr>
        </p:nvSpPr>
        <p:spPr>
          <a:xfrm>
            <a:off x="415600" y="593367"/>
            <a:ext cx="11360800" cy="763600"/>
          </a:xfrm>
          <a:prstGeom prst="rect">
            <a:avLst/>
          </a:prstGeom>
          <a:noFill/>
          <a:ln>
            <a:noFill/>
          </a:ln>
        </p:spPr>
        <p:txBody>
          <a:bodyPr spcFirstLastPara="1" vert="horz" wrap="square" lIns="121900" tIns="121900" rIns="121900" bIns="121900" rtlCol="0" anchor="t" anchorCtr="0">
            <a:normAutofit/>
          </a:bodyPr>
          <a:lstStyle/>
          <a:p>
            <a:r>
              <a:rPr lang="en-US" altLang="zh-CN" sz="3333">
                <a:latin typeface="Times New Roman"/>
                <a:ea typeface="Times New Roman"/>
                <a:cs typeface="Times New Roman"/>
                <a:sym typeface="Times New Roman"/>
              </a:rPr>
              <a:t>InstructGPT: scaling up RLHF to tens of thousands of tasks</a:t>
            </a:r>
            <a:endParaRPr>
              <a:latin typeface="Times New Roman"/>
              <a:ea typeface="Times New Roman"/>
              <a:cs typeface="Times New Roman"/>
              <a:sym typeface="Times New Roman"/>
            </a:endParaRPr>
          </a:p>
        </p:txBody>
      </p:sp>
      <p:sp>
        <p:nvSpPr>
          <p:cNvPr id="675" name="Google Shape;675;p86"/>
          <p:cNvSpPr txBox="1">
            <a:spLocks noGrp="1"/>
          </p:cNvSpPr>
          <p:nvPr>
            <p:ph type="body" idx="1"/>
          </p:nvPr>
        </p:nvSpPr>
        <p:spPr>
          <a:xfrm>
            <a:off x="415600" y="1153767"/>
            <a:ext cx="11360800" cy="4555200"/>
          </a:xfrm>
          <a:prstGeom prst="rect">
            <a:avLst/>
          </a:prstGeom>
          <a:noFill/>
          <a:ln>
            <a:noFill/>
          </a:ln>
        </p:spPr>
        <p:txBody>
          <a:bodyPr spcFirstLastPara="1" vert="horz" wrap="square" lIns="121900" tIns="121900" rIns="121900" bIns="121900" rtlCol="0" anchor="t" anchorCtr="0">
            <a:normAutofit/>
          </a:bodyPr>
          <a:lstStyle/>
          <a:p>
            <a:pPr marL="0" indent="0">
              <a:lnSpc>
                <a:spcPct val="100000"/>
              </a:lnSpc>
              <a:buNone/>
            </a:pPr>
            <a:r>
              <a:rPr lang="zh-CN" b="1">
                <a:solidFill>
                  <a:schemeClr val="dk1"/>
                </a:solidFill>
                <a:latin typeface="Times New Roman"/>
                <a:ea typeface="Times New Roman"/>
                <a:cs typeface="Times New Roman"/>
                <a:sym typeface="Times New Roman"/>
              </a:rPr>
              <a:t>Tasks collected from labelers:</a:t>
            </a:r>
            <a:endParaRPr b="1">
              <a:solidFill>
                <a:schemeClr val="dk1"/>
              </a:solidFill>
              <a:latin typeface="Times New Roman"/>
              <a:ea typeface="Times New Roman"/>
              <a:cs typeface="Times New Roman"/>
              <a:sym typeface="Times New Roman"/>
            </a:endParaRPr>
          </a:p>
          <a:p>
            <a:pPr indent="-431789">
              <a:lnSpc>
                <a:spcPct val="100000"/>
              </a:lnSpc>
              <a:spcBef>
                <a:spcPts val="1600"/>
              </a:spcBef>
              <a:buClr>
                <a:schemeClr val="dk1"/>
              </a:buClr>
              <a:buSzPts val="1500"/>
            </a:pPr>
            <a:r>
              <a:rPr lang="en-US" altLang="zh-CN" sz="2000" b="1">
                <a:solidFill>
                  <a:schemeClr val="dk1"/>
                </a:solidFill>
                <a:latin typeface="Times New Roman"/>
                <a:ea typeface="Times New Roman"/>
                <a:cs typeface="Times New Roman"/>
                <a:sym typeface="Times New Roman"/>
              </a:rPr>
              <a:t>Plain:</a:t>
            </a:r>
            <a:r>
              <a:rPr lang="zh-CN" altLang="en-US" sz="2000">
                <a:solidFill>
                  <a:schemeClr val="dk1"/>
                </a:solidFill>
                <a:latin typeface="Times New Roman"/>
                <a:ea typeface="Times New Roman"/>
                <a:cs typeface="Times New Roman"/>
                <a:sym typeface="Times New Roman"/>
              </a:rPr>
              <a:t> </a:t>
            </a:r>
            <a:r>
              <a:rPr lang="en-US" altLang="zh-CN" sz="2000">
                <a:solidFill>
                  <a:schemeClr val="dk1"/>
                </a:solidFill>
                <a:latin typeface="Times New Roman"/>
                <a:ea typeface="Times New Roman"/>
                <a:cs typeface="Times New Roman"/>
                <a:sym typeface="Times New Roman"/>
              </a:rPr>
              <a:t>They simply ask the labelers to come up with an arbitrary task, while ensuring the tasks had sufficient diversity.</a:t>
            </a:r>
            <a:endParaRPr sz="2000">
              <a:solidFill>
                <a:schemeClr val="dk1"/>
              </a:solidFill>
              <a:latin typeface="Times New Roman"/>
              <a:ea typeface="Times New Roman"/>
              <a:cs typeface="Times New Roman"/>
              <a:sym typeface="Times New Roman"/>
            </a:endParaRPr>
          </a:p>
          <a:p>
            <a:pPr indent="-431789">
              <a:lnSpc>
                <a:spcPct val="100000"/>
              </a:lnSpc>
              <a:buClr>
                <a:schemeClr val="dk1"/>
              </a:buClr>
              <a:buSzPts val="1500"/>
            </a:pPr>
            <a:r>
              <a:rPr lang="en-US" altLang="zh-CN" sz="2000" b="1">
                <a:solidFill>
                  <a:schemeClr val="dk1"/>
                </a:solidFill>
                <a:latin typeface="Times New Roman"/>
                <a:ea typeface="Times New Roman"/>
                <a:cs typeface="Times New Roman"/>
                <a:sym typeface="Times New Roman"/>
              </a:rPr>
              <a:t>Few-shot:</a:t>
            </a:r>
            <a:r>
              <a:rPr lang="zh-CN" altLang="en-US" sz="2000">
                <a:solidFill>
                  <a:schemeClr val="dk1"/>
                </a:solidFill>
                <a:latin typeface="Times New Roman"/>
                <a:ea typeface="Times New Roman"/>
                <a:cs typeface="Times New Roman"/>
                <a:sym typeface="Times New Roman"/>
              </a:rPr>
              <a:t> </a:t>
            </a:r>
            <a:r>
              <a:rPr lang="en-US" altLang="zh-CN" sz="2000">
                <a:solidFill>
                  <a:schemeClr val="dk1"/>
                </a:solidFill>
                <a:latin typeface="Times New Roman"/>
                <a:ea typeface="Times New Roman"/>
                <a:cs typeface="Times New Roman"/>
                <a:sym typeface="Times New Roman"/>
              </a:rPr>
              <a:t>They ask the labelers to come up with an instruction, and multiple query/response pairs for the instructions.</a:t>
            </a:r>
            <a:endParaRPr sz="2000">
              <a:solidFill>
                <a:schemeClr val="dk1"/>
              </a:solidFill>
              <a:latin typeface="Times New Roman"/>
              <a:ea typeface="Times New Roman"/>
              <a:cs typeface="Times New Roman"/>
              <a:sym typeface="Times New Roman"/>
            </a:endParaRPr>
          </a:p>
          <a:p>
            <a:pPr indent="-431789">
              <a:lnSpc>
                <a:spcPct val="100000"/>
              </a:lnSpc>
              <a:buClr>
                <a:schemeClr val="dk1"/>
              </a:buClr>
              <a:buSzPts val="1500"/>
            </a:pPr>
            <a:r>
              <a:rPr lang="en-US" altLang="zh-CN" sz="2000" b="1">
                <a:solidFill>
                  <a:schemeClr val="dk1"/>
                </a:solidFill>
                <a:latin typeface="Times New Roman"/>
                <a:ea typeface="Times New Roman"/>
                <a:cs typeface="Times New Roman"/>
                <a:sym typeface="Times New Roman"/>
              </a:rPr>
              <a:t>User-based:</a:t>
            </a:r>
            <a:r>
              <a:rPr lang="zh-CN" altLang="en-US" sz="2000">
                <a:solidFill>
                  <a:schemeClr val="dk1"/>
                </a:solidFill>
                <a:latin typeface="Times New Roman"/>
                <a:ea typeface="Times New Roman"/>
                <a:cs typeface="Times New Roman"/>
                <a:sym typeface="Times New Roman"/>
              </a:rPr>
              <a:t> </a:t>
            </a:r>
            <a:r>
              <a:rPr lang="en-US" altLang="zh-CN" sz="2000">
                <a:solidFill>
                  <a:schemeClr val="dk1"/>
                </a:solidFill>
                <a:latin typeface="Times New Roman"/>
                <a:ea typeface="Times New Roman"/>
                <a:cs typeface="Times New Roman"/>
                <a:sym typeface="Times New Roman"/>
              </a:rPr>
              <a:t>They had a number of use-cases stated in waitlist applications to the OpenAI API. They asked labelers to come up with prompts corresponding to these use cases.</a:t>
            </a:r>
            <a:endParaRPr sz="2000">
              <a:solidFill>
                <a:schemeClr val="dk1"/>
              </a:solidFill>
              <a:latin typeface="Times New Roman"/>
              <a:ea typeface="Times New Roman"/>
              <a:cs typeface="Times New Roman"/>
              <a:sym typeface="Times New Roman"/>
            </a:endParaRPr>
          </a:p>
        </p:txBody>
      </p:sp>
      <p:pic>
        <p:nvPicPr>
          <p:cNvPr id="676" name="Google Shape;676;p86"/>
          <p:cNvPicPr preferRelativeResize="0"/>
          <p:nvPr/>
        </p:nvPicPr>
        <p:blipFill rotWithShape="1">
          <a:blip r:embed="rId3">
            <a:alphaModFix/>
          </a:blip>
          <a:srcRect/>
          <a:stretch/>
        </p:blipFill>
        <p:spPr>
          <a:xfrm>
            <a:off x="514351" y="3835401"/>
            <a:ext cx="11163299" cy="2968567"/>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692"/>
        <p:cNvGrpSpPr/>
        <p:nvPr/>
      </p:nvGrpSpPr>
      <p:grpSpPr>
        <a:xfrm>
          <a:off x="0" y="0"/>
          <a:ext cx="0" cy="0"/>
          <a:chOff x="0" y="0"/>
          <a:chExt cx="0" cy="0"/>
        </a:xfrm>
      </p:grpSpPr>
      <p:sp>
        <p:nvSpPr>
          <p:cNvPr id="693" name="Google Shape;693;p89"/>
          <p:cNvSpPr txBox="1">
            <a:spLocks noGrp="1"/>
          </p:cNvSpPr>
          <p:nvPr>
            <p:ph type="title"/>
          </p:nvPr>
        </p:nvSpPr>
        <p:spPr>
          <a:xfrm>
            <a:off x="415600" y="2481000"/>
            <a:ext cx="11360800" cy="2281600"/>
          </a:xfrm>
          <a:prstGeom prst="rect">
            <a:avLst/>
          </a:prstGeom>
          <a:noFill/>
          <a:ln>
            <a:noFill/>
          </a:ln>
        </p:spPr>
        <p:txBody>
          <a:bodyPr spcFirstLastPara="1" vert="horz" wrap="square" lIns="121900" tIns="121900" rIns="121900" bIns="121900" rtlCol="0" anchor="t" anchorCtr="0">
            <a:normAutofit/>
          </a:bodyPr>
          <a:lstStyle/>
          <a:p>
            <a:pPr algn="ctr"/>
            <a:r>
              <a:rPr lang="en-US" altLang="zh-CN" sz="4533">
                <a:solidFill>
                  <a:srgbClr val="FF0000"/>
                </a:solidFill>
                <a:latin typeface="Times New Roman"/>
                <a:ea typeface="Times New Roman"/>
                <a:cs typeface="Times New Roman"/>
                <a:sym typeface="Times New Roman"/>
              </a:rPr>
              <a:t>InstructGPT+Chat  </a:t>
            </a:r>
            <a:r>
              <a:rPr lang="zh-CN" altLang="en-US" sz="4533" b="1">
                <a:solidFill>
                  <a:srgbClr val="FF0000"/>
                </a:solidFill>
                <a:latin typeface="Times New Roman"/>
                <a:ea typeface="Times New Roman"/>
                <a:cs typeface="Times New Roman"/>
                <a:sym typeface="Times New Roman"/>
              </a:rPr>
              <a:t>≈</a:t>
            </a:r>
            <a:r>
              <a:rPr lang="zh-CN" altLang="en-US" sz="4533">
                <a:solidFill>
                  <a:srgbClr val="FF0000"/>
                </a:solidFill>
                <a:latin typeface="Times New Roman"/>
                <a:ea typeface="Times New Roman"/>
                <a:cs typeface="Times New Roman"/>
                <a:sym typeface="Times New Roman"/>
              </a:rPr>
              <a:t> </a:t>
            </a:r>
            <a:r>
              <a:rPr lang="en-US" altLang="zh-CN" sz="4533">
                <a:solidFill>
                  <a:srgbClr val="FF0000"/>
                </a:solidFill>
                <a:latin typeface="Times New Roman"/>
                <a:ea typeface="Times New Roman"/>
                <a:cs typeface="Times New Roman"/>
                <a:sym typeface="Times New Roman"/>
              </a:rPr>
              <a:t>ChatGPT</a:t>
            </a:r>
            <a:endParaRPr sz="4533">
              <a:solidFill>
                <a:srgbClr val="FF0000"/>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p90"/>
          <p:cNvSpPr txBox="1">
            <a:spLocks noGrp="1"/>
          </p:cNvSpPr>
          <p:nvPr>
            <p:ph type="title"/>
          </p:nvPr>
        </p:nvSpPr>
        <p:spPr>
          <a:xfrm>
            <a:off x="415600" y="593367"/>
            <a:ext cx="11360800" cy="763600"/>
          </a:xfrm>
          <a:prstGeom prst="rect">
            <a:avLst/>
          </a:prstGeom>
          <a:noFill/>
          <a:ln>
            <a:noFill/>
          </a:ln>
        </p:spPr>
        <p:txBody>
          <a:bodyPr spcFirstLastPara="1" vert="horz" wrap="square" lIns="121900" tIns="121900" rIns="121900" bIns="121900" rtlCol="0" anchor="t" anchorCtr="0">
            <a:normAutofit fontScale="90000"/>
          </a:bodyPr>
          <a:lstStyle/>
          <a:p>
            <a:pPr>
              <a:buSzPct val="111111"/>
            </a:pPr>
            <a:r>
              <a:rPr lang="zh-CN">
                <a:latin typeface="Times New Roman"/>
                <a:ea typeface="Times New Roman"/>
                <a:cs typeface="Times New Roman"/>
                <a:sym typeface="Times New Roman"/>
              </a:rPr>
              <a:t>ChatGPT: Instruction Finetuning + RLHF for </a:t>
            </a:r>
            <a:r>
              <a:rPr lang="zh-CN" b="1">
                <a:latin typeface="Times New Roman"/>
                <a:ea typeface="Times New Roman"/>
                <a:cs typeface="Times New Roman"/>
                <a:sym typeface="Times New Roman"/>
              </a:rPr>
              <a:t>dialog </a:t>
            </a:r>
            <a:r>
              <a:rPr lang="zh-CN">
                <a:latin typeface="Times New Roman"/>
                <a:ea typeface="Times New Roman"/>
                <a:cs typeface="Times New Roman"/>
                <a:sym typeface="Times New Roman"/>
              </a:rPr>
              <a:t>agents</a:t>
            </a:r>
            <a:endParaRPr>
              <a:latin typeface="Times New Roman"/>
              <a:ea typeface="Times New Roman"/>
              <a:cs typeface="Times New Roman"/>
              <a:sym typeface="Times New Roman"/>
            </a:endParaRPr>
          </a:p>
        </p:txBody>
      </p:sp>
      <p:pic>
        <p:nvPicPr>
          <p:cNvPr id="699" name="Google Shape;699;p90"/>
          <p:cNvPicPr preferRelativeResize="0"/>
          <p:nvPr/>
        </p:nvPicPr>
        <p:blipFill rotWithShape="1">
          <a:blip r:embed="rId3">
            <a:alphaModFix/>
          </a:blip>
          <a:srcRect/>
          <a:stretch/>
        </p:blipFill>
        <p:spPr>
          <a:xfrm>
            <a:off x="177800" y="1536634"/>
            <a:ext cx="2783667" cy="1104967"/>
          </a:xfrm>
          <a:prstGeom prst="rect">
            <a:avLst/>
          </a:prstGeom>
          <a:noFill/>
          <a:ln>
            <a:noFill/>
          </a:ln>
        </p:spPr>
      </p:pic>
      <p:sp>
        <p:nvSpPr>
          <p:cNvPr id="700" name="Google Shape;700;p90"/>
          <p:cNvSpPr txBox="1"/>
          <p:nvPr/>
        </p:nvSpPr>
        <p:spPr>
          <a:xfrm>
            <a:off x="266700" y="2794000"/>
            <a:ext cx="2476400" cy="2997200"/>
          </a:xfrm>
          <a:prstGeom prst="rect">
            <a:avLst/>
          </a:prstGeom>
          <a:noFill/>
          <a:ln>
            <a:noFill/>
          </a:ln>
        </p:spPr>
        <p:txBody>
          <a:bodyPr spcFirstLastPara="1" wrap="square" lIns="121900" tIns="121900" rIns="121900" bIns="121900" anchor="t" anchorCtr="0">
            <a:noAutofit/>
          </a:bodyPr>
          <a:lstStyle/>
          <a:p>
            <a:pPr>
              <a:buClr>
                <a:srgbClr val="000000"/>
              </a:buClr>
              <a:buSzPts val="1400"/>
            </a:pPr>
            <a:r>
              <a:rPr lang="en-US" altLang="zh-CN" sz="1867">
                <a:solidFill>
                  <a:srgbClr val="FF0000"/>
                </a:solidFill>
                <a:latin typeface="Times New Roman"/>
                <a:ea typeface="Times New Roman"/>
                <a:cs typeface="Times New Roman"/>
                <a:sym typeface="Times New Roman"/>
              </a:rPr>
              <a:t>Note: OpenAI are keeping more details secret about ChatGPT training (including data, training parameters, model size)</a:t>
            </a:r>
            <a:endParaRPr sz="1867">
              <a:solidFill>
                <a:srgbClr val="FF0000"/>
              </a:solidFill>
              <a:latin typeface="Times New Roman"/>
              <a:ea typeface="Times New Roman"/>
              <a:cs typeface="Times New Roman"/>
              <a:sym typeface="Times New Roman"/>
            </a:endParaRPr>
          </a:p>
        </p:txBody>
      </p:sp>
      <p:pic>
        <p:nvPicPr>
          <p:cNvPr id="701" name="Google Shape;701;p90"/>
          <p:cNvPicPr preferRelativeResize="0"/>
          <p:nvPr/>
        </p:nvPicPr>
        <p:blipFill rotWithShape="1">
          <a:blip r:embed="rId4">
            <a:alphaModFix/>
          </a:blip>
          <a:srcRect/>
          <a:stretch/>
        </p:blipFill>
        <p:spPr>
          <a:xfrm>
            <a:off x="3467100" y="1737967"/>
            <a:ext cx="8237632" cy="4187232"/>
          </a:xfrm>
          <a:prstGeom prst="rect">
            <a:avLst/>
          </a:prstGeom>
          <a:noFill/>
          <a:ln>
            <a:noFill/>
          </a:ln>
        </p:spPr>
      </p:pic>
      <p:sp>
        <p:nvSpPr>
          <p:cNvPr id="702" name="Google Shape;702;p90"/>
          <p:cNvSpPr txBox="1"/>
          <p:nvPr/>
        </p:nvSpPr>
        <p:spPr>
          <a:xfrm>
            <a:off x="1536600" y="6306200"/>
            <a:ext cx="9118800" cy="533600"/>
          </a:xfrm>
          <a:prstGeom prst="rect">
            <a:avLst/>
          </a:prstGeom>
          <a:noFill/>
          <a:ln>
            <a:noFill/>
          </a:ln>
        </p:spPr>
        <p:txBody>
          <a:bodyPr spcFirstLastPara="1" wrap="square" lIns="121900" tIns="121900" rIns="121900" bIns="121900" anchor="t" anchorCtr="0">
            <a:noAutofit/>
          </a:bodyPr>
          <a:lstStyle/>
          <a:p>
            <a:pPr algn="ctr">
              <a:buClr>
                <a:srgbClr val="000000"/>
              </a:buClr>
              <a:buSzPts val="1000"/>
            </a:pPr>
            <a:r>
              <a:rPr lang="en-US" altLang="zh-CN" sz="1333">
                <a:solidFill>
                  <a:schemeClr val="accent3"/>
                </a:solidFill>
                <a:highlight>
                  <a:srgbClr val="FFFFFF"/>
                </a:highlight>
                <a:latin typeface="Times New Roman"/>
                <a:ea typeface="Times New Roman"/>
                <a:cs typeface="Times New Roman"/>
                <a:sym typeface="Times New Roman"/>
              </a:rPr>
              <a:t>https://openai.com/blog/chatgpt</a:t>
            </a:r>
            <a:endParaRPr sz="1333">
              <a:solidFill>
                <a:schemeClr val="accent3"/>
              </a:solidFill>
              <a:highlight>
                <a:srgbClr val="FFFFFF"/>
              </a:highlight>
              <a:latin typeface="Times New Roman"/>
              <a:ea typeface="Times New Roman"/>
              <a:cs typeface="Times New Roman"/>
              <a:sym typeface="Times New Roman"/>
            </a:endParaRPr>
          </a:p>
        </p:txBody>
      </p:sp>
      <p:sp>
        <p:nvSpPr>
          <p:cNvPr id="703" name="Google Shape;703;p90"/>
          <p:cNvSpPr txBox="1"/>
          <p:nvPr/>
        </p:nvSpPr>
        <p:spPr>
          <a:xfrm>
            <a:off x="5600700" y="1587500"/>
            <a:ext cx="5676800" cy="838400"/>
          </a:xfrm>
          <a:prstGeom prst="rect">
            <a:avLst/>
          </a:prstGeom>
          <a:noFill/>
          <a:ln>
            <a:noFill/>
          </a:ln>
        </p:spPr>
        <p:txBody>
          <a:bodyPr spcFirstLastPara="1" wrap="square" lIns="121900" tIns="121900" rIns="121900" bIns="121900" anchor="t" anchorCtr="0">
            <a:noAutofit/>
          </a:bodyPr>
          <a:lstStyle/>
          <a:p>
            <a:pPr algn="ctr">
              <a:buClr>
                <a:srgbClr val="000000"/>
              </a:buClr>
              <a:buSzPts val="1800"/>
            </a:pPr>
            <a:r>
              <a:rPr lang="en-US" altLang="zh-CN" sz="2400" b="1">
                <a:solidFill>
                  <a:srgbClr val="FF0000"/>
                </a:solidFill>
                <a:latin typeface="Times New Roman"/>
                <a:ea typeface="Times New Roman"/>
                <a:cs typeface="Times New Roman"/>
                <a:sym typeface="Times New Roman"/>
              </a:rPr>
              <a:t>(Instruction finetuning!)</a:t>
            </a:r>
            <a:endParaRPr sz="2400" b="1">
              <a:solidFill>
                <a:srgbClr val="FF0000"/>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707"/>
        <p:cNvGrpSpPr/>
        <p:nvPr/>
      </p:nvGrpSpPr>
      <p:grpSpPr>
        <a:xfrm>
          <a:off x="0" y="0"/>
          <a:ext cx="0" cy="0"/>
          <a:chOff x="0" y="0"/>
          <a:chExt cx="0" cy="0"/>
        </a:xfrm>
      </p:grpSpPr>
      <p:sp>
        <p:nvSpPr>
          <p:cNvPr id="708" name="Google Shape;708;p91"/>
          <p:cNvSpPr txBox="1">
            <a:spLocks noGrp="1"/>
          </p:cNvSpPr>
          <p:nvPr>
            <p:ph type="title"/>
          </p:nvPr>
        </p:nvSpPr>
        <p:spPr>
          <a:xfrm>
            <a:off x="415600" y="593367"/>
            <a:ext cx="11360800" cy="763600"/>
          </a:xfrm>
          <a:prstGeom prst="rect">
            <a:avLst/>
          </a:prstGeom>
          <a:noFill/>
          <a:ln>
            <a:noFill/>
          </a:ln>
        </p:spPr>
        <p:txBody>
          <a:bodyPr spcFirstLastPara="1" vert="horz" wrap="square" lIns="121900" tIns="121900" rIns="121900" bIns="121900" rtlCol="0" anchor="t" anchorCtr="0">
            <a:normAutofit fontScale="90000"/>
          </a:bodyPr>
          <a:lstStyle/>
          <a:p>
            <a:pPr>
              <a:buSzPct val="111111"/>
            </a:pPr>
            <a:r>
              <a:rPr lang="zh-CN">
                <a:latin typeface="Times New Roman"/>
                <a:ea typeface="Times New Roman"/>
                <a:cs typeface="Times New Roman"/>
                <a:sym typeface="Times New Roman"/>
              </a:rPr>
              <a:t>ChatGPT: Instruction Finetuning + RLHF for dialog agents</a:t>
            </a:r>
            <a:endParaRPr>
              <a:latin typeface="Times New Roman"/>
              <a:ea typeface="Times New Roman"/>
              <a:cs typeface="Times New Roman"/>
              <a:sym typeface="Times New Roman"/>
            </a:endParaRPr>
          </a:p>
        </p:txBody>
      </p:sp>
      <p:pic>
        <p:nvPicPr>
          <p:cNvPr id="709" name="Google Shape;709;p91"/>
          <p:cNvPicPr preferRelativeResize="0"/>
          <p:nvPr/>
        </p:nvPicPr>
        <p:blipFill rotWithShape="1">
          <a:blip r:embed="rId3">
            <a:alphaModFix/>
          </a:blip>
          <a:srcRect/>
          <a:stretch/>
        </p:blipFill>
        <p:spPr>
          <a:xfrm>
            <a:off x="177800" y="1536634"/>
            <a:ext cx="2783667" cy="1104967"/>
          </a:xfrm>
          <a:prstGeom prst="rect">
            <a:avLst/>
          </a:prstGeom>
          <a:noFill/>
          <a:ln>
            <a:noFill/>
          </a:ln>
        </p:spPr>
      </p:pic>
      <p:sp>
        <p:nvSpPr>
          <p:cNvPr id="710" name="Google Shape;710;p91"/>
          <p:cNvSpPr txBox="1"/>
          <p:nvPr/>
        </p:nvSpPr>
        <p:spPr>
          <a:xfrm>
            <a:off x="266700" y="2794000"/>
            <a:ext cx="2476400" cy="2997200"/>
          </a:xfrm>
          <a:prstGeom prst="rect">
            <a:avLst/>
          </a:prstGeom>
          <a:noFill/>
          <a:ln>
            <a:noFill/>
          </a:ln>
        </p:spPr>
        <p:txBody>
          <a:bodyPr spcFirstLastPara="1" wrap="square" lIns="121900" tIns="121900" rIns="121900" bIns="121900" anchor="t" anchorCtr="0">
            <a:noAutofit/>
          </a:bodyPr>
          <a:lstStyle/>
          <a:p>
            <a:pPr>
              <a:buClr>
                <a:srgbClr val="000000"/>
              </a:buClr>
              <a:buSzPts val="1400"/>
            </a:pPr>
            <a:r>
              <a:rPr lang="en-US" altLang="zh-CN" sz="1867">
                <a:solidFill>
                  <a:srgbClr val="FF0000"/>
                </a:solidFill>
                <a:latin typeface="Times New Roman"/>
                <a:ea typeface="Times New Roman"/>
                <a:cs typeface="Times New Roman"/>
                <a:sym typeface="Times New Roman"/>
              </a:rPr>
              <a:t>Note: OpenAI are keeping more details secret about ChatGPT training (including data, training parameters, model size)</a:t>
            </a:r>
            <a:endParaRPr sz="1867">
              <a:solidFill>
                <a:srgbClr val="FF0000"/>
              </a:solidFill>
              <a:latin typeface="Times New Roman"/>
              <a:ea typeface="Times New Roman"/>
              <a:cs typeface="Times New Roman"/>
              <a:sym typeface="Times New Roman"/>
            </a:endParaRPr>
          </a:p>
        </p:txBody>
      </p:sp>
      <p:sp>
        <p:nvSpPr>
          <p:cNvPr id="711" name="Google Shape;711;p91"/>
          <p:cNvSpPr txBox="1"/>
          <p:nvPr/>
        </p:nvSpPr>
        <p:spPr>
          <a:xfrm>
            <a:off x="1536600" y="6306200"/>
            <a:ext cx="9118800" cy="533600"/>
          </a:xfrm>
          <a:prstGeom prst="rect">
            <a:avLst/>
          </a:prstGeom>
          <a:noFill/>
          <a:ln>
            <a:noFill/>
          </a:ln>
        </p:spPr>
        <p:txBody>
          <a:bodyPr spcFirstLastPara="1" wrap="square" lIns="121900" tIns="121900" rIns="121900" bIns="121900" anchor="t" anchorCtr="0">
            <a:noAutofit/>
          </a:bodyPr>
          <a:lstStyle/>
          <a:p>
            <a:pPr algn="ctr">
              <a:buClr>
                <a:srgbClr val="000000"/>
              </a:buClr>
              <a:buSzPts val="1000"/>
            </a:pPr>
            <a:r>
              <a:rPr lang="en-US" altLang="zh-CN" sz="1333">
                <a:solidFill>
                  <a:schemeClr val="accent3"/>
                </a:solidFill>
                <a:highlight>
                  <a:srgbClr val="FFFFFF"/>
                </a:highlight>
                <a:latin typeface="Times New Roman"/>
                <a:ea typeface="Times New Roman"/>
                <a:cs typeface="Times New Roman"/>
                <a:sym typeface="Times New Roman"/>
              </a:rPr>
              <a:t>https://openai.com/blog/chatgpt</a:t>
            </a:r>
            <a:endParaRPr sz="1333">
              <a:solidFill>
                <a:schemeClr val="accent3"/>
              </a:solidFill>
              <a:highlight>
                <a:srgbClr val="FFFFFF"/>
              </a:highlight>
              <a:latin typeface="Times New Roman"/>
              <a:ea typeface="Times New Roman"/>
              <a:cs typeface="Times New Roman"/>
              <a:sym typeface="Times New Roman"/>
            </a:endParaRPr>
          </a:p>
        </p:txBody>
      </p:sp>
      <p:sp>
        <p:nvSpPr>
          <p:cNvPr id="712" name="Google Shape;712;p91"/>
          <p:cNvSpPr txBox="1"/>
          <p:nvPr/>
        </p:nvSpPr>
        <p:spPr>
          <a:xfrm>
            <a:off x="5600700" y="1587500"/>
            <a:ext cx="5676800" cy="838400"/>
          </a:xfrm>
          <a:prstGeom prst="rect">
            <a:avLst/>
          </a:prstGeom>
          <a:noFill/>
          <a:ln>
            <a:noFill/>
          </a:ln>
        </p:spPr>
        <p:txBody>
          <a:bodyPr spcFirstLastPara="1" wrap="square" lIns="121900" tIns="121900" rIns="121900" bIns="121900" anchor="t" anchorCtr="0">
            <a:noAutofit/>
          </a:bodyPr>
          <a:lstStyle/>
          <a:p>
            <a:pPr algn="ctr">
              <a:buClr>
                <a:srgbClr val="000000"/>
              </a:buClr>
              <a:buSzPts val="1800"/>
            </a:pPr>
            <a:r>
              <a:rPr lang="en-US" altLang="zh-CN" sz="2400" b="1">
                <a:solidFill>
                  <a:srgbClr val="FF0000"/>
                </a:solidFill>
                <a:latin typeface="Times New Roman"/>
                <a:ea typeface="Times New Roman"/>
                <a:cs typeface="Times New Roman"/>
                <a:sym typeface="Times New Roman"/>
              </a:rPr>
              <a:t>(RLHF!)</a:t>
            </a:r>
            <a:endParaRPr sz="2400" b="1">
              <a:solidFill>
                <a:srgbClr val="FF0000"/>
              </a:solidFill>
              <a:latin typeface="Times New Roman"/>
              <a:ea typeface="Times New Roman"/>
              <a:cs typeface="Times New Roman"/>
              <a:sym typeface="Times New Roman"/>
            </a:endParaRPr>
          </a:p>
        </p:txBody>
      </p:sp>
      <p:pic>
        <p:nvPicPr>
          <p:cNvPr id="713" name="Google Shape;713;p91"/>
          <p:cNvPicPr preferRelativeResize="0"/>
          <p:nvPr/>
        </p:nvPicPr>
        <p:blipFill rotWithShape="1">
          <a:blip r:embed="rId4">
            <a:alphaModFix/>
          </a:blip>
          <a:srcRect/>
          <a:stretch/>
        </p:blipFill>
        <p:spPr>
          <a:xfrm>
            <a:off x="3366900" y="2336800"/>
            <a:ext cx="8409504" cy="3258200"/>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p96"/>
          <p:cNvSpPr txBox="1">
            <a:spLocks noGrp="1"/>
          </p:cNvSpPr>
          <p:nvPr>
            <p:ph type="title"/>
          </p:nvPr>
        </p:nvSpPr>
        <p:spPr>
          <a:xfrm>
            <a:off x="415600" y="2481000"/>
            <a:ext cx="11360800" cy="2281600"/>
          </a:xfrm>
          <a:prstGeom prst="rect">
            <a:avLst/>
          </a:prstGeom>
          <a:noFill/>
          <a:ln>
            <a:noFill/>
          </a:ln>
        </p:spPr>
        <p:txBody>
          <a:bodyPr spcFirstLastPara="1" vert="horz" wrap="square" lIns="121900" tIns="121900" rIns="121900" bIns="121900" rtlCol="0" anchor="t" anchorCtr="0">
            <a:normAutofit/>
          </a:bodyPr>
          <a:lstStyle/>
          <a:p>
            <a:pPr algn="ctr"/>
            <a:r>
              <a:rPr lang="en-US" altLang="zh-CN" sz="4533" dirty="0">
                <a:solidFill>
                  <a:srgbClr val="FF0000"/>
                </a:solidFill>
                <a:latin typeface="Times New Roman"/>
                <a:ea typeface="Times New Roman"/>
                <a:cs typeface="Times New Roman"/>
                <a:sym typeface="Times New Roman"/>
              </a:rPr>
              <a:t>Limitations  of LLM/human Feedbacks</a:t>
            </a:r>
            <a:endParaRPr sz="4533" dirty="0">
              <a:solidFill>
                <a:srgbClr val="FF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52990525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717"/>
        <p:cNvGrpSpPr/>
        <p:nvPr/>
      </p:nvGrpSpPr>
      <p:grpSpPr>
        <a:xfrm>
          <a:off x="0" y="0"/>
          <a:ext cx="0" cy="0"/>
          <a:chOff x="0" y="0"/>
          <a:chExt cx="0" cy="0"/>
        </a:xfrm>
      </p:grpSpPr>
      <p:sp>
        <p:nvSpPr>
          <p:cNvPr id="718" name="Google Shape;718;p92"/>
          <p:cNvSpPr txBox="1">
            <a:spLocks noGrp="1"/>
          </p:cNvSpPr>
          <p:nvPr>
            <p:ph type="title"/>
          </p:nvPr>
        </p:nvSpPr>
        <p:spPr>
          <a:xfrm>
            <a:off x="415600" y="593367"/>
            <a:ext cx="11360800" cy="763600"/>
          </a:xfrm>
          <a:prstGeom prst="rect">
            <a:avLst/>
          </a:prstGeom>
          <a:noFill/>
          <a:ln>
            <a:noFill/>
          </a:ln>
        </p:spPr>
        <p:txBody>
          <a:bodyPr spcFirstLastPara="1" vert="horz" wrap="square" lIns="121900" tIns="121900" rIns="121900" bIns="121900" rtlCol="0" anchor="t" anchorCtr="0">
            <a:normAutofit fontScale="90000"/>
          </a:bodyPr>
          <a:lstStyle/>
          <a:p>
            <a:pPr>
              <a:buSzPct val="111111"/>
            </a:pPr>
            <a:r>
              <a:rPr lang="zh-CN">
                <a:latin typeface="Times New Roman"/>
                <a:ea typeface="Times New Roman"/>
                <a:cs typeface="Times New Roman"/>
                <a:sym typeface="Times New Roman"/>
              </a:rPr>
              <a:t>Limitations of RL + Reward Modeling</a:t>
            </a:r>
            <a:endParaRPr>
              <a:latin typeface="Times New Roman"/>
              <a:ea typeface="Times New Roman"/>
              <a:cs typeface="Times New Roman"/>
              <a:sym typeface="Times New Roman"/>
            </a:endParaRPr>
          </a:p>
        </p:txBody>
      </p:sp>
      <p:sp>
        <p:nvSpPr>
          <p:cNvPr id="719" name="Google Shape;719;p92"/>
          <p:cNvSpPr txBox="1">
            <a:spLocks noGrp="1"/>
          </p:cNvSpPr>
          <p:nvPr>
            <p:ph type="body" idx="1"/>
          </p:nvPr>
        </p:nvSpPr>
        <p:spPr>
          <a:xfrm>
            <a:off x="415600" y="1536633"/>
            <a:ext cx="6010800" cy="4555200"/>
          </a:xfrm>
          <a:prstGeom prst="rect">
            <a:avLst/>
          </a:prstGeom>
          <a:noFill/>
          <a:ln>
            <a:noFill/>
          </a:ln>
        </p:spPr>
        <p:txBody>
          <a:bodyPr spcFirstLastPara="1" vert="horz" wrap="square" lIns="121900" tIns="121900" rIns="121900" bIns="121900" rtlCol="0" anchor="t" anchorCtr="0">
            <a:normAutofit/>
          </a:bodyPr>
          <a:lstStyle/>
          <a:p>
            <a:pPr>
              <a:buClr>
                <a:schemeClr val="dk1"/>
              </a:buClr>
              <a:buFont typeface="Times New Roman"/>
              <a:buChar char="●"/>
            </a:pPr>
            <a:r>
              <a:rPr lang="zh-CN">
                <a:solidFill>
                  <a:schemeClr val="dk1"/>
                </a:solidFill>
                <a:latin typeface="Times New Roman"/>
                <a:ea typeface="Times New Roman"/>
                <a:cs typeface="Times New Roman"/>
                <a:sym typeface="Times New Roman"/>
              </a:rPr>
              <a:t>Human preferences are unreliable!</a:t>
            </a:r>
            <a:endParaRPr>
              <a:solidFill>
                <a:schemeClr val="dk1"/>
              </a:solidFill>
              <a:latin typeface="Times New Roman"/>
              <a:ea typeface="Times New Roman"/>
              <a:cs typeface="Times New Roman"/>
              <a:sym typeface="Times New Roman"/>
            </a:endParaRPr>
          </a:p>
          <a:p>
            <a:pPr lvl="1">
              <a:buClr>
                <a:schemeClr val="dk1"/>
              </a:buClr>
              <a:buFont typeface="Times New Roman"/>
              <a:buChar char="○"/>
            </a:pPr>
            <a:r>
              <a:rPr lang="zh-CN">
                <a:solidFill>
                  <a:schemeClr val="dk1"/>
                </a:solidFill>
                <a:latin typeface="Times New Roman"/>
                <a:ea typeface="Times New Roman"/>
                <a:cs typeface="Times New Roman"/>
                <a:sym typeface="Times New Roman"/>
              </a:rPr>
              <a:t>“Reward hacking” is a common problem in RL</a:t>
            </a:r>
            <a:endParaRPr>
              <a:solidFill>
                <a:schemeClr val="dk1"/>
              </a:solidFill>
              <a:latin typeface="Times New Roman"/>
              <a:ea typeface="Times New Roman"/>
              <a:cs typeface="Times New Roman"/>
              <a:sym typeface="Times New Roman"/>
            </a:endParaRPr>
          </a:p>
        </p:txBody>
      </p:sp>
      <p:sp>
        <p:nvSpPr>
          <p:cNvPr id="720" name="Google Shape;720;p92"/>
          <p:cNvSpPr txBox="1"/>
          <p:nvPr/>
        </p:nvSpPr>
        <p:spPr>
          <a:xfrm>
            <a:off x="6616800" y="5558233"/>
            <a:ext cx="5410000" cy="533600"/>
          </a:xfrm>
          <a:prstGeom prst="rect">
            <a:avLst/>
          </a:prstGeom>
          <a:noFill/>
          <a:ln>
            <a:noFill/>
          </a:ln>
        </p:spPr>
        <p:txBody>
          <a:bodyPr spcFirstLastPara="1" wrap="square" lIns="121900" tIns="121900" rIns="121900" bIns="121900" anchor="t" anchorCtr="0">
            <a:noAutofit/>
          </a:bodyPr>
          <a:lstStyle/>
          <a:p>
            <a:pPr algn="ctr">
              <a:buClr>
                <a:srgbClr val="000000"/>
              </a:buClr>
              <a:buSzPts val="1300"/>
            </a:pPr>
            <a:r>
              <a:rPr lang="en-US" altLang="zh-CN" sz="1733" u="sng">
                <a:solidFill>
                  <a:schemeClr val="hlink"/>
                </a:solidFill>
                <a:highlight>
                  <a:srgbClr val="FFFFFF"/>
                </a:highlight>
                <a:latin typeface="Arial"/>
                <a:ea typeface="Arial"/>
                <a:cs typeface="Arial"/>
                <a:sym typeface="Arial"/>
                <a:hlinkClick r:id="rId3"/>
              </a:rPr>
              <a:t>https://openai.com/research/faulty-reward-functions</a:t>
            </a:r>
            <a:endParaRPr sz="1733">
              <a:solidFill>
                <a:schemeClr val="accent3"/>
              </a:solidFill>
              <a:highlight>
                <a:srgbClr val="FFFFFF"/>
              </a:highlight>
              <a:latin typeface="Arial"/>
              <a:ea typeface="Arial"/>
              <a:cs typeface="Arial"/>
              <a:sym typeface="Arial"/>
            </a:endParaRPr>
          </a:p>
        </p:txBody>
      </p:sp>
      <p:pic>
        <p:nvPicPr>
          <p:cNvPr id="6" name="Picture 2" descr="https://bair.berkeley.edu/static/blog/reward-reports/reward-shaping.png">
            <a:extLst>
              <a:ext uri="{FF2B5EF4-FFF2-40B4-BE49-F238E27FC236}">
                <a16:creationId xmlns:a16="http://schemas.microsoft.com/office/drawing/2014/main" id="{44078873-4BC1-442D-8258-7C48416EEB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788" y="3297677"/>
            <a:ext cx="5914112" cy="243880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https://imagedelivery.net/iSzP-DWqFIthoMIqTB4Xog/17e505ac-3650-48b4-105f-b0be28d9d800/public">
            <a:extLst>
              <a:ext uri="{FF2B5EF4-FFF2-40B4-BE49-F238E27FC236}">
                <a16:creationId xmlns:a16="http://schemas.microsoft.com/office/drawing/2014/main" id="{0DA05AC3-18A9-4AF5-8F5D-E277BECA28D5}"/>
              </a:ext>
            </a:extLst>
          </p:cNvPr>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6912919" y="1714500"/>
            <a:ext cx="4552950" cy="3429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725"/>
        <p:cNvGrpSpPr/>
        <p:nvPr/>
      </p:nvGrpSpPr>
      <p:grpSpPr>
        <a:xfrm>
          <a:off x="0" y="0"/>
          <a:ext cx="0" cy="0"/>
          <a:chOff x="0" y="0"/>
          <a:chExt cx="0" cy="0"/>
        </a:xfrm>
      </p:grpSpPr>
      <p:sp>
        <p:nvSpPr>
          <p:cNvPr id="726" name="Google Shape;726;p93"/>
          <p:cNvSpPr txBox="1">
            <a:spLocks noGrp="1"/>
          </p:cNvSpPr>
          <p:nvPr>
            <p:ph type="title"/>
          </p:nvPr>
        </p:nvSpPr>
        <p:spPr>
          <a:xfrm>
            <a:off x="415600" y="593367"/>
            <a:ext cx="11360800" cy="763600"/>
          </a:xfrm>
          <a:prstGeom prst="rect">
            <a:avLst/>
          </a:prstGeom>
          <a:noFill/>
          <a:ln>
            <a:noFill/>
          </a:ln>
        </p:spPr>
        <p:txBody>
          <a:bodyPr spcFirstLastPara="1" vert="horz" wrap="square" lIns="121900" tIns="121900" rIns="121900" bIns="121900" rtlCol="0" anchor="t" anchorCtr="0">
            <a:normAutofit fontScale="90000"/>
          </a:bodyPr>
          <a:lstStyle/>
          <a:p>
            <a:pPr>
              <a:buSzPct val="111111"/>
            </a:pPr>
            <a:r>
              <a:rPr lang="zh-CN">
                <a:latin typeface="Times New Roman"/>
                <a:ea typeface="Times New Roman"/>
                <a:cs typeface="Times New Roman"/>
                <a:sym typeface="Times New Roman"/>
              </a:rPr>
              <a:t>Limitations of RL + Reward Modeling</a:t>
            </a:r>
            <a:endParaRPr>
              <a:latin typeface="Times New Roman"/>
              <a:ea typeface="Times New Roman"/>
              <a:cs typeface="Times New Roman"/>
              <a:sym typeface="Times New Roman"/>
            </a:endParaRPr>
          </a:p>
        </p:txBody>
      </p:sp>
      <p:sp>
        <p:nvSpPr>
          <p:cNvPr id="727" name="Google Shape;727;p93"/>
          <p:cNvSpPr txBox="1">
            <a:spLocks noGrp="1"/>
          </p:cNvSpPr>
          <p:nvPr>
            <p:ph type="body" idx="1"/>
          </p:nvPr>
        </p:nvSpPr>
        <p:spPr>
          <a:xfrm>
            <a:off x="415600" y="1536633"/>
            <a:ext cx="6010800" cy="4555200"/>
          </a:xfrm>
          <a:prstGeom prst="rect">
            <a:avLst/>
          </a:prstGeom>
          <a:noFill/>
          <a:ln>
            <a:noFill/>
          </a:ln>
        </p:spPr>
        <p:txBody>
          <a:bodyPr spcFirstLastPara="1" vert="horz" wrap="square" lIns="121900" tIns="121900" rIns="121900" bIns="121900" rtlCol="0" anchor="t" anchorCtr="0">
            <a:normAutofit/>
          </a:bodyPr>
          <a:lstStyle/>
          <a:p>
            <a:pPr>
              <a:buClr>
                <a:schemeClr val="dk1"/>
              </a:buClr>
              <a:buFont typeface="Times New Roman"/>
              <a:buChar char="●"/>
            </a:pPr>
            <a:r>
              <a:rPr lang="zh-CN" dirty="0">
                <a:solidFill>
                  <a:schemeClr val="dk1"/>
                </a:solidFill>
                <a:latin typeface="Times New Roman"/>
                <a:ea typeface="Times New Roman"/>
                <a:cs typeface="Times New Roman"/>
                <a:sym typeface="Times New Roman"/>
              </a:rPr>
              <a:t>Human preferences are unreliable!</a:t>
            </a:r>
            <a:endParaRPr dirty="0">
              <a:solidFill>
                <a:schemeClr val="dk1"/>
              </a:solidFill>
              <a:latin typeface="Times New Roman"/>
              <a:ea typeface="Times New Roman"/>
              <a:cs typeface="Times New Roman"/>
              <a:sym typeface="Times New Roman"/>
            </a:endParaRPr>
          </a:p>
          <a:p>
            <a:pPr lvl="1">
              <a:buClr>
                <a:schemeClr val="dk1"/>
              </a:buClr>
              <a:buFont typeface="Times New Roman"/>
              <a:buChar char="○"/>
            </a:pPr>
            <a:r>
              <a:rPr lang="zh-CN" dirty="0">
                <a:solidFill>
                  <a:schemeClr val="dk1"/>
                </a:solidFill>
                <a:latin typeface="Times New Roman"/>
                <a:ea typeface="Times New Roman"/>
                <a:cs typeface="Times New Roman"/>
                <a:sym typeface="Times New Roman"/>
              </a:rPr>
              <a:t>“Reward hacking” is a common problem in RL</a:t>
            </a:r>
            <a:endParaRPr dirty="0">
              <a:solidFill>
                <a:schemeClr val="dk1"/>
              </a:solidFill>
              <a:latin typeface="Times New Roman"/>
              <a:ea typeface="Times New Roman"/>
              <a:cs typeface="Times New Roman"/>
              <a:sym typeface="Times New Roman"/>
            </a:endParaRPr>
          </a:p>
          <a:p>
            <a:pPr lvl="1">
              <a:buClr>
                <a:schemeClr val="dk1"/>
              </a:buClr>
              <a:buFont typeface="Times New Roman"/>
              <a:buChar char="○"/>
            </a:pPr>
            <a:r>
              <a:rPr lang="zh-CN" dirty="0">
                <a:solidFill>
                  <a:schemeClr val="dk1"/>
                </a:solidFill>
                <a:latin typeface="Times New Roman"/>
                <a:ea typeface="Times New Roman"/>
                <a:cs typeface="Times New Roman"/>
                <a:sym typeface="Times New Roman"/>
              </a:rPr>
              <a:t>Chatbots are rewarded to produce responses that seem authoritative and helpful, </a:t>
            </a:r>
            <a:r>
              <a:rPr lang="zh-CN" i="1" dirty="0">
                <a:solidFill>
                  <a:schemeClr val="dk1"/>
                </a:solidFill>
                <a:latin typeface="Times New Roman"/>
                <a:ea typeface="Times New Roman"/>
                <a:cs typeface="Times New Roman"/>
                <a:sym typeface="Times New Roman"/>
              </a:rPr>
              <a:t>regardless of truth</a:t>
            </a:r>
            <a:endParaRPr i="1" dirty="0">
              <a:solidFill>
                <a:schemeClr val="dk1"/>
              </a:solidFill>
              <a:latin typeface="Times New Roman"/>
              <a:ea typeface="Times New Roman"/>
              <a:cs typeface="Times New Roman"/>
              <a:sym typeface="Times New Roman"/>
            </a:endParaRPr>
          </a:p>
          <a:p>
            <a:pPr lvl="1">
              <a:buClr>
                <a:schemeClr val="dk1"/>
              </a:buClr>
              <a:buFont typeface="Times New Roman"/>
              <a:buChar char="○"/>
            </a:pPr>
            <a:r>
              <a:rPr lang="zh-CN" dirty="0">
                <a:solidFill>
                  <a:schemeClr val="dk1"/>
                </a:solidFill>
                <a:latin typeface="Times New Roman"/>
                <a:ea typeface="Times New Roman"/>
                <a:cs typeface="Times New Roman"/>
                <a:sym typeface="Times New Roman"/>
              </a:rPr>
              <a:t>This can result in making up facts + hallucinations</a:t>
            </a:r>
            <a:endParaRPr dirty="0">
              <a:solidFill>
                <a:schemeClr val="dk1"/>
              </a:solidFill>
              <a:latin typeface="Times New Roman"/>
              <a:ea typeface="Times New Roman"/>
              <a:cs typeface="Times New Roman"/>
              <a:sym typeface="Times New Roman"/>
            </a:endParaRPr>
          </a:p>
        </p:txBody>
      </p:sp>
      <p:sp>
        <p:nvSpPr>
          <p:cNvPr id="728" name="Google Shape;728;p93"/>
          <p:cNvSpPr txBox="1"/>
          <p:nvPr/>
        </p:nvSpPr>
        <p:spPr>
          <a:xfrm>
            <a:off x="640600" y="6306200"/>
            <a:ext cx="11360800" cy="533600"/>
          </a:xfrm>
          <a:prstGeom prst="rect">
            <a:avLst/>
          </a:prstGeom>
          <a:noFill/>
          <a:ln>
            <a:noFill/>
          </a:ln>
        </p:spPr>
        <p:txBody>
          <a:bodyPr spcFirstLastPara="1" wrap="square" lIns="121900" tIns="121900" rIns="121900" bIns="121900" anchor="t" anchorCtr="0">
            <a:noAutofit/>
          </a:bodyPr>
          <a:lstStyle/>
          <a:p>
            <a:pPr algn="ctr">
              <a:buClr>
                <a:srgbClr val="000000"/>
              </a:buClr>
              <a:buSzPts val="1000"/>
            </a:pPr>
            <a:r>
              <a:rPr lang="en-US" altLang="zh-CN" sz="1333" u="sng">
                <a:solidFill>
                  <a:schemeClr val="hlink"/>
                </a:solidFill>
                <a:highlight>
                  <a:srgbClr val="FFFFFF"/>
                </a:highlight>
                <a:latin typeface="Times New Roman"/>
                <a:ea typeface="Times New Roman"/>
                <a:cs typeface="Times New Roman"/>
                <a:sym typeface="Times New Roman"/>
                <a:hlinkClick r:id="rId3"/>
              </a:rPr>
              <a:t>https://news.ycombinator.com/item?id=34776508</a:t>
            </a:r>
            <a:endParaRPr sz="1333">
              <a:solidFill>
                <a:schemeClr val="accent3"/>
              </a:solidFill>
              <a:highlight>
                <a:srgbClr val="FFFFFF"/>
              </a:highlight>
              <a:latin typeface="Times New Roman"/>
              <a:ea typeface="Times New Roman"/>
              <a:cs typeface="Times New Roman"/>
              <a:sym typeface="Times New Roman"/>
            </a:endParaRPr>
          </a:p>
          <a:p>
            <a:pPr algn="ctr">
              <a:buClr>
                <a:srgbClr val="000000"/>
              </a:buClr>
              <a:buSzPts val="1000"/>
            </a:pPr>
            <a:r>
              <a:rPr lang="en-US" altLang="zh-CN" sz="1333">
                <a:solidFill>
                  <a:schemeClr val="accent3"/>
                </a:solidFill>
                <a:highlight>
                  <a:srgbClr val="FFFFFF"/>
                </a:highlight>
                <a:latin typeface="Times New Roman"/>
                <a:ea typeface="Times New Roman"/>
                <a:cs typeface="Times New Roman"/>
                <a:sym typeface="Times New Roman"/>
              </a:rPr>
              <a:t>https://apnews.com/article/kansas-city-chiefs-philadelphia-eagles-technology-science-82bc20f207e3e4cf81abc6a5d9e6b23a</a:t>
            </a:r>
            <a:endParaRPr sz="1333">
              <a:solidFill>
                <a:schemeClr val="accent3"/>
              </a:solidFill>
              <a:highlight>
                <a:srgbClr val="FFFFFF"/>
              </a:highlight>
              <a:latin typeface="Times New Roman"/>
              <a:ea typeface="Times New Roman"/>
              <a:cs typeface="Times New Roman"/>
              <a:sym typeface="Times New Roman"/>
            </a:endParaRPr>
          </a:p>
        </p:txBody>
      </p:sp>
      <p:pic>
        <p:nvPicPr>
          <p:cNvPr id="729" name="Google Shape;729;p93"/>
          <p:cNvPicPr preferRelativeResize="0"/>
          <p:nvPr/>
        </p:nvPicPr>
        <p:blipFill rotWithShape="1">
          <a:blip r:embed="rId4">
            <a:alphaModFix/>
          </a:blip>
          <a:srcRect/>
          <a:stretch/>
        </p:blipFill>
        <p:spPr>
          <a:xfrm>
            <a:off x="6350849" y="1468267"/>
            <a:ext cx="5752252" cy="4555199"/>
          </a:xfrm>
          <a:prstGeom prst="rect">
            <a:avLst/>
          </a:prstGeom>
          <a:noFill/>
          <a:ln>
            <a:noFill/>
          </a:ln>
        </p:spPr>
      </p:pic>
      <p:pic>
        <p:nvPicPr>
          <p:cNvPr id="6146" name="Picture 2" descr="在这里插入图片描述">
            <a:extLst>
              <a:ext uri="{FF2B5EF4-FFF2-40B4-BE49-F238E27FC236}">
                <a16:creationId xmlns:a16="http://schemas.microsoft.com/office/drawing/2014/main" id="{9ECD090E-6AF6-428F-81C6-E338945FB60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63038" y="5088338"/>
            <a:ext cx="4216633" cy="134550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733"/>
        <p:cNvGrpSpPr/>
        <p:nvPr/>
      </p:nvGrpSpPr>
      <p:grpSpPr>
        <a:xfrm>
          <a:off x="0" y="0"/>
          <a:ext cx="0" cy="0"/>
          <a:chOff x="0" y="0"/>
          <a:chExt cx="0" cy="0"/>
        </a:xfrm>
      </p:grpSpPr>
      <p:sp>
        <p:nvSpPr>
          <p:cNvPr id="734" name="Google Shape;734;p94"/>
          <p:cNvSpPr txBox="1">
            <a:spLocks noGrp="1"/>
          </p:cNvSpPr>
          <p:nvPr>
            <p:ph type="title"/>
          </p:nvPr>
        </p:nvSpPr>
        <p:spPr>
          <a:xfrm>
            <a:off x="415600" y="593367"/>
            <a:ext cx="11360800" cy="763600"/>
          </a:xfrm>
          <a:prstGeom prst="rect">
            <a:avLst/>
          </a:prstGeom>
          <a:noFill/>
          <a:ln>
            <a:noFill/>
          </a:ln>
        </p:spPr>
        <p:txBody>
          <a:bodyPr spcFirstLastPara="1" vert="horz" wrap="square" lIns="121900" tIns="121900" rIns="121900" bIns="121900" rtlCol="0" anchor="t" anchorCtr="0">
            <a:normAutofit fontScale="90000"/>
          </a:bodyPr>
          <a:lstStyle/>
          <a:p>
            <a:pPr>
              <a:buSzPct val="111111"/>
            </a:pPr>
            <a:r>
              <a:rPr lang="zh-CN">
                <a:latin typeface="Times New Roman"/>
                <a:ea typeface="Times New Roman"/>
                <a:cs typeface="Times New Roman"/>
                <a:sym typeface="Times New Roman"/>
              </a:rPr>
              <a:t>Limitations of RL + Reward Modeling</a:t>
            </a:r>
            <a:endParaRPr>
              <a:latin typeface="Times New Roman"/>
              <a:ea typeface="Times New Roman"/>
              <a:cs typeface="Times New Roman"/>
              <a:sym typeface="Times New Roman"/>
            </a:endParaRPr>
          </a:p>
        </p:txBody>
      </p:sp>
      <p:sp>
        <p:nvSpPr>
          <p:cNvPr id="735" name="Google Shape;735;p94"/>
          <p:cNvSpPr txBox="1">
            <a:spLocks noGrp="1"/>
          </p:cNvSpPr>
          <p:nvPr>
            <p:ph type="body" idx="1"/>
          </p:nvPr>
        </p:nvSpPr>
        <p:spPr>
          <a:xfrm>
            <a:off x="415600" y="1536633"/>
            <a:ext cx="6010800" cy="4555200"/>
          </a:xfrm>
          <a:prstGeom prst="rect">
            <a:avLst/>
          </a:prstGeom>
          <a:noFill/>
          <a:ln>
            <a:noFill/>
          </a:ln>
        </p:spPr>
        <p:txBody>
          <a:bodyPr spcFirstLastPara="1" vert="horz" wrap="square" lIns="121900" tIns="121900" rIns="121900" bIns="121900" rtlCol="0" anchor="t" anchorCtr="0">
            <a:normAutofit lnSpcReduction="10000"/>
          </a:bodyPr>
          <a:lstStyle/>
          <a:p>
            <a:pPr>
              <a:buClr>
                <a:schemeClr val="dk1"/>
              </a:buClr>
              <a:buFont typeface="Times New Roman"/>
              <a:buChar char="●"/>
            </a:pPr>
            <a:r>
              <a:rPr lang="zh-CN">
                <a:solidFill>
                  <a:schemeClr val="dk1"/>
                </a:solidFill>
                <a:latin typeface="Times New Roman"/>
                <a:ea typeface="Times New Roman"/>
                <a:cs typeface="Times New Roman"/>
                <a:sym typeface="Times New Roman"/>
              </a:rPr>
              <a:t>Human preferences are unreliable!</a:t>
            </a:r>
            <a:endParaRPr>
              <a:solidFill>
                <a:schemeClr val="dk1"/>
              </a:solidFill>
              <a:latin typeface="Times New Roman"/>
              <a:ea typeface="Times New Roman"/>
              <a:cs typeface="Times New Roman"/>
              <a:sym typeface="Times New Roman"/>
            </a:endParaRPr>
          </a:p>
          <a:p>
            <a:pPr lvl="1">
              <a:buClr>
                <a:schemeClr val="dk1"/>
              </a:buClr>
              <a:buFont typeface="Times New Roman"/>
              <a:buChar char="○"/>
            </a:pPr>
            <a:r>
              <a:rPr lang="zh-CN">
                <a:solidFill>
                  <a:schemeClr val="dk1"/>
                </a:solidFill>
                <a:latin typeface="Times New Roman"/>
                <a:ea typeface="Times New Roman"/>
                <a:cs typeface="Times New Roman"/>
                <a:sym typeface="Times New Roman"/>
              </a:rPr>
              <a:t>“Reward hacking” is a common problem in RL</a:t>
            </a:r>
            <a:endParaRPr>
              <a:solidFill>
                <a:schemeClr val="dk1"/>
              </a:solidFill>
              <a:latin typeface="Times New Roman"/>
              <a:ea typeface="Times New Roman"/>
              <a:cs typeface="Times New Roman"/>
              <a:sym typeface="Times New Roman"/>
            </a:endParaRPr>
          </a:p>
          <a:p>
            <a:pPr lvl="1">
              <a:buClr>
                <a:schemeClr val="dk1"/>
              </a:buClr>
              <a:buFont typeface="Times New Roman"/>
              <a:buChar char="○"/>
            </a:pPr>
            <a:r>
              <a:rPr lang="zh-CN">
                <a:solidFill>
                  <a:schemeClr val="dk1"/>
                </a:solidFill>
                <a:latin typeface="Times New Roman"/>
                <a:ea typeface="Times New Roman"/>
                <a:cs typeface="Times New Roman"/>
                <a:sym typeface="Times New Roman"/>
              </a:rPr>
              <a:t>Chatbots are rewarded to produce responses that seem authoritative and helpful, </a:t>
            </a:r>
            <a:r>
              <a:rPr lang="zh-CN" i="1">
                <a:solidFill>
                  <a:schemeClr val="dk1"/>
                </a:solidFill>
                <a:latin typeface="Times New Roman"/>
                <a:ea typeface="Times New Roman"/>
                <a:cs typeface="Times New Roman"/>
                <a:sym typeface="Times New Roman"/>
              </a:rPr>
              <a:t>regardless of truth</a:t>
            </a:r>
            <a:endParaRPr i="1">
              <a:solidFill>
                <a:schemeClr val="dk1"/>
              </a:solidFill>
              <a:latin typeface="Times New Roman"/>
              <a:ea typeface="Times New Roman"/>
              <a:cs typeface="Times New Roman"/>
              <a:sym typeface="Times New Roman"/>
            </a:endParaRPr>
          </a:p>
          <a:p>
            <a:pPr lvl="1">
              <a:buClr>
                <a:schemeClr val="dk1"/>
              </a:buClr>
              <a:buFont typeface="Times New Roman"/>
              <a:buChar char="○"/>
            </a:pPr>
            <a:r>
              <a:rPr lang="zh-CN">
                <a:solidFill>
                  <a:schemeClr val="dk1"/>
                </a:solidFill>
                <a:latin typeface="Times New Roman"/>
                <a:ea typeface="Times New Roman"/>
                <a:cs typeface="Times New Roman"/>
                <a:sym typeface="Times New Roman"/>
              </a:rPr>
              <a:t>This can result in making up facts + hallucinations</a:t>
            </a:r>
            <a:endParaRPr>
              <a:solidFill>
                <a:schemeClr val="dk1"/>
              </a:solidFill>
              <a:latin typeface="Times New Roman"/>
              <a:ea typeface="Times New Roman"/>
              <a:cs typeface="Times New Roman"/>
              <a:sym typeface="Times New Roman"/>
            </a:endParaRPr>
          </a:p>
          <a:p>
            <a:pPr>
              <a:buClr>
                <a:schemeClr val="dk1"/>
              </a:buClr>
            </a:pPr>
            <a:r>
              <a:rPr lang="zh-CN" b="1">
                <a:solidFill>
                  <a:schemeClr val="dk1"/>
                </a:solidFill>
                <a:latin typeface="Times New Roman"/>
                <a:ea typeface="Times New Roman"/>
                <a:cs typeface="Times New Roman"/>
                <a:sym typeface="Times New Roman"/>
              </a:rPr>
              <a:t>Models</a:t>
            </a:r>
            <a:r>
              <a:rPr lang="zh-CN">
                <a:solidFill>
                  <a:schemeClr val="dk1"/>
                </a:solidFill>
                <a:latin typeface="Times New Roman"/>
                <a:ea typeface="Times New Roman"/>
                <a:cs typeface="Times New Roman"/>
                <a:sym typeface="Times New Roman"/>
              </a:rPr>
              <a:t> of human preferences are even more unreliable!</a:t>
            </a:r>
            <a:endParaRPr>
              <a:solidFill>
                <a:schemeClr val="dk1"/>
              </a:solidFill>
              <a:latin typeface="Times New Roman"/>
              <a:ea typeface="Times New Roman"/>
              <a:cs typeface="Times New Roman"/>
              <a:sym typeface="Times New Roman"/>
            </a:endParaRPr>
          </a:p>
        </p:txBody>
      </p:sp>
      <p:sp>
        <p:nvSpPr>
          <p:cNvPr id="736" name="Google Shape;736;p94"/>
          <p:cNvSpPr txBox="1"/>
          <p:nvPr/>
        </p:nvSpPr>
        <p:spPr>
          <a:xfrm>
            <a:off x="640600" y="6306200"/>
            <a:ext cx="11360800" cy="533600"/>
          </a:xfrm>
          <a:prstGeom prst="rect">
            <a:avLst/>
          </a:prstGeom>
          <a:noFill/>
          <a:ln>
            <a:noFill/>
          </a:ln>
        </p:spPr>
        <p:txBody>
          <a:bodyPr spcFirstLastPara="1" wrap="square" lIns="121900" tIns="121900" rIns="121900" bIns="121900" anchor="t" anchorCtr="0">
            <a:noAutofit/>
          </a:bodyPr>
          <a:lstStyle/>
          <a:p>
            <a:pPr>
              <a:buClr>
                <a:srgbClr val="000000"/>
              </a:buClr>
              <a:buSzPts val="1000"/>
            </a:pPr>
            <a:r>
              <a:rPr lang="en-US" altLang="zh-CN" sz="1333">
                <a:solidFill>
                  <a:schemeClr val="accent3"/>
                </a:solidFill>
                <a:highlight>
                  <a:srgbClr val="FFFFFF"/>
                </a:highlight>
                <a:latin typeface="Times New Roman"/>
                <a:ea typeface="Times New Roman"/>
                <a:cs typeface="Times New Roman"/>
                <a:sym typeface="Times New Roman"/>
              </a:rPr>
              <a:t>Stiennon, Nisan, et al. "Learning to summarize with human feedback." Advances in Neural Information Processing Systems 33 (2020): 3008-3021.</a:t>
            </a:r>
            <a:endParaRPr sz="1333">
              <a:solidFill>
                <a:schemeClr val="accent3"/>
              </a:solidFill>
              <a:highlight>
                <a:srgbClr val="FFFFFF"/>
              </a:highlight>
              <a:latin typeface="Times New Roman"/>
              <a:ea typeface="Times New Roman"/>
              <a:cs typeface="Times New Roman"/>
              <a:sym typeface="Times New Roman"/>
            </a:endParaRPr>
          </a:p>
          <a:p>
            <a:pPr algn="ctr">
              <a:buClr>
                <a:srgbClr val="000000"/>
              </a:buClr>
              <a:buSzPts val="1000"/>
            </a:pPr>
            <a:endParaRPr sz="1333">
              <a:solidFill>
                <a:schemeClr val="accent3"/>
              </a:solidFill>
              <a:highlight>
                <a:srgbClr val="FFFFFF"/>
              </a:highlight>
              <a:latin typeface="Times New Roman"/>
              <a:ea typeface="Times New Roman"/>
              <a:cs typeface="Times New Roman"/>
              <a:sym typeface="Times New Roman"/>
            </a:endParaRPr>
          </a:p>
        </p:txBody>
      </p:sp>
      <p:pic>
        <p:nvPicPr>
          <p:cNvPr id="737" name="Google Shape;737;p94"/>
          <p:cNvPicPr preferRelativeResize="0"/>
          <p:nvPr/>
        </p:nvPicPr>
        <p:blipFill rotWithShape="1">
          <a:blip r:embed="rId3">
            <a:alphaModFix/>
          </a:blip>
          <a:srcRect/>
          <a:stretch/>
        </p:blipFill>
        <p:spPr>
          <a:xfrm>
            <a:off x="6788000" y="1356967"/>
            <a:ext cx="4988400" cy="4542835"/>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741"/>
        <p:cNvGrpSpPr/>
        <p:nvPr/>
      </p:nvGrpSpPr>
      <p:grpSpPr>
        <a:xfrm>
          <a:off x="0" y="0"/>
          <a:ext cx="0" cy="0"/>
          <a:chOff x="0" y="0"/>
          <a:chExt cx="0" cy="0"/>
        </a:xfrm>
      </p:grpSpPr>
      <p:sp>
        <p:nvSpPr>
          <p:cNvPr id="742" name="Google Shape;742;p95"/>
          <p:cNvSpPr txBox="1">
            <a:spLocks noGrp="1"/>
          </p:cNvSpPr>
          <p:nvPr>
            <p:ph type="title"/>
          </p:nvPr>
        </p:nvSpPr>
        <p:spPr>
          <a:xfrm>
            <a:off x="415600" y="593367"/>
            <a:ext cx="11360800" cy="763600"/>
          </a:xfrm>
          <a:prstGeom prst="rect">
            <a:avLst/>
          </a:prstGeom>
          <a:noFill/>
          <a:ln>
            <a:noFill/>
          </a:ln>
        </p:spPr>
        <p:txBody>
          <a:bodyPr spcFirstLastPara="1" vert="horz" wrap="square" lIns="121900" tIns="121900" rIns="121900" bIns="121900" rtlCol="0" anchor="t" anchorCtr="0">
            <a:normAutofit fontScale="90000"/>
          </a:bodyPr>
          <a:lstStyle/>
          <a:p>
            <a:pPr>
              <a:buSzPct val="111111"/>
            </a:pPr>
            <a:r>
              <a:rPr lang="zh-CN">
                <a:latin typeface="Times New Roman"/>
                <a:ea typeface="Times New Roman"/>
                <a:cs typeface="Times New Roman"/>
                <a:sym typeface="Times New Roman"/>
              </a:rPr>
              <a:t>Limitations of RL + Reward Modeling</a:t>
            </a:r>
            <a:endParaRPr>
              <a:latin typeface="Times New Roman"/>
              <a:ea typeface="Times New Roman"/>
              <a:cs typeface="Times New Roman"/>
              <a:sym typeface="Times New Roman"/>
            </a:endParaRPr>
          </a:p>
        </p:txBody>
      </p:sp>
      <p:sp>
        <p:nvSpPr>
          <p:cNvPr id="743" name="Google Shape;743;p95"/>
          <p:cNvSpPr txBox="1">
            <a:spLocks noGrp="1"/>
          </p:cNvSpPr>
          <p:nvPr>
            <p:ph type="body" idx="1"/>
          </p:nvPr>
        </p:nvSpPr>
        <p:spPr>
          <a:xfrm>
            <a:off x="415600" y="1536633"/>
            <a:ext cx="5968400" cy="4769600"/>
          </a:xfrm>
          <a:prstGeom prst="rect">
            <a:avLst/>
          </a:prstGeom>
          <a:noFill/>
          <a:ln>
            <a:noFill/>
          </a:ln>
        </p:spPr>
        <p:txBody>
          <a:bodyPr spcFirstLastPara="1" vert="horz" wrap="square" lIns="121900" tIns="121900" rIns="121900" bIns="121900" rtlCol="0" anchor="t" anchorCtr="0">
            <a:normAutofit fontScale="92500" lnSpcReduction="20000"/>
          </a:bodyPr>
          <a:lstStyle/>
          <a:p>
            <a:pPr>
              <a:buClr>
                <a:schemeClr val="dk1"/>
              </a:buClr>
              <a:buFont typeface="Times New Roman"/>
              <a:buChar char="●"/>
            </a:pPr>
            <a:r>
              <a:rPr lang="zh-CN" dirty="0">
                <a:solidFill>
                  <a:schemeClr val="dk1"/>
                </a:solidFill>
                <a:latin typeface="Times New Roman"/>
                <a:ea typeface="Times New Roman"/>
                <a:cs typeface="Times New Roman"/>
                <a:sym typeface="Times New Roman"/>
              </a:rPr>
              <a:t>Human preferences are unreliable!</a:t>
            </a:r>
            <a:endParaRPr dirty="0">
              <a:solidFill>
                <a:schemeClr val="dk1"/>
              </a:solidFill>
              <a:latin typeface="Times New Roman"/>
              <a:ea typeface="Times New Roman"/>
              <a:cs typeface="Times New Roman"/>
              <a:sym typeface="Times New Roman"/>
            </a:endParaRPr>
          </a:p>
          <a:p>
            <a:pPr lvl="1">
              <a:buClr>
                <a:schemeClr val="dk1"/>
              </a:buClr>
              <a:buFont typeface="Times New Roman"/>
              <a:buChar char="○"/>
            </a:pPr>
            <a:r>
              <a:rPr lang="zh-CN" dirty="0">
                <a:solidFill>
                  <a:schemeClr val="dk1"/>
                </a:solidFill>
                <a:latin typeface="Times New Roman"/>
                <a:ea typeface="Times New Roman"/>
                <a:cs typeface="Times New Roman"/>
                <a:sym typeface="Times New Roman"/>
              </a:rPr>
              <a:t>“Reward hacking” is a common problem in RL</a:t>
            </a:r>
            <a:endParaRPr dirty="0">
              <a:solidFill>
                <a:schemeClr val="dk1"/>
              </a:solidFill>
              <a:latin typeface="Times New Roman"/>
              <a:ea typeface="Times New Roman"/>
              <a:cs typeface="Times New Roman"/>
              <a:sym typeface="Times New Roman"/>
            </a:endParaRPr>
          </a:p>
          <a:p>
            <a:pPr lvl="1">
              <a:buClr>
                <a:schemeClr val="dk1"/>
              </a:buClr>
              <a:buFont typeface="Times New Roman"/>
              <a:buChar char="○"/>
            </a:pPr>
            <a:r>
              <a:rPr lang="zh-CN" dirty="0">
                <a:solidFill>
                  <a:schemeClr val="dk1"/>
                </a:solidFill>
                <a:latin typeface="Times New Roman"/>
                <a:ea typeface="Times New Roman"/>
                <a:cs typeface="Times New Roman"/>
                <a:sym typeface="Times New Roman"/>
              </a:rPr>
              <a:t>Chatbots are rewarded to produce responses that seem authoritative and helpful, </a:t>
            </a:r>
            <a:r>
              <a:rPr lang="zh-CN" i="1" dirty="0">
                <a:solidFill>
                  <a:schemeClr val="dk1"/>
                </a:solidFill>
                <a:latin typeface="Times New Roman"/>
                <a:ea typeface="Times New Roman"/>
                <a:cs typeface="Times New Roman"/>
                <a:sym typeface="Times New Roman"/>
              </a:rPr>
              <a:t>regardless of truth</a:t>
            </a:r>
            <a:endParaRPr i="1" dirty="0">
              <a:solidFill>
                <a:schemeClr val="dk1"/>
              </a:solidFill>
              <a:latin typeface="Times New Roman"/>
              <a:ea typeface="Times New Roman"/>
              <a:cs typeface="Times New Roman"/>
              <a:sym typeface="Times New Roman"/>
            </a:endParaRPr>
          </a:p>
          <a:p>
            <a:pPr lvl="1">
              <a:buClr>
                <a:schemeClr val="dk1"/>
              </a:buClr>
              <a:buFont typeface="Times New Roman"/>
              <a:buChar char="○"/>
            </a:pPr>
            <a:r>
              <a:rPr lang="zh-CN" dirty="0">
                <a:solidFill>
                  <a:schemeClr val="dk1"/>
                </a:solidFill>
                <a:latin typeface="Times New Roman"/>
                <a:ea typeface="Times New Roman"/>
                <a:cs typeface="Times New Roman"/>
                <a:sym typeface="Times New Roman"/>
              </a:rPr>
              <a:t>This can result in making up facts + hallucinations</a:t>
            </a:r>
            <a:endParaRPr dirty="0">
              <a:solidFill>
                <a:schemeClr val="dk1"/>
              </a:solidFill>
              <a:latin typeface="Times New Roman"/>
              <a:ea typeface="Times New Roman"/>
              <a:cs typeface="Times New Roman"/>
              <a:sym typeface="Times New Roman"/>
            </a:endParaRPr>
          </a:p>
          <a:p>
            <a:pPr>
              <a:buClr>
                <a:schemeClr val="dk1"/>
              </a:buClr>
            </a:pPr>
            <a:r>
              <a:rPr lang="zh-CN" b="1" dirty="0">
                <a:solidFill>
                  <a:schemeClr val="dk1"/>
                </a:solidFill>
                <a:latin typeface="Times New Roman"/>
                <a:ea typeface="Times New Roman"/>
                <a:cs typeface="Times New Roman"/>
                <a:sym typeface="Times New Roman"/>
              </a:rPr>
              <a:t>Models</a:t>
            </a:r>
            <a:r>
              <a:rPr lang="zh-CN" dirty="0">
                <a:solidFill>
                  <a:schemeClr val="dk1"/>
                </a:solidFill>
                <a:latin typeface="Times New Roman"/>
                <a:ea typeface="Times New Roman"/>
                <a:cs typeface="Times New Roman"/>
                <a:sym typeface="Times New Roman"/>
              </a:rPr>
              <a:t> of human preferences are even more unreliable!</a:t>
            </a:r>
            <a:endParaRPr dirty="0">
              <a:solidFill>
                <a:schemeClr val="dk1"/>
              </a:solidFill>
              <a:latin typeface="Times New Roman"/>
              <a:ea typeface="Times New Roman"/>
              <a:cs typeface="Times New Roman"/>
              <a:sym typeface="Times New Roman"/>
            </a:endParaRPr>
          </a:p>
          <a:p>
            <a:pPr>
              <a:buClr>
                <a:schemeClr val="dk1"/>
              </a:buClr>
              <a:buFont typeface="Times New Roman"/>
              <a:buChar char="●"/>
            </a:pPr>
            <a:r>
              <a:rPr lang="zh-CN" dirty="0">
                <a:solidFill>
                  <a:schemeClr val="dk1"/>
                </a:solidFill>
                <a:latin typeface="Times New Roman"/>
                <a:ea typeface="Times New Roman"/>
                <a:cs typeface="Times New Roman"/>
                <a:sym typeface="Times New Roman"/>
              </a:rPr>
              <a:t>There is a real concern of AI mis(alignment)!</a:t>
            </a:r>
            <a:endParaRPr dirty="0">
              <a:solidFill>
                <a:schemeClr val="dk1"/>
              </a:solidFill>
              <a:latin typeface="Times New Roman"/>
              <a:ea typeface="Times New Roman"/>
              <a:cs typeface="Times New Roman"/>
              <a:sym typeface="Times New Roman"/>
            </a:endParaRPr>
          </a:p>
        </p:txBody>
      </p:sp>
      <p:sp>
        <p:nvSpPr>
          <p:cNvPr id="744" name="Google Shape;744;p95"/>
          <p:cNvSpPr txBox="1"/>
          <p:nvPr/>
        </p:nvSpPr>
        <p:spPr>
          <a:xfrm>
            <a:off x="640600" y="6306200"/>
            <a:ext cx="11360800" cy="533600"/>
          </a:xfrm>
          <a:prstGeom prst="rect">
            <a:avLst/>
          </a:prstGeom>
          <a:noFill/>
          <a:ln>
            <a:noFill/>
          </a:ln>
        </p:spPr>
        <p:txBody>
          <a:bodyPr spcFirstLastPara="1" wrap="square" lIns="121900" tIns="121900" rIns="121900" bIns="121900" anchor="t" anchorCtr="0">
            <a:noAutofit/>
          </a:bodyPr>
          <a:lstStyle/>
          <a:p>
            <a:pPr algn="ctr">
              <a:buClr>
                <a:srgbClr val="000000"/>
              </a:buClr>
              <a:buSzPts val="1000"/>
            </a:pPr>
            <a:r>
              <a:rPr lang="en-US" altLang="zh-CN" sz="1333">
                <a:solidFill>
                  <a:schemeClr val="accent3"/>
                </a:solidFill>
                <a:highlight>
                  <a:srgbClr val="FFFFFF"/>
                </a:highlight>
                <a:latin typeface="Times New Roman"/>
                <a:ea typeface="Times New Roman"/>
                <a:cs typeface="Times New Roman"/>
                <a:sym typeface="Times New Roman"/>
              </a:rPr>
              <a:t>https://twitter.com/percyliang/status/1600383429463355392</a:t>
            </a:r>
            <a:endParaRPr sz="1333">
              <a:solidFill>
                <a:schemeClr val="accent3"/>
              </a:solidFill>
              <a:highlight>
                <a:srgbClr val="FFFFFF"/>
              </a:highlight>
              <a:latin typeface="Times New Roman"/>
              <a:ea typeface="Times New Roman"/>
              <a:cs typeface="Times New Roman"/>
              <a:sym typeface="Times New Roman"/>
            </a:endParaRPr>
          </a:p>
          <a:p>
            <a:pPr algn="ctr">
              <a:buClr>
                <a:srgbClr val="000000"/>
              </a:buClr>
              <a:buSzPts val="1000"/>
            </a:pPr>
            <a:endParaRPr sz="1333">
              <a:solidFill>
                <a:schemeClr val="accent3"/>
              </a:solidFill>
              <a:highlight>
                <a:srgbClr val="FFFFFF"/>
              </a:highlight>
              <a:latin typeface="Times New Roman"/>
              <a:ea typeface="Times New Roman"/>
              <a:cs typeface="Times New Roman"/>
              <a:sym typeface="Times New Roman"/>
            </a:endParaRPr>
          </a:p>
        </p:txBody>
      </p:sp>
      <p:pic>
        <p:nvPicPr>
          <p:cNvPr id="745" name="Google Shape;745;p95"/>
          <p:cNvPicPr preferRelativeResize="0"/>
          <p:nvPr/>
        </p:nvPicPr>
        <p:blipFill rotWithShape="1">
          <a:blip r:embed="rId3">
            <a:alphaModFix/>
          </a:blip>
          <a:srcRect/>
          <a:stretch/>
        </p:blipFill>
        <p:spPr>
          <a:xfrm>
            <a:off x="6289422" y="2171422"/>
            <a:ext cx="5817380" cy="3250873"/>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3" name="Google Shape;553;p74"/>
          <p:cNvSpPr txBox="1">
            <a:spLocks noGrp="1"/>
          </p:cNvSpPr>
          <p:nvPr>
            <p:ph type="title" idx="4294967295"/>
          </p:nvPr>
        </p:nvSpPr>
        <p:spPr>
          <a:xfrm>
            <a:off x="780000" y="526167"/>
            <a:ext cx="10632000" cy="444453"/>
          </a:xfrm>
          <a:prstGeom prst="rect">
            <a:avLst/>
          </a:prstGeom>
          <a:noFill/>
          <a:ln>
            <a:noFill/>
          </a:ln>
        </p:spPr>
        <p:txBody>
          <a:bodyPr spcFirstLastPara="1" vert="horz" wrap="square" lIns="0" tIns="19467" rIns="0" bIns="0" rtlCol="0" anchor="t" anchorCtr="0">
            <a:spAutoFit/>
          </a:bodyPr>
          <a:lstStyle/>
          <a:p>
            <a:pPr marL="16933" algn="ctr">
              <a:buSzPts val="1100"/>
            </a:pPr>
            <a:r>
              <a:rPr lang="en-US" sz="3067" dirty="0">
                <a:solidFill>
                  <a:srgbClr val="000000"/>
                </a:solidFill>
                <a:latin typeface="Lato"/>
                <a:ea typeface="Lato"/>
                <a:cs typeface="Lato"/>
                <a:sym typeface="Lato"/>
              </a:rPr>
              <a:t>Biases of human feedback</a:t>
            </a:r>
            <a:endParaRPr sz="3067" dirty="0">
              <a:solidFill>
                <a:srgbClr val="000000"/>
              </a:solidFill>
              <a:latin typeface="Lato"/>
              <a:ea typeface="Lato"/>
              <a:cs typeface="Lato"/>
              <a:sym typeface="Lato"/>
            </a:endParaRPr>
          </a:p>
        </p:txBody>
      </p:sp>
      <p:pic>
        <p:nvPicPr>
          <p:cNvPr id="3" name="Picture 2">
            <a:extLst>
              <a:ext uri="{FF2B5EF4-FFF2-40B4-BE49-F238E27FC236}">
                <a16:creationId xmlns:a16="http://schemas.microsoft.com/office/drawing/2014/main" id="{D29536EB-1C62-45E7-9F7B-452AC07B5244}"/>
              </a:ext>
            </a:extLst>
          </p:cNvPr>
          <p:cNvPicPr>
            <a:picLocks noChangeAspect="1"/>
          </p:cNvPicPr>
          <p:nvPr/>
        </p:nvPicPr>
        <p:blipFill>
          <a:blip r:embed="rId3"/>
          <a:stretch>
            <a:fillRect/>
          </a:stretch>
        </p:blipFill>
        <p:spPr>
          <a:xfrm>
            <a:off x="2853788" y="2036356"/>
            <a:ext cx="6612245" cy="2266800"/>
          </a:xfrm>
          <a:prstGeom prst="rect">
            <a:avLst/>
          </a:prstGeom>
        </p:spPr>
      </p:pic>
      <p:sp>
        <p:nvSpPr>
          <p:cNvPr id="4" name="TextBox 3">
            <a:extLst>
              <a:ext uri="{FF2B5EF4-FFF2-40B4-BE49-F238E27FC236}">
                <a16:creationId xmlns:a16="http://schemas.microsoft.com/office/drawing/2014/main" id="{1E0CA426-BE6F-49F0-B654-33D0EF9EEA78}"/>
              </a:ext>
            </a:extLst>
          </p:cNvPr>
          <p:cNvSpPr txBox="1"/>
          <p:nvPr/>
        </p:nvSpPr>
        <p:spPr>
          <a:xfrm>
            <a:off x="2625285" y="5161578"/>
            <a:ext cx="8641192" cy="830997"/>
          </a:xfrm>
          <a:prstGeom prst="rect">
            <a:avLst/>
          </a:prstGeom>
          <a:noFill/>
        </p:spPr>
        <p:txBody>
          <a:bodyPr wrap="square" rtlCol="0">
            <a:spAutoFit/>
          </a:bodyPr>
          <a:lstStyle/>
          <a:p>
            <a:r>
              <a:rPr lang="en-US" altLang="zh-CN" sz="2400" dirty="0"/>
              <a:t>A work to systematically investigate biases during feed from our team</a:t>
            </a:r>
            <a:endParaRPr lang="zh-CN" altLang="en-US" sz="2400" dirty="0"/>
          </a:p>
        </p:txBody>
      </p:sp>
    </p:spTree>
    <p:extLst>
      <p:ext uri="{BB962C8B-B14F-4D97-AF65-F5344CB8AC3E}">
        <p14:creationId xmlns:p14="http://schemas.microsoft.com/office/powerpoint/2010/main" val="336812456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3" name="Google Shape;553;p74"/>
          <p:cNvSpPr txBox="1">
            <a:spLocks noGrp="1"/>
          </p:cNvSpPr>
          <p:nvPr>
            <p:ph type="title" idx="4294967295"/>
          </p:nvPr>
        </p:nvSpPr>
        <p:spPr>
          <a:xfrm>
            <a:off x="780000" y="526167"/>
            <a:ext cx="10632000" cy="444453"/>
          </a:xfrm>
          <a:prstGeom prst="rect">
            <a:avLst/>
          </a:prstGeom>
          <a:noFill/>
          <a:ln>
            <a:noFill/>
          </a:ln>
        </p:spPr>
        <p:txBody>
          <a:bodyPr spcFirstLastPara="1" vert="horz" wrap="square" lIns="0" tIns="19467" rIns="0" bIns="0" rtlCol="0" anchor="t" anchorCtr="0">
            <a:spAutoFit/>
          </a:bodyPr>
          <a:lstStyle/>
          <a:p>
            <a:pPr marL="16933" algn="ctr">
              <a:buSzPts val="1100"/>
            </a:pPr>
            <a:r>
              <a:rPr lang="en-US" sz="3067" dirty="0">
                <a:solidFill>
                  <a:srgbClr val="000000"/>
                </a:solidFill>
                <a:latin typeface="Lato"/>
                <a:ea typeface="Lato"/>
                <a:cs typeface="Lato"/>
                <a:sym typeface="Lato"/>
              </a:rPr>
              <a:t>Biases of human feedback</a:t>
            </a:r>
            <a:endParaRPr sz="3067" dirty="0">
              <a:solidFill>
                <a:srgbClr val="000000"/>
              </a:solidFill>
              <a:latin typeface="Lato"/>
              <a:ea typeface="Lato"/>
              <a:cs typeface="Lato"/>
              <a:sym typeface="Lato"/>
            </a:endParaRPr>
          </a:p>
        </p:txBody>
      </p:sp>
      <p:sp>
        <p:nvSpPr>
          <p:cNvPr id="4" name="TextBox 3">
            <a:extLst>
              <a:ext uri="{FF2B5EF4-FFF2-40B4-BE49-F238E27FC236}">
                <a16:creationId xmlns:a16="http://schemas.microsoft.com/office/drawing/2014/main" id="{1E0CA426-BE6F-49F0-B654-33D0EF9EEA78}"/>
              </a:ext>
            </a:extLst>
          </p:cNvPr>
          <p:cNvSpPr txBox="1"/>
          <p:nvPr/>
        </p:nvSpPr>
        <p:spPr>
          <a:xfrm>
            <a:off x="2554091" y="5840251"/>
            <a:ext cx="8641192" cy="830997"/>
          </a:xfrm>
          <a:prstGeom prst="rect">
            <a:avLst/>
          </a:prstGeom>
          <a:noFill/>
        </p:spPr>
        <p:txBody>
          <a:bodyPr wrap="square" rtlCol="0">
            <a:spAutoFit/>
          </a:bodyPr>
          <a:lstStyle/>
          <a:p>
            <a:r>
              <a:rPr lang="en-US" altLang="zh-CN" sz="2400" dirty="0"/>
              <a:t>A work to systematically investigate biases during feed from our team</a:t>
            </a:r>
            <a:endParaRPr lang="zh-CN" altLang="en-US" sz="2400" dirty="0"/>
          </a:p>
        </p:txBody>
      </p:sp>
      <p:pic>
        <p:nvPicPr>
          <p:cNvPr id="5" name="Picture 4">
            <a:extLst>
              <a:ext uri="{FF2B5EF4-FFF2-40B4-BE49-F238E27FC236}">
                <a16:creationId xmlns:a16="http://schemas.microsoft.com/office/drawing/2014/main" id="{A5BEEB12-D3FC-4FED-AD63-CDCF93B2E79C}"/>
              </a:ext>
            </a:extLst>
          </p:cNvPr>
          <p:cNvPicPr>
            <a:picLocks noChangeAspect="1"/>
          </p:cNvPicPr>
          <p:nvPr/>
        </p:nvPicPr>
        <p:blipFill>
          <a:blip r:embed="rId3"/>
          <a:stretch>
            <a:fillRect/>
          </a:stretch>
        </p:blipFill>
        <p:spPr>
          <a:xfrm>
            <a:off x="1966555" y="1767985"/>
            <a:ext cx="8970647" cy="3535612"/>
          </a:xfrm>
          <a:prstGeom prst="rect">
            <a:avLst/>
          </a:prstGeom>
        </p:spPr>
      </p:pic>
    </p:spTree>
    <p:extLst>
      <p:ext uri="{BB962C8B-B14F-4D97-AF65-F5344CB8AC3E}">
        <p14:creationId xmlns:p14="http://schemas.microsoft.com/office/powerpoint/2010/main" val="320742438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p96"/>
          <p:cNvSpPr txBox="1">
            <a:spLocks noGrp="1"/>
          </p:cNvSpPr>
          <p:nvPr>
            <p:ph type="title"/>
          </p:nvPr>
        </p:nvSpPr>
        <p:spPr>
          <a:xfrm>
            <a:off x="415600" y="2481000"/>
            <a:ext cx="11360800" cy="2281600"/>
          </a:xfrm>
          <a:prstGeom prst="rect">
            <a:avLst/>
          </a:prstGeom>
          <a:noFill/>
          <a:ln>
            <a:noFill/>
          </a:ln>
        </p:spPr>
        <p:txBody>
          <a:bodyPr spcFirstLastPara="1" vert="horz" wrap="square" lIns="121900" tIns="121900" rIns="121900" bIns="121900" rtlCol="0" anchor="t" anchorCtr="0">
            <a:normAutofit/>
          </a:bodyPr>
          <a:lstStyle/>
          <a:p>
            <a:pPr algn="ctr"/>
            <a:r>
              <a:rPr lang="en-US" altLang="zh-CN" sz="4533" dirty="0">
                <a:solidFill>
                  <a:srgbClr val="FF0000"/>
                </a:solidFill>
                <a:latin typeface="Times New Roman"/>
                <a:ea typeface="Times New Roman"/>
                <a:cs typeface="Times New Roman"/>
                <a:sym typeface="Times New Roman"/>
              </a:rPr>
              <a:t>Difference between Supervised finetuning vs. RLHF</a:t>
            </a:r>
            <a:endParaRPr sz="4533" dirty="0">
              <a:solidFill>
                <a:srgbClr val="FF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78327514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12F2B-9156-4F3B-BFFB-EBE11A9DA16B}"/>
              </a:ext>
            </a:extLst>
          </p:cNvPr>
          <p:cNvSpPr>
            <a:spLocks noGrp="1"/>
          </p:cNvSpPr>
          <p:nvPr>
            <p:ph type="title"/>
          </p:nvPr>
        </p:nvSpPr>
        <p:spPr/>
        <p:txBody>
          <a:bodyPr>
            <a:normAutofit fontScale="90000"/>
          </a:bodyPr>
          <a:lstStyle/>
          <a:p>
            <a:r>
              <a:rPr lang="en-US" altLang="zh-CN" dirty="0"/>
              <a:t>SFT memorizes and RL generalizes </a:t>
            </a:r>
            <a:endParaRPr lang="zh-CN" altLang="en-US" dirty="0"/>
          </a:p>
        </p:txBody>
      </p:sp>
      <p:pic>
        <p:nvPicPr>
          <p:cNvPr id="5" name="Picture 4">
            <a:extLst>
              <a:ext uri="{FF2B5EF4-FFF2-40B4-BE49-F238E27FC236}">
                <a16:creationId xmlns:a16="http://schemas.microsoft.com/office/drawing/2014/main" id="{850D9AD6-9A00-4E69-951E-FE28A941B5DF}"/>
              </a:ext>
            </a:extLst>
          </p:cNvPr>
          <p:cNvPicPr>
            <a:picLocks noChangeAspect="1"/>
          </p:cNvPicPr>
          <p:nvPr/>
        </p:nvPicPr>
        <p:blipFill>
          <a:blip r:embed="rId2"/>
          <a:stretch>
            <a:fillRect/>
          </a:stretch>
        </p:blipFill>
        <p:spPr>
          <a:xfrm>
            <a:off x="2655920" y="1819073"/>
            <a:ext cx="6542600" cy="3582148"/>
          </a:xfrm>
          <a:prstGeom prst="rect">
            <a:avLst/>
          </a:prstGeom>
        </p:spPr>
      </p:pic>
      <p:sp>
        <p:nvSpPr>
          <p:cNvPr id="6" name="Rectangle 5">
            <a:extLst>
              <a:ext uri="{FF2B5EF4-FFF2-40B4-BE49-F238E27FC236}">
                <a16:creationId xmlns:a16="http://schemas.microsoft.com/office/drawing/2014/main" id="{F9E1AA83-7E16-409A-875E-CFE691E2CEEF}"/>
              </a:ext>
            </a:extLst>
          </p:cNvPr>
          <p:cNvSpPr/>
          <p:nvPr/>
        </p:nvSpPr>
        <p:spPr>
          <a:xfrm>
            <a:off x="4214716" y="5895301"/>
            <a:ext cx="3762568" cy="369332"/>
          </a:xfrm>
          <a:prstGeom prst="rect">
            <a:avLst/>
          </a:prstGeom>
        </p:spPr>
        <p:txBody>
          <a:bodyPr wrap="none">
            <a:spAutoFit/>
          </a:bodyPr>
          <a:lstStyle/>
          <a:p>
            <a:r>
              <a:rPr lang="en-US" altLang="zh-CN" dirty="0"/>
              <a:t>Visual navigation environment V-IRL</a:t>
            </a:r>
            <a:endParaRPr lang="zh-CN" altLang="en-US" dirty="0"/>
          </a:p>
        </p:txBody>
      </p:sp>
      <p:sp>
        <p:nvSpPr>
          <p:cNvPr id="7" name="Rectangle 6">
            <a:extLst>
              <a:ext uri="{FF2B5EF4-FFF2-40B4-BE49-F238E27FC236}">
                <a16:creationId xmlns:a16="http://schemas.microsoft.com/office/drawing/2014/main" id="{9693D31E-7A1E-40A2-B8BF-128BFF4D7080}"/>
              </a:ext>
            </a:extLst>
          </p:cNvPr>
          <p:cNvSpPr/>
          <p:nvPr/>
        </p:nvSpPr>
        <p:spPr>
          <a:xfrm>
            <a:off x="669613" y="6420159"/>
            <a:ext cx="11012951" cy="338554"/>
          </a:xfrm>
          <a:prstGeom prst="rect">
            <a:avLst/>
          </a:prstGeom>
        </p:spPr>
        <p:txBody>
          <a:bodyPr wrap="none">
            <a:spAutoFit/>
          </a:bodyPr>
          <a:lstStyle/>
          <a:p>
            <a:r>
              <a:rPr lang="en-US" altLang="zh-CN" sz="1600" dirty="0"/>
              <a:t>SFT Memorizes, RL Generalizes: A Comparative Study of Foundation Model Post-training . </a:t>
            </a:r>
            <a:r>
              <a:rPr lang="zh-CN" altLang="en-US" sz="1600" dirty="0"/>
              <a:t>https://arxiv.org/pdf/2501.17161</a:t>
            </a:r>
          </a:p>
        </p:txBody>
      </p:sp>
    </p:spTree>
    <p:extLst>
      <p:ext uri="{BB962C8B-B14F-4D97-AF65-F5344CB8AC3E}">
        <p14:creationId xmlns:p14="http://schemas.microsoft.com/office/powerpoint/2010/main" val="200321577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E00B7-7346-45F0-97F7-4A6CFEDA601D}"/>
              </a:ext>
            </a:extLst>
          </p:cNvPr>
          <p:cNvSpPr>
            <a:spLocks noGrp="1"/>
          </p:cNvSpPr>
          <p:nvPr>
            <p:ph type="title"/>
          </p:nvPr>
        </p:nvSpPr>
        <p:spPr/>
        <p:txBody>
          <a:bodyPr>
            <a:normAutofit fontScale="90000"/>
          </a:bodyPr>
          <a:lstStyle/>
          <a:p>
            <a:r>
              <a:rPr lang="en-US" altLang="zh-CN" dirty="0" err="1"/>
              <a:t>Comparision</a:t>
            </a:r>
            <a:endParaRPr lang="zh-CN" altLang="en-US" dirty="0"/>
          </a:p>
        </p:txBody>
      </p:sp>
      <p:sp>
        <p:nvSpPr>
          <p:cNvPr id="3" name="Text Placeholder 2">
            <a:extLst>
              <a:ext uri="{FF2B5EF4-FFF2-40B4-BE49-F238E27FC236}">
                <a16:creationId xmlns:a16="http://schemas.microsoft.com/office/drawing/2014/main" id="{DFEC36EA-5AF6-4395-8298-B16AA4CA4988}"/>
              </a:ext>
            </a:extLst>
          </p:cNvPr>
          <p:cNvSpPr>
            <a:spLocks noGrp="1"/>
          </p:cNvSpPr>
          <p:nvPr>
            <p:ph type="body" idx="1"/>
          </p:nvPr>
        </p:nvSpPr>
        <p:spPr/>
        <p:txBody>
          <a:bodyPr/>
          <a:lstStyle/>
          <a:p>
            <a:r>
              <a:rPr lang="en-US" altLang="zh-CN" dirty="0"/>
              <a:t>Complexity</a:t>
            </a:r>
            <a:r>
              <a:rPr lang="zh-CN" altLang="en-US" dirty="0"/>
              <a:t>： </a:t>
            </a:r>
            <a:r>
              <a:rPr lang="en-US" altLang="zh-CN" dirty="0"/>
              <a:t>SFT&lt;RLHF</a:t>
            </a:r>
          </a:p>
          <a:p>
            <a:r>
              <a:rPr lang="en-US" altLang="zh-CN" dirty="0"/>
              <a:t>Stability: RLHF&lt;SFT</a:t>
            </a:r>
          </a:p>
          <a:p>
            <a:r>
              <a:rPr lang="en-US" altLang="zh-CN" dirty="0"/>
              <a:t>Dependency on human prior: </a:t>
            </a:r>
          </a:p>
          <a:p>
            <a:pPr lvl="1"/>
            <a:r>
              <a:rPr lang="en-US" altLang="zh-CN" b="1" dirty="0"/>
              <a:t>SFT</a:t>
            </a:r>
            <a:r>
              <a:rPr lang="en-US" altLang="zh-CN" dirty="0"/>
              <a:t> (step-wised guidance)</a:t>
            </a:r>
          </a:p>
          <a:p>
            <a:pPr lvl="1"/>
            <a:r>
              <a:rPr lang="en-US" altLang="zh-CN" b="1" dirty="0"/>
              <a:t>Learn from human preference </a:t>
            </a:r>
            <a:r>
              <a:rPr lang="en-US" altLang="zh-CN" dirty="0"/>
              <a:t>(outcome preference)</a:t>
            </a:r>
          </a:p>
          <a:p>
            <a:pPr lvl="1"/>
            <a:r>
              <a:rPr lang="en-US" altLang="zh-CN" b="1" dirty="0" err="1"/>
              <a:t>Deepseek</a:t>
            </a:r>
            <a:r>
              <a:rPr lang="en-US" altLang="zh-CN" b="1" dirty="0"/>
              <a:t> R1 Zero </a:t>
            </a:r>
            <a:r>
              <a:rPr lang="en-US" altLang="zh-CN" dirty="0"/>
              <a:t>: Learn from </a:t>
            </a:r>
            <a:r>
              <a:rPr lang="en-US" altLang="zh-CN" b="1" dirty="0"/>
              <a:t>rule-based rewards (outcome corrects) </a:t>
            </a:r>
          </a:p>
          <a:p>
            <a:pPr marL="795847" lvl="1" indent="0">
              <a:buNone/>
            </a:pPr>
            <a:r>
              <a:rPr lang="en-US" altLang="zh-CN" dirty="0"/>
              <a:t> </a:t>
            </a:r>
            <a:endParaRPr lang="zh-CN" altLang="en-US" dirty="0"/>
          </a:p>
        </p:txBody>
      </p:sp>
    </p:spTree>
    <p:extLst>
      <p:ext uri="{BB962C8B-B14F-4D97-AF65-F5344CB8AC3E}">
        <p14:creationId xmlns:p14="http://schemas.microsoft.com/office/powerpoint/2010/main" val="312991519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p96"/>
          <p:cNvSpPr txBox="1">
            <a:spLocks noGrp="1"/>
          </p:cNvSpPr>
          <p:nvPr>
            <p:ph type="title"/>
          </p:nvPr>
        </p:nvSpPr>
        <p:spPr>
          <a:xfrm>
            <a:off x="415600" y="2481000"/>
            <a:ext cx="11360800" cy="2281600"/>
          </a:xfrm>
          <a:prstGeom prst="rect">
            <a:avLst/>
          </a:prstGeom>
          <a:noFill/>
          <a:ln>
            <a:noFill/>
          </a:ln>
        </p:spPr>
        <p:txBody>
          <a:bodyPr spcFirstLastPara="1" vert="horz" wrap="square" lIns="121900" tIns="121900" rIns="121900" bIns="121900" rtlCol="0" anchor="t" anchorCtr="0">
            <a:normAutofit/>
          </a:bodyPr>
          <a:lstStyle/>
          <a:p>
            <a:pPr algn="ctr"/>
            <a:r>
              <a:rPr lang="en-US" altLang="zh-CN" sz="4533" dirty="0">
                <a:solidFill>
                  <a:srgbClr val="FF0000"/>
                </a:solidFill>
                <a:latin typeface="Times New Roman"/>
                <a:ea typeface="Times New Roman"/>
                <a:cs typeface="Times New Roman"/>
                <a:sym typeface="Times New Roman"/>
              </a:rPr>
              <a:t>Learning to Reason with LLMs: </a:t>
            </a:r>
            <a:r>
              <a:rPr lang="en-US" altLang="zh-CN" sz="4533" dirty="0" err="1">
                <a:solidFill>
                  <a:srgbClr val="FF0000"/>
                </a:solidFill>
                <a:latin typeface="Times New Roman"/>
                <a:ea typeface="Times New Roman"/>
                <a:cs typeface="Times New Roman"/>
                <a:sym typeface="Times New Roman"/>
              </a:rPr>
              <a:t>OpenAI</a:t>
            </a:r>
            <a:r>
              <a:rPr lang="en-US" altLang="zh-CN" sz="4533" dirty="0">
                <a:solidFill>
                  <a:srgbClr val="FF0000"/>
                </a:solidFill>
                <a:latin typeface="Times New Roman"/>
                <a:ea typeface="Times New Roman"/>
                <a:cs typeface="Times New Roman"/>
                <a:sym typeface="Times New Roman"/>
              </a:rPr>
              <a:t> o1</a:t>
            </a:r>
            <a:endParaRPr sz="4533" dirty="0">
              <a:solidFill>
                <a:srgbClr val="FF0000"/>
              </a:solidFill>
              <a:latin typeface="Times New Roman"/>
              <a:ea typeface="Times New Roman"/>
              <a:cs typeface="Times New Roman"/>
              <a:sym typeface="Times New Roman"/>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754"/>
        <p:cNvGrpSpPr/>
        <p:nvPr/>
      </p:nvGrpSpPr>
      <p:grpSpPr>
        <a:xfrm>
          <a:off x="0" y="0"/>
          <a:ext cx="0" cy="0"/>
          <a:chOff x="0" y="0"/>
          <a:chExt cx="0" cy="0"/>
        </a:xfrm>
      </p:grpSpPr>
      <p:sp>
        <p:nvSpPr>
          <p:cNvPr id="755" name="Google Shape;755;p97"/>
          <p:cNvSpPr txBox="1">
            <a:spLocks noGrp="1"/>
          </p:cNvSpPr>
          <p:nvPr>
            <p:ph type="title"/>
          </p:nvPr>
        </p:nvSpPr>
        <p:spPr>
          <a:xfrm>
            <a:off x="319506" y="566400"/>
            <a:ext cx="11872495" cy="763600"/>
          </a:xfrm>
          <a:prstGeom prst="rect">
            <a:avLst/>
          </a:prstGeom>
          <a:noFill/>
          <a:ln>
            <a:noFill/>
          </a:ln>
        </p:spPr>
        <p:txBody>
          <a:bodyPr spcFirstLastPara="1" vert="horz" wrap="square" lIns="121900" tIns="121900" rIns="121900" bIns="121900" rtlCol="0" anchor="t" anchorCtr="0">
            <a:normAutofit fontScale="90000"/>
          </a:bodyPr>
          <a:lstStyle/>
          <a:p>
            <a:pPr>
              <a:buSzPct val="111111"/>
            </a:pPr>
            <a:r>
              <a:rPr lang="zh-CN" dirty="0">
                <a:latin typeface="Times New Roman"/>
                <a:ea typeface="Times New Roman"/>
                <a:cs typeface="Times New Roman"/>
                <a:sym typeface="Times New Roman"/>
              </a:rPr>
              <a:t>OpenAI o1: A new </a:t>
            </a:r>
            <a:r>
              <a:rPr lang="en-US" altLang="zh-CN" dirty="0">
                <a:latin typeface="Times New Roman"/>
                <a:ea typeface="Times New Roman"/>
                <a:cs typeface="Times New Roman"/>
                <a:sym typeface="Times New Roman"/>
              </a:rPr>
              <a:t>LLM </a:t>
            </a:r>
            <a:r>
              <a:rPr lang="zh-CN" dirty="0">
                <a:latin typeface="Times New Roman"/>
                <a:ea typeface="Times New Roman"/>
                <a:cs typeface="Times New Roman"/>
                <a:sym typeface="Times New Roman"/>
              </a:rPr>
              <a:t>trained with </a:t>
            </a:r>
            <a:r>
              <a:rPr lang="en-US" altLang="zh-CN" dirty="0">
                <a:latin typeface="Times New Roman"/>
                <a:ea typeface="Times New Roman"/>
                <a:cs typeface="Times New Roman"/>
                <a:sym typeface="Times New Roman"/>
              </a:rPr>
              <a:t>RL for </a:t>
            </a:r>
            <a:r>
              <a:rPr lang="zh-CN" dirty="0">
                <a:latin typeface="Times New Roman"/>
                <a:ea typeface="Times New Roman"/>
                <a:cs typeface="Times New Roman"/>
                <a:sym typeface="Times New Roman"/>
              </a:rPr>
              <a:t>complex reasoning</a:t>
            </a:r>
            <a:endParaRPr dirty="0">
              <a:latin typeface="Times New Roman"/>
              <a:ea typeface="Times New Roman"/>
              <a:cs typeface="Times New Roman"/>
              <a:sym typeface="Times New Roman"/>
            </a:endParaRPr>
          </a:p>
        </p:txBody>
      </p:sp>
      <p:sp>
        <p:nvSpPr>
          <p:cNvPr id="756" name="Google Shape;756;p97"/>
          <p:cNvSpPr txBox="1"/>
          <p:nvPr/>
        </p:nvSpPr>
        <p:spPr>
          <a:xfrm>
            <a:off x="266700" y="2794000"/>
            <a:ext cx="2730249" cy="2997200"/>
          </a:xfrm>
          <a:prstGeom prst="rect">
            <a:avLst/>
          </a:prstGeom>
          <a:noFill/>
          <a:ln>
            <a:noFill/>
          </a:ln>
        </p:spPr>
        <p:txBody>
          <a:bodyPr spcFirstLastPara="1" wrap="square" lIns="121900" tIns="121900" rIns="121900" bIns="121900" anchor="t" anchorCtr="0">
            <a:noAutofit/>
          </a:bodyPr>
          <a:lstStyle/>
          <a:p>
            <a:pPr>
              <a:buClr>
                <a:srgbClr val="000000"/>
              </a:buClr>
              <a:buSzPts val="1400"/>
            </a:pPr>
            <a:r>
              <a:rPr lang="en-US" altLang="zh-CN" sz="1867">
                <a:solidFill>
                  <a:srgbClr val="FF0000"/>
                </a:solidFill>
                <a:latin typeface="Times New Roman"/>
                <a:ea typeface="Times New Roman"/>
                <a:cs typeface="Times New Roman"/>
                <a:sym typeface="Times New Roman"/>
              </a:rPr>
              <a:t>Note: OpenAI are keeping more details secret about o1 training (including data, training parameters, strategy, model size)</a:t>
            </a:r>
            <a:endParaRPr sz="1867">
              <a:solidFill>
                <a:srgbClr val="FF0000"/>
              </a:solidFill>
              <a:latin typeface="Times New Roman"/>
              <a:ea typeface="Times New Roman"/>
              <a:cs typeface="Times New Roman"/>
              <a:sym typeface="Times New Roman"/>
            </a:endParaRPr>
          </a:p>
        </p:txBody>
      </p:sp>
      <p:sp>
        <p:nvSpPr>
          <p:cNvPr id="757" name="Google Shape;757;p97"/>
          <p:cNvSpPr txBox="1"/>
          <p:nvPr/>
        </p:nvSpPr>
        <p:spPr>
          <a:xfrm>
            <a:off x="1536600" y="6306200"/>
            <a:ext cx="9118800" cy="533600"/>
          </a:xfrm>
          <a:prstGeom prst="rect">
            <a:avLst/>
          </a:prstGeom>
          <a:noFill/>
          <a:ln>
            <a:noFill/>
          </a:ln>
        </p:spPr>
        <p:txBody>
          <a:bodyPr spcFirstLastPara="1" wrap="square" lIns="121900" tIns="121900" rIns="121900" bIns="121900" anchor="t" anchorCtr="0">
            <a:noAutofit/>
          </a:bodyPr>
          <a:lstStyle/>
          <a:p>
            <a:pPr algn="ctr">
              <a:buClr>
                <a:srgbClr val="000000"/>
              </a:buClr>
              <a:buSzPts val="1000"/>
            </a:pPr>
            <a:r>
              <a:rPr lang="en-US" altLang="zh-CN" sz="1333">
                <a:solidFill>
                  <a:schemeClr val="accent3"/>
                </a:solidFill>
                <a:highlight>
                  <a:srgbClr val="FFFFFF"/>
                </a:highlight>
                <a:latin typeface="Times New Roman"/>
                <a:ea typeface="Times New Roman"/>
                <a:cs typeface="Times New Roman"/>
                <a:sym typeface="Times New Roman"/>
              </a:rPr>
              <a:t>https://openai.com/index/learning-to-reason-with-llms/</a:t>
            </a:r>
            <a:endParaRPr sz="1333">
              <a:solidFill>
                <a:schemeClr val="accent3"/>
              </a:solidFill>
              <a:highlight>
                <a:srgbClr val="FFFFFF"/>
              </a:highlight>
              <a:latin typeface="Times New Roman"/>
              <a:ea typeface="Times New Roman"/>
              <a:cs typeface="Times New Roman"/>
              <a:sym typeface="Times New Roman"/>
            </a:endParaRPr>
          </a:p>
        </p:txBody>
      </p:sp>
      <p:sp>
        <p:nvSpPr>
          <p:cNvPr id="758" name="Google Shape;758;p97"/>
          <p:cNvSpPr txBox="1"/>
          <p:nvPr/>
        </p:nvSpPr>
        <p:spPr>
          <a:xfrm>
            <a:off x="5600700" y="1587500"/>
            <a:ext cx="5676800" cy="838400"/>
          </a:xfrm>
          <a:prstGeom prst="rect">
            <a:avLst/>
          </a:prstGeom>
          <a:noFill/>
          <a:ln>
            <a:noFill/>
          </a:ln>
        </p:spPr>
        <p:txBody>
          <a:bodyPr spcFirstLastPara="1" wrap="square" lIns="121900" tIns="121900" rIns="121900" bIns="121900" anchor="t" anchorCtr="0">
            <a:noAutofit/>
          </a:bodyPr>
          <a:lstStyle/>
          <a:p>
            <a:pPr algn="ctr">
              <a:buClr>
                <a:srgbClr val="000000"/>
              </a:buClr>
              <a:buSzPts val="1800"/>
            </a:pPr>
            <a:r>
              <a:rPr lang="en-US" altLang="zh-CN" sz="2400" b="1">
                <a:solidFill>
                  <a:srgbClr val="FF0000"/>
                </a:solidFill>
                <a:latin typeface="Times New Roman"/>
                <a:ea typeface="Times New Roman"/>
                <a:cs typeface="Times New Roman"/>
                <a:sym typeface="Times New Roman"/>
              </a:rPr>
              <a:t>(Reinforcement learning!)</a:t>
            </a:r>
            <a:endParaRPr sz="2400" b="1">
              <a:solidFill>
                <a:srgbClr val="FF0000"/>
              </a:solidFill>
              <a:latin typeface="Times New Roman"/>
              <a:ea typeface="Times New Roman"/>
              <a:cs typeface="Times New Roman"/>
              <a:sym typeface="Times New Roman"/>
            </a:endParaRPr>
          </a:p>
        </p:txBody>
      </p:sp>
      <p:sp>
        <p:nvSpPr>
          <p:cNvPr id="759" name="Google Shape;759;p97"/>
          <p:cNvSpPr txBox="1"/>
          <p:nvPr/>
        </p:nvSpPr>
        <p:spPr>
          <a:xfrm>
            <a:off x="4349294" y="2259209"/>
            <a:ext cx="6611495" cy="3077135"/>
          </a:xfrm>
          <a:prstGeom prst="rect">
            <a:avLst/>
          </a:prstGeom>
          <a:noFill/>
          <a:ln>
            <a:noFill/>
          </a:ln>
        </p:spPr>
        <p:txBody>
          <a:bodyPr spcFirstLastPara="1" wrap="square" lIns="121900" tIns="60933" rIns="121900" bIns="60933" anchor="t" anchorCtr="0">
            <a:spAutoFit/>
          </a:bodyPr>
          <a:lstStyle/>
          <a:p>
            <a:r>
              <a:rPr lang="en-US" altLang="zh-CN" sz="2133">
                <a:solidFill>
                  <a:srgbClr val="080808"/>
                </a:solidFill>
                <a:latin typeface="Times New Roman"/>
                <a:ea typeface="Times New Roman"/>
                <a:cs typeface="Times New Roman"/>
                <a:sym typeface="Times New Roman"/>
              </a:rPr>
              <a:t>Our large-scale reinforcement learning algorithm teaches the model how to think productively using its chain of thought in a highly data-efficient training process. We have found that the performance of o1 consistently improves with </a:t>
            </a:r>
            <a:r>
              <a:rPr lang="en-US" altLang="zh-CN" sz="2133" b="1">
                <a:solidFill>
                  <a:srgbClr val="080808"/>
                </a:solidFill>
                <a:latin typeface="Times New Roman"/>
                <a:ea typeface="Times New Roman"/>
                <a:cs typeface="Times New Roman"/>
                <a:sym typeface="Times New Roman"/>
              </a:rPr>
              <a:t>more reinforcement learning </a:t>
            </a:r>
            <a:r>
              <a:rPr lang="en-US" altLang="zh-CN" sz="2133">
                <a:solidFill>
                  <a:srgbClr val="080808"/>
                </a:solidFill>
                <a:latin typeface="Times New Roman"/>
                <a:ea typeface="Times New Roman"/>
                <a:cs typeface="Times New Roman"/>
                <a:sym typeface="Times New Roman"/>
              </a:rPr>
              <a:t>(train-time compute) and with </a:t>
            </a:r>
            <a:r>
              <a:rPr lang="en-US" altLang="zh-CN" sz="2133" b="1">
                <a:solidFill>
                  <a:srgbClr val="080808"/>
                </a:solidFill>
                <a:latin typeface="Times New Roman"/>
                <a:ea typeface="Times New Roman"/>
                <a:cs typeface="Times New Roman"/>
                <a:sym typeface="Times New Roman"/>
              </a:rPr>
              <a:t>more time spent thinking </a:t>
            </a:r>
            <a:r>
              <a:rPr lang="en-US" altLang="zh-CN" sz="2133">
                <a:solidFill>
                  <a:srgbClr val="080808"/>
                </a:solidFill>
                <a:latin typeface="Times New Roman"/>
                <a:ea typeface="Times New Roman"/>
                <a:cs typeface="Times New Roman"/>
                <a:sym typeface="Times New Roman"/>
              </a:rPr>
              <a:t>(test-time compute). The constraints on scaling this approach differ substantially from those of LLM pretraining, and we are continuing to investigate them.</a:t>
            </a:r>
            <a:endParaRPr sz="2133">
              <a:solidFill>
                <a:srgbClr val="000000"/>
              </a:solidFill>
              <a:latin typeface="Times New Roman"/>
              <a:ea typeface="Times New Roman"/>
              <a:cs typeface="Times New Roman"/>
              <a:sym typeface="Times New Roman"/>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763"/>
        <p:cNvGrpSpPr/>
        <p:nvPr/>
      </p:nvGrpSpPr>
      <p:grpSpPr>
        <a:xfrm>
          <a:off x="0" y="0"/>
          <a:ext cx="0" cy="0"/>
          <a:chOff x="0" y="0"/>
          <a:chExt cx="0" cy="0"/>
        </a:xfrm>
      </p:grpSpPr>
      <p:sp>
        <p:nvSpPr>
          <p:cNvPr id="764" name="Google Shape;764;p98"/>
          <p:cNvSpPr txBox="1">
            <a:spLocks noGrp="1"/>
          </p:cNvSpPr>
          <p:nvPr>
            <p:ph type="title"/>
          </p:nvPr>
        </p:nvSpPr>
        <p:spPr>
          <a:xfrm>
            <a:off x="319506" y="566400"/>
            <a:ext cx="11872495" cy="763600"/>
          </a:xfrm>
          <a:prstGeom prst="rect">
            <a:avLst/>
          </a:prstGeom>
          <a:noFill/>
          <a:ln>
            <a:noFill/>
          </a:ln>
        </p:spPr>
        <p:txBody>
          <a:bodyPr spcFirstLastPara="1" vert="horz" wrap="square" lIns="121900" tIns="121900" rIns="121900" bIns="121900" rtlCol="0" anchor="t" anchorCtr="0">
            <a:normAutofit fontScale="90000"/>
          </a:bodyPr>
          <a:lstStyle/>
          <a:p>
            <a:pPr lvl="0">
              <a:buSzPct val="111111"/>
            </a:pPr>
            <a:r>
              <a:rPr lang="zh-CN" altLang="zh-CN" dirty="0">
                <a:latin typeface="Times New Roman"/>
                <a:ea typeface="Times New Roman"/>
                <a:cs typeface="Times New Roman"/>
                <a:sym typeface="Times New Roman"/>
              </a:rPr>
              <a:t>OpenAI o1: A new </a:t>
            </a:r>
            <a:r>
              <a:rPr lang="en-US" altLang="zh-CN" dirty="0">
                <a:latin typeface="Times New Roman"/>
                <a:ea typeface="Times New Roman"/>
                <a:cs typeface="Times New Roman"/>
                <a:sym typeface="Times New Roman"/>
              </a:rPr>
              <a:t>LLM </a:t>
            </a:r>
            <a:r>
              <a:rPr lang="zh-CN" altLang="zh-CN" dirty="0">
                <a:latin typeface="Times New Roman"/>
                <a:ea typeface="Times New Roman"/>
                <a:cs typeface="Times New Roman"/>
                <a:sym typeface="Times New Roman"/>
              </a:rPr>
              <a:t>trained with </a:t>
            </a:r>
            <a:r>
              <a:rPr lang="en-US" altLang="zh-CN" dirty="0">
                <a:latin typeface="Times New Roman"/>
                <a:ea typeface="Times New Roman"/>
                <a:cs typeface="Times New Roman"/>
                <a:sym typeface="Times New Roman"/>
              </a:rPr>
              <a:t>RL for </a:t>
            </a:r>
            <a:r>
              <a:rPr lang="zh-CN" altLang="zh-CN" dirty="0">
                <a:latin typeface="Times New Roman"/>
                <a:ea typeface="Times New Roman"/>
                <a:cs typeface="Times New Roman"/>
                <a:sym typeface="Times New Roman"/>
              </a:rPr>
              <a:t>complex reasoning</a:t>
            </a:r>
            <a:endParaRPr dirty="0">
              <a:latin typeface="Times New Roman"/>
              <a:ea typeface="Times New Roman"/>
              <a:cs typeface="Times New Roman"/>
              <a:sym typeface="Times New Roman"/>
            </a:endParaRPr>
          </a:p>
        </p:txBody>
      </p:sp>
      <p:sp>
        <p:nvSpPr>
          <p:cNvPr id="765" name="Google Shape;765;p98"/>
          <p:cNvSpPr txBox="1"/>
          <p:nvPr/>
        </p:nvSpPr>
        <p:spPr>
          <a:xfrm>
            <a:off x="1070555" y="2638208"/>
            <a:ext cx="2412875" cy="2997200"/>
          </a:xfrm>
          <a:prstGeom prst="rect">
            <a:avLst/>
          </a:prstGeom>
          <a:noFill/>
          <a:ln>
            <a:noFill/>
          </a:ln>
        </p:spPr>
        <p:txBody>
          <a:bodyPr spcFirstLastPara="1" wrap="square" lIns="121900" tIns="121900" rIns="121900" bIns="121900" anchor="t" anchorCtr="0">
            <a:noAutofit/>
          </a:bodyPr>
          <a:lstStyle/>
          <a:p>
            <a:pPr>
              <a:buClr>
                <a:srgbClr val="000000"/>
              </a:buClr>
              <a:buSzPts val="1400"/>
            </a:pPr>
            <a:r>
              <a:rPr lang="en-US" altLang="zh-CN" sz="1867">
                <a:solidFill>
                  <a:srgbClr val="FF0000"/>
                </a:solidFill>
                <a:latin typeface="Times New Roman"/>
                <a:ea typeface="Times New Roman"/>
                <a:cs typeface="Times New Roman"/>
                <a:sym typeface="Times New Roman"/>
              </a:rPr>
              <a:t>o1 performance smoothly improves with both train-time and test-time compute</a:t>
            </a:r>
            <a:endParaRPr sz="1867">
              <a:solidFill>
                <a:srgbClr val="FF0000"/>
              </a:solidFill>
              <a:latin typeface="Times New Roman"/>
              <a:ea typeface="Times New Roman"/>
              <a:cs typeface="Times New Roman"/>
              <a:sym typeface="Times New Roman"/>
            </a:endParaRPr>
          </a:p>
        </p:txBody>
      </p:sp>
      <p:sp>
        <p:nvSpPr>
          <p:cNvPr id="766" name="Google Shape;766;p98"/>
          <p:cNvSpPr txBox="1"/>
          <p:nvPr/>
        </p:nvSpPr>
        <p:spPr>
          <a:xfrm>
            <a:off x="1536600" y="6306200"/>
            <a:ext cx="9118800" cy="533600"/>
          </a:xfrm>
          <a:prstGeom prst="rect">
            <a:avLst/>
          </a:prstGeom>
          <a:noFill/>
          <a:ln>
            <a:noFill/>
          </a:ln>
        </p:spPr>
        <p:txBody>
          <a:bodyPr spcFirstLastPara="1" wrap="square" lIns="121900" tIns="121900" rIns="121900" bIns="121900" anchor="t" anchorCtr="0">
            <a:noAutofit/>
          </a:bodyPr>
          <a:lstStyle/>
          <a:p>
            <a:pPr algn="ctr">
              <a:buClr>
                <a:srgbClr val="000000"/>
              </a:buClr>
              <a:buSzPts val="1000"/>
            </a:pPr>
            <a:r>
              <a:rPr lang="en-US" altLang="zh-CN" sz="1333">
                <a:solidFill>
                  <a:schemeClr val="accent3"/>
                </a:solidFill>
                <a:highlight>
                  <a:srgbClr val="FFFFFF"/>
                </a:highlight>
                <a:latin typeface="Times New Roman"/>
                <a:ea typeface="Times New Roman"/>
                <a:cs typeface="Times New Roman"/>
                <a:sym typeface="Times New Roman"/>
              </a:rPr>
              <a:t>https://openai.com/index/learning-to-reason-with-llms/</a:t>
            </a:r>
            <a:endParaRPr sz="1333">
              <a:solidFill>
                <a:schemeClr val="accent3"/>
              </a:solidFill>
              <a:highlight>
                <a:srgbClr val="FFFFFF"/>
              </a:highlight>
              <a:latin typeface="Times New Roman"/>
              <a:ea typeface="Times New Roman"/>
              <a:cs typeface="Times New Roman"/>
              <a:sym typeface="Times New Roman"/>
            </a:endParaRPr>
          </a:p>
        </p:txBody>
      </p:sp>
      <p:pic>
        <p:nvPicPr>
          <p:cNvPr id="767" name="Google Shape;767;p98"/>
          <p:cNvPicPr preferRelativeResize="0"/>
          <p:nvPr/>
        </p:nvPicPr>
        <p:blipFill rotWithShape="1">
          <a:blip r:embed="rId3">
            <a:alphaModFix/>
          </a:blip>
          <a:srcRect/>
          <a:stretch/>
        </p:blipFill>
        <p:spPr>
          <a:xfrm>
            <a:off x="4481999" y="2306271"/>
            <a:ext cx="6477287" cy="3661075"/>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771"/>
        <p:cNvGrpSpPr/>
        <p:nvPr/>
      </p:nvGrpSpPr>
      <p:grpSpPr>
        <a:xfrm>
          <a:off x="0" y="0"/>
          <a:ext cx="0" cy="0"/>
          <a:chOff x="0" y="0"/>
          <a:chExt cx="0" cy="0"/>
        </a:xfrm>
      </p:grpSpPr>
      <p:sp>
        <p:nvSpPr>
          <p:cNvPr id="772" name="Google Shape;772;p99"/>
          <p:cNvSpPr txBox="1">
            <a:spLocks noGrp="1"/>
          </p:cNvSpPr>
          <p:nvPr>
            <p:ph type="title"/>
          </p:nvPr>
        </p:nvSpPr>
        <p:spPr>
          <a:xfrm>
            <a:off x="319506" y="566400"/>
            <a:ext cx="11872495" cy="763600"/>
          </a:xfrm>
          <a:prstGeom prst="rect">
            <a:avLst/>
          </a:prstGeom>
          <a:noFill/>
          <a:ln>
            <a:noFill/>
          </a:ln>
        </p:spPr>
        <p:txBody>
          <a:bodyPr spcFirstLastPara="1" vert="horz" wrap="square" lIns="121900" tIns="121900" rIns="121900" bIns="121900" rtlCol="0" anchor="t" anchorCtr="0">
            <a:normAutofit fontScale="90000"/>
          </a:bodyPr>
          <a:lstStyle/>
          <a:p>
            <a:pPr lvl="0">
              <a:buSzPct val="111111"/>
            </a:pPr>
            <a:r>
              <a:rPr lang="zh-CN" altLang="zh-CN" dirty="0">
                <a:latin typeface="Times New Roman"/>
                <a:ea typeface="Times New Roman"/>
                <a:cs typeface="Times New Roman"/>
                <a:sym typeface="Times New Roman"/>
              </a:rPr>
              <a:t>OpenAI o1: A new </a:t>
            </a:r>
            <a:r>
              <a:rPr lang="en-US" altLang="zh-CN" dirty="0">
                <a:latin typeface="Times New Roman"/>
                <a:ea typeface="Times New Roman"/>
                <a:cs typeface="Times New Roman"/>
                <a:sym typeface="Times New Roman"/>
              </a:rPr>
              <a:t>LLM </a:t>
            </a:r>
            <a:r>
              <a:rPr lang="zh-CN" altLang="zh-CN" dirty="0">
                <a:latin typeface="Times New Roman"/>
                <a:ea typeface="Times New Roman"/>
                <a:cs typeface="Times New Roman"/>
                <a:sym typeface="Times New Roman"/>
              </a:rPr>
              <a:t>trained with </a:t>
            </a:r>
            <a:r>
              <a:rPr lang="en-US" altLang="zh-CN" dirty="0">
                <a:latin typeface="Times New Roman"/>
                <a:ea typeface="Times New Roman"/>
                <a:cs typeface="Times New Roman"/>
                <a:sym typeface="Times New Roman"/>
              </a:rPr>
              <a:t>RL for </a:t>
            </a:r>
            <a:r>
              <a:rPr lang="zh-CN" altLang="zh-CN" dirty="0">
                <a:latin typeface="Times New Roman"/>
                <a:ea typeface="Times New Roman"/>
                <a:cs typeface="Times New Roman"/>
                <a:sym typeface="Times New Roman"/>
              </a:rPr>
              <a:t>complex reasoning</a:t>
            </a:r>
            <a:endParaRPr dirty="0">
              <a:latin typeface="Times New Roman"/>
              <a:ea typeface="Times New Roman"/>
              <a:cs typeface="Times New Roman"/>
              <a:sym typeface="Times New Roman"/>
            </a:endParaRPr>
          </a:p>
        </p:txBody>
      </p:sp>
      <p:sp>
        <p:nvSpPr>
          <p:cNvPr id="773" name="Google Shape;773;p99"/>
          <p:cNvSpPr txBox="1"/>
          <p:nvPr/>
        </p:nvSpPr>
        <p:spPr>
          <a:xfrm>
            <a:off x="1070555" y="2638208"/>
            <a:ext cx="2412875" cy="2997200"/>
          </a:xfrm>
          <a:prstGeom prst="rect">
            <a:avLst/>
          </a:prstGeom>
          <a:noFill/>
          <a:ln>
            <a:noFill/>
          </a:ln>
        </p:spPr>
        <p:txBody>
          <a:bodyPr spcFirstLastPara="1" wrap="square" lIns="121900" tIns="121900" rIns="121900" bIns="121900" anchor="t" anchorCtr="0">
            <a:noAutofit/>
          </a:bodyPr>
          <a:lstStyle/>
          <a:p>
            <a:pPr>
              <a:buClr>
                <a:srgbClr val="000000"/>
              </a:buClr>
              <a:buSzPts val="1400"/>
            </a:pPr>
            <a:endParaRPr sz="1867">
              <a:solidFill>
                <a:srgbClr val="FF0000"/>
              </a:solidFill>
              <a:latin typeface="Times New Roman"/>
              <a:ea typeface="Times New Roman"/>
              <a:cs typeface="Times New Roman"/>
              <a:sym typeface="Times New Roman"/>
            </a:endParaRPr>
          </a:p>
        </p:txBody>
      </p:sp>
      <p:sp>
        <p:nvSpPr>
          <p:cNvPr id="774" name="Google Shape;774;p99"/>
          <p:cNvSpPr txBox="1"/>
          <p:nvPr/>
        </p:nvSpPr>
        <p:spPr>
          <a:xfrm>
            <a:off x="1536600" y="6306200"/>
            <a:ext cx="9118800" cy="533600"/>
          </a:xfrm>
          <a:prstGeom prst="rect">
            <a:avLst/>
          </a:prstGeom>
          <a:noFill/>
          <a:ln>
            <a:noFill/>
          </a:ln>
        </p:spPr>
        <p:txBody>
          <a:bodyPr spcFirstLastPara="1" wrap="square" lIns="121900" tIns="121900" rIns="121900" bIns="121900" anchor="t" anchorCtr="0">
            <a:noAutofit/>
          </a:bodyPr>
          <a:lstStyle/>
          <a:p>
            <a:pPr algn="ctr">
              <a:buClr>
                <a:srgbClr val="000000"/>
              </a:buClr>
              <a:buSzPts val="1000"/>
            </a:pPr>
            <a:r>
              <a:rPr lang="en-US" altLang="zh-CN" sz="1333">
                <a:solidFill>
                  <a:schemeClr val="accent3"/>
                </a:solidFill>
                <a:highlight>
                  <a:srgbClr val="FFFFFF"/>
                </a:highlight>
                <a:latin typeface="Times New Roman"/>
                <a:ea typeface="Times New Roman"/>
                <a:cs typeface="Times New Roman"/>
                <a:sym typeface="Times New Roman"/>
              </a:rPr>
              <a:t>https://openai.com/index/learning-to-reason-with-llms/</a:t>
            </a:r>
            <a:endParaRPr sz="1333">
              <a:solidFill>
                <a:schemeClr val="accent3"/>
              </a:solidFill>
              <a:highlight>
                <a:srgbClr val="FFFFFF"/>
              </a:highlight>
              <a:latin typeface="Times New Roman"/>
              <a:ea typeface="Times New Roman"/>
              <a:cs typeface="Times New Roman"/>
              <a:sym typeface="Times New Roman"/>
            </a:endParaRPr>
          </a:p>
        </p:txBody>
      </p:sp>
      <p:pic>
        <p:nvPicPr>
          <p:cNvPr id="775" name="Google Shape;775;p99"/>
          <p:cNvPicPr preferRelativeResize="0"/>
          <p:nvPr/>
        </p:nvPicPr>
        <p:blipFill rotWithShape="1">
          <a:blip r:embed="rId3">
            <a:alphaModFix/>
          </a:blip>
          <a:srcRect/>
          <a:stretch/>
        </p:blipFill>
        <p:spPr>
          <a:xfrm>
            <a:off x="2276992" y="2181108"/>
            <a:ext cx="7638017" cy="3021165"/>
          </a:xfrm>
          <a:prstGeom prst="rect">
            <a:avLst/>
          </a:prstGeom>
          <a:noFill/>
          <a:ln>
            <a:noFill/>
          </a:ln>
        </p:spPr>
      </p:pic>
      <p:sp>
        <p:nvSpPr>
          <p:cNvPr id="776" name="Google Shape;776;p99"/>
          <p:cNvSpPr txBox="1"/>
          <p:nvPr/>
        </p:nvSpPr>
        <p:spPr>
          <a:xfrm>
            <a:off x="1986454" y="5296680"/>
            <a:ext cx="9058417" cy="985023"/>
          </a:xfrm>
          <a:prstGeom prst="rect">
            <a:avLst/>
          </a:prstGeom>
          <a:noFill/>
          <a:ln>
            <a:noFill/>
          </a:ln>
        </p:spPr>
        <p:txBody>
          <a:bodyPr spcFirstLastPara="1" wrap="square" lIns="121900" tIns="60933" rIns="121900" bIns="60933" anchor="t" anchorCtr="0">
            <a:spAutoFit/>
          </a:bodyPr>
          <a:lstStyle/>
          <a:p>
            <a:r>
              <a:rPr lang="en-US" altLang="zh-CN" sz="1867">
                <a:solidFill>
                  <a:srgbClr val="080808"/>
                </a:solidFill>
                <a:latin typeface="Times New Roman"/>
                <a:ea typeface="Times New Roman"/>
                <a:cs typeface="Times New Roman"/>
                <a:sym typeface="Times New Roman"/>
              </a:rPr>
              <a:t>o1 greatly improves over GPT-4o on challenging reasoning benchmarks. Solid bars show pass@1 accuracy and the shaded region shows the performance of majority vote (consensus) with 64 samples.</a:t>
            </a:r>
            <a:endParaRPr sz="1867">
              <a:solidFill>
                <a:srgbClr val="000000"/>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p100"/>
          <p:cNvSpPr txBox="1">
            <a:spLocks noGrp="1"/>
          </p:cNvSpPr>
          <p:nvPr>
            <p:ph type="title"/>
          </p:nvPr>
        </p:nvSpPr>
        <p:spPr>
          <a:xfrm>
            <a:off x="319506" y="566400"/>
            <a:ext cx="11872495" cy="763600"/>
          </a:xfrm>
          <a:prstGeom prst="rect">
            <a:avLst/>
          </a:prstGeom>
          <a:noFill/>
          <a:ln>
            <a:noFill/>
          </a:ln>
        </p:spPr>
        <p:txBody>
          <a:bodyPr spcFirstLastPara="1" vert="horz" wrap="square" lIns="121900" tIns="121900" rIns="121900" bIns="121900" rtlCol="0" anchor="t" anchorCtr="0">
            <a:normAutofit fontScale="90000"/>
          </a:bodyPr>
          <a:lstStyle/>
          <a:p>
            <a:pPr lvl="0">
              <a:buSzPct val="111111"/>
            </a:pPr>
            <a:r>
              <a:rPr lang="zh-CN" altLang="zh-CN" dirty="0">
                <a:latin typeface="Times New Roman"/>
                <a:ea typeface="Times New Roman"/>
                <a:cs typeface="Times New Roman"/>
                <a:sym typeface="Times New Roman"/>
              </a:rPr>
              <a:t>OpenAI o1: A new </a:t>
            </a:r>
            <a:r>
              <a:rPr lang="en-US" altLang="zh-CN" dirty="0">
                <a:latin typeface="Times New Roman"/>
                <a:ea typeface="Times New Roman"/>
                <a:cs typeface="Times New Roman"/>
                <a:sym typeface="Times New Roman"/>
              </a:rPr>
              <a:t>LLM </a:t>
            </a:r>
            <a:r>
              <a:rPr lang="zh-CN" altLang="zh-CN" dirty="0">
                <a:latin typeface="Times New Roman"/>
                <a:ea typeface="Times New Roman"/>
                <a:cs typeface="Times New Roman"/>
                <a:sym typeface="Times New Roman"/>
              </a:rPr>
              <a:t>trained with </a:t>
            </a:r>
            <a:r>
              <a:rPr lang="en-US" altLang="zh-CN" dirty="0">
                <a:latin typeface="Times New Roman"/>
                <a:ea typeface="Times New Roman"/>
                <a:cs typeface="Times New Roman"/>
                <a:sym typeface="Times New Roman"/>
              </a:rPr>
              <a:t>RL for </a:t>
            </a:r>
            <a:r>
              <a:rPr lang="zh-CN" altLang="zh-CN" dirty="0">
                <a:latin typeface="Times New Roman"/>
                <a:ea typeface="Times New Roman"/>
                <a:cs typeface="Times New Roman"/>
                <a:sym typeface="Times New Roman"/>
              </a:rPr>
              <a:t>complex reasoning</a:t>
            </a:r>
            <a:endParaRPr dirty="0">
              <a:latin typeface="Times New Roman"/>
              <a:ea typeface="Times New Roman"/>
              <a:cs typeface="Times New Roman"/>
              <a:sym typeface="Times New Roman"/>
            </a:endParaRPr>
          </a:p>
        </p:txBody>
      </p:sp>
      <p:sp>
        <p:nvSpPr>
          <p:cNvPr id="782" name="Google Shape;782;p100"/>
          <p:cNvSpPr txBox="1"/>
          <p:nvPr/>
        </p:nvSpPr>
        <p:spPr>
          <a:xfrm>
            <a:off x="1536600" y="6306200"/>
            <a:ext cx="9118800" cy="533600"/>
          </a:xfrm>
          <a:prstGeom prst="rect">
            <a:avLst/>
          </a:prstGeom>
          <a:noFill/>
          <a:ln>
            <a:noFill/>
          </a:ln>
        </p:spPr>
        <p:txBody>
          <a:bodyPr spcFirstLastPara="1" wrap="square" lIns="121900" tIns="121900" rIns="121900" bIns="121900" anchor="t" anchorCtr="0">
            <a:noAutofit/>
          </a:bodyPr>
          <a:lstStyle/>
          <a:p>
            <a:pPr algn="ctr">
              <a:buClr>
                <a:srgbClr val="000000"/>
              </a:buClr>
              <a:buSzPts val="1000"/>
            </a:pPr>
            <a:r>
              <a:rPr lang="en-US" altLang="zh-CN" sz="1333">
                <a:solidFill>
                  <a:schemeClr val="accent3"/>
                </a:solidFill>
                <a:highlight>
                  <a:srgbClr val="FFFFFF"/>
                </a:highlight>
                <a:latin typeface="Times New Roman"/>
                <a:ea typeface="Times New Roman"/>
                <a:cs typeface="Times New Roman"/>
                <a:sym typeface="Times New Roman"/>
              </a:rPr>
              <a:t>https://openai.com/index/learning-to-reason-with-llms/</a:t>
            </a:r>
            <a:endParaRPr sz="1333">
              <a:solidFill>
                <a:schemeClr val="accent3"/>
              </a:solidFill>
              <a:highlight>
                <a:srgbClr val="FFFFFF"/>
              </a:highlight>
              <a:latin typeface="Times New Roman"/>
              <a:ea typeface="Times New Roman"/>
              <a:cs typeface="Times New Roman"/>
              <a:sym typeface="Times New Roman"/>
            </a:endParaRPr>
          </a:p>
        </p:txBody>
      </p:sp>
      <p:pic>
        <p:nvPicPr>
          <p:cNvPr id="783" name="Google Shape;783;p100"/>
          <p:cNvPicPr preferRelativeResize="0"/>
          <p:nvPr/>
        </p:nvPicPr>
        <p:blipFill rotWithShape="1">
          <a:blip r:embed="rId3">
            <a:alphaModFix/>
          </a:blip>
          <a:srcRect/>
          <a:stretch/>
        </p:blipFill>
        <p:spPr>
          <a:xfrm>
            <a:off x="636625" y="2654614"/>
            <a:ext cx="4589771" cy="2937284"/>
          </a:xfrm>
          <a:prstGeom prst="rect">
            <a:avLst/>
          </a:prstGeom>
          <a:noFill/>
          <a:ln>
            <a:noFill/>
          </a:ln>
        </p:spPr>
      </p:pic>
      <p:pic>
        <p:nvPicPr>
          <p:cNvPr id="784" name="Google Shape;784;p100"/>
          <p:cNvPicPr preferRelativeResize="0"/>
          <p:nvPr/>
        </p:nvPicPr>
        <p:blipFill rotWithShape="1">
          <a:blip r:embed="rId4">
            <a:alphaModFix/>
          </a:blip>
          <a:srcRect/>
          <a:stretch/>
        </p:blipFill>
        <p:spPr>
          <a:xfrm>
            <a:off x="6618513" y="2654614"/>
            <a:ext cx="4677104" cy="2983303"/>
          </a:xfrm>
          <a:prstGeom prst="rect">
            <a:avLst/>
          </a:prstGeom>
          <a:noFill/>
          <a:ln>
            <a:noFill/>
          </a:ln>
        </p:spPr>
      </p:pic>
      <p:sp>
        <p:nvSpPr>
          <p:cNvPr id="785" name="Google Shape;785;p100"/>
          <p:cNvSpPr txBox="1"/>
          <p:nvPr/>
        </p:nvSpPr>
        <p:spPr>
          <a:xfrm>
            <a:off x="5850508" y="1873373"/>
            <a:ext cx="6213115" cy="697701"/>
          </a:xfrm>
          <a:prstGeom prst="rect">
            <a:avLst/>
          </a:prstGeom>
          <a:noFill/>
          <a:ln>
            <a:noFill/>
          </a:ln>
        </p:spPr>
        <p:txBody>
          <a:bodyPr spcFirstLastPara="1" wrap="square" lIns="121900" tIns="60933" rIns="121900" bIns="60933" anchor="t" anchorCtr="0">
            <a:spAutoFit/>
          </a:bodyPr>
          <a:lstStyle/>
          <a:p>
            <a:r>
              <a:rPr lang="en-US" altLang="zh-CN" sz="1867">
                <a:solidFill>
                  <a:srgbClr val="FF0000"/>
                </a:solidFill>
                <a:latin typeface="Times New Roman"/>
                <a:ea typeface="Times New Roman"/>
                <a:cs typeface="Times New Roman"/>
                <a:sym typeface="Times New Roman"/>
              </a:rPr>
              <a:t>After a lot of attempts through complex and long reasoning, o1 successfully obtained the decoding answer</a:t>
            </a:r>
            <a:endParaRPr sz="2400"/>
          </a:p>
        </p:txBody>
      </p:sp>
      <p:sp>
        <p:nvSpPr>
          <p:cNvPr id="786" name="Google Shape;786;p100"/>
          <p:cNvSpPr/>
          <p:nvPr/>
        </p:nvSpPr>
        <p:spPr>
          <a:xfrm rot="-5400000">
            <a:off x="5672010" y="3521850"/>
            <a:ext cx="500892" cy="1029413"/>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121900" tIns="60933" rIns="121900" bIns="60933" anchor="ctr" anchorCtr="0">
            <a:noAutofit/>
          </a:bodyPr>
          <a:lstStyle/>
          <a:p>
            <a:pPr algn="ctr"/>
            <a:endParaRPr sz="1867">
              <a:solidFill>
                <a:schemeClr val="lt1"/>
              </a:solidFill>
              <a:latin typeface="Arial"/>
              <a:ea typeface="Arial"/>
              <a:cs typeface="Arial"/>
              <a:sym typeface="Arial"/>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790"/>
        <p:cNvGrpSpPr/>
        <p:nvPr/>
      </p:nvGrpSpPr>
      <p:grpSpPr>
        <a:xfrm>
          <a:off x="0" y="0"/>
          <a:ext cx="0" cy="0"/>
          <a:chOff x="0" y="0"/>
          <a:chExt cx="0" cy="0"/>
        </a:xfrm>
      </p:grpSpPr>
      <p:sp>
        <p:nvSpPr>
          <p:cNvPr id="791" name="Google Shape;791;p101"/>
          <p:cNvSpPr txBox="1">
            <a:spLocks noGrp="1"/>
          </p:cNvSpPr>
          <p:nvPr>
            <p:ph type="title"/>
          </p:nvPr>
        </p:nvSpPr>
        <p:spPr>
          <a:xfrm>
            <a:off x="415600" y="2481000"/>
            <a:ext cx="11360800" cy="2281600"/>
          </a:xfrm>
          <a:prstGeom prst="rect">
            <a:avLst/>
          </a:prstGeom>
          <a:noFill/>
          <a:ln>
            <a:noFill/>
          </a:ln>
        </p:spPr>
        <p:txBody>
          <a:bodyPr spcFirstLastPara="1" vert="horz" wrap="square" lIns="121900" tIns="121900" rIns="121900" bIns="121900" rtlCol="0" anchor="t" anchorCtr="0">
            <a:normAutofit/>
          </a:bodyPr>
          <a:lstStyle/>
          <a:p>
            <a:pPr algn="ctr"/>
            <a:r>
              <a:rPr lang="en-US" altLang="zh-CN" sz="4533" dirty="0">
                <a:solidFill>
                  <a:srgbClr val="FF0000"/>
                </a:solidFill>
                <a:latin typeface="Times New Roman"/>
                <a:ea typeface="Times New Roman"/>
                <a:cs typeface="Times New Roman"/>
                <a:sym typeface="Times New Roman"/>
              </a:rPr>
              <a:t>RL from Rule-based rewards</a:t>
            </a:r>
            <a:endParaRPr sz="4533" dirty="0">
              <a:solidFill>
                <a:srgbClr val="FF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21401855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E6659-6E49-4AC7-A36B-44FD361F7153}"/>
              </a:ext>
            </a:extLst>
          </p:cNvPr>
          <p:cNvSpPr>
            <a:spLocks noGrp="1"/>
          </p:cNvSpPr>
          <p:nvPr>
            <p:ph type="title"/>
          </p:nvPr>
        </p:nvSpPr>
        <p:spPr/>
        <p:txBody>
          <a:bodyPr>
            <a:normAutofit fontScale="90000"/>
          </a:bodyPr>
          <a:lstStyle/>
          <a:p>
            <a:endParaRPr lang="zh-CN" altLang="en-US"/>
          </a:p>
        </p:txBody>
      </p:sp>
      <p:sp>
        <p:nvSpPr>
          <p:cNvPr id="3" name="Text Placeholder 2">
            <a:extLst>
              <a:ext uri="{FF2B5EF4-FFF2-40B4-BE49-F238E27FC236}">
                <a16:creationId xmlns:a16="http://schemas.microsoft.com/office/drawing/2014/main" id="{1D2025FB-4004-4B92-B8E1-9421AAD1EF29}"/>
              </a:ext>
            </a:extLst>
          </p:cNvPr>
          <p:cNvSpPr>
            <a:spLocks noGrp="1"/>
          </p:cNvSpPr>
          <p:nvPr>
            <p:ph type="body" idx="1"/>
          </p:nvPr>
        </p:nvSpPr>
        <p:spPr/>
        <p:txBody>
          <a:bodyPr/>
          <a:lstStyle/>
          <a:p>
            <a:r>
              <a:rPr lang="en-US" altLang="zh-CN" dirty="0" err="1"/>
              <a:t>Deepseek</a:t>
            </a:r>
            <a:r>
              <a:rPr lang="en-US" altLang="zh-CN" dirty="0"/>
              <a:t> R1 Zero</a:t>
            </a:r>
          </a:p>
          <a:p>
            <a:r>
              <a:rPr lang="en-US" altLang="zh-CN" dirty="0" err="1"/>
              <a:t>Alphago</a:t>
            </a:r>
            <a:r>
              <a:rPr lang="en-US" altLang="zh-CN" dirty="0"/>
              <a:t> Zero</a:t>
            </a:r>
            <a:endParaRPr lang="zh-CN" altLang="en-US" dirty="0"/>
          </a:p>
        </p:txBody>
      </p:sp>
    </p:spTree>
    <p:extLst>
      <p:ext uri="{BB962C8B-B14F-4D97-AF65-F5344CB8AC3E}">
        <p14:creationId xmlns:p14="http://schemas.microsoft.com/office/powerpoint/2010/main" val="158807897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790"/>
        <p:cNvGrpSpPr/>
        <p:nvPr/>
      </p:nvGrpSpPr>
      <p:grpSpPr>
        <a:xfrm>
          <a:off x="0" y="0"/>
          <a:ext cx="0" cy="0"/>
          <a:chOff x="0" y="0"/>
          <a:chExt cx="0" cy="0"/>
        </a:xfrm>
      </p:grpSpPr>
      <p:sp>
        <p:nvSpPr>
          <p:cNvPr id="791" name="Google Shape;791;p101"/>
          <p:cNvSpPr txBox="1">
            <a:spLocks noGrp="1"/>
          </p:cNvSpPr>
          <p:nvPr>
            <p:ph type="title"/>
          </p:nvPr>
        </p:nvSpPr>
        <p:spPr>
          <a:xfrm>
            <a:off x="415600" y="2481000"/>
            <a:ext cx="11360800" cy="2281600"/>
          </a:xfrm>
          <a:prstGeom prst="rect">
            <a:avLst/>
          </a:prstGeom>
          <a:noFill/>
          <a:ln>
            <a:noFill/>
          </a:ln>
        </p:spPr>
        <p:txBody>
          <a:bodyPr spcFirstLastPara="1" vert="horz" wrap="square" lIns="121900" tIns="121900" rIns="121900" bIns="121900" rtlCol="0" anchor="t" anchorCtr="0">
            <a:normAutofit/>
          </a:bodyPr>
          <a:lstStyle/>
          <a:p>
            <a:pPr algn="ctr"/>
            <a:r>
              <a:rPr lang="en-US" altLang="zh-CN" sz="4533">
                <a:solidFill>
                  <a:srgbClr val="FF0000"/>
                </a:solidFill>
                <a:latin typeface="Times New Roman"/>
                <a:ea typeface="Times New Roman"/>
                <a:cs typeface="Times New Roman"/>
                <a:sym typeface="Times New Roman"/>
              </a:rPr>
              <a:t>Practice From HuatuoGPT</a:t>
            </a:r>
            <a:endParaRPr sz="4533">
              <a:solidFill>
                <a:srgbClr val="FF0000"/>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795"/>
        <p:cNvGrpSpPr/>
        <p:nvPr/>
      </p:nvGrpSpPr>
      <p:grpSpPr>
        <a:xfrm>
          <a:off x="0" y="0"/>
          <a:ext cx="0" cy="0"/>
          <a:chOff x="0" y="0"/>
          <a:chExt cx="0" cy="0"/>
        </a:xfrm>
      </p:grpSpPr>
      <p:sp>
        <p:nvSpPr>
          <p:cNvPr id="796" name="Google Shape;796;p102"/>
          <p:cNvSpPr txBox="1">
            <a:spLocks noGrp="1"/>
          </p:cNvSpPr>
          <p:nvPr>
            <p:ph type="title"/>
          </p:nvPr>
        </p:nvSpPr>
        <p:spPr>
          <a:xfrm>
            <a:off x="415600" y="593367"/>
            <a:ext cx="11360800" cy="763600"/>
          </a:xfrm>
          <a:prstGeom prst="rect">
            <a:avLst/>
          </a:prstGeom>
          <a:noFill/>
          <a:ln>
            <a:noFill/>
          </a:ln>
        </p:spPr>
        <p:txBody>
          <a:bodyPr spcFirstLastPara="1" vert="horz" wrap="square" lIns="121900" tIns="121900" rIns="121900" bIns="121900" rtlCol="0" anchor="t" anchorCtr="0">
            <a:normAutofit fontScale="90000"/>
          </a:bodyPr>
          <a:lstStyle/>
          <a:p>
            <a:pPr>
              <a:lnSpc>
                <a:spcPct val="115000"/>
              </a:lnSpc>
              <a:buClr>
                <a:schemeClr val="dk1"/>
              </a:buClr>
              <a:buSzPct val="30554"/>
            </a:pPr>
            <a:r>
              <a:rPr lang="en-US" altLang="zh-CN" sz="4800"/>
              <a:t>RL with Mixed Feedback (RLMF)</a:t>
            </a:r>
            <a:endParaRPr sz="4800"/>
          </a:p>
          <a:p>
            <a:pPr>
              <a:buSzPct val="111111"/>
            </a:pPr>
            <a:endParaRPr/>
          </a:p>
        </p:txBody>
      </p:sp>
      <p:pic>
        <p:nvPicPr>
          <p:cNvPr id="797" name="Google Shape;797;p102"/>
          <p:cNvPicPr preferRelativeResize="0"/>
          <p:nvPr/>
        </p:nvPicPr>
        <p:blipFill rotWithShape="1">
          <a:blip r:embed="rId3">
            <a:alphaModFix/>
          </a:blip>
          <a:srcRect/>
          <a:stretch/>
        </p:blipFill>
        <p:spPr>
          <a:xfrm>
            <a:off x="870232" y="1704434"/>
            <a:ext cx="3993333" cy="4365433"/>
          </a:xfrm>
          <a:prstGeom prst="rect">
            <a:avLst/>
          </a:prstGeom>
          <a:noFill/>
          <a:ln>
            <a:noFill/>
          </a:ln>
        </p:spPr>
      </p:pic>
      <p:pic>
        <p:nvPicPr>
          <p:cNvPr id="798" name="Google Shape;798;p102"/>
          <p:cNvPicPr preferRelativeResize="0"/>
          <p:nvPr/>
        </p:nvPicPr>
        <p:blipFill rotWithShape="1">
          <a:blip r:embed="rId4">
            <a:alphaModFix/>
          </a:blip>
          <a:srcRect/>
          <a:stretch/>
        </p:blipFill>
        <p:spPr>
          <a:xfrm>
            <a:off x="5853400" y="1543067"/>
            <a:ext cx="4855173" cy="4950367"/>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802"/>
        <p:cNvGrpSpPr/>
        <p:nvPr/>
      </p:nvGrpSpPr>
      <p:grpSpPr>
        <a:xfrm>
          <a:off x="0" y="0"/>
          <a:ext cx="0" cy="0"/>
          <a:chOff x="0" y="0"/>
          <a:chExt cx="0" cy="0"/>
        </a:xfrm>
      </p:grpSpPr>
      <p:sp>
        <p:nvSpPr>
          <p:cNvPr id="803" name="Google Shape;803;p103"/>
          <p:cNvSpPr txBox="1">
            <a:spLocks noGrp="1"/>
          </p:cNvSpPr>
          <p:nvPr>
            <p:ph type="title"/>
          </p:nvPr>
        </p:nvSpPr>
        <p:spPr>
          <a:xfrm>
            <a:off x="415600" y="593367"/>
            <a:ext cx="11360800" cy="763600"/>
          </a:xfrm>
          <a:prstGeom prst="rect">
            <a:avLst/>
          </a:prstGeom>
          <a:noFill/>
          <a:ln>
            <a:noFill/>
          </a:ln>
        </p:spPr>
        <p:txBody>
          <a:bodyPr spcFirstLastPara="1" vert="horz" wrap="square" lIns="121900" tIns="121900" rIns="121900" bIns="121900" rtlCol="0" anchor="t" anchorCtr="0">
            <a:normAutofit fontScale="90000"/>
          </a:bodyPr>
          <a:lstStyle/>
          <a:p>
            <a:pPr>
              <a:lnSpc>
                <a:spcPct val="90000"/>
              </a:lnSpc>
              <a:buClr>
                <a:schemeClr val="dk1"/>
              </a:buClr>
              <a:buSzPct val="27500"/>
            </a:pPr>
            <a:r>
              <a:rPr lang="en-US" altLang="zh-CN" sz="5333"/>
              <a:t>Reinforcement learning history</a:t>
            </a:r>
            <a:endParaRPr sz="5333"/>
          </a:p>
          <a:p>
            <a:pPr>
              <a:buSzPct val="111111"/>
            </a:pPr>
            <a:endParaRPr/>
          </a:p>
        </p:txBody>
      </p:sp>
      <p:pic>
        <p:nvPicPr>
          <p:cNvPr id="804" name="Google Shape;804;p103"/>
          <p:cNvPicPr preferRelativeResize="0"/>
          <p:nvPr/>
        </p:nvPicPr>
        <p:blipFill rotWithShape="1">
          <a:blip r:embed="rId3">
            <a:alphaModFix/>
          </a:blip>
          <a:srcRect/>
          <a:stretch/>
        </p:blipFill>
        <p:spPr>
          <a:xfrm>
            <a:off x="203200" y="1560167"/>
            <a:ext cx="11785603" cy="4813159"/>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808"/>
        <p:cNvGrpSpPr/>
        <p:nvPr/>
      </p:nvGrpSpPr>
      <p:grpSpPr>
        <a:xfrm>
          <a:off x="0" y="0"/>
          <a:ext cx="0" cy="0"/>
          <a:chOff x="0" y="0"/>
          <a:chExt cx="0" cy="0"/>
        </a:xfrm>
      </p:grpSpPr>
      <p:sp>
        <p:nvSpPr>
          <p:cNvPr id="809" name="Google Shape;809;p104"/>
          <p:cNvSpPr txBox="1">
            <a:spLocks noGrp="1"/>
          </p:cNvSpPr>
          <p:nvPr>
            <p:ph type="title"/>
          </p:nvPr>
        </p:nvSpPr>
        <p:spPr>
          <a:xfrm>
            <a:off x="415600" y="2481000"/>
            <a:ext cx="11360800" cy="2281600"/>
          </a:xfrm>
          <a:prstGeom prst="rect">
            <a:avLst/>
          </a:prstGeom>
          <a:noFill/>
          <a:ln>
            <a:noFill/>
          </a:ln>
        </p:spPr>
        <p:txBody>
          <a:bodyPr spcFirstLastPara="1" vert="horz" wrap="square" lIns="121900" tIns="121900" rIns="121900" bIns="121900" rtlCol="0" anchor="t" anchorCtr="0">
            <a:normAutofit/>
          </a:bodyPr>
          <a:lstStyle/>
          <a:p>
            <a:pPr algn="ctr"/>
            <a:r>
              <a:rPr lang="en-US" altLang="zh-CN" sz="4533">
                <a:solidFill>
                  <a:srgbClr val="FF0000"/>
                </a:solidFill>
                <a:latin typeface="Times New Roman"/>
                <a:ea typeface="Times New Roman"/>
                <a:cs typeface="Times New Roman"/>
                <a:sym typeface="Times New Roman"/>
              </a:rPr>
              <a:t>Practice From AceGPT</a:t>
            </a:r>
            <a:endParaRPr sz="4533">
              <a:solidFill>
                <a:srgbClr val="FF0000"/>
              </a:solidFill>
              <a:latin typeface="Times New Roman"/>
              <a:ea typeface="Times New Roman"/>
              <a:cs typeface="Times New Roman"/>
              <a:sym typeface="Times New Roman"/>
            </a:endParaRPr>
          </a:p>
          <a:p>
            <a:pPr algn="ctr"/>
            <a:r>
              <a:rPr lang="en-US" altLang="zh-CN" sz="4533">
                <a:solidFill>
                  <a:srgbClr val="FF0000"/>
                </a:solidFill>
                <a:latin typeface="Times New Roman"/>
                <a:ea typeface="Times New Roman"/>
                <a:cs typeface="Times New Roman"/>
                <a:sym typeface="Times New Roman"/>
              </a:rPr>
              <a:t>the Best Arabic LLM</a:t>
            </a:r>
            <a:endParaRPr sz="4533">
              <a:solidFill>
                <a:srgbClr val="FF0000"/>
              </a:solidFill>
              <a:latin typeface="Times New Roman"/>
              <a:ea typeface="Times New Roman"/>
              <a:cs typeface="Times New Roman"/>
              <a:sym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813"/>
        <p:cNvGrpSpPr/>
        <p:nvPr/>
      </p:nvGrpSpPr>
      <p:grpSpPr>
        <a:xfrm>
          <a:off x="0" y="0"/>
          <a:ext cx="0" cy="0"/>
          <a:chOff x="0" y="0"/>
          <a:chExt cx="0" cy="0"/>
        </a:xfrm>
      </p:grpSpPr>
      <p:pic>
        <p:nvPicPr>
          <p:cNvPr id="814" name="Google Shape;814;p105"/>
          <p:cNvPicPr preferRelativeResize="0"/>
          <p:nvPr/>
        </p:nvPicPr>
        <p:blipFill rotWithShape="1">
          <a:blip r:embed="rId3">
            <a:alphaModFix/>
          </a:blip>
          <a:srcRect/>
          <a:stretch/>
        </p:blipFill>
        <p:spPr>
          <a:xfrm>
            <a:off x="112433" y="2280767"/>
            <a:ext cx="11785600" cy="2628205"/>
          </a:xfrm>
          <a:prstGeom prst="rect">
            <a:avLst/>
          </a:prstGeom>
          <a:noFill/>
          <a:ln>
            <a:noFill/>
          </a:ln>
        </p:spPr>
      </p:pic>
      <p:sp>
        <p:nvSpPr>
          <p:cNvPr id="815" name="Google Shape;815;p105"/>
          <p:cNvSpPr txBox="1"/>
          <p:nvPr/>
        </p:nvSpPr>
        <p:spPr>
          <a:xfrm>
            <a:off x="382600" y="5960401"/>
            <a:ext cx="11426800" cy="574604"/>
          </a:xfrm>
          <a:prstGeom prst="rect">
            <a:avLst/>
          </a:prstGeom>
          <a:noFill/>
          <a:ln>
            <a:noFill/>
          </a:ln>
        </p:spPr>
        <p:txBody>
          <a:bodyPr spcFirstLastPara="1" wrap="square" lIns="121900" tIns="121900" rIns="121900" bIns="121900" anchor="t" anchorCtr="0">
            <a:spAutoFit/>
          </a:bodyPr>
          <a:lstStyle/>
          <a:p>
            <a:pPr>
              <a:buClr>
                <a:srgbClr val="000000"/>
              </a:buClr>
              <a:buSzPts val="800"/>
            </a:pPr>
            <a:r>
              <a:rPr lang="en-US" altLang="zh-CN" sz="1067">
                <a:solidFill>
                  <a:srgbClr val="000000"/>
                </a:solidFill>
                <a:latin typeface="Arial"/>
                <a:ea typeface="Arial"/>
                <a:cs typeface="Arial"/>
                <a:sym typeface="Arial"/>
              </a:rPr>
              <a:t>Huang Huang, Fei Yu, Jianqing Zhu, Xuening Sun, Hao Cheng, Dingjie Song, Zhihong Chen, Abdulmohsen Alharthi, Bang An, Ziche Liu, Zhiyi Zhang, Junying Chen, Jianquan Li, Benyou Wang, Lian Zhang, Ruoyu Sun, Xiang Wan, Haizhou Li, Jinchao Xu. AceGPT, Localizing Large Language Models in Arabic.  https://arxiv.org/pdf/2309.12053.pdf</a:t>
            </a:r>
            <a:endParaRPr sz="1067">
              <a:solidFill>
                <a:srgbClr val="000000"/>
              </a:solidFill>
              <a:latin typeface="Arial"/>
              <a:ea typeface="Arial"/>
              <a:cs typeface="Arial"/>
              <a:sym typeface="Arial"/>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808"/>
        <p:cNvGrpSpPr/>
        <p:nvPr/>
      </p:nvGrpSpPr>
      <p:grpSpPr>
        <a:xfrm>
          <a:off x="0" y="0"/>
          <a:ext cx="0" cy="0"/>
          <a:chOff x="0" y="0"/>
          <a:chExt cx="0" cy="0"/>
        </a:xfrm>
      </p:grpSpPr>
      <p:sp>
        <p:nvSpPr>
          <p:cNvPr id="809" name="Google Shape;809;p104"/>
          <p:cNvSpPr txBox="1">
            <a:spLocks noGrp="1"/>
          </p:cNvSpPr>
          <p:nvPr>
            <p:ph type="title"/>
          </p:nvPr>
        </p:nvSpPr>
        <p:spPr>
          <a:xfrm>
            <a:off x="415600" y="2481000"/>
            <a:ext cx="11360800" cy="2281600"/>
          </a:xfrm>
          <a:prstGeom prst="rect">
            <a:avLst/>
          </a:prstGeom>
          <a:noFill/>
          <a:ln>
            <a:noFill/>
          </a:ln>
        </p:spPr>
        <p:txBody>
          <a:bodyPr spcFirstLastPara="1" vert="horz" wrap="square" lIns="121900" tIns="121900" rIns="121900" bIns="121900" rtlCol="0" anchor="t" anchorCtr="0">
            <a:normAutofit/>
          </a:bodyPr>
          <a:lstStyle/>
          <a:p>
            <a:pPr algn="ctr"/>
            <a:r>
              <a:rPr lang="en-US" altLang="zh-CN" sz="4533" dirty="0">
                <a:solidFill>
                  <a:srgbClr val="FF0000"/>
                </a:solidFill>
                <a:latin typeface="Times New Roman"/>
                <a:ea typeface="Times New Roman"/>
                <a:cs typeface="Times New Roman"/>
                <a:sym typeface="Times New Roman"/>
              </a:rPr>
              <a:t>Alignment Benchmark</a:t>
            </a:r>
            <a:endParaRPr sz="4533" dirty="0">
              <a:solidFill>
                <a:srgbClr val="FF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90237241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808"/>
        <p:cNvGrpSpPr/>
        <p:nvPr/>
      </p:nvGrpSpPr>
      <p:grpSpPr>
        <a:xfrm>
          <a:off x="0" y="0"/>
          <a:ext cx="0" cy="0"/>
          <a:chOff x="0" y="0"/>
          <a:chExt cx="0" cy="0"/>
        </a:xfrm>
      </p:grpSpPr>
      <p:sp>
        <p:nvSpPr>
          <p:cNvPr id="809" name="Google Shape;809;p104"/>
          <p:cNvSpPr txBox="1">
            <a:spLocks noGrp="1"/>
          </p:cNvSpPr>
          <p:nvPr>
            <p:ph type="title"/>
          </p:nvPr>
        </p:nvSpPr>
        <p:spPr>
          <a:xfrm>
            <a:off x="415600" y="2481000"/>
            <a:ext cx="11360800" cy="2281600"/>
          </a:xfrm>
          <a:prstGeom prst="rect">
            <a:avLst/>
          </a:prstGeom>
          <a:noFill/>
          <a:ln>
            <a:noFill/>
          </a:ln>
        </p:spPr>
        <p:txBody>
          <a:bodyPr spcFirstLastPara="1" vert="horz" wrap="square" lIns="121900" tIns="121900" rIns="121900" bIns="121900" rtlCol="0" anchor="t" anchorCtr="0">
            <a:normAutofit/>
          </a:bodyPr>
          <a:lstStyle/>
          <a:p>
            <a:pPr algn="ctr"/>
            <a:r>
              <a:rPr lang="en-US" altLang="zh-CN" sz="4533">
                <a:solidFill>
                  <a:srgbClr val="FF0000"/>
                </a:solidFill>
                <a:latin typeface="Times New Roman"/>
                <a:ea typeface="Times New Roman"/>
                <a:cs typeface="Times New Roman"/>
                <a:sym typeface="Times New Roman"/>
              </a:rPr>
              <a:t>Alignment tax</a:t>
            </a:r>
            <a:endParaRPr sz="4533" dirty="0">
              <a:solidFill>
                <a:srgbClr val="FF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9169190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873"/>
        <p:cNvGrpSpPr/>
        <p:nvPr/>
      </p:nvGrpSpPr>
      <p:grpSpPr>
        <a:xfrm>
          <a:off x="0" y="0"/>
          <a:ext cx="0" cy="0"/>
          <a:chOff x="0" y="0"/>
          <a:chExt cx="0" cy="0"/>
        </a:xfrm>
      </p:grpSpPr>
      <p:sp>
        <p:nvSpPr>
          <p:cNvPr id="874" name="Google Shape;874;p114"/>
          <p:cNvSpPr txBox="1">
            <a:spLocks noGrp="1"/>
          </p:cNvSpPr>
          <p:nvPr>
            <p:ph type="title"/>
          </p:nvPr>
        </p:nvSpPr>
        <p:spPr>
          <a:xfrm>
            <a:off x="415600" y="593367"/>
            <a:ext cx="11360800" cy="763600"/>
          </a:xfrm>
          <a:prstGeom prst="rect">
            <a:avLst/>
          </a:prstGeom>
          <a:noFill/>
          <a:ln>
            <a:noFill/>
          </a:ln>
        </p:spPr>
        <p:txBody>
          <a:bodyPr spcFirstLastPara="1" vert="horz" wrap="square" lIns="121900" tIns="121900" rIns="121900" bIns="121900" rtlCol="0" anchor="t" anchorCtr="0">
            <a:normAutofit fontScale="90000"/>
          </a:bodyPr>
          <a:lstStyle/>
          <a:p>
            <a:pPr>
              <a:buSzPct val="111111"/>
            </a:pPr>
            <a:r>
              <a:rPr lang="zh-CN">
                <a:latin typeface="Times New Roman"/>
                <a:ea typeface="Times New Roman"/>
                <a:cs typeface="Times New Roman"/>
                <a:sym typeface="Times New Roman"/>
              </a:rPr>
              <a:t>Acknowledgement</a:t>
            </a:r>
            <a:endParaRPr>
              <a:latin typeface="Times New Roman"/>
              <a:ea typeface="Times New Roman"/>
              <a:cs typeface="Times New Roman"/>
              <a:sym typeface="Times New Roman"/>
            </a:endParaRPr>
          </a:p>
        </p:txBody>
      </p:sp>
      <p:sp>
        <p:nvSpPr>
          <p:cNvPr id="875" name="Google Shape;875;p114"/>
          <p:cNvSpPr txBox="1">
            <a:spLocks noGrp="1"/>
          </p:cNvSpPr>
          <p:nvPr>
            <p:ph type="body" idx="1"/>
          </p:nvPr>
        </p:nvSpPr>
        <p:spPr>
          <a:xfrm>
            <a:off x="334800" y="1356967"/>
            <a:ext cx="11522400" cy="5285200"/>
          </a:xfrm>
          <a:prstGeom prst="rect">
            <a:avLst/>
          </a:prstGeom>
          <a:noFill/>
          <a:ln>
            <a:noFill/>
          </a:ln>
        </p:spPr>
        <p:txBody>
          <a:bodyPr spcFirstLastPara="1" vert="horz" wrap="square" lIns="121900" tIns="121900" rIns="121900" bIns="121900" rtlCol="0" anchor="t" anchorCtr="0">
            <a:normAutofit/>
          </a:bodyPr>
          <a:lstStyle/>
          <a:p>
            <a:pPr indent="-423323">
              <a:buSzPts val="1400"/>
              <a:buFont typeface="Times New Roman"/>
              <a:buChar char="●"/>
            </a:pPr>
            <a:r>
              <a:rPr lang="en-US" altLang="zh-CN" sz="1867" u="sng" dirty="0">
                <a:solidFill>
                  <a:schemeClr val="accent5"/>
                </a:solidFill>
                <a:latin typeface="Times New Roman"/>
                <a:ea typeface="Times New Roman"/>
                <a:cs typeface="Times New Roman"/>
                <a:sym typeface="Times New Roman"/>
                <a:hlinkClick r:id="rId3">
                  <a:extLst>
                    <a:ext uri="{A12FA001-AC4F-418D-AE19-62706E023703}">
                      <ahyp:hlinkClr xmlns:ahyp="http://schemas.microsoft.com/office/drawing/2018/hyperlinkcolor" val="tx"/>
                    </a:ext>
                  </a:extLst>
                </a:hlinkClick>
              </a:rPr>
              <a:t>https://web.stanford.edu/class/cs224n/slides/cs224n-2022-lecture10-pretraining.pdf</a:t>
            </a:r>
            <a:endParaRPr dirty="0">
              <a:latin typeface="Times New Roman"/>
              <a:ea typeface="Times New Roman"/>
              <a:cs typeface="Times New Roman"/>
              <a:sym typeface="Times New Roman"/>
            </a:endParaRPr>
          </a:p>
          <a:p>
            <a:pPr indent="-423323">
              <a:buSzPts val="1400"/>
              <a:buFont typeface="Times New Roman"/>
              <a:buChar char="●"/>
            </a:pPr>
            <a:r>
              <a:rPr lang="en-US" altLang="zh-CN" sz="1867" u="sng" dirty="0">
                <a:solidFill>
                  <a:schemeClr val="hlink"/>
                </a:solidFill>
                <a:latin typeface="Times New Roman"/>
                <a:ea typeface="Times New Roman"/>
                <a:cs typeface="Times New Roman"/>
                <a:sym typeface="Times New Roman"/>
                <a:hlinkClick r:id="rId4"/>
              </a:rPr>
              <a:t>https://web.stanford.edu/class/cs224n/slides/cs224n-2023-lecture11-prompting-rlhf.pdf</a:t>
            </a:r>
            <a:endParaRPr sz="1867" dirty="0">
              <a:latin typeface="Times New Roman"/>
              <a:ea typeface="Times New Roman"/>
              <a:cs typeface="Times New Roman"/>
              <a:sym typeface="Times New Roman"/>
            </a:endParaRPr>
          </a:p>
          <a:p>
            <a:pPr indent="-423323">
              <a:buSzPts val="1400"/>
              <a:buFont typeface="Times New Roman"/>
              <a:buChar char="●"/>
            </a:pPr>
            <a:r>
              <a:rPr lang="en-US" altLang="zh-CN" sz="1867" u="sng" dirty="0">
                <a:solidFill>
                  <a:schemeClr val="hlink"/>
                </a:solidFill>
                <a:latin typeface="Times New Roman"/>
                <a:ea typeface="Times New Roman"/>
                <a:cs typeface="Times New Roman"/>
                <a:sym typeface="Times New Roman"/>
                <a:hlinkClick r:id="rId5"/>
              </a:rPr>
              <a:t>https://courses.grainger.illinois.edu/CS447/sp2023/Slides/Lecture27.pdf</a:t>
            </a:r>
            <a:endParaRPr sz="1867" dirty="0">
              <a:latin typeface="Times New Roman"/>
              <a:ea typeface="Times New Roman"/>
              <a:cs typeface="Times New Roman"/>
              <a:sym typeface="Times New Roman"/>
            </a:endParaRPr>
          </a:p>
          <a:p>
            <a:pPr indent="-423323">
              <a:buSzPts val="1400"/>
              <a:buFont typeface="Times New Roman"/>
              <a:buChar char="●"/>
            </a:pPr>
            <a:r>
              <a:rPr lang="en-US" altLang="zh-CN" sz="1867" u="sng" dirty="0">
                <a:solidFill>
                  <a:schemeClr val="hlink"/>
                </a:solidFill>
                <a:latin typeface="Times New Roman"/>
                <a:ea typeface="Times New Roman"/>
                <a:cs typeface="Times New Roman"/>
                <a:sym typeface="Times New Roman"/>
                <a:hlinkClick r:id="rId6"/>
              </a:rPr>
              <a:t>https://www.databricks.com/dataaisummit/session/how-train-your-own-large-language-models/</a:t>
            </a:r>
            <a:endParaRPr sz="1867" dirty="0">
              <a:latin typeface="Times New Roman"/>
              <a:ea typeface="Times New Roman"/>
              <a:cs typeface="Times New Roman"/>
              <a:sym typeface="Times New Roman"/>
            </a:endParaRPr>
          </a:p>
          <a:p>
            <a:pPr indent="-423323">
              <a:buSzPts val="1400"/>
              <a:buFont typeface="Times New Roman"/>
              <a:buChar char="●"/>
            </a:pPr>
            <a:r>
              <a:rPr lang="en-US" altLang="zh-CN" sz="1867" u="sng" dirty="0">
                <a:solidFill>
                  <a:schemeClr val="hlink"/>
                </a:solidFill>
                <a:latin typeface="Times New Roman"/>
                <a:ea typeface="Times New Roman"/>
                <a:cs typeface="Times New Roman"/>
                <a:sym typeface="Times New Roman"/>
                <a:hlinkClick r:id="rId7"/>
              </a:rPr>
              <a:t>https://gist.github.com/rain-1/eebd5e5eb2784feecf450324e3341c8d</a:t>
            </a:r>
            <a:endParaRPr sz="1867" dirty="0">
              <a:latin typeface="Times New Roman"/>
              <a:ea typeface="Times New Roman"/>
              <a:cs typeface="Times New Roman"/>
              <a:sym typeface="Times New Roman"/>
            </a:endParaRPr>
          </a:p>
          <a:p>
            <a:pPr indent="-423323">
              <a:buSzPts val="1400"/>
              <a:buFont typeface="Times New Roman"/>
              <a:buChar char="●"/>
            </a:pPr>
            <a:r>
              <a:rPr lang="en-US" altLang="zh-CN" sz="1867" u="sng" dirty="0">
                <a:solidFill>
                  <a:schemeClr val="hlink"/>
                </a:solidFill>
                <a:latin typeface="Times New Roman"/>
                <a:ea typeface="Times New Roman"/>
                <a:cs typeface="Times New Roman"/>
                <a:sym typeface="Times New Roman"/>
                <a:hlinkClick r:id="rId8"/>
              </a:rPr>
              <a:t>https://www.cs.princeton.edu/courses/archive/fall22/cos597G/lectures/lec18.pdf</a:t>
            </a:r>
            <a:endParaRPr sz="1867" dirty="0">
              <a:latin typeface="Times New Roman"/>
              <a:ea typeface="Times New Roman"/>
              <a:cs typeface="Times New Roman"/>
              <a:sym typeface="Times New Roman"/>
            </a:endParaRPr>
          </a:p>
          <a:p>
            <a:pPr indent="-423323">
              <a:buSzPts val="1400"/>
              <a:buFont typeface="Times New Roman"/>
              <a:buChar char="●"/>
            </a:pPr>
            <a:r>
              <a:rPr lang="en-US" altLang="zh-CN" sz="1867" u="sng" dirty="0">
                <a:solidFill>
                  <a:schemeClr val="hlink"/>
                </a:solidFill>
                <a:latin typeface="Times New Roman"/>
                <a:ea typeface="Times New Roman"/>
                <a:cs typeface="Times New Roman"/>
                <a:sym typeface="Times New Roman"/>
                <a:hlinkClick r:id="rId9"/>
              </a:rPr>
              <a:t>https://www.slideshare.net/SylvainGugger/fine-tuning-large-lms-243430468</a:t>
            </a:r>
            <a:endParaRPr sz="1867" dirty="0">
              <a:latin typeface="Times New Roman"/>
              <a:ea typeface="Times New Roman"/>
              <a:cs typeface="Times New Roman"/>
              <a:sym typeface="Times New Roman"/>
            </a:endParaRPr>
          </a:p>
          <a:p>
            <a:pPr indent="-423323">
              <a:buSzPts val="1400"/>
              <a:buFont typeface="Times New Roman"/>
              <a:buChar char="●"/>
            </a:pPr>
            <a:r>
              <a:rPr lang="en-US" altLang="zh-CN" sz="1867" u="sng" dirty="0">
                <a:solidFill>
                  <a:schemeClr val="hlink"/>
                </a:solidFill>
                <a:latin typeface="Times New Roman"/>
                <a:ea typeface="Times New Roman"/>
                <a:cs typeface="Times New Roman"/>
                <a:sym typeface="Times New Roman"/>
                <a:hlinkClick r:id="rId10"/>
              </a:rPr>
              <a:t>http://www.phontron.com/slides/neubig23llms.pdf</a:t>
            </a:r>
            <a:endParaRPr sz="1867" dirty="0">
              <a:latin typeface="Times New Roman"/>
              <a:ea typeface="Times New Roman"/>
              <a:cs typeface="Times New Roman"/>
              <a:sym typeface="Times New Roman"/>
            </a:endParaRPr>
          </a:p>
          <a:p>
            <a:pPr indent="-423323">
              <a:lnSpc>
                <a:spcPct val="100000"/>
              </a:lnSpc>
              <a:buSzPts val="1400"/>
              <a:buFont typeface="Times New Roman"/>
              <a:buChar char="●"/>
            </a:pPr>
            <a:r>
              <a:rPr lang="en-US" altLang="zh-CN" sz="1867" u="sng" dirty="0">
                <a:solidFill>
                  <a:schemeClr val="hlink"/>
                </a:solidFill>
                <a:latin typeface="Times New Roman"/>
                <a:ea typeface="Times New Roman"/>
                <a:cs typeface="Times New Roman"/>
                <a:sym typeface="Times New Roman"/>
                <a:hlinkClick r:id="rId11"/>
              </a:rPr>
              <a:t>https://www.freecodecamp.org/news/train-algorithms-from-scratch-with-hugging-face/</a:t>
            </a:r>
            <a:endParaRPr sz="1867" dirty="0">
              <a:solidFill>
                <a:schemeClr val="accent3"/>
              </a:solidFill>
              <a:latin typeface="Times New Roman"/>
              <a:ea typeface="Times New Roman"/>
              <a:cs typeface="Times New Roman"/>
              <a:sym typeface="Times New Roman"/>
            </a:endParaRPr>
          </a:p>
          <a:p>
            <a:pPr indent="-423323">
              <a:lnSpc>
                <a:spcPct val="100000"/>
              </a:lnSpc>
              <a:buClr>
                <a:schemeClr val="accent3"/>
              </a:buClr>
              <a:buSzPts val="1400"/>
              <a:buFont typeface="Times New Roman"/>
              <a:buChar char="●"/>
            </a:pPr>
            <a:r>
              <a:rPr lang="en-US" altLang="zh-CN" sz="1867" u="sng" dirty="0">
                <a:solidFill>
                  <a:schemeClr val="hlink"/>
                </a:solidFill>
                <a:latin typeface="Times New Roman"/>
                <a:ea typeface="Times New Roman"/>
                <a:cs typeface="Times New Roman"/>
                <a:sym typeface="Times New Roman"/>
                <a:hlinkClick r:id="rId12"/>
              </a:rPr>
              <a:t>https://uploads-ssl.webflow.com/5ac6b7f2924c656f2b13a88c/6435aabdc0a041194b243eef_Current%20Best%20Practices%20for%20Training%20LLMs%20from%20Scratch%20-%20Final.pdf</a:t>
            </a:r>
            <a:endParaRPr sz="1867" dirty="0">
              <a:solidFill>
                <a:schemeClr val="accent3"/>
              </a:solidFill>
              <a:latin typeface="Times New Roman"/>
              <a:ea typeface="Times New Roman"/>
              <a:cs typeface="Times New Roman"/>
              <a:sym typeface="Times New Roman"/>
            </a:endParaRPr>
          </a:p>
          <a:p>
            <a:pPr indent="-423323">
              <a:lnSpc>
                <a:spcPct val="100000"/>
              </a:lnSpc>
              <a:buClr>
                <a:schemeClr val="accent3"/>
              </a:buClr>
              <a:buSzPts val="1400"/>
              <a:buFont typeface="Times New Roman"/>
              <a:buChar char="●"/>
            </a:pPr>
            <a:r>
              <a:rPr lang="en-US" altLang="zh-CN" sz="1867" u="sng" dirty="0">
                <a:solidFill>
                  <a:schemeClr val="hlink"/>
                </a:solidFill>
                <a:latin typeface="Times New Roman"/>
                <a:ea typeface="Times New Roman"/>
                <a:cs typeface="Times New Roman"/>
                <a:sym typeface="Times New Roman"/>
                <a:hlinkClick r:id="rId13"/>
              </a:rPr>
              <a:t>https://www.analyticsvidhya.com/blog/2020/05/what-is-tokenization-nlp/</a:t>
            </a:r>
            <a:endParaRPr sz="1867" dirty="0">
              <a:solidFill>
                <a:schemeClr val="accent3"/>
              </a:solidFill>
              <a:latin typeface="Times New Roman"/>
              <a:ea typeface="Times New Roman"/>
              <a:cs typeface="Times New Roman"/>
              <a:sym typeface="Times New Roman"/>
            </a:endParaRPr>
          </a:p>
          <a:p>
            <a:pPr indent="-423323">
              <a:lnSpc>
                <a:spcPct val="100000"/>
              </a:lnSpc>
              <a:buClr>
                <a:schemeClr val="accent3"/>
              </a:buClr>
              <a:buSzPts val="1400"/>
              <a:buFont typeface="Times New Roman"/>
              <a:buChar char="●"/>
            </a:pPr>
            <a:r>
              <a:rPr lang="en-US" altLang="zh-CN" sz="1867" u="sng" dirty="0">
                <a:solidFill>
                  <a:schemeClr val="hlink"/>
                </a:solidFill>
                <a:latin typeface="Times New Roman"/>
                <a:ea typeface="Times New Roman"/>
                <a:cs typeface="Times New Roman"/>
                <a:sym typeface="Times New Roman"/>
                <a:hlinkClick r:id="rId14"/>
              </a:rPr>
              <a:t>https://scholar.harvard.edu/binxuw/classes/machine-learning-scratch/materials/transformers</a:t>
            </a:r>
            <a:endParaRPr sz="1867" dirty="0">
              <a:solidFill>
                <a:schemeClr val="accent3"/>
              </a:solidFill>
              <a:latin typeface="Times New Roman"/>
              <a:ea typeface="Times New Roman"/>
              <a:cs typeface="Times New Roman"/>
              <a:sym typeface="Times New Roman"/>
            </a:endParaRPr>
          </a:p>
          <a:p>
            <a:pPr indent="-423323">
              <a:lnSpc>
                <a:spcPct val="100000"/>
              </a:lnSpc>
              <a:buClr>
                <a:schemeClr val="accent3"/>
              </a:buClr>
              <a:buSzPts val="1400"/>
              <a:buFont typeface="Times New Roman"/>
              <a:buChar char="●"/>
            </a:pPr>
            <a:r>
              <a:rPr lang="en-US" altLang="zh-CN" sz="1867" u="sng" dirty="0">
                <a:solidFill>
                  <a:schemeClr val="hlink"/>
                </a:solidFill>
                <a:latin typeface="Times New Roman"/>
                <a:ea typeface="Times New Roman"/>
                <a:cs typeface="Times New Roman"/>
                <a:sym typeface="Times New Roman"/>
                <a:hlinkClick r:id="rId15"/>
              </a:rPr>
              <a:t>https://www.scribbledata.io/fine-tuning-large-language-models/</a:t>
            </a:r>
            <a:endParaRPr lang="en-US" altLang="zh-CN" sz="1867" u="sng" dirty="0">
              <a:solidFill>
                <a:schemeClr val="hlink"/>
              </a:solidFill>
              <a:latin typeface="Times New Roman"/>
              <a:ea typeface="Times New Roman"/>
              <a:cs typeface="Times New Roman"/>
              <a:sym typeface="Times New Roman"/>
            </a:endParaRPr>
          </a:p>
          <a:p>
            <a:pPr indent="-423323">
              <a:lnSpc>
                <a:spcPct val="100000"/>
              </a:lnSpc>
              <a:buClr>
                <a:schemeClr val="accent3"/>
              </a:buClr>
              <a:buSzPts val="1400"/>
              <a:buFont typeface="Times New Roman"/>
              <a:buChar char="●"/>
            </a:pPr>
            <a:r>
              <a:rPr lang="en-US" sz="1867" dirty="0">
                <a:solidFill>
                  <a:schemeClr val="accent3"/>
                </a:solidFill>
                <a:latin typeface="Times New Roman"/>
                <a:ea typeface="Times New Roman"/>
                <a:cs typeface="Times New Roman"/>
                <a:sym typeface="Times New Roman"/>
                <a:hlinkClick r:id="rId16"/>
              </a:rPr>
              <a:t>https://openreview.net/forum?id=th63j8qHa6</a:t>
            </a:r>
            <a:endParaRPr lang="en-US" sz="1867" u="sng" dirty="0">
              <a:solidFill>
                <a:schemeClr val="hlink"/>
              </a:solidFill>
              <a:latin typeface="Times New Roman"/>
              <a:ea typeface="Times New Roman"/>
              <a:cs typeface="Times New Roman"/>
              <a:sym typeface="Times New Roman"/>
            </a:endParaRPr>
          </a:p>
          <a:p>
            <a:pPr indent="-423323">
              <a:lnSpc>
                <a:spcPct val="100000"/>
              </a:lnSpc>
              <a:buClr>
                <a:schemeClr val="accent3"/>
              </a:buClr>
              <a:buSzPts val="1400"/>
              <a:buFont typeface="Times New Roman"/>
              <a:buChar char="●"/>
            </a:pPr>
            <a:endParaRPr sz="1867" dirty="0">
              <a:solidFill>
                <a:schemeClr val="accent3"/>
              </a:solidFill>
              <a:latin typeface="Times New Roman"/>
              <a:ea typeface="Times New Roman"/>
              <a:cs typeface="Times New Roman"/>
              <a:sym typeface="Times New Roman"/>
            </a:endParaRPr>
          </a:p>
          <a:p>
            <a:pPr indent="-304792">
              <a:lnSpc>
                <a:spcPct val="100000"/>
              </a:lnSpc>
              <a:buClr>
                <a:schemeClr val="accent3"/>
              </a:buClr>
              <a:buSzPts val="1400"/>
              <a:buNone/>
            </a:pPr>
            <a:endParaRPr sz="1867" dirty="0">
              <a:solidFill>
                <a:schemeClr val="accent3"/>
              </a:solidFill>
              <a:latin typeface="Times New Roman"/>
              <a:ea typeface="Times New Roman"/>
              <a:cs typeface="Times New Roman"/>
              <a:sym typeface="Times New Roman"/>
            </a:endParaRPr>
          </a:p>
          <a:p>
            <a:pPr marL="0" indent="0">
              <a:spcAft>
                <a:spcPts val="1600"/>
              </a:spcAft>
              <a:buNone/>
            </a:pPr>
            <a:endParaRPr sz="1867" dirty="0">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181</TotalTime>
  <Words>3763</Words>
  <Application>Microsoft Office PowerPoint</Application>
  <PresentationFormat>Widescreen</PresentationFormat>
  <Paragraphs>471</Paragraphs>
  <Slides>106</Slides>
  <Notes>53</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106</vt:i4>
      </vt:variant>
    </vt:vector>
  </HeadingPairs>
  <TitlesOfParts>
    <vt:vector size="119" baseType="lpstr">
      <vt:lpstr>Lato</vt:lpstr>
      <vt:lpstr>proxima-nova</vt:lpstr>
      <vt:lpstr>宋体</vt:lpstr>
      <vt:lpstr>等线</vt:lpstr>
      <vt:lpstr>等线 Light</vt:lpstr>
      <vt:lpstr>Arial</vt:lpstr>
      <vt:lpstr>Calibri</vt:lpstr>
      <vt:lpstr>Courier New</vt:lpstr>
      <vt:lpstr>Georgia</vt:lpstr>
      <vt:lpstr>Times New Roman</vt:lpstr>
      <vt:lpstr>Trebuchet MS</vt:lpstr>
      <vt:lpstr>Office 主题​​</vt:lpstr>
      <vt:lpstr>Office Theme</vt:lpstr>
      <vt:lpstr>CSC6052/5051/4100/DDA6307/ MDS5110  Natural Language Processing</vt:lpstr>
      <vt:lpstr>Before Today’s lecture</vt:lpstr>
      <vt:lpstr>To recap…</vt:lpstr>
      <vt:lpstr>Steps of LLM training</vt:lpstr>
      <vt:lpstr>Tokenization</vt:lpstr>
      <vt:lpstr>Pretraining for three types of architectures</vt:lpstr>
      <vt:lpstr>Instruction Finetuning Hypothesis</vt:lpstr>
      <vt:lpstr>Stages of  LLM training</vt:lpstr>
      <vt:lpstr>Outline</vt:lpstr>
      <vt:lpstr>Stage 3: RLHF         </vt:lpstr>
      <vt:lpstr>PowerPoint Presentation</vt:lpstr>
      <vt:lpstr>Benefit of RLHF                </vt:lpstr>
      <vt:lpstr>Reinforcement Learning from Human Feedback (RLHF)</vt:lpstr>
      <vt:lpstr>Motivation: Alignment</vt:lpstr>
      <vt:lpstr>Motivation: Alignment</vt:lpstr>
      <vt:lpstr>Motivation: Alignment</vt:lpstr>
      <vt:lpstr>Motivation: Alignment</vt:lpstr>
      <vt:lpstr>Optimizing for human preferences</vt:lpstr>
      <vt:lpstr>How do we model human preferences?</vt:lpstr>
      <vt:lpstr>Reinforcement learning to the rescue</vt:lpstr>
      <vt:lpstr>How do we model human preferences?</vt:lpstr>
      <vt:lpstr>An overall picture of RLHF</vt:lpstr>
      <vt:lpstr>RLHF in InstructGPT</vt:lpstr>
      <vt:lpstr>RLHF: Reinforcement Learning From Human Feedback</vt:lpstr>
      <vt:lpstr>RLHF: Reinforcement Learning From Human Feedback</vt:lpstr>
      <vt:lpstr>RLHF: Reinforcement Learning From Human Feedback</vt:lpstr>
      <vt:lpstr>RLHF: Reinforcement Learning From Human Feedback</vt:lpstr>
      <vt:lpstr>RLHF: Learning a reward model from human feedback</vt:lpstr>
      <vt:lpstr>RLHF: Learning a reward model from human feedback</vt:lpstr>
      <vt:lpstr>PowerPoint Presentation</vt:lpstr>
      <vt:lpstr>RLHF: Learning a reward model from human feedback</vt:lpstr>
      <vt:lpstr>RLHF: Learning a reward model from human feedback</vt:lpstr>
      <vt:lpstr>RLHF: Learning a reward model from human feedback</vt:lpstr>
      <vt:lpstr>RLHF: Learning a reward model from human feedback</vt:lpstr>
      <vt:lpstr>RLHF: Learning a reward model from human feedback</vt:lpstr>
      <vt:lpstr>RLHF: Learning a reward model from human feedback</vt:lpstr>
      <vt:lpstr>Make sure your reward model works first!</vt:lpstr>
      <vt:lpstr>RLHF: Reinforcement Learning From Human Feedback</vt:lpstr>
      <vt:lpstr>RLHF: Learning a policy that optimizes the reward</vt:lpstr>
      <vt:lpstr>PowerPoint Presentation</vt:lpstr>
      <vt:lpstr>RLHF: Learning a policy that optimizes the reward</vt:lpstr>
      <vt:lpstr>RLHF: Learning a policy that optimizes the reward</vt:lpstr>
      <vt:lpstr>RLHF: Learning a policy that optimizes the reward</vt:lpstr>
      <vt:lpstr>RLHF: Learning a policy that optimizes the reward</vt:lpstr>
      <vt:lpstr>RLHF: Learning a policy that optimizes the reward</vt:lpstr>
      <vt:lpstr>RLHF: Learning a policy that optimizes the reward</vt:lpstr>
      <vt:lpstr>PowerPoint Presentation</vt:lpstr>
      <vt:lpstr>PowerPoint Presentation</vt:lpstr>
      <vt:lpstr>Direct Preference Optimization</vt:lpstr>
      <vt:lpstr>PowerPoint Presentation</vt:lpstr>
      <vt:lpstr>PowerPoint Presentation</vt:lpstr>
      <vt:lpstr>Direct Preference Optimization</vt:lpstr>
      <vt:lpstr>Direct Preference Optimization</vt:lpstr>
      <vt:lpstr>Direct Preference Optimization</vt:lpstr>
      <vt:lpstr>Direct Preference Optimization</vt:lpstr>
      <vt:lpstr>Direct Preference Optimization</vt:lpstr>
      <vt:lpstr>Direct Preference Optimization</vt:lpstr>
      <vt:lpstr>Direct Preference Optimization</vt:lpstr>
      <vt:lpstr>Direct Preference Optimization</vt:lpstr>
      <vt:lpstr>Direct Preference Optimization: Putting it together</vt:lpstr>
      <vt:lpstr>PowerPoint Presentation</vt:lpstr>
      <vt:lpstr>Direct Preference Optimization: Putting it together</vt:lpstr>
      <vt:lpstr>Direct Preference Optimization: Putting it together</vt:lpstr>
      <vt:lpstr>Direct Preference Optimization: Putting it together</vt:lpstr>
      <vt:lpstr>Direct Preference Optimization: Putting it together</vt:lpstr>
      <vt:lpstr>Direct Preference Optimization: Putting it together</vt:lpstr>
      <vt:lpstr>Direct Preference Optimization: Putting it together</vt:lpstr>
      <vt:lpstr>Direct Preference Optimization: Putting it together</vt:lpstr>
      <vt:lpstr>PowerPoint Presentation</vt:lpstr>
      <vt:lpstr>PowerPoint Presentation</vt:lpstr>
      <vt:lpstr>Reference data: a example</vt:lpstr>
      <vt:lpstr>RLHF: Learning a policy that optimizes the reward</vt:lpstr>
      <vt:lpstr>RLHF provides gains over pretraining + finetuning</vt:lpstr>
      <vt:lpstr>A solution: UltraFeedback</vt:lpstr>
      <vt:lpstr>RLHF in InstructGPT</vt:lpstr>
      <vt:lpstr>GPT with or without Instruct Tuning</vt:lpstr>
      <vt:lpstr>InstructGPT: scaling up RLHF to tens of thousands of tasks</vt:lpstr>
      <vt:lpstr>InstructGPT: scaling up RLHF to tens of thousands of tasks</vt:lpstr>
      <vt:lpstr>InstructGPT+Chat  ≈ ChatGPT</vt:lpstr>
      <vt:lpstr>ChatGPT: Instruction Finetuning + RLHF for dialog agents</vt:lpstr>
      <vt:lpstr>ChatGPT: Instruction Finetuning + RLHF for dialog agents</vt:lpstr>
      <vt:lpstr>Limitations  of LLM/human Feedbacks</vt:lpstr>
      <vt:lpstr>Limitations of RL + Reward Modeling</vt:lpstr>
      <vt:lpstr>Limitations of RL + Reward Modeling</vt:lpstr>
      <vt:lpstr>Limitations of RL + Reward Modeling</vt:lpstr>
      <vt:lpstr>Limitations of RL + Reward Modeling</vt:lpstr>
      <vt:lpstr>Biases of human feedback</vt:lpstr>
      <vt:lpstr>Biases of human feedback</vt:lpstr>
      <vt:lpstr>Difference between Supervised finetuning vs. RLHF</vt:lpstr>
      <vt:lpstr>SFT memorizes and RL generalizes </vt:lpstr>
      <vt:lpstr>Comparision</vt:lpstr>
      <vt:lpstr>Learning to Reason with LLMs: OpenAI o1</vt:lpstr>
      <vt:lpstr>OpenAI o1: A new LLM trained with RL for complex reasoning</vt:lpstr>
      <vt:lpstr>OpenAI o1: A new LLM trained with RL for complex reasoning</vt:lpstr>
      <vt:lpstr>OpenAI o1: A new LLM trained with RL for complex reasoning</vt:lpstr>
      <vt:lpstr>OpenAI o1: A new LLM trained with RL for complex reasoning</vt:lpstr>
      <vt:lpstr>RL from Rule-based rewards</vt:lpstr>
      <vt:lpstr>PowerPoint Presentation</vt:lpstr>
      <vt:lpstr>Practice From HuatuoGPT</vt:lpstr>
      <vt:lpstr>RL with Mixed Feedback (RLMF) </vt:lpstr>
      <vt:lpstr>Reinforcement learning history </vt:lpstr>
      <vt:lpstr>Practice From AceGPT the Best Arabic LLM</vt:lpstr>
      <vt:lpstr>PowerPoint Presentation</vt:lpstr>
      <vt:lpstr>Alignment Benchmark</vt:lpstr>
      <vt:lpstr>Alignment tax</vt:lpstr>
      <vt:lpstr>Acknowledgement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CSC6052/5051/4100/DDA6307/ MDS5110  Natural Language Processing</dc:title>
  <dc:creator>Angela Fei</dc:creator>
  <cp:lastModifiedBy>Prof. WANG Benyou (SDS)</cp:lastModifiedBy>
  <cp:revision>16</cp:revision>
  <dcterms:created xsi:type="dcterms:W3CDTF">2025-02-24T08:33:03Z</dcterms:created>
  <dcterms:modified xsi:type="dcterms:W3CDTF">2025-03-05T13:50:18Z</dcterms:modified>
</cp:coreProperties>
</file>