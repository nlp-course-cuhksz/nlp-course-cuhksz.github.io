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 id="2147483676" r:id="rId2"/>
    <p:sldMasterId id="2147483677" r:id="rId3"/>
  </p:sldMasterIdLst>
  <p:notesMasterIdLst>
    <p:notesMasterId r:id="rId115"/>
  </p:notesMasterIdLst>
  <p:sldIdLst>
    <p:sldId id="256" r:id="rId4"/>
    <p:sldId id="2862" r:id="rId5"/>
    <p:sldId id="2863" r:id="rId6"/>
    <p:sldId id="2864" r:id="rId7"/>
    <p:sldId id="2865" r:id="rId8"/>
    <p:sldId id="2867" r:id="rId9"/>
    <p:sldId id="299"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37" r:id="rId47"/>
    <p:sldId id="338" r:id="rId48"/>
    <p:sldId id="339" r:id="rId49"/>
    <p:sldId id="340" r:id="rId50"/>
    <p:sldId id="341" r:id="rId51"/>
    <p:sldId id="342" r:id="rId52"/>
    <p:sldId id="343" r:id="rId53"/>
    <p:sldId id="344" r:id="rId54"/>
    <p:sldId id="345"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360" r:id="rId70"/>
    <p:sldId id="361" r:id="rId71"/>
    <p:sldId id="362" r:id="rId72"/>
    <p:sldId id="363" r:id="rId73"/>
    <p:sldId id="364" r:id="rId74"/>
    <p:sldId id="257" r:id="rId75"/>
    <p:sldId id="258" r:id="rId76"/>
    <p:sldId id="259" r:id="rId77"/>
    <p:sldId id="260" r:id="rId78"/>
    <p:sldId id="261" r:id="rId79"/>
    <p:sldId id="262" r:id="rId80"/>
    <p:sldId id="263" r:id="rId81"/>
    <p:sldId id="2846" r:id="rId82"/>
    <p:sldId id="265" r:id="rId83"/>
    <p:sldId id="268" r:id="rId84"/>
    <p:sldId id="2859" r:id="rId85"/>
    <p:sldId id="2745" r:id="rId86"/>
    <p:sldId id="266" r:id="rId87"/>
    <p:sldId id="267" r:id="rId88"/>
    <p:sldId id="270" r:id="rId89"/>
    <p:sldId id="271" r:id="rId90"/>
    <p:sldId id="272" r:id="rId91"/>
    <p:sldId id="281" r:id="rId92"/>
    <p:sldId id="273" r:id="rId93"/>
    <p:sldId id="274" r:id="rId94"/>
    <p:sldId id="275" r:id="rId95"/>
    <p:sldId id="276" r:id="rId96"/>
    <p:sldId id="277" r:id="rId97"/>
    <p:sldId id="278" r:id="rId98"/>
    <p:sldId id="280" r:id="rId99"/>
    <p:sldId id="285" r:id="rId100"/>
    <p:sldId id="365" r:id="rId101"/>
    <p:sldId id="286" r:id="rId102"/>
    <p:sldId id="287" r:id="rId103"/>
    <p:sldId id="288" r:id="rId104"/>
    <p:sldId id="290" r:id="rId105"/>
    <p:sldId id="289" r:id="rId106"/>
    <p:sldId id="282" r:id="rId107"/>
    <p:sldId id="283" r:id="rId108"/>
    <p:sldId id="291" r:id="rId109"/>
    <p:sldId id="292" r:id="rId110"/>
    <p:sldId id="293" r:id="rId111"/>
    <p:sldId id="294" r:id="rId112"/>
    <p:sldId id="297" r:id="rId113"/>
    <p:sldId id="298" r:id="rId1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CC3969-E081-4E01-AE5B-859A6A7E5BDE}">
  <a:tblStyle styleId="{5FCC3969-E081-4E01-AE5B-859A6A7E5BD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114" y="5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viewProps" Target="viewProps.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3bcfeea443_0_7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3bcfeea443_0_7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3bcfc482a8_0_95: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3bcfc482a8_0_95: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extLst>
      <p:ext uri="{BB962C8B-B14F-4D97-AF65-F5344CB8AC3E}">
        <p14:creationId xmlns:p14="http://schemas.microsoft.com/office/powerpoint/2010/main" val="2462932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8958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3bcfc482a8_0_85: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g33bcfc482a8_0_85: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3bcfc482a8_0_95:notes"/>
          <p:cNvSpPr>
            <a:spLocks noGrp="1" noRot="1" noChangeAspect="1"/>
          </p:cNvSpPr>
          <p:nvPr>
            <p:ph type="sldImg" idx="2"/>
          </p:nvPr>
        </p:nvSpPr>
        <p:spPr>
          <a:xfrm>
            <a:off x="-2846388" y="1219200"/>
            <a:ext cx="10836300"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3bcfc482a8_0_95: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bcfc482a8_0_10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3bcfc482a8_0_10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9" name="Google Shape;249;g33bcfc482a8_0_10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3bcfc482a8_0_12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1" name="Google Shape;271;g33bcfc482a8_0_12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3bcfc482a8_0_15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3" name="Google Shape;303;g33bcfc482a8_0_153: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3bcfc482a8_0_185: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6" name="Google Shape;336;g33bcfc482a8_0_185: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3bcfc482a8_0_20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9" name="Google Shape;359;g33bcfc482a8_0_20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3bcfc482a8_0_22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g33bcfc482a8_0_22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3bcfc482a8_0_24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g33bcfc482a8_0_244: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无结构化-&gt;结构化</a:t>
            </a:r>
            <a:endParaRPr/>
          </a:p>
        </p:txBody>
      </p:sp>
      <p:sp>
        <p:nvSpPr>
          <p:cNvPr id="399" name="Google Shape;399;g33bcfc482a8_0_244: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3bcfc482a8_0_27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9" name="Google Shape;429;g33bcfc482a8_0_27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3bcfc482a8_0_280: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g33bcfc482a8_0_28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(1)人造+模型抽取</a:t>
            </a:r>
            <a:br>
              <a:rPr lang="zh-CN"/>
            </a:br>
            <a:r>
              <a:rPr lang="zh-CN"/>
              <a:t>(2)knowledge base/graph自身缺陷：triple信息损失</a:t>
            </a:r>
            <a:endParaRPr/>
          </a:p>
        </p:txBody>
      </p:sp>
      <p:sp>
        <p:nvSpPr>
          <p:cNvPr id="437" name="Google Shape;437;g33bcfc482a8_0_28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3bcfc482a8_0_316: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3" name="Google Shape;473;g33bcfc482a8_0_316: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3bcfc482a8_0_36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2" name="Google Shape;522;g33bcfc482a8_0_36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3bcfc482a8_0_414:notes"/>
          <p:cNvSpPr>
            <a:spLocks noGrp="1" noRot="1" noChangeAspect="1"/>
          </p:cNvSpPr>
          <p:nvPr>
            <p:ph type="sldImg" idx="2"/>
          </p:nvPr>
        </p:nvSpPr>
        <p:spPr>
          <a:xfrm>
            <a:off x="-2846388" y="1219200"/>
            <a:ext cx="10836300"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g33bcfc482a8_0_414: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3bcfc482a8_0_41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g33bcfc482a8_0_41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主要在做探测，论证可行性</a:t>
            </a:r>
            <a:endParaRPr/>
          </a:p>
        </p:txBody>
      </p:sp>
      <p:sp>
        <p:nvSpPr>
          <p:cNvPr id="580" name="Google Shape;580;g33bcfc482a8_0_41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3bcfc482a8_0_425: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g33bcfc482a8_0_425: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不需要</a:t>
            </a:r>
            <a:endParaRPr/>
          </a:p>
        </p:txBody>
      </p:sp>
      <p:sp>
        <p:nvSpPr>
          <p:cNvPr id="587" name="Google Shape;587;g33bcfc482a8_0_425: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3bcfc482a8_0_43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5" name="Google Shape;595;g33bcfc482a8_0_433: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3bcfc482a8_0_439:notes"/>
          <p:cNvSpPr>
            <a:spLocks noGrp="1" noRot="1" noChangeAspect="1"/>
          </p:cNvSpPr>
          <p:nvPr>
            <p:ph type="sldImg" idx="2"/>
          </p:nvPr>
        </p:nvSpPr>
        <p:spPr>
          <a:xfrm>
            <a:off x="-2846388" y="1219200"/>
            <a:ext cx="10836300"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2" name="Google Shape;602;g33bcfc482a8_0_439: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33bcfc482a8_0_44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2" name="Google Shape;612;g33bcfc482a8_0_448: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3bcfc482a8_0_46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6" name="Google Shape;626;g33bcfc482a8_0_46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3bcfc482a8_0_47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0" name="Google Shape;640;g33bcfc482a8_0_47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3bcfc482a8_0_48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4" name="Google Shape;654;g33bcfc482a8_0_48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3bcfc482a8_0_50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9" name="Google Shape;669;g33bcfc482a8_0_50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33bcfc482a8_0_509: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8" name="Google Shape;678;g33bcfc482a8_0_50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3bcfc482a8_0_525: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5" name="Google Shape;695;g33bcfc482a8_0_525: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33bcfc482a8_0_55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3" name="Google Shape;723;g33bcfc482a8_0_552: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3bcfc482a8_0_58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3" name="Google Shape;753;g33bcfc482a8_0_581: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33bcfc482a8_0_62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5" name="Google Shape;795;g33bcfc482a8_0_622: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3bcfc482a8_0_659: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3" name="Google Shape;833;g33bcfc482a8_0_659: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3bcfc482a8_0_67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9" name="Google Shape;849;g33bcfc482a8_0_674: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33bcfc482a8_0_70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4" name="Google Shape;884;g33bcfc482a8_0_708: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33bcfc482a8_0_74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1" name="Google Shape;921;g33bcfc482a8_0_744: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33bcfc482a8_0_785: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33bcfc482a8_0_785: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Probability scores highlight p@1</a:t>
            </a:r>
            <a:endParaRPr/>
          </a:p>
        </p:txBody>
      </p:sp>
      <p:sp>
        <p:nvSpPr>
          <p:cNvPr id="964" name="Google Shape;964;g33bcfc482a8_0_785: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33bcfc482a8_0_828:notes"/>
          <p:cNvSpPr>
            <a:spLocks noGrp="1" noRot="1" noChangeAspect="1"/>
          </p:cNvSpPr>
          <p:nvPr>
            <p:ph type="sldImg" idx="2"/>
          </p:nvPr>
        </p:nvSpPr>
        <p:spPr>
          <a:xfrm>
            <a:off x="-2846388" y="1219200"/>
            <a:ext cx="10836300"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33bcfc482a8_0_828: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3bcfc482a8_0_83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3" name="Google Shape;1013;g33bcfc482a8_0_833: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33bcfc482a8_0_860: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1" name="Google Shape;1041;g33bcfc482a8_0_86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33bcfc482a8_0_90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4" name="Google Shape;1084;g33bcfc482a8_0_90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33bcfc482a8_0_94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7" name="Google Shape;1127;g33bcfc482a8_0_94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33bcfc482a8_0_990: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4" name="Google Shape;1174;g33bcfc482a8_0_99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g33bcfc482a8_0_103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9" name="Google Shape;1219;g33bcfc482a8_0_103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g33bcfc482a8_0_1086: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2" name="Google Shape;1272;g33bcfc482a8_0_1086: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33bcfc482a8_0_114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8" name="Google Shape;1328;g33bcfc482a8_0_114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g33bcfc482a8_0_1196: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4" name="Google Shape;1384;g33bcfc482a8_0_1196: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33bcfc482a8_0_1240: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9" name="Google Shape;1429;g33bcfc482a8_0_1240: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4"/>
        <p:cNvGrpSpPr/>
        <p:nvPr/>
      </p:nvGrpSpPr>
      <p:grpSpPr>
        <a:xfrm>
          <a:off x="0" y="0"/>
          <a:ext cx="0" cy="0"/>
          <a:chOff x="0" y="0"/>
          <a:chExt cx="0" cy="0"/>
        </a:xfrm>
      </p:grpSpPr>
      <p:sp>
        <p:nvSpPr>
          <p:cNvPr id="1475" name="Google Shape;1475;g33bcfc482a8_0_1286: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6" name="Google Shape;1476;g33bcfc482a8_0_1286: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33bcfc482a8_0_1338:notes"/>
          <p:cNvSpPr>
            <a:spLocks noGrp="1" noRot="1" noChangeAspect="1"/>
          </p:cNvSpPr>
          <p:nvPr>
            <p:ph type="sldImg" idx="2"/>
          </p:nvPr>
        </p:nvSpPr>
        <p:spPr>
          <a:xfrm>
            <a:off x="-2846388" y="1219200"/>
            <a:ext cx="10836300"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9" name="Google Shape;1529;g33bcfc482a8_0_1338: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3"/>
        <p:cNvGrpSpPr/>
        <p:nvPr/>
      </p:nvGrpSpPr>
      <p:grpSpPr>
        <a:xfrm>
          <a:off x="0" y="0"/>
          <a:ext cx="0" cy="0"/>
          <a:chOff x="0" y="0"/>
          <a:chExt cx="0" cy="0"/>
        </a:xfrm>
      </p:grpSpPr>
      <p:sp>
        <p:nvSpPr>
          <p:cNvPr id="1534" name="Google Shape;1534;g33bcfc482a8_0_134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5" name="Google Shape;1535;g33bcfc482a8_0_1343: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g33bcfc482a8_0_1349: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2" name="Google Shape;1542;g33bcfc482a8_0_134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33bcfc482a8_0_1355: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9" name="Google Shape;1549;g33bcfc482a8_0_1355: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假设：见过了所以能学到知识-&gt;效果好</a:t>
            </a:r>
            <a:endParaRPr/>
          </a:p>
        </p:txBody>
      </p:sp>
      <p:sp>
        <p:nvSpPr>
          <p:cNvPr id="1550" name="Google Shape;1550;g33bcfc482a8_0_1355: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33bcfc482a8_0_137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6" name="Google Shape;1566;g33bcfc482a8_0_137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2"/>
        <p:cNvGrpSpPr/>
        <p:nvPr/>
      </p:nvGrpSpPr>
      <p:grpSpPr>
        <a:xfrm>
          <a:off x="0" y="0"/>
          <a:ext cx="0" cy="0"/>
          <a:chOff x="0" y="0"/>
          <a:chExt cx="0" cy="0"/>
        </a:xfrm>
      </p:grpSpPr>
      <p:sp>
        <p:nvSpPr>
          <p:cNvPr id="1593" name="Google Shape;1593;g33bcfc482a8_0_139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4" name="Google Shape;1594;g33bcfc482a8_0_1398: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p:cNvGrpSpPr/>
        <p:nvPr/>
      </p:nvGrpSpPr>
      <p:grpSpPr>
        <a:xfrm>
          <a:off x="0" y="0"/>
          <a:ext cx="0" cy="0"/>
          <a:chOff x="0" y="0"/>
          <a:chExt cx="0" cy="0"/>
        </a:xfrm>
      </p:grpSpPr>
      <p:sp>
        <p:nvSpPr>
          <p:cNvPr id="1600" name="Google Shape;1600;g33bcfc482a8_0_140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1" name="Google Shape;1601;g33bcfc482a8_0_1404: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33bcfc482a8_0_1410: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8" name="Google Shape;1608;g33bcfc482a8_0_141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609" name="Google Shape;1609;g33bcfc482a8_0_141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33bcfc482a8_0_141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7" name="Google Shape;1617;g33bcfc482a8_0_1418: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1"/>
        <p:cNvGrpSpPr/>
        <p:nvPr/>
      </p:nvGrpSpPr>
      <p:grpSpPr>
        <a:xfrm>
          <a:off x="0" y="0"/>
          <a:ext cx="0" cy="0"/>
          <a:chOff x="0" y="0"/>
          <a:chExt cx="0" cy="0"/>
        </a:xfrm>
      </p:grpSpPr>
      <p:sp>
        <p:nvSpPr>
          <p:cNvPr id="1622" name="Google Shape;1622;g33bcfc482a8_0_142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3" name="Google Shape;1623;g33bcfc482a8_0_1423: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g33bcfc482a8_0_142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9" name="Google Shape;1629;g33bcfc482a8_0_1428: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33bcfc482a8_0_1463: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5" name="Google Shape;1665;g33bcfc482a8_0_1463: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g33bcfc482a8_0_149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7" name="Google Shape;1697;g33bcfc482a8_0_149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2"/>
        <p:cNvGrpSpPr/>
        <p:nvPr/>
      </p:nvGrpSpPr>
      <p:grpSpPr>
        <a:xfrm>
          <a:off x="0" y="0"/>
          <a:ext cx="0" cy="0"/>
          <a:chOff x="0" y="0"/>
          <a:chExt cx="0" cy="0"/>
        </a:xfrm>
      </p:grpSpPr>
      <p:sp>
        <p:nvSpPr>
          <p:cNvPr id="1723" name="Google Shape;1723;g33bcfc482a8_0_152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4" name="Google Shape;1724;g33bcfc482a8_0_152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Sky blue和其他out-of-scope一起出来</a:t>
            </a:r>
            <a:endParaRPr/>
          </a:p>
          <a:p>
            <a:pPr marL="0" lvl="0" indent="0" algn="l" rtl="0">
              <a:lnSpc>
                <a:spcPct val="100000"/>
              </a:lnSpc>
              <a:spcBef>
                <a:spcPts val="0"/>
              </a:spcBef>
              <a:spcAft>
                <a:spcPts val="0"/>
              </a:spcAft>
              <a:buSzPts val="1100"/>
              <a:buNone/>
            </a:pPr>
            <a:r>
              <a:rPr lang="zh-CN"/>
              <a:t>Hard examples标注原因</a:t>
            </a:r>
            <a:endParaRPr/>
          </a:p>
          <a:p>
            <a:pPr marL="0" lvl="0" indent="0" algn="l" rtl="0">
              <a:lnSpc>
                <a:spcPct val="100000"/>
              </a:lnSpc>
              <a:spcBef>
                <a:spcPts val="0"/>
              </a:spcBef>
              <a:spcAft>
                <a:spcPts val="0"/>
              </a:spcAft>
              <a:buSzPts val="1100"/>
              <a:buNone/>
            </a:pPr>
            <a:r>
              <a:rPr lang="zh-CN"/>
              <a:t>添加正确答案</a:t>
            </a:r>
            <a:endParaRPr/>
          </a:p>
        </p:txBody>
      </p:sp>
      <p:sp>
        <p:nvSpPr>
          <p:cNvPr id="1725" name="Google Shape;1725;g33bcfc482a8_0_152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g33bcfc482a8_0_153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2" name="Google Shape;1742;g33bcfc482a8_0_153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g33bcfc482a8_0_154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8" name="Google Shape;1748;g33bcfc482a8_0_154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侧重为什么做这篇工作</a:t>
            </a:r>
            <a:endParaRPr/>
          </a:p>
          <a:p>
            <a:pPr marL="0" lvl="0" indent="0" algn="l" rtl="0">
              <a:lnSpc>
                <a:spcPct val="100000"/>
              </a:lnSpc>
              <a:spcBef>
                <a:spcPts val="0"/>
              </a:spcBef>
              <a:spcAft>
                <a:spcPts val="0"/>
              </a:spcAft>
              <a:buSzPts val="1100"/>
              <a:buNone/>
            </a:pPr>
            <a:r>
              <a:rPr lang="zh-CN"/>
              <a:t>原文如何编辑知识，从识别到编辑之间的逻辑gap</a:t>
            </a:r>
            <a:endParaRPr/>
          </a:p>
        </p:txBody>
      </p:sp>
      <p:sp>
        <p:nvSpPr>
          <p:cNvPr id="1749" name="Google Shape;1749;g33bcfc482a8_0_154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
        <p:cNvGrpSpPr/>
        <p:nvPr/>
      </p:nvGrpSpPr>
      <p:grpSpPr>
        <a:xfrm>
          <a:off x="0" y="0"/>
          <a:ext cx="0" cy="0"/>
          <a:chOff x="0" y="0"/>
          <a:chExt cx="0" cy="0"/>
        </a:xfrm>
      </p:grpSpPr>
      <p:sp>
        <p:nvSpPr>
          <p:cNvPr id="1757" name="Google Shape;1757;g33bcfc482a8_0_1551: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8" name="Google Shape;1758;g33bcfc482a8_0_1551: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Hard to simplify, many concepts are not introduced</a:t>
            </a:r>
            <a:endParaRPr/>
          </a:p>
        </p:txBody>
      </p:sp>
      <p:sp>
        <p:nvSpPr>
          <p:cNvPr id="1759" name="Google Shape;1759;g33bcfc482a8_0_1551: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g33bcfc482a8_0_1558: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6" name="Google Shape;1766;g33bcfc482a8_0_1558: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67" name="Google Shape;1767;g33bcfc482a8_0_1558: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1"/>
        <p:cNvGrpSpPr/>
        <p:nvPr/>
      </p:nvGrpSpPr>
      <p:grpSpPr>
        <a:xfrm>
          <a:off x="0" y="0"/>
          <a:ext cx="0" cy="0"/>
          <a:chOff x="0" y="0"/>
          <a:chExt cx="0" cy="0"/>
        </a:xfrm>
      </p:grpSpPr>
      <p:sp>
        <p:nvSpPr>
          <p:cNvPr id="1772" name="Google Shape;1772;g33bcfc482a8_0_156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3" name="Google Shape;1773;g33bcfc482a8_0_1564: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P101: one topic of the dataset, e.g. P176 (manufacturer)</a:t>
            </a:r>
            <a:endParaRPr/>
          </a:p>
          <a:p>
            <a:pPr marL="0" lvl="0" indent="0" algn="l" rtl="0">
              <a:lnSpc>
                <a:spcPct val="100000"/>
              </a:lnSpc>
              <a:spcBef>
                <a:spcPts val="0"/>
              </a:spcBef>
              <a:spcAft>
                <a:spcPts val="0"/>
              </a:spcAft>
              <a:buSzPts val="1100"/>
              <a:buNone/>
            </a:pPr>
            <a:r>
              <a:rPr lang="zh-CN"/>
              <a:t>Suppressing: activation = 0</a:t>
            </a:r>
            <a:endParaRPr/>
          </a:p>
          <a:p>
            <a:pPr marL="0" lvl="0" indent="0" algn="l" rtl="0">
              <a:lnSpc>
                <a:spcPct val="100000"/>
              </a:lnSpc>
              <a:spcBef>
                <a:spcPts val="0"/>
              </a:spcBef>
              <a:spcAft>
                <a:spcPts val="0"/>
              </a:spcAft>
              <a:buSzPts val="1100"/>
              <a:buNone/>
            </a:pPr>
            <a:r>
              <a:rPr lang="zh-CN"/>
              <a:t>Amplifying: activation = 2*activation</a:t>
            </a:r>
            <a:endParaRPr/>
          </a:p>
          <a:p>
            <a:pPr marL="0" lvl="0" indent="0" algn="l" rtl="0">
              <a:lnSpc>
                <a:spcPct val="100000"/>
              </a:lnSpc>
              <a:spcBef>
                <a:spcPts val="0"/>
              </a:spcBef>
              <a:spcAft>
                <a:spcPts val="0"/>
              </a:spcAft>
              <a:buSzPts val="1100"/>
              <a:buNone/>
            </a:pPr>
            <a:r>
              <a:rPr lang="zh-CN"/>
              <a:t>Task, performance on what types of application, more precise</a:t>
            </a:r>
            <a:endParaRPr/>
          </a:p>
        </p:txBody>
      </p:sp>
      <p:sp>
        <p:nvSpPr>
          <p:cNvPr id="1774" name="Google Shape;1774;g33bcfc482a8_0_1564: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g33bcfc482a8_0_1577:notes"/>
          <p:cNvSpPr>
            <a:spLocks noGrp="1" noRot="1" noChangeAspect="1"/>
          </p:cNvSpPr>
          <p:nvPr>
            <p:ph type="sldImg" idx="2"/>
          </p:nvPr>
        </p:nvSpPr>
        <p:spPr>
          <a:xfrm>
            <a:off x="685800" y="1143000"/>
            <a:ext cx="54864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7" name="Google Shape;1787;g33bcfc482a8_0_1577: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Collect corresponding prompt templates is annoying</a:t>
            </a:r>
            <a:endParaRPr/>
          </a:p>
          <a:p>
            <a:pPr marL="0" lvl="0" indent="0" algn="l" rtl="0">
              <a:lnSpc>
                <a:spcPct val="100000"/>
              </a:lnSpc>
              <a:spcBef>
                <a:spcPts val="0"/>
              </a:spcBef>
              <a:spcAft>
                <a:spcPts val="0"/>
              </a:spcAft>
              <a:buSzPts val="1100"/>
              <a:buNone/>
            </a:pPr>
            <a:r>
              <a:rPr lang="zh-CN"/>
              <a:t>大模型对prompt敏感，依赖于prompt形式</a:t>
            </a:r>
            <a:endParaRPr/>
          </a:p>
        </p:txBody>
      </p:sp>
      <p:sp>
        <p:nvSpPr>
          <p:cNvPr id="1788" name="Google Shape;1788;g33bcfc482a8_0_1577: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altLang="zh-CN"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bcfeea443_0_0: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g33bcfeea443_0_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3bcfeea443_0_5: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3bcfeea443_0_5: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3bcfeea443_0_16: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g33bcfeea443_0_16: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3bcfeea443_0_54: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3bcfeea443_0_54: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3bcfeea443_0_68: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g33bcfeea443_0_68: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3bcfeea443_0_78: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3bcfeea443_0_78: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r>
              <a:rPr lang="zh-CN"/>
              <a:t>rule of thumb:  经验法则</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3bcfeea443_0_83: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3bcfeea443_0_83: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3bcfeea443_0_9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3bcfeea443_0_9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54" name="Google Shape;254;g33bcfeea443_0_9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80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3bcfeea443_0_13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5" name="Google Shape;295;g33bcfeea443_0_138: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C5D9405-A1CA-4FC6-A1E8-CE9F1DECB4DB}" type="slidenum">
              <a:rPr lang="zh-CN" altLang="en-US" smtClean="0"/>
              <a:t>83</a:t>
            </a:fld>
            <a:endParaRPr lang="zh-CN" altLang="en-US"/>
          </a:p>
        </p:txBody>
      </p:sp>
    </p:spTree>
    <p:extLst>
      <p:ext uri="{BB962C8B-B14F-4D97-AF65-F5344CB8AC3E}">
        <p14:creationId xmlns:p14="http://schemas.microsoft.com/office/powerpoint/2010/main" val="15699335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3bcfeea44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3bcfeea44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3bcfeea443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g33bcfeea443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3bcfeea443_0_15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3bcfeea443_0_15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3bcfeea443_0_16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2" name="Google Shape;322;g33bcfeea443_0_16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3bcfeea443_0_16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33bcfeea443_0_16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ICL有效性作为reference，只需展示结论</a:t>
            </a:r>
            <a:endParaRPr/>
          </a:p>
        </p:txBody>
      </p:sp>
      <p:sp>
        <p:nvSpPr>
          <p:cNvPr id="331" name="Google Shape;331;g33bcfeea443_0_16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88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3bcfeea443_0_276: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g33bcfeea443_0_276: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extLst>
      <p:ext uri="{BB962C8B-B14F-4D97-AF65-F5344CB8AC3E}">
        <p14:creationId xmlns:p14="http://schemas.microsoft.com/office/powerpoint/2010/main" val="33029288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3bcfeea443_0_178: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3bcfeea443_0_178: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3bcfeea443_0_18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g33bcfeea443_0_187: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Zero-shot: intrinsic capability</a:t>
            </a:r>
            <a:endParaRPr/>
          </a:p>
          <a:p>
            <a:pPr marL="0" lvl="0" indent="0" algn="l" rtl="0">
              <a:lnSpc>
                <a:spcPct val="100000"/>
              </a:lnSpc>
              <a:spcBef>
                <a:spcPts val="0"/>
              </a:spcBef>
              <a:spcAft>
                <a:spcPts val="0"/>
              </a:spcAft>
              <a:buSzPts val="1100"/>
              <a:buNone/>
            </a:pPr>
            <a:r>
              <a:rPr lang="zh-CN"/>
              <a:t>Method of zero-shot CoT is not important</a:t>
            </a:r>
            <a:endParaRPr/>
          </a:p>
        </p:txBody>
      </p:sp>
      <p:sp>
        <p:nvSpPr>
          <p:cNvPr id="351" name="Google Shape;351;g33bcfeea443_0_187: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91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3bcfeea443_0_207: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g33bcfeea443_0_207: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3bcfeea443_0_216: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g33bcfeea443_0_216: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3bcfeea443_0_234: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g33bcfeea443_0_234: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3bcfeea443_0_246: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g33bcfeea443_0_246: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3bcfeea443_0_264: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g33bcfeea443_0_264: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3bcfeea443_0_305: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g33bcfeea443_0_305: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1" name="Google Shape;38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3bcfeea443_0_319: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g33bcfeea443_0_31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逻辑关系整理</a:t>
            </a:r>
            <a:endParaRPr/>
          </a:p>
          <a:p>
            <a:pPr marL="0" lvl="0" indent="0" algn="l" rtl="0">
              <a:lnSpc>
                <a:spcPct val="100000"/>
              </a:lnSpc>
              <a:spcBef>
                <a:spcPts val="0"/>
              </a:spcBef>
              <a:spcAft>
                <a:spcPts val="0"/>
              </a:spcAft>
              <a:buSzPts val="1100"/>
              <a:buNone/>
            </a:pPr>
            <a:r>
              <a:rPr lang="zh-CN"/>
              <a:t>Q: </a:t>
            </a:r>
            <a:r>
              <a:rPr lang="zh-CN" b="0" i="0">
                <a:solidFill>
                  <a:srgbClr val="343541"/>
                </a:solidFill>
                <a:latin typeface="Arial"/>
                <a:ea typeface="Arial"/>
                <a:cs typeface="Arial"/>
                <a:sym typeface="Arial"/>
              </a:rPr>
              <a:t>Tom likes tomatoes, potatoes and cabbage. Tony likes potatoes, carrots and fish. Which dish do they both like?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zh-CN"/>
              <a:t>**Correct Reasoning Path**:</a:t>
            </a:r>
            <a:endParaRPr/>
          </a:p>
          <a:p>
            <a:pPr marL="0" lvl="0" indent="0" algn="l" rtl="0">
              <a:lnSpc>
                <a:spcPct val="100000"/>
              </a:lnSpc>
              <a:spcBef>
                <a:spcPts val="0"/>
              </a:spcBef>
              <a:spcAft>
                <a:spcPts val="0"/>
              </a:spcAft>
              <a:buSzPts val="1100"/>
              <a:buNone/>
            </a:pPr>
            <a:r>
              <a:rPr lang="zh-CN"/>
              <a:t>1. List out the foods Tom likes: tomatoes, potatoes, cabbage.</a:t>
            </a:r>
            <a:endParaRPr/>
          </a:p>
          <a:p>
            <a:pPr marL="0" lvl="0" indent="0" algn="l" rtl="0">
              <a:lnSpc>
                <a:spcPct val="100000"/>
              </a:lnSpc>
              <a:spcBef>
                <a:spcPts val="0"/>
              </a:spcBef>
              <a:spcAft>
                <a:spcPts val="0"/>
              </a:spcAft>
              <a:buSzPts val="1100"/>
              <a:buNone/>
            </a:pPr>
            <a:r>
              <a:rPr lang="zh-CN"/>
              <a:t>2. List out the foods Tony likes: potatoes, carrots, fish.</a:t>
            </a:r>
            <a:endParaRPr/>
          </a:p>
          <a:p>
            <a:pPr marL="0" lvl="0" indent="0" algn="l" rtl="0">
              <a:lnSpc>
                <a:spcPct val="100000"/>
              </a:lnSpc>
              <a:spcBef>
                <a:spcPts val="0"/>
              </a:spcBef>
              <a:spcAft>
                <a:spcPts val="0"/>
              </a:spcAft>
              <a:buSzPts val="1100"/>
              <a:buNone/>
            </a:pPr>
            <a:r>
              <a:rPr lang="zh-CN"/>
              <a:t>3. Identify the common item in both lists: potatoes. </a:t>
            </a:r>
            <a:endParaRPr/>
          </a:p>
          <a:p>
            <a:pPr marL="0" lvl="0" indent="0" algn="l" rtl="0">
              <a:lnSpc>
                <a:spcPct val="100000"/>
              </a:lnSpc>
              <a:spcBef>
                <a:spcPts val="0"/>
              </a:spcBef>
              <a:spcAft>
                <a:spcPts val="0"/>
              </a:spcAft>
              <a:buSzPts val="1100"/>
              <a:buNone/>
            </a:pPr>
            <a:r>
              <a:rPr lang="zh-CN"/>
              <a:t>   *Conclusion*: They both like potatoes.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zh-CN"/>
              <a:t>**Incorrect Reasoning Path**:</a:t>
            </a:r>
            <a:endParaRPr/>
          </a:p>
          <a:p>
            <a:pPr marL="0" lvl="0" indent="0" algn="l" rtl="0">
              <a:lnSpc>
                <a:spcPct val="100000"/>
              </a:lnSpc>
              <a:spcBef>
                <a:spcPts val="0"/>
              </a:spcBef>
              <a:spcAft>
                <a:spcPts val="0"/>
              </a:spcAft>
              <a:buSzPts val="1100"/>
              <a:buNone/>
            </a:pPr>
            <a:r>
              <a:rPr lang="zh-CN"/>
              <a:t>1. Begin by examining the first item Tom likes: tomatoes.</a:t>
            </a:r>
            <a:endParaRPr/>
          </a:p>
          <a:p>
            <a:pPr marL="0" lvl="0" indent="0" algn="l" rtl="0">
              <a:lnSpc>
                <a:spcPct val="100000"/>
              </a:lnSpc>
              <a:spcBef>
                <a:spcPts val="0"/>
              </a:spcBef>
              <a:spcAft>
                <a:spcPts val="0"/>
              </a:spcAft>
              <a:buSzPts val="1100"/>
              <a:buNone/>
            </a:pPr>
            <a:r>
              <a:rPr lang="zh-CN"/>
              <a:t>2. Immediately conclude that since it's the first item Tom likes, it must be the dish they both like.</a:t>
            </a:r>
            <a:endParaRPr/>
          </a:p>
          <a:p>
            <a:pPr marL="0" lvl="0" indent="0" algn="l" rtl="0">
              <a:lnSpc>
                <a:spcPct val="100000"/>
              </a:lnSpc>
              <a:spcBef>
                <a:spcPts val="0"/>
              </a:spcBef>
              <a:spcAft>
                <a:spcPts val="0"/>
              </a:spcAft>
              <a:buSzPts val="1100"/>
              <a:buNone/>
            </a:pPr>
            <a:r>
              <a:rPr lang="zh-CN"/>
              <a:t>   *Conclusion*: They both like tomatoes.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zh-CN"/>
              <a:t>Using the correct reasoning, we can deduce that they both like potatoes. The incorrect reasoning, however, leads to the false conclusion that they both like tomatoes.</a:t>
            </a:r>
            <a:endParaRPr/>
          </a:p>
          <a:p>
            <a:pPr marL="0" lvl="0" indent="0" algn="l" rtl="0">
              <a:lnSpc>
                <a:spcPct val="100000"/>
              </a:lnSpc>
              <a:spcBef>
                <a:spcPts val="0"/>
              </a:spcBef>
              <a:spcAft>
                <a:spcPts val="0"/>
              </a:spcAft>
              <a:buSzPts val="1100"/>
              <a:buNone/>
            </a:pPr>
            <a:endParaRPr/>
          </a:p>
        </p:txBody>
      </p:sp>
      <p:sp>
        <p:nvSpPr>
          <p:cNvPr id="495" name="Google Shape;495;g33bcfeea443_0_31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99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3bcfeea443_0_33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7" name="Google Shape;507;g33bcfeea443_0_331: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更换标题，方法改进而不是解释</a:t>
            </a:r>
            <a:endParaRPr/>
          </a:p>
        </p:txBody>
      </p:sp>
      <p:sp>
        <p:nvSpPr>
          <p:cNvPr id="508" name="Google Shape;508;g33bcfeea443_0_331: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100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3bcfeea443_0_33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4" name="Google Shape;514;g33bcfeea443_0_33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3bcfeea443_0_35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0" name="Google Shape;530;g33bcfeea443_0_35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3bcfeea443_0_344: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2" name="Google Shape;522;g33bcfeea443_0_34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3bcfeea443_0_28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g33bcfeea443_0_281: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CN"/>
              <a:t>Cot -&gt; error propagation? </a:t>
            </a:r>
            <a:br>
              <a:rPr lang="zh-CN"/>
            </a:br>
            <a:r>
              <a:rPr lang="zh-CN"/>
              <a:t>[(1) (post-selection) ensemble: self-consistency (2) TOT (in-process selection/planning)]  </a:t>
            </a:r>
            <a:br>
              <a:rPr lang="zh-CN"/>
            </a:br>
            <a:r>
              <a:rPr lang="zh-CN"/>
              <a:t>(3) reduce error: pot (math)</a:t>
            </a:r>
            <a:br>
              <a:rPr lang="zh-CN"/>
            </a:br>
            <a:br>
              <a:rPr lang="zh-CN"/>
            </a:br>
            <a:r>
              <a:rPr lang="zh-CN"/>
              <a:t>refine: check and correct (by model)</a:t>
            </a:r>
            <a:endParaRPr/>
          </a:p>
        </p:txBody>
      </p:sp>
      <p:sp>
        <p:nvSpPr>
          <p:cNvPr id="453" name="Google Shape;453;g33bcfeea443_0_281: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104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7128110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3bcfeea443_0_288:notes"/>
          <p:cNvSpPr>
            <a:spLocks noGrp="1" noRot="1" noChangeAspect="1"/>
          </p:cNvSpPr>
          <p:nvPr>
            <p:ph type="sldImg" idx="2"/>
          </p:nvPr>
        </p:nvSpPr>
        <p:spPr>
          <a:xfrm>
            <a:off x="-2846388" y="1219200"/>
            <a:ext cx="10836276" cy="6096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33bcfeea443_0_288:notes"/>
          <p:cNvSpPr txBox="1">
            <a:spLocks noGrp="1"/>
          </p:cNvSpPr>
          <p:nvPr>
            <p:ph type="body" idx="1"/>
          </p:nvPr>
        </p:nvSpPr>
        <p:spPr>
          <a:xfrm>
            <a:off x="514350" y="7721600"/>
            <a:ext cx="4114800" cy="731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Tree>
    <p:extLst>
      <p:ext uri="{BB962C8B-B14F-4D97-AF65-F5344CB8AC3E}">
        <p14:creationId xmlns:p14="http://schemas.microsoft.com/office/powerpoint/2010/main" val="408435620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3bcfeea443_0_360: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g33bcfeea443_0_36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541" name="Google Shape;541;g33bcfeea443_0_36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106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3bcfeea443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9" name="Google Shape;569;g33bcfeea443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3bcfeea443_0_394: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g33bcfeea443_0_394: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577" name="Google Shape;577;g33bcfeea443_0_394: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CN" sz="1400" b="0" i="0" u="none" strike="noStrike" cap="none">
                <a:solidFill>
                  <a:srgbClr val="000000"/>
                </a:solidFill>
                <a:latin typeface="Arial"/>
                <a:ea typeface="Arial"/>
                <a:cs typeface="Arial"/>
                <a:sym typeface="Arial"/>
              </a:rPr>
              <a:t>108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3bcfeea443_0_401: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4" name="Google Shape;584;g33bcfeea443_0_401: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33bcfeea443_0_417: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3" name="Google Shape;603;g33bcfeea443_0_417: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3bcfeea443_0_422:notes"/>
          <p:cNvSpPr txBox="1">
            <a:spLocks noGrp="1"/>
          </p:cNvSpPr>
          <p:nvPr>
            <p:ph type="body" idx="1"/>
          </p:nvPr>
        </p:nvSpPr>
        <p:spPr>
          <a:xfrm>
            <a:off x="685800" y="4399845"/>
            <a:ext cx="5486400" cy="360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9" name="Google Shape;609;g33bcfeea443_0_42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body" idx="1"/>
          </p:nvPr>
        </p:nvSpPr>
        <p:spPr>
          <a:xfrm>
            <a:off x="743748" y="1180605"/>
            <a:ext cx="7657500" cy="19119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8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Only">
  <p:cSld name="OBJECT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800"/>
              <a:buNone/>
              <a:defRPr sz="32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8" name="Google Shape;58;p14"/>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rmAutofit/>
          </a:bodyPr>
          <a:lstStyle>
            <a:lvl1pPr marL="25400" marR="0" lvl="0"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25400" marR="0" lvl="1"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25400" marR="0" lvl="2"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25400" marR="0" lvl="3"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25400" marR="0" lvl="4"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25400" marR="0" lvl="5"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25400" marR="0" lvl="6"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25400" marR="0" lvl="7"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25400" marR="0" lvl="8"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25400" lvl="0" indent="0" algn="r" rtl="0">
              <a:spcBef>
                <a:spcPts val="5"/>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1">
  <p:cSld name="Title and Conten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800"/>
              <a:buNone/>
              <a:defRPr sz="32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5"/>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rmAutofit/>
          </a:bodyPr>
          <a:lstStyle>
            <a:lvl1pPr marL="457200" lvl="0" indent="-342900" algn="l">
              <a:lnSpc>
                <a:spcPct val="115000"/>
              </a:lnSpc>
              <a:spcBef>
                <a:spcPts val="0"/>
              </a:spcBef>
              <a:spcAft>
                <a:spcPts val="0"/>
              </a:spcAft>
              <a:buSzPts val="1800"/>
              <a:buChar char="●"/>
              <a:defRPr sz="1600" b="0" i="0">
                <a:solidFill>
                  <a:schemeClr val="dk1"/>
                </a:solidFill>
                <a:latin typeface="Times New Roman"/>
                <a:ea typeface="Times New Roman"/>
                <a:cs typeface="Times New Roman"/>
                <a:sym typeface="Times New Roman"/>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5"/>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5" name="Google Shape;65;p15"/>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6" name="Google Shape;66;p15"/>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rmAutofit/>
          </a:bodyPr>
          <a:lstStyle>
            <a:lvl1pPr marL="25400" marR="0" lvl="0"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25400" marR="0" lvl="1"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25400" marR="0" lvl="2"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25400" marR="0" lvl="3"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25400" marR="0" lvl="4"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25400" marR="0" lvl="5"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25400" marR="0" lvl="6"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25400" marR="0" lvl="7"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25400" marR="0" lvl="8" indent="0" algn="r">
              <a:lnSpc>
                <a:spcPct val="100000"/>
              </a:lnSpc>
              <a:spcBef>
                <a:spcPts val="5"/>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25400" lvl="0" indent="0" algn="r" rtl="0">
              <a:spcBef>
                <a:spcPts val="5"/>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2">
  <p:cSld name="OBJECT_2">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62557" y="123026"/>
            <a:ext cx="8218800" cy="357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320" b="1"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6"/>
          <p:cNvSpPr txBox="1">
            <a:spLocks noGrp="1"/>
          </p:cNvSpPr>
          <p:nvPr>
            <p:ph type="body" idx="1"/>
          </p:nvPr>
        </p:nvSpPr>
        <p:spPr>
          <a:xfrm>
            <a:off x="1041713" y="1761045"/>
            <a:ext cx="7060500" cy="2769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08960" y="4783455"/>
            <a:ext cx="2926200" cy="276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
          <p:cNvSpPr txBox="1">
            <a:spLocks noGrp="1"/>
          </p:cNvSpPr>
          <p:nvPr>
            <p:ph type="dt" idx="10"/>
          </p:nvPr>
        </p:nvSpPr>
        <p:spPr>
          <a:xfrm>
            <a:off x="457200" y="4783455"/>
            <a:ext cx="2103000" cy="276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
          <p:cNvSpPr txBox="1">
            <a:spLocks noGrp="1"/>
          </p:cNvSpPr>
          <p:nvPr>
            <p:ph type="sldNum" idx="12"/>
          </p:nvPr>
        </p:nvSpPr>
        <p:spPr>
          <a:xfrm>
            <a:off x="6583680" y="4783455"/>
            <a:ext cx="21030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7"/>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7" name="Google Shape;77;p17"/>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6"/>
        <p:cNvGrpSpPr/>
        <p:nvPr/>
      </p:nvGrpSpPr>
      <p:grpSpPr>
        <a:xfrm>
          <a:off x="0" y="0"/>
          <a:ext cx="0" cy="0"/>
          <a:chOff x="0" y="0"/>
          <a:chExt cx="0" cy="0"/>
        </a:xfrm>
      </p:grpSpPr>
      <p:sp>
        <p:nvSpPr>
          <p:cNvPr id="87" name="Google Shape;87;p19"/>
          <p:cNvSpPr txBox="1">
            <a:spLocks noGrp="1"/>
          </p:cNvSpPr>
          <p:nvPr>
            <p:ph type="ctrTitle"/>
          </p:nvPr>
        </p:nvSpPr>
        <p:spPr>
          <a:xfrm>
            <a:off x="311708" y="744575"/>
            <a:ext cx="8520600" cy="2052600"/>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8" name="Google Shape;88;p19"/>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9" name="Google Shape;89;p19"/>
          <p:cNvSpPr txBox="1">
            <a:spLocks noGrp="1"/>
          </p:cNvSpPr>
          <p:nvPr>
            <p:ph type="sldNum" idx="12"/>
          </p:nvPr>
        </p:nvSpPr>
        <p:spPr>
          <a:xfrm>
            <a:off x="8472458" y="4663217"/>
            <a:ext cx="548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2800"/>
              <a:buFont typeface="Times New Roman"/>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2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00000"/>
              </a:lnSpc>
              <a:spcBef>
                <a:spcPts val="0"/>
              </a:spcBef>
              <a:spcAft>
                <a:spcPts val="0"/>
              </a:spcAft>
              <a:buClr>
                <a:schemeClr val="dk1"/>
              </a:buClr>
              <a:buSzPts val="1800"/>
              <a:buFont typeface="Times New Roman"/>
              <a:buChar char="●"/>
              <a:defRPr/>
            </a:lvl1pPr>
            <a:lvl2pPr marL="914400" lvl="1" indent="-317500" algn="l">
              <a:lnSpc>
                <a:spcPct val="100000"/>
              </a:lnSpc>
              <a:spcBef>
                <a:spcPts val="0"/>
              </a:spcBef>
              <a:spcAft>
                <a:spcPts val="0"/>
              </a:spcAft>
              <a:buSzPts val="1400"/>
              <a:buFont typeface="Calibri"/>
              <a:buChar char="○"/>
              <a:defRPr/>
            </a:lvl2pPr>
            <a:lvl3pPr marL="1371600" lvl="2" indent="-317500" algn="l">
              <a:lnSpc>
                <a:spcPct val="100000"/>
              </a:lnSpc>
              <a:spcBef>
                <a:spcPts val="0"/>
              </a:spcBef>
              <a:spcAft>
                <a:spcPts val="0"/>
              </a:spcAft>
              <a:buSzPts val="1400"/>
              <a:buFont typeface="Calibri"/>
              <a:buChar char="■"/>
              <a:defRPr/>
            </a:lvl3pPr>
            <a:lvl4pPr marL="1828800" lvl="3" indent="-317500" algn="l">
              <a:lnSpc>
                <a:spcPct val="100000"/>
              </a:lnSpc>
              <a:spcBef>
                <a:spcPts val="0"/>
              </a:spcBef>
              <a:spcAft>
                <a:spcPts val="0"/>
              </a:spcAft>
              <a:buSzPts val="1400"/>
              <a:buFont typeface="Calibri"/>
              <a:buChar char="●"/>
              <a:defRPr/>
            </a:lvl4pPr>
            <a:lvl5pPr marL="2286000" lvl="4" indent="-317500" algn="l">
              <a:lnSpc>
                <a:spcPct val="100000"/>
              </a:lnSpc>
              <a:spcBef>
                <a:spcPts val="0"/>
              </a:spcBef>
              <a:spcAft>
                <a:spcPts val="0"/>
              </a:spcAft>
              <a:buSzPts val="1400"/>
              <a:buFont typeface="Calibri"/>
              <a:buChar char="○"/>
              <a:defRPr/>
            </a:lvl5pPr>
            <a:lvl6pPr marL="2743200" lvl="5" indent="-317500" algn="l">
              <a:lnSpc>
                <a:spcPct val="100000"/>
              </a:lnSpc>
              <a:spcBef>
                <a:spcPts val="0"/>
              </a:spcBef>
              <a:spcAft>
                <a:spcPts val="0"/>
              </a:spcAft>
              <a:buSzPts val="1400"/>
              <a:buFont typeface="Calibri"/>
              <a:buChar char="■"/>
              <a:defRPr/>
            </a:lvl6pPr>
            <a:lvl7pPr marL="3200400" lvl="6" indent="-317500" algn="l">
              <a:lnSpc>
                <a:spcPct val="100000"/>
              </a:lnSpc>
              <a:spcBef>
                <a:spcPts val="0"/>
              </a:spcBef>
              <a:spcAft>
                <a:spcPts val="0"/>
              </a:spcAft>
              <a:buSzPts val="1400"/>
              <a:buFont typeface="Calibri"/>
              <a:buChar char="●"/>
              <a:defRPr/>
            </a:lvl7pPr>
            <a:lvl8pPr marL="3657600" lvl="7" indent="-317500" algn="l">
              <a:lnSpc>
                <a:spcPct val="100000"/>
              </a:lnSpc>
              <a:spcBef>
                <a:spcPts val="0"/>
              </a:spcBef>
              <a:spcAft>
                <a:spcPts val="0"/>
              </a:spcAft>
              <a:buSzPts val="1400"/>
              <a:buFont typeface="Calibri"/>
              <a:buChar char="○"/>
              <a:defRPr/>
            </a:lvl8pPr>
            <a:lvl9pPr marL="4114800" lvl="8" indent="-317500" algn="l">
              <a:lnSpc>
                <a:spcPct val="100000"/>
              </a:lnSpc>
              <a:spcBef>
                <a:spcPts val="0"/>
              </a:spcBef>
              <a:spcAft>
                <a:spcPts val="0"/>
              </a:spcAft>
              <a:buSzPts val="1400"/>
              <a:buFont typeface="Calibri"/>
              <a:buChar char="■"/>
              <a:defRPr/>
            </a:lvl9pPr>
          </a:lstStyle>
          <a:p>
            <a:endParaRPr/>
          </a:p>
        </p:txBody>
      </p:sp>
      <p:sp>
        <p:nvSpPr>
          <p:cNvPr id="93" name="Google Shape;9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B7B7B7"/>
              </a:buClr>
              <a:buSzPts val="1000"/>
              <a:buFont typeface="Times New Roman"/>
              <a:buNone/>
              <a:defRPr sz="1000" b="0" i="0" u="none" strike="noStrike" cap="none">
                <a:solidFill>
                  <a:srgbClr val="B7B7B7"/>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4"/>
        <p:cNvGrpSpPr/>
        <p:nvPr/>
      </p:nvGrpSpPr>
      <p:grpSpPr>
        <a:xfrm>
          <a:off x="0" y="0"/>
          <a:ext cx="0" cy="0"/>
          <a:chOff x="0" y="0"/>
          <a:chExt cx="0" cy="0"/>
        </a:xfrm>
      </p:grpSpPr>
      <p:sp>
        <p:nvSpPr>
          <p:cNvPr id="95" name="Google Shape;95;p21"/>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1"/>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7" name="Google Shape;97;p21"/>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1"/>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wo Content 1">
  <p:cSld name="Two Content 1">
    <p:bg>
      <p:bgPr>
        <a:solidFill>
          <a:schemeClr val="lt1"/>
        </a:solidFill>
        <a:effectLst/>
      </p:bgPr>
    </p:bg>
    <p:spTree>
      <p:nvGrpSpPr>
        <p:cNvPr id="1" name="Shape 101"/>
        <p:cNvGrpSpPr/>
        <p:nvPr/>
      </p:nvGrpSpPr>
      <p:grpSpPr>
        <a:xfrm>
          <a:off x="0" y="0"/>
          <a:ext cx="0" cy="0"/>
          <a:chOff x="0" y="0"/>
          <a:chExt cx="0" cy="0"/>
        </a:xfrm>
      </p:grpSpPr>
      <p:sp>
        <p:nvSpPr>
          <p:cNvPr id="102" name="Google Shape;102;p22"/>
          <p:cNvSpPr txBox="1">
            <a:spLocks noGrp="1"/>
          </p:cNvSpPr>
          <p:nvPr>
            <p:ph type="title"/>
          </p:nvPr>
        </p:nvSpPr>
        <p:spPr>
          <a:xfrm>
            <a:off x="363775" y="177384"/>
            <a:ext cx="5625900" cy="747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2400" b="1" i="0">
                <a:solidFill>
                  <a:srgbClr val="007C92"/>
                </a:solidFill>
                <a:latin typeface="Trebuchet MS"/>
                <a:ea typeface="Trebuchet MS"/>
                <a:cs typeface="Trebuchet MS"/>
                <a:sym typeface="Trebuchet M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3" name="Google Shape;103;p22"/>
          <p:cNvSpPr txBox="1">
            <a:spLocks noGrp="1"/>
          </p:cNvSpPr>
          <p:nvPr>
            <p:ph type="body" idx="1"/>
          </p:nvPr>
        </p:nvSpPr>
        <p:spPr>
          <a:xfrm>
            <a:off x="457199" y="1183005"/>
            <a:ext cx="84030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800"/>
              <a:buNone/>
              <a:defRPr/>
            </a:lvl1pPr>
            <a:lvl2pPr marL="914400" lvl="1" indent="-228600" algn="l">
              <a:lnSpc>
                <a:spcPct val="100000"/>
              </a:lnSpc>
              <a:spcBef>
                <a:spcPts val="1200"/>
              </a:spcBef>
              <a:spcAft>
                <a:spcPts val="0"/>
              </a:spcAft>
              <a:buSzPts val="1400"/>
              <a:buNone/>
              <a:defRPr/>
            </a:lvl2pPr>
            <a:lvl3pPr marL="1371600" lvl="2" indent="-228600" algn="l">
              <a:lnSpc>
                <a:spcPct val="100000"/>
              </a:lnSpc>
              <a:spcBef>
                <a:spcPts val="1200"/>
              </a:spcBef>
              <a:spcAft>
                <a:spcPts val="0"/>
              </a:spcAft>
              <a:buSzPts val="1400"/>
              <a:buNone/>
              <a:defRPr/>
            </a:lvl3pPr>
            <a:lvl4pPr marL="1828800" lvl="3" indent="-228600" algn="l">
              <a:lnSpc>
                <a:spcPct val="100000"/>
              </a:lnSpc>
              <a:spcBef>
                <a:spcPts val="1200"/>
              </a:spcBef>
              <a:spcAft>
                <a:spcPts val="0"/>
              </a:spcAft>
              <a:buSzPts val="1400"/>
              <a:buNone/>
              <a:defRPr/>
            </a:lvl4pPr>
            <a:lvl5pPr marL="2286000" lvl="4" indent="-228600" algn="l">
              <a:lnSpc>
                <a:spcPct val="100000"/>
              </a:lnSpc>
              <a:spcBef>
                <a:spcPts val="1200"/>
              </a:spcBef>
              <a:spcAft>
                <a:spcPts val="0"/>
              </a:spcAft>
              <a:buSzPts val="1400"/>
              <a:buNone/>
              <a:defRPr/>
            </a:lvl5pPr>
            <a:lvl6pPr marL="2743200" lvl="5" indent="-228600" algn="l">
              <a:lnSpc>
                <a:spcPct val="100000"/>
              </a:lnSpc>
              <a:spcBef>
                <a:spcPts val="1200"/>
              </a:spcBef>
              <a:spcAft>
                <a:spcPts val="0"/>
              </a:spcAft>
              <a:buSzPts val="1400"/>
              <a:buNone/>
              <a:defRPr/>
            </a:lvl6pPr>
            <a:lvl7pPr marL="3200400" lvl="6" indent="-228600" algn="l">
              <a:lnSpc>
                <a:spcPct val="100000"/>
              </a:lnSpc>
              <a:spcBef>
                <a:spcPts val="1200"/>
              </a:spcBef>
              <a:spcAft>
                <a:spcPts val="0"/>
              </a:spcAft>
              <a:buSzPts val="1400"/>
              <a:buNone/>
              <a:defRPr/>
            </a:lvl7pPr>
            <a:lvl8pPr marL="3657600" lvl="7" indent="-228600" algn="l">
              <a:lnSpc>
                <a:spcPct val="100000"/>
              </a:lnSpc>
              <a:spcBef>
                <a:spcPts val="1200"/>
              </a:spcBef>
              <a:spcAft>
                <a:spcPts val="0"/>
              </a:spcAft>
              <a:buSzPts val="1400"/>
              <a:buNone/>
              <a:defRPr/>
            </a:lvl8pPr>
            <a:lvl9pPr marL="4114800" lvl="8" indent="-228600" algn="l">
              <a:lnSpc>
                <a:spcPct val="100000"/>
              </a:lnSpc>
              <a:spcBef>
                <a:spcPts val="1200"/>
              </a:spcBef>
              <a:spcAft>
                <a:spcPts val="1200"/>
              </a:spcAft>
              <a:buSzPts val="1400"/>
              <a:buNone/>
              <a:defRPr/>
            </a:lvl9pPr>
          </a:lstStyle>
          <a:p>
            <a:endParaRPr/>
          </a:p>
        </p:txBody>
      </p:sp>
      <p:sp>
        <p:nvSpPr>
          <p:cNvPr id="104" name="Google Shape;104;p22"/>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2"/>
          <p:cNvSpPr txBox="1">
            <a:spLocks noGrp="1"/>
          </p:cNvSpPr>
          <p:nvPr>
            <p:ph type="sldNum" idx="12"/>
          </p:nvPr>
        </p:nvSpPr>
        <p:spPr>
          <a:xfrm>
            <a:off x="344725" y="4878989"/>
            <a:ext cx="1929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9pPr>
          </a:lstStyle>
          <a:p>
            <a:pPr marL="25400" lvl="0" indent="0" algn="l" rtl="0">
              <a:spcBef>
                <a:spcPts val="0"/>
              </a:spcBef>
              <a:spcAft>
                <a:spcPts val="0"/>
              </a:spcAft>
              <a:buNone/>
            </a:pPr>
            <a:fld id="{00000000-1234-1234-1234-123412341234}" type="slidenum">
              <a:rPr lang="zh-CN"/>
              <a:t>‹#›</a:t>
            </a:fld>
            <a:endParaRPr sz="1000">
              <a:solidFill>
                <a:schemeClr val="dk2"/>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23"/>
          <p:cNvSpPr txBox="1">
            <a:spLocks noGrp="1"/>
          </p:cNvSpPr>
          <p:nvPr>
            <p:ph type="body" idx="1"/>
          </p:nvPr>
        </p:nvSpPr>
        <p:spPr>
          <a:xfrm>
            <a:off x="743748" y="1180605"/>
            <a:ext cx="7657500" cy="19119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8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10" name="Google Shape;110;p2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3"/>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2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2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4"/>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8"/>
        <p:cNvGrpSpPr/>
        <p:nvPr/>
      </p:nvGrpSpPr>
      <p:grpSpPr>
        <a:xfrm>
          <a:off x="0" y="0"/>
          <a:ext cx="0" cy="0"/>
          <a:chOff x="0" y="0"/>
          <a:chExt cx="0" cy="0"/>
        </a:xfrm>
      </p:grpSpPr>
      <p:sp>
        <p:nvSpPr>
          <p:cNvPr id="119" name="Google Shape;119;p25"/>
          <p:cNvSpPr txBox="1">
            <a:spLocks noGrp="1"/>
          </p:cNvSpPr>
          <p:nvPr>
            <p:ph type="ctrTitle"/>
          </p:nvPr>
        </p:nvSpPr>
        <p:spPr>
          <a:xfrm>
            <a:off x="4021528" y="505350"/>
            <a:ext cx="11010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1" i="0">
                <a:solidFill>
                  <a:schemeClr val="dk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25"/>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5"/>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24"/>
        <p:cNvGrpSpPr/>
        <p:nvPr/>
      </p:nvGrpSpPr>
      <p:grpSpPr>
        <a:xfrm>
          <a:off x="0" y="0"/>
          <a:ext cx="0" cy="0"/>
          <a:chOff x="0" y="0"/>
          <a:chExt cx="0" cy="0"/>
        </a:xfrm>
      </p:grpSpPr>
      <p:sp>
        <p:nvSpPr>
          <p:cNvPr id="125" name="Google Shape;125;p26"/>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6"/>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Title Only">
  <p:cSld name="OBJECT_1">
    <p:spTree>
      <p:nvGrpSpPr>
        <p:cNvPr id="1" name="Shape 128"/>
        <p:cNvGrpSpPr/>
        <p:nvPr/>
      </p:nvGrpSpPr>
      <p:grpSpPr>
        <a:xfrm>
          <a:off x="0" y="0"/>
          <a:ext cx="0" cy="0"/>
          <a:chOff x="0" y="0"/>
          <a:chExt cx="0" cy="0"/>
        </a:xfrm>
      </p:grpSpPr>
      <p:sp>
        <p:nvSpPr>
          <p:cNvPr id="129" name="Google Shape;129;p27"/>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SzPts val="3300"/>
              <a:buNone/>
              <a:defRPr sz="4600" b="0" i="0">
                <a:solidFill>
                  <a:srgbClr val="C71B00"/>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0" name="Google Shape;130;p27"/>
          <p:cNvSpPr txBox="1">
            <a:spLocks noGrp="1"/>
          </p:cNvSpPr>
          <p:nvPr>
            <p:ph type="ftr" idx="11"/>
          </p:nvPr>
        </p:nvSpPr>
        <p:spPr>
          <a:xfrm>
            <a:off x="3028950" y="4767263"/>
            <a:ext cx="3086100" cy="2739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100"/>
              <a:buNone/>
              <a:defRPr sz="1000"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7"/>
          <p:cNvSpPr txBox="1">
            <a:spLocks noGrp="1"/>
          </p:cNvSpPr>
          <p:nvPr>
            <p:ph type="dt" idx="10"/>
          </p:nvPr>
        </p:nvSpPr>
        <p:spPr>
          <a:xfrm>
            <a:off x="628650" y="4767263"/>
            <a:ext cx="2057400" cy="2739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2" name="Google Shape;132;p27"/>
          <p:cNvSpPr txBox="1">
            <a:spLocks noGrp="1"/>
          </p:cNvSpPr>
          <p:nvPr>
            <p:ph type="sldNum" idx="12"/>
          </p:nvPr>
        </p:nvSpPr>
        <p:spPr>
          <a:xfrm>
            <a:off x="6457950" y="4767263"/>
            <a:ext cx="2057400" cy="273900"/>
          </a:xfrm>
          <a:prstGeom prst="rect">
            <a:avLst/>
          </a:prstGeom>
          <a:noFill/>
          <a:ln>
            <a:noFill/>
          </a:ln>
        </p:spPr>
        <p:txBody>
          <a:bodyPr spcFirstLastPara="1" wrap="square" lIns="0" tIns="0" rIns="0" bIns="0" anchor="ctr" anchorCtr="0">
            <a:noAutofit/>
          </a:bodyPr>
          <a:lstStyle>
            <a:lvl1pPr marL="25400" marR="0" lvl="0"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25400" marR="0" lvl="1"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25400" marR="0" lvl="2"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25400" marR="0" lvl="3"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25400" marR="0" lvl="4"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25400" marR="0" lvl="5"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25400" marR="0" lvl="6"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25400" marR="0" lvl="7"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25400" marR="0" lvl="8" indent="0" algn="r">
              <a:lnSpc>
                <a:spcPct val="103216"/>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133"/>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4"/>
        <p:cNvGrpSpPr/>
        <p:nvPr/>
      </p:nvGrpSpPr>
      <p:grpSpPr>
        <a:xfrm>
          <a:off x="0" y="0"/>
          <a:ext cx="0" cy="0"/>
          <a:chOff x="0" y="0"/>
          <a:chExt cx="0" cy="0"/>
        </a:xfrm>
      </p:grpSpPr>
      <p:sp>
        <p:nvSpPr>
          <p:cNvPr id="135" name="Google Shape;135;p29"/>
          <p:cNvSpPr txBox="1">
            <a:spLocks noGrp="1"/>
          </p:cNvSpPr>
          <p:nvPr>
            <p:ph type="title"/>
          </p:nvPr>
        </p:nvSpPr>
        <p:spPr>
          <a:xfrm>
            <a:off x="311700" y="2150850"/>
            <a:ext cx="8520600" cy="8418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36" name="Google Shape;136;p29"/>
          <p:cNvSpPr txBox="1">
            <a:spLocks noGrp="1"/>
          </p:cNvSpPr>
          <p:nvPr>
            <p:ph type="sldNum" idx="12"/>
          </p:nvPr>
        </p:nvSpPr>
        <p:spPr>
          <a:xfrm>
            <a:off x="8472458" y="4663217"/>
            <a:ext cx="548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948788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427579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21112727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3717244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41938742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2989715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8199417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717243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1678593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3254847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320379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42535363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wo Content 1">
  <p:cSld name="Two Content 1">
    <p:bg>
      <p:bgPr>
        <a:solidFill>
          <a:schemeClr val="lt1"/>
        </a:solidFill>
        <a:effectLst/>
      </p:bgPr>
    </p:bg>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363775" y="177384"/>
            <a:ext cx="5625900" cy="747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2400" b="1" i="0">
                <a:solidFill>
                  <a:srgbClr val="007C92"/>
                </a:solidFill>
                <a:latin typeface="Trebuchet MS"/>
                <a:ea typeface="Trebuchet MS"/>
                <a:cs typeface="Trebuchet MS"/>
                <a:sym typeface="Trebuchet M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14"/>
          <p:cNvSpPr txBox="1">
            <a:spLocks noGrp="1"/>
          </p:cNvSpPr>
          <p:nvPr>
            <p:ph type="body" idx="1"/>
          </p:nvPr>
        </p:nvSpPr>
        <p:spPr>
          <a:xfrm>
            <a:off x="457199" y="1183005"/>
            <a:ext cx="8403000" cy="339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800"/>
              <a:buNone/>
              <a:defRPr/>
            </a:lvl1pPr>
            <a:lvl2pPr marL="914400" lvl="1" indent="-228600" algn="l">
              <a:lnSpc>
                <a:spcPct val="100000"/>
              </a:lnSpc>
              <a:spcBef>
                <a:spcPts val="1200"/>
              </a:spcBef>
              <a:spcAft>
                <a:spcPts val="0"/>
              </a:spcAft>
              <a:buSzPts val="1400"/>
              <a:buNone/>
              <a:defRPr/>
            </a:lvl2pPr>
            <a:lvl3pPr marL="1371600" lvl="2" indent="-228600" algn="l">
              <a:lnSpc>
                <a:spcPct val="100000"/>
              </a:lnSpc>
              <a:spcBef>
                <a:spcPts val="1200"/>
              </a:spcBef>
              <a:spcAft>
                <a:spcPts val="0"/>
              </a:spcAft>
              <a:buSzPts val="1400"/>
              <a:buNone/>
              <a:defRPr/>
            </a:lvl3pPr>
            <a:lvl4pPr marL="1828800" lvl="3" indent="-228600" algn="l">
              <a:lnSpc>
                <a:spcPct val="100000"/>
              </a:lnSpc>
              <a:spcBef>
                <a:spcPts val="1200"/>
              </a:spcBef>
              <a:spcAft>
                <a:spcPts val="0"/>
              </a:spcAft>
              <a:buSzPts val="1400"/>
              <a:buNone/>
              <a:defRPr/>
            </a:lvl4pPr>
            <a:lvl5pPr marL="2286000" lvl="4" indent="-228600" algn="l">
              <a:lnSpc>
                <a:spcPct val="100000"/>
              </a:lnSpc>
              <a:spcBef>
                <a:spcPts val="1200"/>
              </a:spcBef>
              <a:spcAft>
                <a:spcPts val="0"/>
              </a:spcAft>
              <a:buSzPts val="1400"/>
              <a:buNone/>
              <a:defRPr/>
            </a:lvl5pPr>
            <a:lvl6pPr marL="2743200" lvl="5" indent="-228600" algn="l">
              <a:lnSpc>
                <a:spcPct val="100000"/>
              </a:lnSpc>
              <a:spcBef>
                <a:spcPts val="1200"/>
              </a:spcBef>
              <a:spcAft>
                <a:spcPts val="0"/>
              </a:spcAft>
              <a:buSzPts val="1400"/>
              <a:buNone/>
              <a:defRPr/>
            </a:lvl6pPr>
            <a:lvl7pPr marL="3200400" lvl="6" indent="-228600" algn="l">
              <a:lnSpc>
                <a:spcPct val="100000"/>
              </a:lnSpc>
              <a:spcBef>
                <a:spcPts val="1200"/>
              </a:spcBef>
              <a:spcAft>
                <a:spcPts val="0"/>
              </a:spcAft>
              <a:buSzPts val="1400"/>
              <a:buNone/>
              <a:defRPr/>
            </a:lvl7pPr>
            <a:lvl8pPr marL="3657600" lvl="7" indent="-228600" algn="l">
              <a:lnSpc>
                <a:spcPct val="100000"/>
              </a:lnSpc>
              <a:spcBef>
                <a:spcPts val="1200"/>
              </a:spcBef>
              <a:spcAft>
                <a:spcPts val="0"/>
              </a:spcAft>
              <a:buSzPts val="1400"/>
              <a:buNone/>
              <a:defRPr/>
            </a:lvl8pPr>
            <a:lvl9pPr marL="4114800" lvl="8" indent="-228600" algn="l">
              <a:lnSpc>
                <a:spcPct val="100000"/>
              </a:lnSpc>
              <a:spcBef>
                <a:spcPts val="1200"/>
              </a:spcBef>
              <a:spcAft>
                <a:spcPts val="1200"/>
              </a:spcAft>
              <a:buSzPts val="1400"/>
              <a:buNone/>
              <a:defRPr/>
            </a:lvl9pPr>
          </a:lstStyle>
          <a:p>
            <a:endParaRPr/>
          </a:p>
        </p:txBody>
      </p:sp>
      <p:sp>
        <p:nvSpPr>
          <p:cNvPr id="60" name="Google Shape;60;p1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4"/>
          <p:cNvSpPr txBox="1">
            <a:spLocks noGrp="1"/>
          </p:cNvSpPr>
          <p:nvPr>
            <p:ph type="sldNum" idx="12"/>
          </p:nvPr>
        </p:nvSpPr>
        <p:spPr>
          <a:xfrm>
            <a:off x="344725" y="4878989"/>
            <a:ext cx="1929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Trebuchet MS"/>
                <a:ea typeface="Trebuchet MS"/>
                <a:cs typeface="Trebuchet MS"/>
                <a:sym typeface="Trebuchet MS"/>
              </a:defRPr>
            </a:lvl9pPr>
          </a:lstStyle>
          <a:p>
            <a:pPr marL="25400" lvl="0" indent="0" algn="l" rtl="0">
              <a:spcBef>
                <a:spcPts val="0"/>
              </a:spcBef>
              <a:spcAft>
                <a:spcPts val="0"/>
              </a:spcAft>
              <a:buNone/>
            </a:pPr>
            <a:fld id="{00000000-1234-1234-1234-123412341234}" type="slidenum">
              <a:rPr lang="zh-CN"/>
              <a:t>‹#›</a:t>
            </a:fld>
            <a:endParaRPr sz="1000">
              <a:solidFill>
                <a:schemeClr val="dk2"/>
              </a:solidFill>
              <a:latin typeface="Arial"/>
              <a:ea typeface="Arial"/>
              <a:cs typeface="Arial"/>
              <a:sym typeface="Arial"/>
            </a:endParaRPr>
          </a:p>
        </p:txBody>
      </p:sp>
    </p:spTree>
    <p:extLst>
      <p:ext uri="{BB962C8B-B14F-4D97-AF65-F5344CB8AC3E}">
        <p14:creationId xmlns:p14="http://schemas.microsoft.com/office/powerpoint/2010/main" val="18272719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5"/>
          <p:cNvSpPr txBox="1">
            <a:spLocks noGrp="1"/>
          </p:cNvSpPr>
          <p:nvPr>
            <p:ph type="body" idx="1"/>
          </p:nvPr>
        </p:nvSpPr>
        <p:spPr>
          <a:xfrm>
            <a:off x="743748" y="1180605"/>
            <a:ext cx="7657500" cy="19119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8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5"/>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13954554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5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387731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theme" Target="../theme/theme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2285003" y="505350"/>
            <a:ext cx="4574100" cy="4065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2500" b="0" i="0" u="none" strike="noStrike" cap="none">
                <a:solidFill>
                  <a:schemeClr val="dk1"/>
                </a:solidFill>
                <a:latin typeface="Times New Roman"/>
                <a:ea typeface="Times New Roman"/>
                <a:cs typeface="Times New Roman"/>
                <a:sym typeface="Times New Roman"/>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18"/>
          <p:cNvSpPr txBox="1">
            <a:spLocks noGrp="1"/>
          </p:cNvSpPr>
          <p:nvPr>
            <p:ph type="body" idx="1"/>
          </p:nvPr>
        </p:nvSpPr>
        <p:spPr>
          <a:xfrm>
            <a:off x="743748" y="1180605"/>
            <a:ext cx="7657500" cy="19119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3" name="Google Shape;83;p18"/>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8"/>
          <p:cNvSpPr txBox="1">
            <a:spLocks noGrp="1"/>
          </p:cNvSpPr>
          <p:nvPr>
            <p:ph type="sldNum" idx="12"/>
          </p:nvPr>
        </p:nvSpPr>
        <p:spPr>
          <a:xfrm>
            <a:off x="8706908" y="4776451"/>
            <a:ext cx="266700" cy="153900"/>
          </a:xfrm>
          <a:prstGeom prst="rect">
            <a:avLst/>
          </a:prstGeom>
          <a:noFill/>
          <a:ln>
            <a:noFill/>
          </a:ln>
        </p:spPr>
        <p:txBody>
          <a:bodyPr spcFirstLastPara="1" wrap="square" lIns="0" tIns="0" rIns="0" bIns="0" anchor="t" anchorCtr="0">
            <a:spAutoFit/>
          </a:bodyPr>
          <a:lstStyle>
            <a:lvl1pPr marL="164465" marR="0" lvl="0"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1pPr>
            <a:lvl2pPr marL="164465" marR="0" lvl="1"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2pPr>
            <a:lvl3pPr marL="164465" marR="0" lvl="2"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3pPr>
            <a:lvl4pPr marL="164465" marR="0" lvl="3"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4pPr>
            <a:lvl5pPr marL="164465" marR="0" lvl="4"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5pPr>
            <a:lvl6pPr marL="164465" marR="0" lvl="5"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6pPr>
            <a:lvl7pPr marL="164465" marR="0" lvl="6"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7pPr>
            <a:lvl8pPr marL="164465" marR="0" lvl="7"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8pPr>
            <a:lvl9pPr marL="164465" marR="0" lvl="8" indent="0" algn="l">
              <a:lnSpc>
                <a:spcPct val="100000"/>
              </a:lnSpc>
              <a:spcBef>
                <a:spcPts val="0"/>
              </a:spcBef>
              <a:spcAft>
                <a:spcPts val="0"/>
              </a:spcAft>
              <a:buClr>
                <a:srgbClr val="000000"/>
              </a:buClr>
              <a:buSzPts val="1000"/>
              <a:buFont typeface="Arial"/>
              <a:buNone/>
              <a:defRPr sz="1000" b="0" i="0" u="none" strike="noStrike" cap="none">
                <a:solidFill>
                  <a:srgbClr val="B7B7B7"/>
                </a:solidFill>
                <a:latin typeface="Times New Roman"/>
                <a:ea typeface="Times New Roman"/>
                <a:cs typeface="Times New Roman"/>
                <a:sym typeface="Times New Roman"/>
              </a:defRPr>
            </a:lvl9pPr>
          </a:lstStyle>
          <a:p>
            <a:pPr marL="164465" lvl="0" indent="0" algn="l"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CN"/>
              <a:t>‹#›</a:t>
            </a:fld>
            <a:endParaRPr/>
          </a:p>
        </p:txBody>
      </p:sp>
    </p:spTree>
    <p:extLst>
      <p:ext uri="{BB962C8B-B14F-4D97-AF65-F5344CB8AC3E}">
        <p14:creationId xmlns:p14="http://schemas.microsoft.com/office/powerpoint/2010/main" val="3632985928"/>
      </p:ext>
    </p:extLst>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hyperlink" Target="https://youtu.be/TzzuPMA8s7k?t=324" TargetMode="External"/><Relationship Id="rId2" Type="http://schemas.openxmlformats.org/officeDocument/2006/relationships/hyperlink" Target="https://www.youtube.com/watch?v=TzzuPMA8s7k" TargetMode="Externa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youtu.be/TzzuPMA8s7k?t=324" TargetMode="External"/><Relationship Id="rId2" Type="http://schemas.openxmlformats.org/officeDocument/2006/relationships/hyperlink" Target="https://www.youtube.com/watch?v=TzzuPMA8s7k" TargetMode="External"/><Relationship Id="rId1" Type="http://schemas.openxmlformats.org/officeDocument/2006/relationships/slideLayout" Target="../slideLayouts/slideLayout18.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41.xml"/><Relationship Id="rId6" Type="http://schemas.openxmlformats.org/officeDocument/2006/relationships/hyperlink" Target="https://www.wikidata.org/wiki/Q8007" TargetMode="External"/><Relationship Id="rId5" Type="http://schemas.openxmlformats.org/officeDocument/2006/relationships/hyperlink" Target="https://web.stanford.edu/class/archive/cs/cs224n/cs224n.1214/slides/cs224n-2021-lecture15-lm.pdf" TargetMode="Externa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41.xml"/><Relationship Id="rId6" Type="http://schemas.openxmlformats.org/officeDocument/2006/relationships/hyperlink" Target="https://www.wikidata.org/wiki/Q8007" TargetMode="External"/><Relationship Id="rId5" Type="http://schemas.openxmlformats.org/officeDocument/2006/relationships/hyperlink" Target="https://web.stanford.edu/class/archive/cs/cs224n/cs224n.1214/slides/cs224n-2021-lecture15-lm.pdf" TargetMode="Externa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41.xml"/><Relationship Id="rId6" Type="http://schemas.openxmlformats.org/officeDocument/2006/relationships/hyperlink" Target="https://www.wikidata.org/wiki/Q8007" TargetMode="External"/><Relationship Id="rId5" Type="http://schemas.openxmlformats.org/officeDocument/2006/relationships/hyperlink" Target="https://web.stanford.edu/class/archive/cs/cs224n/cs224n.1214/slides/cs224n-2021-lecture15-lm.pdf" TargetMode="External"/><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41.xml"/><Relationship Id="rId5" Type="http://schemas.openxmlformats.org/officeDocument/2006/relationships/hyperlink" Target="https://web.stanford.edu/class/archive/cs/cs224n/cs224n.1214/slides/cs224n-2021-lecture15-lm.pdf" TargetMode="Externa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41.xml"/><Relationship Id="rId5" Type="http://schemas.openxmlformats.org/officeDocument/2006/relationships/image" Target="../media/image9.jp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41.xml"/><Relationship Id="rId5" Type="http://schemas.openxmlformats.org/officeDocument/2006/relationships/image" Target="../media/image9.jp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4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4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4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4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3" Type="http://schemas.openxmlformats.org/officeDocument/2006/relationships/hyperlink" Target="http://www.slyderstavern.com/" TargetMode="External"/><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hyperlink" Target="http://www.slyderstavern.com/" TargetMode="External"/><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30.xml"/><Relationship Id="rId4" Type="http://schemas.openxmlformats.org/officeDocument/2006/relationships/image" Target="../media/image12.jpg"/></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41.xml"/><Relationship Id="rId4" Type="http://schemas.openxmlformats.org/officeDocument/2006/relationships/hyperlink" Target="https://patricklewis.io/img/projects/lama3.pn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41.xml"/><Relationship Id="rId4" Type="http://schemas.openxmlformats.org/officeDocument/2006/relationships/hyperlink" Target="https://patricklewis.io/img/projects/lama3.png"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41.xml"/><Relationship Id="rId4" Type="http://schemas.openxmlformats.org/officeDocument/2006/relationships/hyperlink" Target="https://patricklewis.io/img/projects/lama3.png"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41.xml"/><Relationship Id="rId4" Type="http://schemas.openxmlformats.org/officeDocument/2006/relationships/hyperlink" Target="https://patricklewis.io/img/projects/lama3.png"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1.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41.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4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1.xml"/></Relationships>
</file>

<file path=ppt/slides/_rels/slide5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7.xml"/><Relationship Id="rId1" Type="http://schemas.openxmlformats.org/officeDocument/2006/relationships/slideLayout" Target="../slideLayouts/slideLayout41.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8.xml"/><Relationship Id="rId1" Type="http://schemas.openxmlformats.org/officeDocument/2006/relationships/slideLayout" Target="../slideLayouts/slideLayout41.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1.xml"/></Relationships>
</file>

<file path=ppt/slides/_rels/slide55.xml.rels><?xml version="1.0" encoding="UTF-8" standalone="yes"?>
<Relationships xmlns="http://schemas.openxmlformats.org/package/2006/relationships"><Relationship Id="rId3" Type="http://schemas.openxmlformats.org/officeDocument/2006/relationships/hyperlink" Target="https://arxiv.org/pdf/2008.02637.pdf" TargetMode="External"/><Relationship Id="rId2" Type="http://schemas.openxmlformats.org/officeDocument/2006/relationships/notesSlide" Target="../notesSlides/notesSlide52.xml"/><Relationship Id="rId1" Type="http://schemas.openxmlformats.org/officeDocument/2006/relationships/slideLayout" Target="../slideLayouts/slideLayout41.xml"/><Relationship Id="rId4" Type="http://schemas.openxmlformats.org/officeDocument/2006/relationships/image" Target="../media/image17.jpg"/></Relationships>
</file>

<file path=ppt/slides/_rels/slide56.xml.rels><?xml version="1.0" encoding="UTF-8" standalone="yes"?>
<Relationships xmlns="http://schemas.openxmlformats.org/package/2006/relationships"><Relationship Id="rId3" Type="http://schemas.openxmlformats.org/officeDocument/2006/relationships/hyperlink" Target="https://arxiv.org/pdf/2008.02637.pdf" TargetMode="External"/><Relationship Id="rId2" Type="http://schemas.openxmlformats.org/officeDocument/2006/relationships/notesSlide" Target="../notesSlides/notesSlide53.xml"/><Relationship Id="rId1" Type="http://schemas.openxmlformats.org/officeDocument/2006/relationships/slideLayout" Target="../slideLayouts/slideLayout41.xml"/><Relationship Id="rId4" Type="http://schemas.openxmlformats.org/officeDocument/2006/relationships/image" Target="../media/image17.jpg"/></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41.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41.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4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9.xml"/><Relationship Id="rId1" Type="http://schemas.openxmlformats.org/officeDocument/2006/relationships/slideLayout" Target="../slideLayouts/slideLayout32.xml"/><Relationship Id="rId4" Type="http://schemas.openxmlformats.org/officeDocument/2006/relationships/hyperlink" Target="https://web.stanford.edu/class/cs224n/slides/cs224n-2022-lecture-editing.pdf"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0.xml"/><Relationship Id="rId1" Type="http://schemas.openxmlformats.org/officeDocument/2006/relationships/slideLayout" Target="../slideLayouts/slideLayout32.xml"/><Relationship Id="rId4" Type="http://schemas.openxmlformats.org/officeDocument/2006/relationships/hyperlink" Target="https://web.stanford.edu/class/cs224n/slides/cs224n-2022-lecture-editing.pdf"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1.xml"/><Relationship Id="rId1" Type="http://schemas.openxmlformats.org/officeDocument/2006/relationships/slideLayout" Target="../slideLayouts/slideLayout32.xml"/><Relationship Id="rId4" Type="http://schemas.openxmlformats.org/officeDocument/2006/relationships/hyperlink" Target="https://web.stanford.edu/class/cs224n/slides/cs224n-2022-lecture-editing.pdf"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2.xml"/><Relationship Id="rId1" Type="http://schemas.openxmlformats.org/officeDocument/2006/relationships/slideLayout" Target="../slideLayouts/slideLayout32.xml"/><Relationship Id="rId4" Type="http://schemas.openxmlformats.org/officeDocument/2006/relationships/hyperlink" Target="https://web.stanford.edu/class/cs224n/slides/cs224n-2022-lecture-editing.pdf" TargetMode="Externa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4.xml"/><Relationship Id="rId1" Type="http://schemas.openxmlformats.org/officeDocument/2006/relationships/slideLayout" Target="../slideLayouts/slideLayout41.xml"/><Relationship Id="rId4" Type="http://schemas.openxmlformats.org/officeDocument/2006/relationships/hyperlink" Target="https://arxiv.org/pdf/2104.08696.pdf"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arxiv.org/pdf/2104.08696.pdf" TargetMode="External"/><Relationship Id="rId2" Type="http://schemas.openxmlformats.org/officeDocument/2006/relationships/notesSlide" Target="../notesSlides/notesSlide65.xml"/><Relationship Id="rId1" Type="http://schemas.openxmlformats.org/officeDocument/2006/relationships/slideLayout" Target="../slideLayouts/slideLayout4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1.xml"/></Relationships>
</file>

<file path=ppt/slides/_rels/slide7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7.xml"/><Relationship Id="rId1" Type="http://schemas.openxmlformats.org/officeDocument/2006/relationships/slideLayout" Target="../slideLayouts/slideLayout41.xml"/><Relationship Id="rId5" Type="http://schemas.openxmlformats.org/officeDocument/2006/relationships/hyperlink" Target="https://arxiv.org/pdf/2104.08696.pdf" TargetMode="External"/><Relationship Id="rId4" Type="http://schemas.openxmlformats.org/officeDocument/2006/relationships/image" Target="../media/image24.jpg"/></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8.xml"/><Relationship Id="rId1" Type="http://schemas.openxmlformats.org/officeDocument/2006/relationships/slideLayout" Target="../slideLayouts/slideLayout41.xml"/><Relationship Id="rId4" Type="http://schemas.openxmlformats.org/officeDocument/2006/relationships/hyperlink" Target="https://arxiv.org/pdf/2104.08696.pdf" TargetMode="Externa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hyperlink" Target="https://arxiv.org/abs/2405.13144v1" TargetMode="External"/><Relationship Id="rId2" Type="http://schemas.openxmlformats.org/officeDocument/2006/relationships/notesSlide" Target="../notesSlides/notesSlide79.xml"/><Relationship Id="rId1" Type="http://schemas.openxmlformats.org/officeDocument/2006/relationships/slideLayout" Target="../slideLayouts/slideLayout14.xml"/><Relationship Id="rId4" Type="http://schemas.openxmlformats.org/officeDocument/2006/relationships/hyperlink" Target="https://arxiv.org/abs/2405.17743"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0.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2.xml"/><Relationship Id="rId1" Type="http://schemas.openxmlformats.org/officeDocument/2006/relationships/slideLayout" Target="../slideLayouts/slideLayout15.xml"/><Relationship Id="rId4" Type="http://schemas.openxmlformats.org/officeDocument/2006/relationships/hyperlink" Target="https://ai.stanford.edu/blog/understanding-incontext/"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83.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5.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9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86.xml"/><Relationship Id="rId1" Type="http://schemas.openxmlformats.org/officeDocument/2006/relationships/slideLayout" Target="../slideLayouts/slideLayout16.xml"/><Relationship Id="rId6" Type="http://schemas.openxmlformats.org/officeDocument/2006/relationships/image" Target="../media/image40.jpg"/><Relationship Id="rId5" Type="http://schemas.openxmlformats.org/officeDocument/2006/relationships/image" Target="../media/image39.jpg"/><Relationship Id="rId4" Type="http://schemas.openxmlformats.org/officeDocument/2006/relationships/image" Target="../media/image38.jpg"/></Relationships>
</file>

<file path=ppt/slides/_rels/slide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7.xml"/><Relationship Id="rId1" Type="http://schemas.openxmlformats.org/officeDocument/2006/relationships/slideLayout" Target="../slideLayouts/slideLayout3.xml"/><Relationship Id="rId6" Type="http://schemas.openxmlformats.org/officeDocument/2006/relationships/hyperlink" Target="https://arxiv.org/abs/2210.09261" TargetMode="External"/><Relationship Id="rId5" Type="http://schemas.openxmlformats.org/officeDocument/2006/relationships/image" Target="../media/image43.png"/><Relationship Id="rId4" Type="http://schemas.openxmlformats.org/officeDocument/2006/relationships/image" Target="../media/image42.png"/></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8.xml"/><Relationship Id="rId1" Type="http://schemas.openxmlformats.org/officeDocument/2006/relationships/slideLayout" Target="../slideLayouts/slideLayout3.xml"/><Relationship Id="rId4" Type="http://schemas.openxmlformats.org/officeDocument/2006/relationships/hyperlink" Target="https://arxiv.org/abs/2210.09261" TargetMode="External"/></Relationships>
</file>

<file path=ppt/slides/_rels/slide9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9.xml"/><Relationship Id="rId1" Type="http://schemas.openxmlformats.org/officeDocument/2006/relationships/slideLayout" Target="../slideLayouts/slideLayout3.xml"/><Relationship Id="rId4" Type="http://schemas.openxmlformats.org/officeDocument/2006/relationships/hyperlink" Target="https://arxiv.org/abs/2210.09261" TargetMode="External"/></Relationships>
</file>

<file path=ppt/slides/_rels/slide9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0.xml"/><Relationship Id="rId1" Type="http://schemas.openxmlformats.org/officeDocument/2006/relationships/slideLayout" Target="../slideLayouts/slideLayout3.xml"/><Relationship Id="rId5" Type="http://schemas.openxmlformats.org/officeDocument/2006/relationships/hyperlink" Target="https://arxiv.org/abs/2210.09261" TargetMode="External"/><Relationship Id="rId4" Type="http://schemas.openxmlformats.org/officeDocument/2006/relationships/image" Target="../media/image47.png"/></Relationships>
</file>

<file path=ppt/slides/_rels/slide9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1.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hyperlink" Target="https://arxiv.org/abs/2210.03057" TargetMode="External"/></Relationships>
</file>

<file path=ppt/slides/_rels/slide97.xml.rels><?xml version="1.0" encoding="UTF-8" standalone="yes"?>
<Relationships xmlns="http://schemas.openxmlformats.org/package/2006/relationships"><Relationship Id="rId3" Type="http://schemas.openxmlformats.org/officeDocument/2006/relationships/hyperlink" Target="https://arxiv.org/abs/2205.11916" TargetMode="External"/><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6.xml"/><Relationship Id="rId1" Type="http://schemas.openxmlformats.org/officeDocument/2006/relationships/slideLayout" Target="../slideLayouts/slideLayout12.xml"/><Relationship Id="rId4" Type="http://schemas.openxmlformats.org/officeDocument/2006/relationships/hyperlink" Target="https://arxiv.org/pdf/2205.10625.pdf" TargetMode="External"/></Relationships>
</file>

<file path=ppt/slides/_rels/slide10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7.xml"/><Relationship Id="rId1" Type="http://schemas.openxmlformats.org/officeDocument/2006/relationships/slideLayout" Target="../slideLayouts/slideLayout12.xml"/><Relationship Id="rId4" Type="http://schemas.openxmlformats.org/officeDocument/2006/relationships/hyperlink" Target="https://www.promptingguide.ai/techniques/tot" TargetMode="Externa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8.xml"/><Relationship Id="rId1" Type="http://schemas.openxmlformats.org/officeDocument/2006/relationships/slideLayout" Target="../slideLayouts/slideLayout12.xml"/><Relationship Id="rId4" Type="http://schemas.openxmlformats.org/officeDocument/2006/relationships/hyperlink" Target="https://arxiv.org/pdf/2211.12588.pdf" TargetMode="External"/></Relationships>
</file>

<file path=ppt/slides/_rels/slide10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9.xml"/><Relationship Id="rId1" Type="http://schemas.openxmlformats.org/officeDocument/2006/relationships/slideLayout" Target="../slideLayouts/slideLayout12.xml"/><Relationship Id="rId4" Type="http://schemas.openxmlformats.org/officeDocument/2006/relationships/hyperlink" Target="https://arxiv.org/pdf/2203.11171.pdf" TargetMode="External"/></Relationships>
</file>

<file path=ppt/slides/_rels/slide10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01.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10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3.xml"/><Relationship Id="rId1" Type="http://schemas.openxmlformats.org/officeDocument/2006/relationships/slideLayout" Target="../slideLayouts/slideLayout12.xml"/><Relationship Id="rId4" Type="http://schemas.openxmlformats.org/officeDocument/2006/relationships/hyperlink" Target="https://arxiv.org/pdf/2303.17651.pdf" TargetMode="Externa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hyperlink" Target="https://www.cs.princeton.edu/courses/archive/fall22/cos597G/" TargetMode="External"/><Relationship Id="rId2" Type="http://schemas.openxmlformats.org/officeDocument/2006/relationships/notesSlide" Target="../notesSlides/notesSlide105.xml"/><Relationship Id="rId1" Type="http://schemas.openxmlformats.org/officeDocument/2006/relationships/slideLayout" Target="../slideLayouts/slideLayout12.xml"/><Relationship Id="rId6" Type="http://schemas.openxmlformats.org/officeDocument/2006/relationships/hyperlink" Target="https://www.promptingguide.ai/" TargetMode="External"/><Relationship Id="rId5" Type="http://schemas.openxmlformats.org/officeDocument/2006/relationships/hyperlink" Target="https://github.com/dair-ai/Prompt-Engineering-Guide/blob/main/lecture/Prompt-Engineering-Lecture-Elvis.pdf" TargetMode="External"/><Relationship Id="rId4" Type="http://schemas.openxmlformats.org/officeDocument/2006/relationships/hyperlink" Target="https://docs.google.com/presentation/d/1EUV7W7X_w0BDrscDhPg7lMGzJCkeaPkGCJ3bN8dluXc/edit?resourcekey=0-7Nz5A7y8JozyVrnDtcEKJA#slide=id.g16197112905_0_0" TargetMode="External"/></Relationships>
</file>

<file path=ppt/slides/_rels/slide111.xml.rels><?xml version="1.0" encoding="UTF-8" standalone="yes"?>
<Relationships xmlns="http://schemas.openxmlformats.org/package/2006/relationships"><Relationship Id="rId3" Type="http://schemas.openxmlformats.org/officeDocument/2006/relationships/hyperlink" Target="https://arxiv.org/abs/2111.02080" TargetMode="External"/><Relationship Id="rId2" Type="http://schemas.openxmlformats.org/officeDocument/2006/relationships/notesSlide" Target="../notesSlides/notesSlide106.xml"/><Relationship Id="rId1" Type="http://schemas.openxmlformats.org/officeDocument/2006/relationships/slideLayout" Target="../slideLayouts/slideLayout12.xml"/><Relationship Id="rId6" Type="http://schemas.openxmlformats.org/officeDocument/2006/relationships/hyperlink" Target="https://arxiv.org/abs/2110.11309" TargetMode="External"/><Relationship Id="rId5" Type="http://schemas.openxmlformats.org/officeDocument/2006/relationships/hyperlink" Target="https://arxiv.org/abs/2002.08910" TargetMode="External"/><Relationship Id="rId4" Type="http://schemas.openxmlformats.org/officeDocument/2006/relationships/hyperlink" Target="https://arxiv.org/abs/2202.128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0"/>
          <p:cNvSpPr txBox="1">
            <a:spLocks noGrp="1"/>
          </p:cNvSpPr>
          <p:nvPr>
            <p:ph type="ctrTitle"/>
          </p:nvPr>
        </p:nvSpPr>
        <p:spPr>
          <a:xfrm>
            <a:off x="576750" y="1434450"/>
            <a:ext cx="7990500" cy="1823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1000"/>
              <a:buNone/>
            </a:pPr>
            <a:r>
              <a:rPr lang="zh-CN" sz="3300" b="1"/>
              <a:t>CSC6052/5051/4100/DDA6307/MDS5110</a:t>
            </a:r>
            <a:br>
              <a:rPr lang="zh-CN" sz="3300" b="1">
                <a:latin typeface="Times New Roman"/>
                <a:ea typeface="Times New Roman"/>
                <a:cs typeface="Times New Roman"/>
                <a:sym typeface="Times New Roman"/>
              </a:rPr>
            </a:br>
            <a:r>
              <a:rPr lang="zh-CN" sz="3300" b="1">
                <a:latin typeface="Times New Roman"/>
                <a:ea typeface="Times New Roman"/>
                <a:cs typeface="Times New Roman"/>
                <a:sym typeface="Times New Roman"/>
              </a:rPr>
              <a:t>Natural Language Processing </a:t>
            </a:r>
            <a:br>
              <a:rPr lang="zh-CN" sz="3400" b="1">
                <a:latin typeface="Times New Roman"/>
                <a:ea typeface="Times New Roman"/>
                <a:cs typeface="Times New Roman"/>
                <a:sym typeface="Times New Roman"/>
              </a:rPr>
            </a:br>
            <a:r>
              <a:rPr lang="zh-CN" sz="3700" b="1">
                <a:latin typeface="Times New Roman"/>
                <a:ea typeface="Times New Roman"/>
                <a:cs typeface="Times New Roman"/>
                <a:sym typeface="Times New Roman"/>
              </a:rPr>
              <a:t>	</a:t>
            </a:r>
            <a:br>
              <a:rPr lang="zh-CN" sz="3700" b="1">
                <a:latin typeface="Times New Roman"/>
                <a:ea typeface="Times New Roman"/>
                <a:cs typeface="Times New Roman"/>
                <a:sym typeface="Times New Roman"/>
              </a:rPr>
            </a:br>
            <a:r>
              <a:rPr lang="zh-CN" sz="2700">
                <a:solidFill>
                  <a:schemeClr val="accent1"/>
                </a:solidFill>
              </a:rPr>
              <a:t>Lecture 6-2: Prompt Engineering</a:t>
            </a:r>
            <a:endParaRPr sz="2700">
              <a:solidFill>
                <a:schemeClr val="accent1"/>
              </a:solidFill>
            </a:endParaRPr>
          </a:p>
        </p:txBody>
      </p:sp>
      <p:sp>
        <p:nvSpPr>
          <p:cNvPr id="142" name="Google Shape;142;p30"/>
          <p:cNvSpPr txBox="1">
            <a:spLocks noGrp="1"/>
          </p:cNvSpPr>
          <p:nvPr>
            <p:ph type="subTitle" idx="1"/>
          </p:nvPr>
        </p:nvSpPr>
        <p:spPr>
          <a:xfrm>
            <a:off x="2161950" y="3699176"/>
            <a:ext cx="4308600" cy="1082400"/>
          </a:xfrm>
          <a:prstGeom prst="rect">
            <a:avLst/>
          </a:prstGeom>
          <a:noFill/>
          <a:ln>
            <a:noFill/>
          </a:ln>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800"/>
              <a:buNone/>
            </a:pPr>
            <a:r>
              <a:rPr lang="zh-CN" sz="2100">
                <a:solidFill>
                  <a:schemeClr val="dk1"/>
                </a:solidFill>
                <a:latin typeface="Times New Roman"/>
                <a:ea typeface="Times New Roman"/>
                <a:cs typeface="Times New Roman"/>
                <a:sym typeface="Times New Roman"/>
              </a:rPr>
              <a:t>Spring 202</a:t>
            </a:r>
            <a:r>
              <a:rPr lang="zh-CN" sz="2100"/>
              <a:t>5</a:t>
            </a:r>
            <a:endParaRPr/>
          </a:p>
          <a:p>
            <a:pPr marL="0" lvl="0" indent="0" algn="ctr" rtl="0">
              <a:lnSpc>
                <a:spcPct val="80000"/>
              </a:lnSpc>
              <a:spcBef>
                <a:spcPts val="0"/>
              </a:spcBef>
              <a:spcAft>
                <a:spcPts val="0"/>
              </a:spcAft>
              <a:buSzPts val="800"/>
              <a:buNone/>
            </a:pPr>
            <a:r>
              <a:rPr lang="zh-CN" sz="2100">
                <a:solidFill>
                  <a:schemeClr val="dk1"/>
                </a:solidFill>
                <a:latin typeface="Times New Roman"/>
                <a:ea typeface="Times New Roman"/>
                <a:cs typeface="Times New Roman"/>
                <a:sym typeface="Times New Roman"/>
              </a:rPr>
              <a:t>Benyou Wang</a:t>
            </a:r>
            <a:endParaRPr/>
          </a:p>
          <a:p>
            <a:pPr marL="0" lvl="0" indent="0" algn="ctr" rtl="0">
              <a:lnSpc>
                <a:spcPct val="80000"/>
              </a:lnSpc>
              <a:spcBef>
                <a:spcPts val="0"/>
              </a:spcBef>
              <a:spcAft>
                <a:spcPts val="0"/>
              </a:spcAft>
              <a:buSzPts val="800"/>
              <a:buNone/>
            </a:pPr>
            <a:r>
              <a:rPr lang="zh-CN" sz="2100">
                <a:solidFill>
                  <a:schemeClr val="dk1"/>
                </a:solidFill>
                <a:latin typeface="Times New Roman"/>
                <a:ea typeface="Times New Roman"/>
                <a:cs typeface="Times New Roman"/>
                <a:sym typeface="Times New Roman"/>
              </a:rPr>
              <a:t>School of Data Science</a:t>
            </a:r>
            <a:endParaRPr sz="2100">
              <a:solidFill>
                <a:schemeClr val="dk1"/>
              </a:solidFill>
              <a:latin typeface="Times New Roman"/>
              <a:ea typeface="Times New Roman"/>
              <a:cs typeface="Times New Roman"/>
              <a:sym typeface="Times New Roman"/>
            </a:endParaRPr>
          </a:p>
        </p:txBody>
      </p:sp>
      <p:pic>
        <p:nvPicPr>
          <p:cNvPr id="143" name="Google Shape;143;p30"/>
          <p:cNvPicPr preferRelativeResize="0"/>
          <p:nvPr/>
        </p:nvPicPr>
        <p:blipFill rotWithShape="1">
          <a:blip r:embed="rId3">
            <a:alphaModFix/>
          </a:blip>
          <a:srcRect/>
          <a:stretch/>
        </p:blipFill>
        <p:spPr>
          <a:xfrm>
            <a:off x="7007075" y="80775"/>
            <a:ext cx="2061350" cy="1019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3"/>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FF0000"/>
              </a:buClr>
              <a:buSzPts val="2800"/>
              <a:buFont typeface="Times New Roman"/>
              <a:buNone/>
            </a:pPr>
            <a:r>
              <a:rPr lang="en-US" sz="3400" dirty="0">
                <a:solidFill>
                  <a:srgbClr val="FF0000"/>
                </a:solidFill>
              </a:rPr>
              <a:t>Knowledge vs. Reasoning</a:t>
            </a:r>
            <a:endParaRPr dirty="0"/>
          </a:p>
        </p:txBody>
      </p:sp>
      <p:sp>
        <p:nvSpPr>
          <p:cNvPr id="245" name="Google Shape;245;p43"/>
          <p:cNvSpPr/>
          <p:nvPr/>
        </p:nvSpPr>
        <p:spPr>
          <a:xfrm>
            <a:off x="4454820" y="2417863"/>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Rectangle 1">
            <a:extLst>
              <a:ext uri="{FF2B5EF4-FFF2-40B4-BE49-F238E27FC236}">
                <a16:creationId xmlns:a16="http://schemas.microsoft.com/office/drawing/2014/main" id="{D6B8AAAF-381E-4F09-96F9-86B0A42C53D6}"/>
              </a:ext>
            </a:extLst>
          </p:cNvPr>
          <p:cNvSpPr/>
          <p:nvPr/>
        </p:nvSpPr>
        <p:spPr>
          <a:xfrm>
            <a:off x="2895293" y="3618012"/>
            <a:ext cx="3594254" cy="307777"/>
          </a:xfrm>
          <a:prstGeom prst="rect">
            <a:avLst/>
          </a:prstGeom>
        </p:spPr>
        <p:txBody>
          <a:bodyPr wrap="none">
            <a:spAutoFit/>
          </a:bodyPr>
          <a:lstStyle/>
          <a:p>
            <a:r>
              <a:rPr lang="en-US" altLang="zh-CN" dirty="0">
                <a:solidFill>
                  <a:srgbClr val="282829"/>
                </a:solidFill>
                <a:latin typeface="-apple-system"/>
              </a:rPr>
              <a:t>Knowledge is </a:t>
            </a:r>
            <a:r>
              <a:rPr lang="en-US" altLang="zh-CN" b="1" dirty="0">
                <a:solidFill>
                  <a:srgbClr val="282829"/>
                </a:solidFill>
                <a:latin typeface="-apple-system"/>
              </a:rPr>
              <a:t>storage</a:t>
            </a:r>
            <a:r>
              <a:rPr lang="en-US" altLang="zh-CN" dirty="0">
                <a:solidFill>
                  <a:srgbClr val="282829"/>
                </a:solidFill>
                <a:latin typeface="-apple-system"/>
              </a:rPr>
              <a:t>. Reasoning is </a:t>
            </a:r>
            <a:r>
              <a:rPr lang="en-US" altLang="zh-CN" b="1" dirty="0">
                <a:solidFill>
                  <a:srgbClr val="282829"/>
                </a:solidFill>
                <a:latin typeface="-apple-system"/>
              </a:rPr>
              <a:t>processing</a:t>
            </a:r>
            <a:r>
              <a:rPr lang="en-US" altLang="zh-CN" dirty="0">
                <a:solidFill>
                  <a:srgbClr val="282829"/>
                </a:solidFill>
                <a:latin typeface="-apple-system"/>
              </a:rPr>
              <a:t>.</a:t>
            </a:r>
            <a:endParaRPr lang="zh-CN" altLang="en-US" dirty="0"/>
          </a:p>
        </p:txBody>
      </p:sp>
    </p:spTree>
    <p:extLst>
      <p:ext uri="{BB962C8B-B14F-4D97-AF65-F5344CB8AC3E}">
        <p14:creationId xmlns:p14="http://schemas.microsoft.com/office/powerpoint/2010/main" val="328797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7823-9AD2-45D9-AA96-19377BAEFE6E}"/>
              </a:ext>
            </a:extLst>
          </p:cNvPr>
          <p:cNvSpPr>
            <a:spLocks noGrp="1"/>
          </p:cNvSpPr>
          <p:nvPr>
            <p:ph type="title"/>
          </p:nvPr>
        </p:nvSpPr>
        <p:spPr/>
        <p:txBody>
          <a:bodyPr>
            <a:normAutofit fontScale="90000"/>
          </a:bodyPr>
          <a:lstStyle/>
          <a:p>
            <a:r>
              <a:rPr lang="en-US" altLang="zh-CN" sz="2800" dirty="0">
                <a:solidFill>
                  <a:schemeClr val="tx1"/>
                </a:solidFill>
              </a:rPr>
              <a:t>Knowledge vs. Reasoning</a:t>
            </a:r>
            <a:endParaRPr lang="zh-CN" altLang="en-US" dirty="0">
              <a:solidFill>
                <a:schemeClr val="tx1"/>
              </a:solidFill>
            </a:endParaRPr>
          </a:p>
        </p:txBody>
      </p:sp>
      <p:sp>
        <p:nvSpPr>
          <p:cNvPr id="3" name="Text Placeholder 2">
            <a:extLst>
              <a:ext uri="{FF2B5EF4-FFF2-40B4-BE49-F238E27FC236}">
                <a16:creationId xmlns:a16="http://schemas.microsoft.com/office/drawing/2014/main" id="{6FA851CB-5F5B-4427-91C5-9D8F7BA5D7C9}"/>
              </a:ext>
            </a:extLst>
          </p:cNvPr>
          <p:cNvSpPr>
            <a:spLocks noGrp="1"/>
          </p:cNvSpPr>
          <p:nvPr>
            <p:ph type="body" idx="1"/>
          </p:nvPr>
        </p:nvSpPr>
        <p:spPr>
          <a:xfrm>
            <a:off x="311700" y="1152475"/>
            <a:ext cx="3911050" cy="3416400"/>
          </a:xfrm>
        </p:spPr>
        <p:txBody>
          <a:bodyPr>
            <a:normAutofit fontScale="85000" lnSpcReduction="10000"/>
          </a:bodyPr>
          <a:lstStyle/>
          <a:p>
            <a:pPr marL="114300" indent="0">
              <a:buNone/>
            </a:pPr>
            <a:r>
              <a:rPr lang="en-US" altLang="zh-CN" b="1" dirty="0"/>
              <a:t>Knowledge</a:t>
            </a:r>
            <a:endParaRPr lang="en-US" altLang="zh-CN" dirty="0"/>
          </a:p>
          <a:p>
            <a:r>
              <a:rPr lang="en-US" altLang="zh-CN" b="1" dirty="0"/>
              <a:t>Definition</a:t>
            </a:r>
            <a:r>
              <a:rPr lang="en-US" altLang="zh-CN" dirty="0"/>
              <a:t>: Knowledge refers to the information, facts, concepts, and skills that a person has acquired through experience, education, or observation.</a:t>
            </a:r>
          </a:p>
          <a:p>
            <a:r>
              <a:rPr lang="en-US" altLang="zh-CN" b="1" dirty="0"/>
              <a:t>Nature</a:t>
            </a:r>
            <a:r>
              <a:rPr lang="en-US" altLang="zh-CN" dirty="0"/>
              <a:t>: It is often considered a static collection of data and truths about the world. Knowledge can be explicit (easily articulated and shared) or tacit (personal, context-specific, and harder to communicate).</a:t>
            </a:r>
          </a:p>
          <a:p>
            <a:r>
              <a:rPr lang="en-US" altLang="zh-CN" b="1" dirty="0"/>
              <a:t>Examples</a:t>
            </a:r>
            <a:r>
              <a:rPr lang="en-US" altLang="zh-CN" dirty="0"/>
              <a:t>: Knowing that Paris is the capital of France, understanding the laws of physics, or having expertise in a particular field.</a:t>
            </a:r>
          </a:p>
          <a:p>
            <a:endParaRPr lang="zh-CN" altLang="en-US" dirty="0"/>
          </a:p>
        </p:txBody>
      </p:sp>
      <p:sp>
        <p:nvSpPr>
          <p:cNvPr id="4" name="Text Placeholder 2">
            <a:extLst>
              <a:ext uri="{FF2B5EF4-FFF2-40B4-BE49-F238E27FC236}">
                <a16:creationId xmlns:a16="http://schemas.microsoft.com/office/drawing/2014/main" id="{8766AF59-7C2F-4AC2-84DE-583A5891DA0A}"/>
              </a:ext>
            </a:extLst>
          </p:cNvPr>
          <p:cNvSpPr txBox="1">
            <a:spLocks/>
          </p:cNvSpPr>
          <p:nvPr/>
        </p:nvSpPr>
        <p:spPr>
          <a:xfrm>
            <a:off x="4464600" y="1152475"/>
            <a:ext cx="3911050" cy="34164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1pPr>
            <a:lvl2pPr marL="914400" marR="0" lvl="1"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2pPr>
            <a:lvl3pPr marL="1371600" marR="0" lvl="2"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3pPr>
            <a:lvl4pPr marL="1828800" marR="0" lvl="3"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4pPr>
            <a:lvl5pPr marL="2286000" marR="0" lvl="4"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5pPr>
            <a:lvl6pPr marL="2743200" marR="0" lvl="5"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6pPr>
            <a:lvl7pPr marL="3200400" marR="0" lvl="6"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7pPr>
            <a:lvl8pPr marL="3657600" marR="0" lvl="7"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8pPr>
            <a:lvl9pPr marL="4114800" marR="0" lvl="8" indent="-317500" algn="l" rtl="0">
              <a:lnSpc>
                <a:spcPct val="100000"/>
              </a:lnSpc>
              <a:spcBef>
                <a:spcPts val="0"/>
              </a:spcBef>
              <a:spcAft>
                <a:spcPts val="0"/>
              </a:spcAft>
              <a:buClr>
                <a:srgbClr val="000000"/>
              </a:buClr>
              <a:buSzPts val="1400"/>
              <a:buFont typeface="Calibri"/>
              <a:buChar char="■"/>
              <a:defRPr sz="1800" b="0" i="0" u="none" strike="noStrike" cap="none">
                <a:solidFill>
                  <a:srgbClr val="000000"/>
                </a:solidFill>
                <a:latin typeface="Calibri"/>
                <a:ea typeface="Calibri"/>
                <a:cs typeface="Calibri"/>
                <a:sym typeface="Calibri"/>
              </a:defRPr>
            </a:lvl9pPr>
          </a:lstStyle>
          <a:p>
            <a:pPr marL="114300" indent="0">
              <a:buNone/>
            </a:pPr>
            <a:r>
              <a:rPr lang="en-US" altLang="zh-CN" b="1" dirty="0"/>
              <a:t>Reasoning</a:t>
            </a:r>
            <a:endParaRPr lang="en-US" altLang="zh-CN" dirty="0"/>
          </a:p>
          <a:p>
            <a:r>
              <a:rPr lang="en-US" altLang="zh-CN" b="1" dirty="0"/>
              <a:t>Definition</a:t>
            </a:r>
            <a:r>
              <a:rPr lang="en-US" altLang="zh-CN" dirty="0"/>
              <a:t>: Reasoning is the cognitive process of drawing conclusions, making inferences, or forming judgments based on available information and knowledge.</a:t>
            </a:r>
          </a:p>
          <a:p>
            <a:r>
              <a:rPr lang="en-US" altLang="zh-CN" b="1" dirty="0"/>
              <a:t>Nature</a:t>
            </a:r>
            <a:r>
              <a:rPr lang="en-US" altLang="zh-CN" dirty="0"/>
              <a:t>: It is dynamic and involves the application of logic and critical thinking to analyze situations, solve problems, and make decisions.</a:t>
            </a:r>
          </a:p>
          <a:p>
            <a:r>
              <a:rPr lang="en-US" altLang="zh-CN" b="1" dirty="0"/>
              <a:t>Examples</a:t>
            </a:r>
            <a:r>
              <a:rPr lang="en-US" altLang="zh-CN" dirty="0"/>
              <a:t>: Deductive reasoning (drawing specific conclusions from general principles), inductive reasoning (generalizing from specific instances), and abductive reasoning (inferring the best explanation from incomplete information).</a:t>
            </a:r>
          </a:p>
        </p:txBody>
      </p:sp>
      <p:sp>
        <p:nvSpPr>
          <p:cNvPr id="5" name="Rectangle 4">
            <a:extLst>
              <a:ext uri="{FF2B5EF4-FFF2-40B4-BE49-F238E27FC236}">
                <a16:creationId xmlns:a16="http://schemas.microsoft.com/office/drawing/2014/main" id="{051D484F-8D92-44C2-A8FC-91BF0AFB8172}"/>
              </a:ext>
            </a:extLst>
          </p:cNvPr>
          <p:cNvSpPr/>
          <p:nvPr/>
        </p:nvSpPr>
        <p:spPr>
          <a:xfrm>
            <a:off x="546650" y="4698475"/>
            <a:ext cx="8877298" cy="430887"/>
          </a:xfrm>
          <a:prstGeom prst="rect">
            <a:avLst/>
          </a:prstGeom>
        </p:spPr>
        <p:txBody>
          <a:bodyPr wrap="square">
            <a:spAutoFit/>
          </a:bodyPr>
          <a:lstStyle/>
          <a:p>
            <a:r>
              <a:rPr lang="zh-CN" altLang="en-US" sz="1100" dirty="0"/>
              <a:t>Fei Yu, Hongbo Zhang, Prayag Tiwari, Benyou Wang. Natural Language Reasoning, A Survey. ACM Computing Surveys.  https://dl.acm.org/doi/10.1145/3664194</a:t>
            </a:r>
          </a:p>
        </p:txBody>
      </p:sp>
    </p:spTree>
    <p:extLst>
      <p:ext uri="{BB962C8B-B14F-4D97-AF65-F5344CB8AC3E}">
        <p14:creationId xmlns:p14="http://schemas.microsoft.com/office/powerpoint/2010/main" val="4293219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593F-9B06-407C-B76E-C5E49CD7E5CB}"/>
              </a:ext>
            </a:extLst>
          </p:cNvPr>
          <p:cNvSpPr>
            <a:spLocks noGrp="1"/>
          </p:cNvSpPr>
          <p:nvPr>
            <p:ph type="title"/>
          </p:nvPr>
        </p:nvSpPr>
        <p:spPr/>
        <p:txBody>
          <a:bodyPr/>
          <a:lstStyle/>
          <a:p>
            <a:r>
              <a:rPr lang="en-US" altLang="zh-CN" dirty="0"/>
              <a:t>Difference and Connections</a:t>
            </a:r>
            <a:endParaRPr lang="zh-CN" altLang="en-US" dirty="0"/>
          </a:p>
        </p:txBody>
      </p:sp>
      <p:sp>
        <p:nvSpPr>
          <p:cNvPr id="3" name="Text Placeholder 2">
            <a:extLst>
              <a:ext uri="{FF2B5EF4-FFF2-40B4-BE49-F238E27FC236}">
                <a16:creationId xmlns:a16="http://schemas.microsoft.com/office/drawing/2014/main" id="{8A0B5733-9587-4DF9-8ED2-4DB8E6C4F470}"/>
              </a:ext>
            </a:extLst>
          </p:cNvPr>
          <p:cNvSpPr>
            <a:spLocks noGrp="1"/>
          </p:cNvSpPr>
          <p:nvPr>
            <p:ph type="body" idx="1"/>
          </p:nvPr>
        </p:nvSpPr>
        <p:spPr/>
        <p:txBody>
          <a:bodyPr>
            <a:normAutofit fontScale="92500" lnSpcReduction="20000"/>
          </a:bodyPr>
          <a:lstStyle/>
          <a:p>
            <a:pPr marL="114300" indent="0">
              <a:buNone/>
            </a:pPr>
            <a:r>
              <a:rPr lang="en-US" altLang="zh-CN" b="1" dirty="0"/>
              <a:t>Key Differences</a:t>
            </a:r>
            <a:endParaRPr lang="en-US" altLang="zh-CN" dirty="0"/>
          </a:p>
          <a:p>
            <a:pPr lvl="1"/>
            <a:r>
              <a:rPr lang="en-US" altLang="zh-CN" b="1" dirty="0"/>
              <a:t>Function</a:t>
            </a:r>
            <a:r>
              <a:rPr lang="en-US" altLang="zh-CN" dirty="0"/>
              <a:t>:</a:t>
            </a:r>
            <a:br>
              <a:rPr lang="en-US" altLang="zh-CN" dirty="0"/>
            </a:br>
            <a:r>
              <a:rPr lang="en-US" altLang="zh-CN" dirty="0"/>
              <a:t>- Knowledge provides the content or </a:t>
            </a:r>
            <a:r>
              <a:rPr lang="en-US" altLang="zh-CN" b="1" dirty="0"/>
              <a:t>building blocks for reasoning</a:t>
            </a:r>
            <a:r>
              <a:rPr lang="en-US" altLang="zh-CN" dirty="0"/>
              <a:t>.</a:t>
            </a:r>
            <a:br>
              <a:rPr lang="en-US" altLang="zh-CN" dirty="0"/>
            </a:br>
            <a:r>
              <a:rPr lang="en-US" altLang="zh-CN" dirty="0"/>
              <a:t>- Reasoning is the </a:t>
            </a:r>
            <a:r>
              <a:rPr lang="en-US" altLang="zh-CN" b="1" dirty="0"/>
              <a:t>process that utilizes knowledge </a:t>
            </a:r>
            <a:r>
              <a:rPr lang="en-US" altLang="zh-CN" dirty="0"/>
              <a:t>to arrive at conclusions.</a:t>
            </a:r>
          </a:p>
          <a:p>
            <a:pPr lvl="1"/>
            <a:r>
              <a:rPr lang="en-US" altLang="zh-CN" b="1" dirty="0"/>
              <a:t>Static vs. Dynamic</a:t>
            </a:r>
            <a:r>
              <a:rPr lang="en-US" altLang="zh-CN" dirty="0"/>
              <a:t>:</a:t>
            </a:r>
            <a:br>
              <a:rPr lang="en-US" altLang="zh-CN" dirty="0"/>
            </a:br>
            <a:r>
              <a:rPr lang="en-US" altLang="zh-CN" dirty="0"/>
              <a:t>- Knowledge tends to be more static (what you know).</a:t>
            </a:r>
            <a:br>
              <a:rPr lang="en-US" altLang="zh-CN" dirty="0"/>
            </a:br>
            <a:r>
              <a:rPr lang="en-US" altLang="zh-CN" dirty="0"/>
              <a:t>- Reasoning is dynamic (how you use what you know).</a:t>
            </a:r>
          </a:p>
          <a:p>
            <a:pPr lvl="1"/>
            <a:r>
              <a:rPr lang="en-US" altLang="zh-CN" b="1" dirty="0"/>
              <a:t>Outcome</a:t>
            </a:r>
            <a:r>
              <a:rPr lang="en-US" altLang="zh-CN" dirty="0"/>
              <a:t>:</a:t>
            </a:r>
            <a:br>
              <a:rPr lang="en-US" altLang="zh-CN" dirty="0"/>
            </a:br>
            <a:r>
              <a:rPr lang="en-US" altLang="zh-CN" dirty="0"/>
              <a:t>- Knowledge can exist without reasoning (e.g., memorized facts).</a:t>
            </a:r>
            <a:br>
              <a:rPr lang="en-US" altLang="zh-CN" dirty="0"/>
            </a:br>
            <a:r>
              <a:rPr lang="en-US" altLang="zh-CN" dirty="0"/>
              <a:t>- Reasoning often requires knowledge to be effective.</a:t>
            </a:r>
          </a:p>
          <a:p>
            <a:pPr lvl="1"/>
            <a:endParaRPr lang="en-US" altLang="zh-CN" dirty="0"/>
          </a:p>
          <a:p>
            <a:pPr marL="114300" indent="0">
              <a:buNone/>
            </a:pPr>
            <a:r>
              <a:rPr lang="en-US" altLang="zh-CN" b="1" dirty="0"/>
              <a:t>Interrelationship</a:t>
            </a:r>
            <a:endParaRPr lang="en-US" altLang="zh-CN" dirty="0"/>
          </a:p>
          <a:p>
            <a:pPr marL="114300" indent="0">
              <a:buNone/>
            </a:pPr>
            <a:r>
              <a:rPr lang="en-US" altLang="zh-CN" dirty="0"/>
              <a:t>Knowledge and reasoning are interdependent; effective reasoning relies on a solid foundation of knowledge, while acquiring new knowledge often requires reasoning skills to evaluate, integrate, and understand information.</a:t>
            </a:r>
          </a:p>
          <a:p>
            <a:pPr marL="114300" indent="0">
              <a:buNone/>
            </a:pPr>
            <a:endParaRPr lang="zh-CN" altLang="en-US" dirty="0"/>
          </a:p>
        </p:txBody>
      </p:sp>
      <p:sp>
        <p:nvSpPr>
          <p:cNvPr id="4" name="Rectangle 3">
            <a:extLst>
              <a:ext uri="{FF2B5EF4-FFF2-40B4-BE49-F238E27FC236}">
                <a16:creationId xmlns:a16="http://schemas.microsoft.com/office/drawing/2014/main" id="{4FE7EB50-5688-4F2C-8DCE-EE85EAB88D69}"/>
              </a:ext>
            </a:extLst>
          </p:cNvPr>
          <p:cNvSpPr/>
          <p:nvPr/>
        </p:nvSpPr>
        <p:spPr>
          <a:xfrm>
            <a:off x="812800" y="4568875"/>
            <a:ext cx="7943850" cy="307777"/>
          </a:xfrm>
          <a:prstGeom prst="rect">
            <a:avLst/>
          </a:prstGeom>
        </p:spPr>
        <p:txBody>
          <a:bodyPr wrap="square">
            <a:spAutoFit/>
          </a:bodyPr>
          <a:lstStyle/>
          <a:p>
            <a:r>
              <a:rPr lang="zh-CN" altLang="en-US" dirty="0"/>
              <a:t>https://www.quora.com/What-is-the-difference-between-knowledge-and-reasoning</a:t>
            </a:r>
          </a:p>
        </p:txBody>
      </p:sp>
    </p:spTree>
    <p:extLst>
      <p:ext uri="{BB962C8B-B14F-4D97-AF65-F5344CB8AC3E}">
        <p14:creationId xmlns:p14="http://schemas.microsoft.com/office/powerpoint/2010/main" val="301778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3F5A5-7A75-4967-9551-CAED93848A7A}"/>
              </a:ext>
            </a:extLst>
          </p:cNvPr>
          <p:cNvSpPr>
            <a:spLocks noGrp="1"/>
          </p:cNvSpPr>
          <p:nvPr>
            <p:ph type="title"/>
          </p:nvPr>
        </p:nvSpPr>
        <p:spPr/>
        <p:txBody>
          <a:bodyPr>
            <a:normAutofit fontScale="90000"/>
          </a:bodyPr>
          <a:lstStyle/>
          <a:p>
            <a:r>
              <a:rPr lang="en-US" altLang="zh-CN" sz="2800" dirty="0">
                <a:solidFill>
                  <a:schemeClr val="tx1"/>
                </a:solidFill>
              </a:rPr>
              <a:t>Knowledge vs. Reasoning in </a:t>
            </a:r>
            <a:r>
              <a:rPr lang="en-US" altLang="zh-CN" sz="2800" b="1" dirty="0">
                <a:solidFill>
                  <a:schemeClr val="tx1"/>
                </a:solidFill>
              </a:rPr>
              <a:t>Humans</a:t>
            </a:r>
            <a:endParaRPr lang="zh-CN" altLang="en-US" b="1" dirty="0">
              <a:solidFill>
                <a:schemeClr val="tx1"/>
              </a:solidFill>
            </a:endParaRPr>
          </a:p>
        </p:txBody>
      </p:sp>
      <p:sp>
        <p:nvSpPr>
          <p:cNvPr id="3" name="Text Placeholder 2">
            <a:extLst>
              <a:ext uri="{FF2B5EF4-FFF2-40B4-BE49-F238E27FC236}">
                <a16:creationId xmlns:a16="http://schemas.microsoft.com/office/drawing/2014/main" id="{09AA256B-5482-42A6-967C-215277543AAC}"/>
              </a:ext>
            </a:extLst>
          </p:cNvPr>
          <p:cNvSpPr>
            <a:spLocks noGrp="1"/>
          </p:cNvSpPr>
          <p:nvPr>
            <p:ph type="body" idx="1"/>
          </p:nvPr>
        </p:nvSpPr>
        <p:spPr/>
        <p:txBody>
          <a:bodyPr/>
          <a:lstStyle/>
          <a:p>
            <a:r>
              <a:rPr lang="en-US" altLang="zh-CN" b="1" dirty="0"/>
              <a:t>Knowledge</a:t>
            </a:r>
            <a:r>
              <a:rPr lang="en-US" altLang="zh-CN" dirty="0"/>
              <a:t> is stored in </a:t>
            </a:r>
            <a:r>
              <a:rPr lang="en-US" altLang="zh-CN" b="1" dirty="0"/>
              <a:t>languages</a:t>
            </a:r>
          </a:p>
          <a:p>
            <a:r>
              <a:rPr lang="en-US" altLang="zh-CN" dirty="0"/>
              <a:t>Human </a:t>
            </a:r>
            <a:r>
              <a:rPr lang="en-US" altLang="zh-CN" b="1" dirty="0"/>
              <a:t>reasons</a:t>
            </a:r>
            <a:r>
              <a:rPr lang="en-US" altLang="zh-CN" dirty="0"/>
              <a:t> via </a:t>
            </a:r>
            <a:r>
              <a:rPr lang="en-US" altLang="zh-CN" b="1" dirty="0"/>
              <a:t>languages</a:t>
            </a:r>
            <a:r>
              <a:rPr lang="en-US" altLang="zh-CN" dirty="0"/>
              <a:t>.</a:t>
            </a:r>
            <a:endParaRPr lang="zh-CN" altLang="en-US" dirty="0"/>
          </a:p>
        </p:txBody>
      </p:sp>
      <p:sp>
        <p:nvSpPr>
          <p:cNvPr id="4" name="Rectangle 3">
            <a:extLst>
              <a:ext uri="{FF2B5EF4-FFF2-40B4-BE49-F238E27FC236}">
                <a16:creationId xmlns:a16="http://schemas.microsoft.com/office/drawing/2014/main" id="{7A73BED7-2108-4D5D-BA41-AEEB2530B6EA}"/>
              </a:ext>
            </a:extLst>
          </p:cNvPr>
          <p:cNvSpPr/>
          <p:nvPr/>
        </p:nvSpPr>
        <p:spPr>
          <a:xfrm>
            <a:off x="107402" y="4329143"/>
            <a:ext cx="9353353" cy="738664"/>
          </a:xfrm>
          <a:prstGeom prst="rect">
            <a:avLst/>
          </a:prstGeom>
        </p:spPr>
        <p:txBody>
          <a:bodyPr wrap="square">
            <a:spAutoFit/>
          </a:bodyPr>
          <a:lstStyle/>
          <a:p>
            <a:r>
              <a:rPr lang="en-US" altLang="zh-CN" dirty="0">
                <a:hlinkClick r:id="rId2"/>
              </a:rPr>
              <a:t>Noam Chomsky - The Function of Language</a:t>
            </a:r>
            <a:r>
              <a:rPr lang="en-US" altLang="zh-CN" dirty="0"/>
              <a:t> </a:t>
            </a:r>
            <a:r>
              <a:rPr lang="en-US" altLang="zh-CN" dirty="0">
                <a:hlinkClick r:id="rId3"/>
              </a:rPr>
              <a:t>https://youtu.be/TzzuPMA8s7k?t=324</a:t>
            </a:r>
            <a:endParaRPr lang="en-US" altLang="zh-CN" dirty="0"/>
          </a:p>
          <a:p>
            <a:r>
              <a:rPr lang="en-US" altLang="zh-CN" dirty="0"/>
              <a:t>Evelina </a:t>
            </a:r>
            <a:r>
              <a:rPr lang="en-US" altLang="zh-CN" dirty="0" err="1"/>
              <a:t>Fedorenko</a:t>
            </a:r>
            <a:r>
              <a:rPr lang="en-US" altLang="zh-CN" dirty="0"/>
              <a:t>, Steven T. Piantadosi, Edward A. F. Gibson. Language is primarily a tool for communication rather than thought. </a:t>
            </a:r>
            <a:r>
              <a:rPr lang="en-US" altLang="zh-CN" b="1" dirty="0"/>
              <a:t>Nature</a:t>
            </a:r>
            <a:r>
              <a:rPr lang="en-US" altLang="zh-CN" dirty="0"/>
              <a:t>. https://www.nature.com/articles/s41586-024-07522-w</a:t>
            </a:r>
            <a:endParaRPr lang="zh-CN" altLang="en-US" dirty="0"/>
          </a:p>
        </p:txBody>
      </p:sp>
      <p:sp>
        <p:nvSpPr>
          <p:cNvPr id="5" name="Rectangle 4">
            <a:extLst>
              <a:ext uri="{FF2B5EF4-FFF2-40B4-BE49-F238E27FC236}">
                <a16:creationId xmlns:a16="http://schemas.microsoft.com/office/drawing/2014/main" id="{7F2E093C-594D-4116-8A97-30AD9C773991}"/>
              </a:ext>
            </a:extLst>
          </p:cNvPr>
          <p:cNvSpPr/>
          <p:nvPr/>
        </p:nvSpPr>
        <p:spPr>
          <a:xfrm>
            <a:off x="414068" y="2224488"/>
            <a:ext cx="4235570" cy="1169551"/>
          </a:xfrm>
          <a:prstGeom prst="rect">
            <a:avLst/>
          </a:prstGeom>
        </p:spPr>
        <p:txBody>
          <a:bodyPr wrap="square">
            <a:spAutoFit/>
          </a:bodyPr>
          <a:lstStyle/>
          <a:p>
            <a:r>
              <a:rPr lang="en-US" altLang="zh-CN" dirty="0">
                <a:solidFill>
                  <a:srgbClr val="001D35"/>
                </a:solidFill>
                <a:latin typeface="Google Sans"/>
              </a:rPr>
              <a:t>Noam Chomsky's theory of language focuses on </a:t>
            </a:r>
            <a:r>
              <a:rPr lang="en-US" altLang="zh-CN" b="1" dirty="0">
                <a:solidFill>
                  <a:srgbClr val="001D35"/>
                </a:solidFill>
                <a:latin typeface="Google Sans"/>
              </a:rPr>
              <a:t>language as a type of knowledge</a:t>
            </a:r>
            <a:r>
              <a:rPr lang="en-US" altLang="zh-CN" dirty="0">
                <a:solidFill>
                  <a:srgbClr val="001D35"/>
                </a:solidFill>
                <a:latin typeface="Google Sans"/>
              </a:rPr>
              <a:t>, rather than just a means of communication. He believes that language is a biological capacity that helps humans create social interactions. </a:t>
            </a:r>
            <a:endParaRPr lang="zh-CN" altLang="en-US" dirty="0"/>
          </a:p>
        </p:txBody>
      </p:sp>
      <p:pic>
        <p:nvPicPr>
          <p:cNvPr id="1026" name="Picture 2" descr="Image">
            <a:extLst>
              <a:ext uri="{FF2B5EF4-FFF2-40B4-BE49-F238E27FC236}">
                <a16:creationId xmlns:a16="http://schemas.microsoft.com/office/drawing/2014/main" id="{97BC779A-2749-47B1-A997-466DAE8F3C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6179" y="2049859"/>
            <a:ext cx="4303288" cy="151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1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E08C232D-9339-4819-9B8D-CE69ECD4769F}"/>
              </a:ext>
            </a:extLst>
          </p:cNvPr>
          <p:cNvSpPr/>
          <p:nvPr/>
        </p:nvSpPr>
        <p:spPr>
          <a:xfrm>
            <a:off x="3848252" y="2088995"/>
            <a:ext cx="1437811" cy="1537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a:extLst>
              <a:ext uri="{FF2B5EF4-FFF2-40B4-BE49-F238E27FC236}">
                <a16:creationId xmlns:a16="http://schemas.microsoft.com/office/drawing/2014/main" id="{D5D3F5A5-7A75-4967-9551-CAED93848A7A}"/>
              </a:ext>
            </a:extLst>
          </p:cNvPr>
          <p:cNvSpPr>
            <a:spLocks noGrp="1"/>
          </p:cNvSpPr>
          <p:nvPr>
            <p:ph type="title"/>
          </p:nvPr>
        </p:nvSpPr>
        <p:spPr/>
        <p:txBody>
          <a:bodyPr>
            <a:normAutofit fontScale="90000"/>
          </a:bodyPr>
          <a:lstStyle/>
          <a:p>
            <a:r>
              <a:rPr lang="en-US" altLang="zh-CN" sz="2800" dirty="0">
                <a:solidFill>
                  <a:schemeClr val="tx1"/>
                </a:solidFill>
              </a:rPr>
              <a:t>Knowledge vs. Reasoning in </a:t>
            </a:r>
            <a:r>
              <a:rPr lang="en-US" altLang="zh-CN" sz="2800" b="1" dirty="0">
                <a:solidFill>
                  <a:schemeClr val="tx1"/>
                </a:solidFill>
              </a:rPr>
              <a:t>LLMs</a:t>
            </a:r>
            <a:endParaRPr lang="zh-CN" altLang="en-US" b="1" dirty="0">
              <a:solidFill>
                <a:schemeClr val="tx1"/>
              </a:solidFill>
            </a:endParaRPr>
          </a:p>
        </p:txBody>
      </p:sp>
      <p:sp>
        <p:nvSpPr>
          <p:cNvPr id="3" name="Text Placeholder 2">
            <a:extLst>
              <a:ext uri="{FF2B5EF4-FFF2-40B4-BE49-F238E27FC236}">
                <a16:creationId xmlns:a16="http://schemas.microsoft.com/office/drawing/2014/main" id="{09AA256B-5482-42A6-967C-215277543AAC}"/>
              </a:ext>
            </a:extLst>
          </p:cNvPr>
          <p:cNvSpPr>
            <a:spLocks noGrp="1"/>
          </p:cNvSpPr>
          <p:nvPr>
            <p:ph type="body" idx="1"/>
          </p:nvPr>
        </p:nvSpPr>
        <p:spPr/>
        <p:txBody>
          <a:bodyPr/>
          <a:lstStyle/>
          <a:p>
            <a:r>
              <a:rPr lang="en-US" altLang="zh-CN" dirty="0"/>
              <a:t>How much does LLM memory a knowledge?</a:t>
            </a:r>
          </a:p>
          <a:p>
            <a:r>
              <a:rPr lang="en-US" altLang="zh-CN" dirty="0"/>
              <a:t>How does LLM think?</a:t>
            </a:r>
            <a:endParaRPr lang="zh-CN" altLang="en-US" dirty="0"/>
          </a:p>
        </p:txBody>
      </p:sp>
      <p:sp>
        <p:nvSpPr>
          <p:cNvPr id="5" name="Rectangle 4">
            <a:extLst>
              <a:ext uri="{FF2B5EF4-FFF2-40B4-BE49-F238E27FC236}">
                <a16:creationId xmlns:a16="http://schemas.microsoft.com/office/drawing/2014/main" id="{EC8B2E81-4D4C-4302-9E45-EBA12CF9180E}"/>
              </a:ext>
            </a:extLst>
          </p:cNvPr>
          <p:cNvSpPr/>
          <p:nvPr/>
        </p:nvSpPr>
        <p:spPr>
          <a:xfrm>
            <a:off x="133281" y="4329143"/>
            <a:ext cx="9353353" cy="738664"/>
          </a:xfrm>
          <a:prstGeom prst="rect">
            <a:avLst/>
          </a:prstGeom>
        </p:spPr>
        <p:txBody>
          <a:bodyPr wrap="square">
            <a:spAutoFit/>
          </a:bodyPr>
          <a:lstStyle/>
          <a:p>
            <a:r>
              <a:rPr lang="en-US" altLang="zh-CN" dirty="0">
                <a:hlinkClick r:id="rId2"/>
              </a:rPr>
              <a:t>Noam Chomsky - The Function of Language</a:t>
            </a:r>
            <a:r>
              <a:rPr lang="en-US" altLang="zh-CN" dirty="0"/>
              <a:t> </a:t>
            </a:r>
            <a:r>
              <a:rPr lang="en-US" altLang="zh-CN" dirty="0">
                <a:hlinkClick r:id="rId3"/>
              </a:rPr>
              <a:t>https://youtu.be/TzzuPMA8s7k?t=324</a:t>
            </a:r>
            <a:endParaRPr lang="en-US" altLang="zh-CN" dirty="0"/>
          </a:p>
          <a:p>
            <a:r>
              <a:rPr lang="en-US" altLang="zh-CN" dirty="0"/>
              <a:t>Evelina </a:t>
            </a:r>
            <a:r>
              <a:rPr lang="en-US" altLang="zh-CN" dirty="0" err="1"/>
              <a:t>Fedorenko</a:t>
            </a:r>
            <a:r>
              <a:rPr lang="en-US" altLang="zh-CN" dirty="0"/>
              <a:t>, Steven T. Piantadosi, Edward A. F. Gibson. Language is primarily a tool for communication rather than thought. </a:t>
            </a:r>
            <a:r>
              <a:rPr lang="en-US" altLang="zh-CN" b="1" dirty="0"/>
              <a:t>Nature</a:t>
            </a:r>
            <a:r>
              <a:rPr lang="en-US" altLang="zh-CN" dirty="0"/>
              <a:t>. https://www.nature.com/articles/s41586-024-07522-w</a:t>
            </a:r>
            <a:endParaRPr lang="zh-CN" altLang="en-US" dirty="0"/>
          </a:p>
        </p:txBody>
      </p:sp>
      <p:pic>
        <p:nvPicPr>
          <p:cNvPr id="6" name="Picture 5">
            <a:extLst>
              <a:ext uri="{FF2B5EF4-FFF2-40B4-BE49-F238E27FC236}">
                <a16:creationId xmlns:a16="http://schemas.microsoft.com/office/drawing/2014/main" id="{559CAF19-AA52-4DF1-BBCA-30BA075CDE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715" y="1841178"/>
            <a:ext cx="1972685" cy="1785368"/>
          </a:xfrm>
          <a:prstGeom prst="rect">
            <a:avLst/>
          </a:prstGeom>
        </p:spPr>
      </p:pic>
      <p:sp>
        <p:nvSpPr>
          <p:cNvPr id="7" name="Rectangle 6">
            <a:extLst>
              <a:ext uri="{FF2B5EF4-FFF2-40B4-BE49-F238E27FC236}">
                <a16:creationId xmlns:a16="http://schemas.microsoft.com/office/drawing/2014/main" id="{1E7DE389-8E86-4472-B58C-025F029E2CDA}"/>
              </a:ext>
            </a:extLst>
          </p:cNvPr>
          <p:cNvSpPr/>
          <p:nvPr/>
        </p:nvSpPr>
        <p:spPr>
          <a:xfrm>
            <a:off x="5286064" y="2144628"/>
            <a:ext cx="920445" cy="276999"/>
          </a:xfrm>
          <a:prstGeom prst="rect">
            <a:avLst/>
          </a:prstGeom>
        </p:spPr>
        <p:txBody>
          <a:bodyPr wrap="none">
            <a:spAutoFit/>
          </a:bodyPr>
          <a:lstStyle/>
          <a:p>
            <a:r>
              <a:rPr lang="en-US" altLang="zh-CN" sz="1200" b="1" dirty="0"/>
              <a:t>reasoning</a:t>
            </a:r>
            <a:endParaRPr lang="zh-CN" altLang="en-US" sz="1200" dirty="0"/>
          </a:p>
        </p:txBody>
      </p:sp>
      <p:sp>
        <p:nvSpPr>
          <p:cNvPr id="8" name="Rectangle 7">
            <a:extLst>
              <a:ext uri="{FF2B5EF4-FFF2-40B4-BE49-F238E27FC236}">
                <a16:creationId xmlns:a16="http://schemas.microsoft.com/office/drawing/2014/main" id="{DE79812F-F5A9-427B-8EDA-689D8CFD34F8}"/>
              </a:ext>
            </a:extLst>
          </p:cNvPr>
          <p:cNvSpPr/>
          <p:nvPr/>
        </p:nvSpPr>
        <p:spPr>
          <a:xfrm>
            <a:off x="4313280" y="2839074"/>
            <a:ext cx="883575" cy="337785"/>
          </a:xfrm>
          <a:prstGeom prst="rect">
            <a:avLst/>
          </a:prstGeom>
        </p:spPr>
        <p:txBody>
          <a:bodyPr wrap="none">
            <a:spAutoFit/>
          </a:bodyPr>
          <a:lstStyle/>
          <a:p>
            <a:r>
              <a:rPr lang="en-US" altLang="zh-CN" sz="1595" b="1" dirty="0"/>
              <a:t>prompt</a:t>
            </a:r>
            <a:endParaRPr lang="zh-CN" altLang="en-US" sz="1595" dirty="0"/>
          </a:p>
        </p:txBody>
      </p:sp>
      <p:cxnSp>
        <p:nvCxnSpPr>
          <p:cNvPr id="9" name="Straight Arrow Connector 8">
            <a:extLst>
              <a:ext uri="{FF2B5EF4-FFF2-40B4-BE49-F238E27FC236}">
                <a16:creationId xmlns:a16="http://schemas.microsoft.com/office/drawing/2014/main" id="{1FC6A373-E51E-458B-BF35-E5631789F94C}"/>
              </a:ext>
            </a:extLst>
          </p:cNvPr>
          <p:cNvCxnSpPr/>
          <p:nvPr/>
        </p:nvCxnSpPr>
        <p:spPr>
          <a:xfrm>
            <a:off x="4088780" y="3214898"/>
            <a:ext cx="11972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E422743-F995-495B-A1B2-1456DFB93BC4}"/>
              </a:ext>
            </a:extLst>
          </p:cNvPr>
          <p:cNvCxnSpPr>
            <a:cxnSpLocks/>
          </p:cNvCxnSpPr>
          <p:nvPr/>
        </p:nvCxnSpPr>
        <p:spPr>
          <a:xfrm flipH="1">
            <a:off x="4100127" y="2593218"/>
            <a:ext cx="172081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F1306E90-18E0-41A3-B0FD-1FC48DF86F47}"/>
              </a:ext>
            </a:extLst>
          </p:cNvPr>
          <p:cNvSpPr/>
          <p:nvPr/>
        </p:nvSpPr>
        <p:spPr>
          <a:xfrm>
            <a:off x="5360713" y="1841178"/>
            <a:ext cx="712099" cy="88069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a:extLst>
              <a:ext uri="{FF2B5EF4-FFF2-40B4-BE49-F238E27FC236}">
                <a16:creationId xmlns:a16="http://schemas.microsoft.com/office/drawing/2014/main" id="{416C17CF-F736-4B18-ABDC-7D34B152B0ED}"/>
              </a:ext>
            </a:extLst>
          </p:cNvPr>
          <p:cNvSpPr txBox="1"/>
          <p:nvPr/>
        </p:nvSpPr>
        <p:spPr>
          <a:xfrm>
            <a:off x="5820937" y="1342938"/>
            <a:ext cx="1427356" cy="307777"/>
          </a:xfrm>
          <a:prstGeom prst="rect">
            <a:avLst/>
          </a:prstGeom>
          <a:noFill/>
        </p:spPr>
        <p:txBody>
          <a:bodyPr wrap="square" rtlCol="0">
            <a:spAutoFit/>
          </a:bodyPr>
          <a:lstStyle/>
          <a:p>
            <a:r>
              <a:rPr lang="en-US" altLang="zh-CN" dirty="0">
                <a:solidFill>
                  <a:srgbClr val="FF0000"/>
                </a:solidFill>
              </a:rPr>
              <a:t>Inner though</a:t>
            </a:r>
            <a:endParaRPr lang="zh-CN" altLang="en-US" dirty="0">
              <a:solidFill>
                <a:srgbClr val="FF0000"/>
              </a:solidFill>
            </a:endParaRPr>
          </a:p>
        </p:txBody>
      </p:sp>
      <p:sp>
        <p:nvSpPr>
          <p:cNvPr id="18" name="TextBox 17">
            <a:extLst>
              <a:ext uri="{FF2B5EF4-FFF2-40B4-BE49-F238E27FC236}">
                <a16:creationId xmlns:a16="http://schemas.microsoft.com/office/drawing/2014/main" id="{86F1AB71-1C3B-4AC8-B118-DD5AFC9B04DA}"/>
              </a:ext>
            </a:extLst>
          </p:cNvPr>
          <p:cNvSpPr txBox="1"/>
          <p:nvPr/>
        </p:nvSpPr>
        <p:spPr>
          <a:xfrm>
            <a:off x="3818902" y="3693888"/>
            <a:ext cx="1720809" cy="307777"/>
          </a:xfrm>
          <a:prstGeom prst="rect">
            <a:avLst/>
          </a:prstGeom>
          <a:noFill/>
        </p:spPr>
        <p:txBody>
          <a:bodyPr wrap="square" rtlCol="0">
            <a:spAutoFit/>
          </a:bodyPr>
          <a:lstStyle/>
          <a:p>
            <a:r>
              <a:rPr lang="en-US" altLang="zh-CN" dirty="0">
                <a:solidFill>
                  <a:schemeClr val="bg2"/>
                </a:solidFill>
              </a:rPr>
              <a:t>Communications</a:t>
            </a:r>
            <a:endParaRPr lang="zh-CN" altLang="en-US" dirty="0">
              <a:solidFill>
                <a:schemeClr val="bg2"/>
              </a:solidFill>
            </a:endParaRPr>
          </a:p>
        </p:txBody>
      </p:sp>
    </p:spTree>
    <p:extLst>
      <p:ext uri="{BB962C8B-B14F-4D97-AF65-F5344CB8AC3E}">
        <p14:creationId xmlns:p14="http://schemas.microsoft.com/office/powerpoint/2010/main" val="328456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p:bldP spid="8" grpId="0"/>
      <p:bldP spid="16" grpId="0" animBg="1"/>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231"/>
        <p:cNvGrpSpPr/>
        <p:nvPr/>
      </p:nvGrpSpPr>
      <p:grpSpPr>
        <a:xfrm>
          <a:off x="0" y="0"/>
          <a:ext cx="0" cy="0"/>
          <a:chOff x="0" y="0"/>
          <a:chExt cx="0" cy="0"/>
        </a:xfrm>
      </p:grpSpPr>
      <p:sp>
        <p:nvSpPr>
          <p:cNvPr id="232" name="Google Shape;232;p41"/>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zh-CN" b="1">
                <a:latin typeface="Times New Roman"/>
                <a:ea typeface="Times New Roman"/>
                <a:cs typeface="Times New Roman"/>
                <a:sym typeface="Times New Roman"/>
              </a:rPr>
              <a:t>Today’s Lecture</a:t>
            </a:r>
            <a:endParaRPr b="1">
              <a:latin typeface="Times New Roman"/>
              <a:ea typeface="Times New Roman"/>
              <a:cs typeface="Times New Roman"/>
              <a:sym typeface="Times New Roman"/>
            </a:endParaRPr>
          </a:p>
        </p:txBody>
      </p:sp>
      <p:sp>
        <p:nvSpPr>
          <p:cNvPr id="233" name="Google Shape;233;p41"/>
          <p:cNvSpPr txBox="1">
            <a:spLocks noGrp="1"/>
          </p:cNvSpPr>
          <p:nvPr>
            <p:ph type="body" idx="1"/>
          </p:nvPr>
        </p:nvSpPr>
        <p:spPr>
          <a:xfrm>
            <a:off x="628650" y="1070369"/>
            <a:ext cx="7886700" cy="3263400"/>
          </a:xfrm>
          <a:prstGeom prst="rect">
            <a:avLst/>
          </a:prstGeom>
          <a:noFill/>
          <a:ln>
            <a:noFill/>
          </a:ln>
        </p:spPr>
        <p:txBody>
          <a:bodyPr spcFirstLastPara="1" wrap="square" lIns="0" tIns="0" rIns="0" bIns="0" anchor="t" anchorCtr="0">
            <a:normAutofit/>
          </a:bodyPr>
          <a:lstStyle/>
          <a:p>
            <a:pPr marL="457200" lvl="0" indent="-457200" algn="l" rtl="0">
              <a:lnSpc>
                <a:spcPct val="100000"/>
              </a:lnSpc>
              <a:spcBef>
                <a:spcPts val="0"/>
              </a:spcBef>
              <a:spcAft>
                <a:spcPts val="0"/>
              </a:spcAft>
              <a:buClr>
                <a:schemeClr val="dk1"/>
              </a:buClr>
              <a:buSzPts val="2700"/>
              <a:buFont typeface="Arial"/>
              <a:buChar char="•"/>
            </a:pPr>
            <a:r>
              <a:rPr lang="zh-CN" sz="2700" b="1">
                <a:latin typeface="Times New Roman"/>
                <a:ea typeface="Times New Roman"/>
                <a:cs typeface="Times New Roman"/>
                <a:sym typeface="Times New Roman"/>
              </a:rPr>
              <a:t>Knowledge</a:t>
            </a:r>
            <a:r>
              <a:rPr lang="zh-CN" sz="2700">
                <a:latin typeface="Times New Roman"/>
                <a:ea typeface="Times New Roman"/>
                <a:cs typeface="Times New Roman"/>
                <a:sym typeface="Times New Roman"/>
              </a:rPr>
              <a:t> in LLMs</a:t>
            </a:r>
            <a:endParaRPr/>
          </a:p>
          <a:p>
            <a:pPr marL="800100" lvl="1" indent="-342900" algn="l" rtl="0">
              <a:lnSpc>
                <a:spcPct val="100000"/>
              </a:lnSpc>
              <a:spcBef>
                <a:spcPts val="0"/>
              </a:spcBef>
              <a:spcAft>
                <a:spcPts val="0"/>
              </a:spcAft>
              <a:buClr>
                <a:schemeClr val="dk1"/>
              </a:buClr>
              <a:buSzPts val="2100"/>
              <a:buFont typeface="Arial"/>
              <a:buChar char="•"/>
            </a:pPr>
            <a:r>
              <a:rPr lang="zh-CN" sz="2100">
                <a:solidFill>
                  <a:schemeClr val="dk1"/>
                </a:solidFill>
                <a:latin typeface="Times New Roman"/>
                <a:ea typeface="Times New Roman"/>
                <a:cs typeface="Times New Roman"/>
                <a:sym typeface="Times New Roman"/>
              </a:rPr>
              <a:t>LLMs as knowledge bases</a:t>
            </a:r>
            <a:endParaRPr/>
          </a:p>
          <a:p>
            <a:pPr marL="800100" lvl="1" indent="-342900" algn="l" rtl="0">
              <a:lnSpc>
                <a:spcPct val="100000"/>
              </a:lnSpc>
              <a:spcBef>
                <a:spcPts val="0"/>
              </a:spcBef>
              <a:spcAft>
                <a:spcPts val="0"/>
              </a:spcAft>
              <a:buClr>
                <a:schemeClr val="dk1"/>
              </a:buClr>
              <a:buSzPts val="2100"/>
              <a:buFont typeface="Arial"/>
              <a:buChar char="•"/>
            </a:pPr>
            <a:r>
              <a:rPr lang="zh-CN" sz="2100">
                <a:solidFill>
                  <a:schemeClr val="dk1"/>
                </a:solidFill>
                <a:latin typeface="Times New Roman"/>
                <a:ea typeface="Times New Roman"/>
                <a:cs typeface="Times New Roman"/>
                <a:sym typeface="Times New Roman"/>
              </a:rPr>
              <a:t>Facts updating for LLMs</a:t>
            </a:r>
            <a:endParaRPr sz="2700" b="1"/>
          </a:p>
          <a:p>
            <a:pPr marL="457200" lvl="0" indent="-457200" algn="l" rtl="0">
              <a:lnSpc>
                <a:spcPct val="100000"/>
              </a:lnSpc>
              <a:spcBef>
                <a:spcPts val="0"/>
              </a:spcBef>
              <a:spcAft>
                <a:spcPts val="0"/>
              </a:spcAft>
              <a:buClr>
                <a:schemeClr val="dk1"/>
              </a:buClr>
              <a:buSzPts val="2700"/>
              <a:buFont typeface="Arial"/>
              <a:buChar char="•"/>
            </a:pPr>
            <a:r>
              <a:rPr lang="zh-CN" sz="2700" b="1">
                <a:latin typeface="Times New Roman"/>
                <a:ea typeface="Times New Roman"/>
                <a:cs typeface="Times New Roman"/>
                <a:sym typeface="Times New Roman"/>
              </a:rPr>
              <a:t>Reasoning</a:t>
            </a:r>
            <a:r>
              <a:rPr lang="zh-CN" sz="2700">
                <a:latin typeface="Times New Roman"/>
                <a:ea typeface="Times New Roman"/>
                <a:cs typeface="Times New Roman"/>
                <a:sym typeface="Times New Roman"/>
              </a:rPr>
              <a:t> in LLMs</a:t>
            </a:r>
            <a:endParaRPr/>
          </a:p>
          <a:p>
            <a:pPr marL="800100" lvl="1" indent="-342900" algn="l" rtl="0">
              <a:lnSpc>
                <a:spcPct val="100000"/>
              </a:lnSpc>
              <a:spcBef>
                <a:spcPts val="0"/>
              </a:spcBef>
              <a:spcAft>
                <a:spcPts val="0"/>
              </a:spcAft>
              <a:buClr>
                <a:schemeClr val="dk1"/>
              </a:buClr>
              <a:buSzPts val="2100"/>
              <a:buFont typeface="Arial"/>
              <a:buChar char="•"/>
            </a:pPr>
            <a:r>
              <a:rPr lang="zh-CN" sz="2100">
                <a:solidFill>
                  <a:schemeClr val="dk1"/>
                </a:solidFill>
                <a:latin typeface="Times New Roman"/>
                <a:ea typeface="Times New Roman"/>
                <a:cs typeface="Times New Roman"/>
                <a:sym typeface="Times New Roman"/>
              </a:rPr>
              <a:t>Why reasoning is special in LLMs</a:t>
            </a:r>
            <a:endParaRPr/>
          </a:p>
          <a:p>
            <a:pPr marL="457200" lvl="0" indent="-457200" algn="l" rtl="0">
              <a:lnSpc>
                <a:spcPct val="100000"/>
              </a:lnSpc>
              <a:spcBef>
                <a:spcPts val="0"/>
              </a:spcBef>
              <a:spcAft>
                <a:spcPts val="0"/>
              </a:spcAft>
              <a:buClr>
                <a:schemeClr val="dk1"/>
              </a:buClr>
              <a:buSzPts val="2700"/>
              <a:buChar char="•"/>
            </a:pPr>
            <a:r>
              <a:rPr lang="zh-CN" sz="2700" b="1"/>
              <a:t>Prompt </a:t>
            </a:r>
            <a:r>
              <a:rPr lang="zh-CN" sz="2100"/>
              <a:t>Techniques for better reasoning</a:t>
            </a:r>
            <a:endParaRPr>
              <a:solidFill>
                <a:srgbClr val="000000"/>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2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3"/>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FF0000"/>
              </a:buClr>
              <a:buSzPts val="2800"/>
              <a:buFont typeface="Times New Roman"/>
              <a:buNone/>
            </a:pPr>
            <a:r>
              <a:rPr lang="zh-CN" sz="3400">
                <a:solidFill>
                  <a:srgbClr val="FF0000"/>
                </a:solidFill>
              </a:rPr>
              <a:t>What is a knowledge base?</a:t>
            </a:r>
            <a:endParaRPr/>
          </a:p>
        </p:txBody>
      </p:sp>
      <p:sp>
        <p:nvSpPr>
          <p:cNvPr id="245" name="Google Shape;245;p43"/>
          <p:cNvSpPr/>
          <p:nvPr/>
        </p:nvSpPr>
        <p:spPr>
          <a:xfrm>
            <a:off x="4454820" y="2417863"/>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1" name="Google Shape;251;p44"/>
          <p:cNvSpPr txBox="1">
            <a:spLocks noGrp="1"/>
          </p:cNvSpPr>
          <p:nvPr>
            <p:ph type="title"/>
          </p:nvPr>
        </p:nvSpPr>
        <p:spPr>
          <a:xfrm>
            <a:off x="2679205" y="505350"/>
            <a:ext cx="37866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What is a knowledge base?</a:t>
            </a:r>
            <a:endParaRPr/>
          </a:p>
        </p:txBody>
      </p:sp>
      <p:grpSp>
        <p:nvGrpSpPr>
          <p:cNvPr id="252" name="Google Shape;252;p44"/>
          <p:cNvGrpSpPr/>
          <p:nvPr/>
        </p:nvGrpSpPr>
        <p:grpSpPr>
          <a:xfrm>
            <a:off x="202725" y="1067649"/>
            <a:ext cx="8894164" cy="3800395"/>
            <a:chOff x="202725" y="1067649"/>
            <a:chExt cx="8894164" cy="3800395"/>
          </a:xfrm>
        </p:grpSpPr>
        <p:pic>
          <p:nvPicPr>
            <p:cNvPr id="253" name="Google Shape;253;p44"/>
            <p:cNvPicPr preferRelativeResize="0"/>
            <p:nvPr/>
          </p:nvPicPr>
          <p:blipFill rotWithShape="1">
            <a:blip r:embed="rId3">
              <a:alphaModFix/>
            </a:blip>
            <a:srcRect/>
            <a:stretch/>
          </p:blipFill>
          <p:spPr>
            <a:xfrm>
              <a:off x="833025" y="1161937"/>
              <a:ext cx="8133201" cy="3637226"/>
            </a:xfrm>
            <a:prstGeom prst="rect">
              <a:avLst/>
            </a:prstGeom>
            <a:noFill/>
            <a:ln>
              <a:noFill/>
            </a:ln>
          </p:spPr>
        </p:pic>
        <p:sp>
          <p:nvSpPr>
            <p:cNvPr id="254" name="Google Shape;254;p44"/>
            <p:cNvSpPr/>
            <p:nvPr/>
          </p:nvSpPr>
          <p:spPr>
            <a:xfrm>
              <a:off x="833025" y="2183899"/>
              <a:ext cx="1950720" cy="2684145"/>
            </a:xfrm>
            <a:custGeom>
              <a:avLst/>
              <a:gdLst/>
              <a:ahLst/>
              <a:cxnLst/>
              <a:rect l="l" t="t" r="r" b="b"/>
              <a:pathLst>
                <a:path w="1950720" h="2684145" extrusionOk="0">
                  <a:moveTo>
                    <a:pt x="1950599" y="2684099"/>
                  </a:moveTo>
                  <a:lnTo>
                    <a:pt x="0" y="2684099"/>
                  </a:lnTo>
                  <a:lnTo>
                    <a:pt x="0" y="0"/>
                  </a:lnTo>
                  <a:lnTo>
                    <a:pt x="1950599" y="0"/>
                  </a:lnTo>
                  <a:lnTo>
                    <a:pt x="1950599" y="26840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5" name="Google Shape;255;p44"/>
            <p:cNvSpPr/>
            <p:nvPr/>
          </p:nvSpPr>
          <p:spPr>
            <a:xfrm>
              <a:off x="833025" y="2183899"/>
              <a:ext cx="1950720" cy="2684145"/>
            </a:xfrm>
            <a:custGeom>
              <a:avLst/>
              <a:gdLst/>
              <a:ahLst/>
              <a:cxnLst/>
              <a:rect l="l" t="t" r="r" b="b"/>
              <a:pathLst>
                <a:path w="1950720" h="2684145" extrusionOk="0">
                  <a:moveTo>
                    <a:pt x="0" y="0"/>
                  </a:moveTo>
                  <a:lnTo>
                    <a:pt x="1950599" y="0"/>
                  </a:lnTo>
                  <a:lnTo>
                    <a:pt x="1950599" y="2684099"/>
                  </a:lnTo>
                  <a:lnTo>
                    <a:pt x="0" y="26840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6" name="Google Shape;256;p44"/>
            <p:cNvSpPr/>
            <p:nvPr/>
          </p:nvSpPr>
          <p:spPr>
            <a:xfrm>
              <a:off x="1386049" y="4116074"/>
              <a:ext cx="4448810" cy="641985"/>
            </a:xfrm>
            <a:custGeom>
              <a:avLst/>
              <a:gdLst/>
              <a:ahLst/>
              <a:cxnLst/>
              <a:rect l="l" t="t" r="r" b="b"/>
              <a:pathLst>
                <a:path w="4448810" h="641985" extrusionOk="0">
                  <a:moveTo>
                    <a:pt x="4448699" y="641399"/>
                  </a:moveTo>
                  <a:lnTo>
                    <a:pt x="0" y="641399"/>
                  </a:lnTo>
                  <a:lnTo>
                    <a:pt x="0" y="0"/>
                  </a:lnTo>
                  <a:lnTo>
                    <a:pt x="4448699" y="0"/>
                  </a:lnTo>
                  <a:lnTo>
                    <a:pt x="4448699" y="641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7" name="Google Shape;257;p44"/>
            <p:cNvSpPr/>
            <p:nvPr/>
          </p:nvSpPr>
          <p:spPr>
            <a:xfrm>
              <a:off x="1386049" y="4116074"/>
              <a:ext cx="4448810" cy="641985"/>
            </a:xfrm>
            <a:custGeom>
              <a:avLst/>
              <a:gdLst/>
              <a:ahLst/>
              <a:cxnLst/>
              <a:rect l="l" t="t" r="r" b="b"/>
              <a:pathLst>
                <a:path w="4448810" h="641985" extrusionOk="0">
                  <a:moveTo>
                    <a:pt x="0" y="0"/>
                  </a:moveTo>
                  <a:lnTo>
                    <a:pt x="4448699" y="0"/>
                  </a:lnTo>
                  <a:lnTo>
                    <a:pt x="4448699" y="641399"/>
                  </a:lnTo>
                  <a:lnTo>
                    <a:pt x="0" y="641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8" name="Google Shape;258;p44"/>
            <p:cNvSpPr/>
            <p:nvPr/>
          </p:nvSpPr>
          <p:spPr>
            <a:xfrm>
              <a:off x="2817374" y="3859874"/>
              <a:ext cx="2467610" cy="256539"/>
            </a:xfrm>
            <a:custGeom>
              <a:avLst/>
              <a:gdLst/>
              <a:ahLst/>
              <a:cxnLst/>
              <a:rect l="l" t="t" r="r" b="b"/>
              <a:pathLst>
                <a:path w="2467610" h="256539" extrusionOk="0">
                  <a:moveTo>
                    <a:pt x="2467499" y="256199"/>
                  </a:moveTo>
                  <a:lnTo>
                    <a:pt x="0" y="256199"/>
                  </a:lnTo>
                  <a:lnTo>
                    <a:pt x="0" y="0"/>
                  </a:lnTo>
                  <a:lnTo>
                    <a:pt x="2467499" y="0"/>
                  </a:lnTo>
                  <a:lnTo>
                    <a:pt x="2467499" y="256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9" name="Google Shape;259;p44"/>
            <p:cNvSpPr/>
            <p:nvPr/>
          </p:nvSpPr>
          <p:spPr>
            <a:xfrm>
              <a:off x="2817374" y="3859874"/>
              <a:ext cx="2467610" cy="256539"/>
            </a:xfrm>
            <a:custGeom>
              <a:avLst/>
              <a:gdLst/>
              <a:ahLst/>
              <a:cxnLst/>
              <a:rect l="l" t="t" r="r" b="b"/>
              <a:pathLst>
                <a:path w="2467610" h="256539" extrusionOk="0">
                  <a:moveTo>
                    <a:pt x="0" y="0"/>
                  </a:moveTo>
                  <a:lnTo>
                    <a:pt x="2467499" y="0"/>
                  </a:lnTo>
                  <a:lnTo>
                    <a:pt x="2467499" y="256199"/>
                  </a:lnTo>
                  <a:lnTo>
                    <a:pt x="0" y="256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60" name="Google Shape;260;p44"/>
            <p:cNvPicPr preferRelativeResize="0"/>
            <p:nvPr/>
          </p:nvPicPr>
          <p:blipFill rotWithShape="1">
            <a:blip r:embed="rId4">
              <a:alphaModFix/>
            </a:blip>
            <a:srcRect/>
            <a:stretch/>
          </p:blipFill>
          <p:spPr>
            <a:xfrm>
              <a:off x="202725" y="2525612"/>
              <a:ext cx="1483699" cy="1091949"/>
            </a:xfrm>
            <a:prstGeom prst="rect">
              <a:avLst/>
            </a:prstGeom>
            <a:noFill/>
            <a:ln>
              <a:noFill/>
            </a:ln>
          </p:spPr>
        </p:pic>
        <p:sp>
          <p:nvSpPr>
            <p:cNvPr id="261" name="Google Shape;261;p44"/>
            <p:cNvSpPr/>
            <p:nvPr/>
          </p:nvSpPr>
          <p:spPr>
            <a:xfrm>
              <a:off x="8868924" y="1067649"/>
              <a:ext cx="227965" cy="199390"/>
            </a:xfrm>
            <a:custGeom>
              <a:avLst/>
              <a:gdLst/>
              <a:ahLst/>
              <a:cxnLst/>
              <a:rect l="l" t="t" r="r" b="b"/>
              <a:pathLst>
                <a:path w="227965" h="199390" extrusionOk="0">
                  <a:moveTo>
                    <a:pt x="227399" y="199199"/>
                  </a:moveTo>
                  <a:lnTo>
                    <a:pt x="0" y="199199"/>
                  </a:lnTo>
                  <a:lnTo>
                    <a:pt x="0" y="0"/>
                  </a:lnTo>
                  <a:lnTo>
                    <a:pt x="227399" y="0"/>
                  </a:lnTo>
                  <a:lnTo>
                    <a:pt x="227399" y="199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2" name="Google Shape;262;p44"/>
            <p:cNvSpPr/>
            <p:nvPr/>
          </p:nvSpPr>
          <p:spPr>
            <a:xfrm>
              <a:off x="1443299" y="1067649"/>
              <a:ext cx="7653020" cy="3689985"/>
            </a:xfrm>
            <a:custGeom>
              <a:avLst/>
              <a:gdLst/>
              <a:ahLst/>
              <a:cxnLst/>
              <a:rect l="l" t="t" r="r" b="b"/>
              <a:pathLst>
                <a:path w="7653020" h="3689985" extrusionOk="0">
                  <a:moveTo>
                    <a:pt x="7425624" y="0"/>
                  </a:moveTo>
                  <a:lnTo>
                    <a:pt x="7653024" y="0"/>
                  </a:lnTo>
                  <a:lnTo>
                    <a:pt x="7653024" y="199199"/>
                  </a:lnTo>
                  <a:lnTo>
                    <a:pt x="7425624" y="199199"/>
                  </a:lnTo>
                  <a:lnTo>
                    <a:pt x="7425624" y="0"/>
                  </a:lnTo>
                  <a:close/>
                </a:path>
                <a:path w="7653020" h="3689985" extrusionOk="0">
                  <a:moveTo>
                    <a:pt x="0" y="3086974"/>
                  </a:moveTo>
                  <a:lnTo>
                    <a:pt x="4391399" y="3086974"/>
                  </a:lnTo>
                  <a:lnTo>
                    <a:pt x="4391399" y="3689974"/>
                  </a:lnTo>
                  <a:lnTo>
                    <a:pt x="0" y="3689974"/>
                  </a:lnTo>
                  <a:lnTo>
                    <a:pt x="0" y="3086974"/>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3" name="Google Shape;263;p44"/>
            <p:cNvSpPr/>
            <p:nvPr/>
          </p:nvSpPr>
          <p:spPr>
            <a:xfrm>
              <a:off x="1803649" y="1120274"/>
              <a:ext cx="458469" cy="3637279"/>
            </a:xfrm>
            <a:custGeom>
              <a:avLst/>
              <a:gdLst/>
              <a:ahLst/>
              <a:cxnLst/>
              <a:rect l="l" t="t" r="r" b="b"/>
              <a:pathLst>
                <a:path w="458469" h="3637279" extrusionOk="0">
                  <a:moveTo>
                    <a:pt x="458399" y="3637199"/>
                  </a:moveTo>
                  <a:lnTo>
                    <a:pt x="412208" y="3632543"/>
                  </a:lnTo>
                  <a:lnTo>
                    <a:pt x="369185" y="3619188"/>
                  </a:lnTo>
                  <a:lnTo>
                    <a:pt x="330252" y="3598056"/>
                  </a:lnTo>
                  <a:lnTo>
                    <a:pt x="296331" y="3570068"/>
                  </a:lnTo>
                  <a:lnTo>
                    <a:pt x="268343" y="3536147"/>
                  </a:lnTo>
                  <a:lnTo>
                    <a:pt x="247211" y="3497214"/>
                  </a:lnTo>
                  <a:lnTo>
                    <a:pt x="233856" y="3454191"/>
                  </a:lnTo>
                  <a:lnTo>
                    <a:pt x="229199" y="3407999"/>
                  </a:lnTo>
                  <a:lnTo>
                    <a:pt x="229199" y="2047799"/>
                  </a:lnTo>
                  <a:lnTo>
                    <a:pt x="224543" y="2001608"/>
                  </a:lnTo>
                  <a:lnTo>
                    <a:pt x="211188" y="1958585"/>
                  </a:lnTo>
                  <a:lnTo>
                    <a:pt x="190056" y="1919652"/>
                  </a:lnTo>
                  <a:lnTo>
                    <a:pt x="162068" y="1885731"/>
                  </a:lnTo>
                  <a:lnTo>
                    <a:pt x="128147" y="1857743"/>
                  </a:lnTo>
                  <a:lnTo>
                    <a:pt x="89214" y="1836611"/>
                  </a:lnTo>
                  <a:lnTo>
                    <a:pt x="46191" y="1823256"/>
                  </a:lnTo>
                  <a:lnTo>
                    <a:pt x="0" y="1818599"/>
                  </a:lnTo>
                  <a:lnTo>
                    <a:pt x="46191" y="1813943"/>
                  </a:lnTo>
                  <a:lnTo>
                    <a:pt x="89214" y="1800588"/>
                  </a:lnTo>
                  <a:lnTo>
                    <a:pt x="128147" y="1779456"/>
                  </a:lnTo>
                  <a:lnTo>
                    <a:pt x="162068" y="1751468"/>
                  </a:lnTo>
                  <a:lnTo>
                    <a:pt x="190056" y="1717547"/>
                  </a:lnTo>
                  <a:lnTo>
                    <a:pt x="211188" y="1678614"/>
                  </a:lnTo>
                  <a:lnTo>
                    <a:pt x="224543" y="1635591"/>
                  </a:lnTo>
                  <a:lnTo>
                    <a:pt x="229199" y="1589399"/>
                  </a:lnTo>
                  <a:lnTo>
                    <a:pt x="229199" y="229199"/>
                  </a:lnTo>
                  <a:lnTo>
                    <a:pt x="233856" y="183008"/>
                  </a:lnTo>
                  <a:lnTo>
                    <a:pt x="247211" y="139985"/>
                  </a:lnTo>
                  <a:lnTo>
                    <a:pt x="268343" y="101052"/>
                  </a:lnTo>
                  <a:lnTo>
                    <a:pt x="296331" y="67131"/>
                  </a:lnTo>
                  <a:lnTo>
                    <a:pt x="330252" y="39143"/>
                  </a:lnTo>
                  <a:lnTo>
                    <a:pt x="369185" y="18011"/>
                  </a:lnTo>
                  <a:lnTo>
                    <a:pt x="412208" y="4656"/>
                  </a:lnTo>
                  <a:lnTo>
                    <a:pt x="458399" y="0"/>
                  </a:lnTo>
                </a:path>
              </a:pathLst>
            </a:custGeom>
            <a:noFill/>
            <a:ln w="28550"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64" name="Google Shape;264;p44"/>
          <p:cNvSpPr txBox="1"/>
          <p:nvPr/>
        </p:nvSpPr>
        <p:spPr>
          <a:xfrm>
            <a:off x="377787" y="2300867"/>
            <a:ext cx="1134600" cy="372000"/>
          </a:xfrm>
          <a:prstGeom prst="rect">
            <a:avLst/>
          </a:prstGeom>
          <a:noFill/>
          <a:ln>
            <a:noFill/>
          </a:ln>
        </p:spPr>
        <p:txBody>
          <a:bodyPr spcFirstLastPara="1" wrap="square" lIns="0" tIns="1777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50"/>
              <a:buFont typeface="Arial"/>
              <a:buNone/>
              <a:tabLst/>
              <a:defRPr/>
            </a:pPr>
            <a:r>
              <a:rPr kumimoji="0" lang="en-US" altLang="zh-CN" sz="1150" b="1" i="0" u="none" strike="noStrike" kern="0" cap="none" spc="0" normalizeH="0" baseline="0" noProof="0">
                <a:ln>
                  <a:noFill/>
                </a:ln>
                <a:solidFill>
                  <a:srgbClr val="E69137"/>
                </a:solidFill>
                <a:effectLst/>
                <a:uLnTx/>
                <a:uFillTx/>
                <a:latin typeface="Cambria"/>
                <a:ea typeface="Cambria"/>
                <a:cs typeface="Cambria"/>
                <a:sym typeface="Cambria"/>
              </a:rPr>
              <a:t>knowledge base</a:t>
            </a:r>
            <a:endParaRPr kumimoji="0" sz="11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265" name="Google Shape;265;p44"/>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9</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266" name="Google Shape;266;p44"/>
          <p:cNvSpPr txBox="1"/>
          <p:nvPr/>
        </p:nvSpPr>
        <p:spPr>
          <a:xfrm>
            <a:off x="7006364" y="68529"/>
            <a:ext cx="2066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Graphic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5"/>
              </a:rPr>
              <a:t>Megan Leszczynski (Stanford)</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67" name="Google Shape;267;p44"/>
          <p:cNvSpPr txBox="1"/>
          <p:nvPr/>
        </p:nvSpPr>
        <p:spPr>
          <a:xfrm>
            <a:off x="1386049" y="4116075"/>
            <a:ext cx="4448700" cy="405300"/>
          </a:xfrm>
          <a:prstGeom prst="rect">
            <a:avLst/>
          </a:prstGeom>
          <a:noFill/>
          <a:ln>
            <a:noFill/>
          </a:ln>
        </p:spPr>
        <p:txBody>
          <a:bodyPr spcFirstLastPara="1" wrap="square" lIns="0" tIns="119375" rIns="0" bIns="0" anchor="t" anchorCtr="0">
            <a:spAutoFit/>
          </a:bodyPr>
          <a:lstStyle/>
          <a:p>
            <a:pPr marL="552450" marR="0" lvl="0" indent="0" algn="ctr" defTabSz="914400" rtl="0" eaLnBrk="1" fontAlgn="auto" latinLnBrk="0" hangingPunct="1">
              <a:lnSpc>
                <a:spcPct val="100000"/>
              </a:lnSpc>
              <a:spcBef>
                <a:spcPts val="0"/>
              </a:spcBef>
              <a:spcAft>
                <a:spcPts val="0"/>
              </a:spcAft>
              <a:buClr>
                <a:srgbClr val="000000"/>
              </a:buClr>
              <a:buSzPts val="1850"/>
              <a:buFont typeface="Arial"/>
              <a:buNone/>
              <a:tabLst/>
              <a:defRPr/>
            </a:pPr>
            <a:r>
              <a:rPr kumimoji="0" lang="en-US" altLang="zh-CN" sz="1850" b="1" i="0" u="none" strike="noStrike" kern="0" cap="none" spc="0" normalizeH="0" baseline="0" noProof="0">
                <a:ln>
                  <a:noFill/>
                </a:ln>
                <a:solidFill>
                  <a:srgbClr val="E69137"/>
                </a:solidFill>
                <a:effectLst/>
                <a:uLnTx/>
                <a:uFillTx/>
                <a:latin typeface="Cambria"/>
                <a:ea typeface="Cambria"/>
                <a:cs typeface="Cambria"/>
                <a:sym typeface="Cambria"/>
              </a:rPr>
              <a:t>knowledge graph</a:t>
            </a:r>
            <a:endParaRPr kumimoji="0" sz="18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268" name="Google Shape;268;p44"/>
          <p:cNvSpPr txBox="1"/>
          <p:nvPr/>
        </p:nvSpPr>
        <p:spPr>
          <a:xfrm>
            <a:off x="371255" y="3763500"/>
            <a:ext cx="13716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sng" strike="noStrike" kern="0" cap="none" spc="0" normalizeH="0" baseline="0" noProof="0">
                <a:ln>
                  <a:noFill/>
                </a:ln>
                <a:solidFill>
                  <a:srgbClr val="0097A7"/>
                </a:solidFill>
                <a:effectLst/>
                <a:uLnTx/>
                <a:uFillTx/>
                <a:latin typeface="Calibri"/>
                <a:ea typeface="Calibri"/>
                <a:cs typeface="Calibri"/>
                <a:sym typeface="Calibri"/>
                <a:hlinkClick r:id="rId6"/>
              </a:rPr>
              <a:t>Example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72"/>
        <p:cNvGrpSpPr/>
        <p:nvPr/>
      </p:nvGrpSpPr>
      <p:grpSpPr>
        <a:xfrm>
          <a:off x="0" y="0"/>
          <a:ext cx="0" cy="0"/>
          <a:chOff x="0" y="0"/>
          <a:chExt cx="0" cy="0"/>
        </a:xfrm>
      </p:grpSpPr>
      <p:sp>
        <p:nvSpPr>
          <p:cNvPr id="273" name="Google Shape;273;p45"/>
          <p:cNvSpPr txBox="1">
            <a:spLocks noGrp="1"/>
          </p:cNvSpPr>
          <p:nvPr>
            <p:ph type="title"/>
          </p:nvPr>
        </p:nvSpPr>
        <p:spPr>
          <a:xfrm>
            <a:off x="2679205" y="505350"/>
            <a:ext cx="37866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What is a knowledge base?</a:t>
            </a:r>
            <a:endParaRPr/>
          </a:p>
        </p:txBody>
      </p:sp>
      <p:grpSp>
        <p:nvGrpSpPr>
          <p:cNvPr id="274" name="Google Shape;274;p45"/>
          <p:cNvGrpSpPr/>
          <p:nvPr/>
        </p:nvGrpSpPr>
        <p:grpSpPr>
          <a:xfrm>
            <a:off x="202725" y="1067649"/>
            <a:ext cx="8894164" cy="3800395"/>
            <a:chOff x="202725" y="1067649"/>
            <a:chExt cx="8894164" cy="3800395"/>
          </a:xfrm>
        </p:grpSpPr>
        <p:pic>
          <p:nvPicPr>
            <p:cNvPr id="275" name="Google Shape;275;p45"/>
            <p:cNvPicPr preferRelativeResize="0"/>
            <p:nvPr/>
          </p:nvPicPr>
          <p:blipFill rotWithShape="1">
            <a:blip r:embed="rId3">
              <a:alphaModFix/>
            </a:blip>
            <a:srcRect/>
            <a:stretch/>
          </p:blipFill>
          <p:spPr>
            <a:xfrm>
              <a:off x="833025" y="1161937"/>
              <a:ext cx="8133201" cy="3637226"/>
            </a:xfrm>
            <a:prstGeom prst="rect">
              <a:avLst/>
            </a:prstGeom>
            <a:noFill/>
            <a:ln>
              <a:noFill/>
            </a:ln>
          </p:spPr>
        </p:pic>
        <p:sp>
          <p:nvSpPr>
            <p:cNvPr id="276" name="Google Shape;276;p45"/>
            <p:cNvSpPr/>
            <p:nvPr/>
          </p:nvSpPr>
          <p:spPr>
            <a:xfrm>
              <a:off x="833025" y="2183899"/>
              <a:ext cx="1950720" cy="2684145"/>
            </a:xfrm>
            <a:custGeom>
              <a:avLst/>
              <a:gdLst/>
              <a:ahLst/>
              <a:cxnLst/>
              <a:rect l="l" t="t" r="r" b="b"/>
              <a:pathLst>
                <a:path w="1950720" h="2684145" extrusionOk="0">
                  <a:moveTo>
                    <a:pt x="1950599" y="2684099"/>
                  </a:moveTo>
                  <a:lnTo>
                    <a:pt x="0" y="2684099"/>
                  </a:lnTo>
                  <a:lnTo>
                    <a:pt x="0" y="0"/>
                  </a:lnTo>
                  <a:lnTo>
                    <a:pt x="1950599" y="0"/>
                  </a:lnTo>
                  <a:lnTo>
                    <a:pt x="1950599" y="26840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7" name="Google Shape;277;p45"/>
            <p:cNvSpPr/>
            <p:nvPr/>
          </p:nvSpPr>
          <p:spPr>
            <a:xfrm>
              <a:off x="833025" y="2183899"/>
              <a:ext cx="1950720" cy="2684145"/>
            </a:xfrm>
            <a:custGeom>
              <a:avLst/>
              <a:gdLst/>
              <a:ahLst/>
              <a:cxnLst/>
              <a:rect l="l" t="t" r="r" b="b"/>
              <a:pathLst>
                <a:path w="1950720" h="2684145" extrusionOk="0">
                  <a:moveTo>
                    <a:pt x="0" y="0"/>
                  </a:moveTo>
                  <a:lnTo>
                    <a:pt x="1950599" y="0"/>
                  </a:lnTo>
                  <a:lnTo>
                    <a:pt x="1950599" y="2684099"/>
                  </a:lnTo>
                  <a:lnTo>
                    <a:pt x="0" y="26840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8" name="Google Shape;278;p45"/>
            <p:cNvSpPr/>
            <p:nvPr/>
          </p:nvSpPr>
          <p:spPr>
            <a:xfrm>
              <a:off x="1386049" y="4116074"/>
              <a:ext cx="4448810" cy="641985"/>
            </a:xfrm>
            <a:custGeom>
              <a:avLst/>
              <a:gdLst/>
              <a:ahLst/>
              <a:cxnLst/>
              <a:rect l="l" t="t" r="r" b="b"/>
              <a:pathLst>
                <a:path w="4448810" h="641985" extrusionOk="0">
                  <a:moveTo>
                    <a:pt x="4448699" y="641399"/>
                  </a:moveTo>
                  <a:lnTo>
                    <a:pt x="0" y="641399"/>
                  </a:lnTo>
                  <a:lnTo>
                    <a:pt x="0" y="0"/>
                  </a:lnTo>
                  <a:lnTo>
                    <a:pt x="4448699" y="0"/>
                  </a:lnTo>
                  <a:lnTo>
                    <a:pt x="4448699" y="641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9" name="Google Shape;279;p45"/>
            <p:cNvSpPr/>
            <p:nvPr/>
          </p:nvSpPr>
          <p:spPr>
            <a:xfrm>
              <a:off x="1386049" y="4116074"/>
              <a:ext cx="4448810" cy="641985"/>
            </a:xfrm>
            <a:custGeom>
              <a:avLst/>
              <a:gdLst/>
              <a:ahLst/>
              <a:cxnLst/>
              <a:rect l="l" t="t" r="r" b="b"/>
              <a:pathLst>
                <a:path w="4448810" h="641985" extrusionOk="0">
                  <a:moveTo>
                    <a:pt x="0" y="0"/>
                  </a:moveTo>
                  <a:lnTo>
                    <a:pt x="4448699" y="0"/>
                  </a:lnTo>
                  <a:lnTo>
                    <a:pt x="4448699" y="641399"/>
                  </a:lnTo>
                  <a:lnTo>
                    <a:pt x="0" y="641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0" name="Google Shape;280;p45"/>
            <p:cNvSpPr/>
            <p:nvPr/>
          </p:nvSpPr>
          <p:spPr>
            <a:xfrm>
              <a:off x="2817374" y="3859874"/>
              <a:ext cx="2467610" cy="256539"/>
            </a:xfrm>
            <a:custGeom>
              <a:avLst/>
              <a:gdLst/>
              <a:ahLst/>
              <a:cxnLst/>
              <a:rect l="l" t="t" r="r" b="b"/>
              <a:pathLst>
                <a:path w="2467610" h="256539" extrusionOk="0">
                  <a:moveTo>
                    <a:pt x="2467499" y="256199"/>
                  </a:moveTo>
                  <a:lnTo>
                    <a:pt x="0" y="256199"/>
                  </a:lnTo>
                  <a:lnTo>
                    <a:pt x="0" y="0"/>
                  </a:lnTo>
                  <a:lnTo>
                    <a:pt x="2467499" y="0"/>
                  </a:lnTo>
                  <a:lnTo>
                    <a:pt x="2467499" y="256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1" name="Google Shape;281;p45"/>
            <p:cNvSpPr/>
            <p:nvPr/>
          </p:nvSpPr>
          <p:spPr>
            <a:xfrm>
              <a:off x="2817374" y="3859874"/>
              <a:ext cx="2467610" cy="256539"/>
            </a:xfrm>
            <a:custGeom>
              <a:avLst/>
              <a:gdLst/>
              <a:ahLst/>
              <a:cxnLst/>
              <a:rect l="l" t="t" r="r" b="b"/>
              <a:pathLst>
                <a:path w="2467610" h="256539" extrusionOk="0">
                  <a:moveTo>
                    <a:pt x="0" y="0"/>
                  </a:moveTo>
                  <a:lnTo>
                    <a:pt x="2467499" y="0"/>
                  </a:lnTo>
                  <a:lnTo>
                    <a:pt x="2467499" y="256199"/>
                  </a:lnTo>
                  <a:lnTo>
                    <a:pt x="0" y="256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82" name="Google Shape;282;p45"/>
            <p:cNvPicPr preferRelativeResize="0"/>
            <p:nvPr/>
          </p:nvPicPr>
          <p:blipFill rotWithShape="1">
            <a:blip r:embed="rId4">
              <a:alphaModFix/>
            </a:blip>
            <a:srcRect/>
            <a:stretch/>
          </p:blipFill>
          <p:spPr>
            <a:xfrm>
              <a:off x="202725" y="2525612"/>
              <a:ext cx="1483699" cy="1091949"/>
            </a:xfrm>
            <a:prstGeom prst="rect">
              <a:avLst/>
            </a:prstGeom>
            <a:noFill/>
            <a:ln>
              <a:noFill/>
            </a:ln>
          </p:spPr>
        </p:pic>
        <p:sp>
          <p:nvSpPr>
            <p:cNvPr id="283" name="Google Shape;283;p45"/>
            <p:cNvSpPr/>
            <p:nvPr/>
          </p:nvSpPr>
          <p:spPr>
            <a:xfrm>
              <a:off x="8868924" y="1067649"/>
              <a:ext cx="227965" cy="199390"/>
            </a:xfrm>
            <a:custGeom>
              <a:avLst/>
              <a:gdLst/>
              <a:ahLst/>
              <a:cxnLst/>
              <a:rect l="l" t="t" r="r" b="b"/>
              <a:pathLst>
                <a:path w="227965" h="199390" extrusionOk="0">
                  <a:moveTo>
                    <a:pt x="227399" y="199199"/>
                  </a:moveTo>
                  <a:lnTo>
                    <a:pt x="0" y="199199"/>
                  </a:lnTo>
                  <a:lnTo>
                    <a:pt x="0" y="0"/>
                  </a:lnTo>
                  <a:lnTo>
                    <a:pt x="227399" y="0"/>
                  </a:lnTo>
                  <a:lnTo>
                    <a:pt x="227399" y="199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4" name="Google Shape;284;p45"/>
            <p:cNvSpPr/>
            <p:nvPr/>
          </p:nvSpPr>
          <p:spPr>
            <a:xfrm>
              <a:off x="8868924" y="1067649"/>
              <a:ext cx="227965" cy="199390"/>
            </a:xfrm>
            <a:custGeom>
              <a:avLst/>
              <a:gdLst/>
              <a:ahLst/>
              <a:cxnLst/>
              <a:rect l="l" t="t" r="r" b="b"/>
              <a:pathLst>
                <a:path w="227965" h="199390" extrusionOk="0">
                  <a:moveTo>
                    <a:pt x="0" y="0"/>
                  </a:moveTo>
                  <a:lnTo>
                    <a:pt x="227399" y="0"/>
                  </a:lnTo>
                  <a:lnTo>
                    <a:pt x="227399" y="199199"/>
                  </a:lnTo>
                  <a:lnTo>
                    <a:pt x="0" y="199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5" name="Google Shape;285;p45"/>
            <p:cNvSpPr/>
            <p:nvPr/>
          </p:nvSpPr>
          <p:spPr>
            <a:xfrm>
              <a:off x="3609324" y="2438137"/>
              <a:ext cx="1734185" cy="1267460"/>
            </a:xfrm>
            <a:custGeom>
              <a:avLst/>
              <a:gdLst/>
              <a:ahLst/>
              <a:cxnLst/>
              <a:rect l="l" t="t" r="r" b="b"/>
              <a:pathLst>
                <a:path w="1734185" h="1267460" extrusionOk="0">
                  <a:moveTo>
                    <a:pt x="1522545" y="1266899"/>
                  </a:moveTo>
                  <a:lnTo>
                    <a:pt x="211154" y="1266899"/>
                  </a:lnTo>
                  <a:lnTo>
                    <a:pt x="162738" y="1261323"/>
                  </a:lnTo>
                  <a:lnTo>
                    <a:pt x="118293" y="1245438"/>
                  </a:lnTo>
                  <a:lnTo>
                    <a:pt x="79088" y="1220511"/>
                  </a:lnTo>
                  <a:lnTo>
                    <a:pt x="46388" y="1187811"/>
                  </a:lnTo>
                  <a:lnTo>
                    <a:pt x="21461" y="1148606"/>
                  </a:lnTo>
                  <a:lnTo>
                    <a:pt x="5576" y="1104161"/>
                  </a:lnTo>
                  <a:lnTo>
                    <a:pt x="0" y="1055745"/>
                  </a:lnTo>
                  <a:lnTo>
                    <a:pt x="0" y="211154"/>
                  </a:lnTo>
                  <a:lnTo>
                    <a:pt x="5576" y="162738"/>
                  </a:lnTo>
                  <a:lnTo>
                    <a:pt x="21461" y="118293"/>
                  </a:lnTo>
                  <a:lnTo>
                    <a:pt x="46388" y="79088"/>
                  </a:lnTo>
                  <a:lnTo>
                    <a:pt x="79088" y="46388"/>
                  </a:lnTo>
                  <a:lnTo>
                    <a:pt x="118293" y="21461"/>
                  </a:lnTo>
                  <a:lnTo>
                    <a:pt x="162738" y="5576"/>
                  </a:lnTo>
                  <a:lnTo>
                    <a:pt x="211154" y="0"/>
                  </a:lnTo>
                  <a:lnTo>
                    <a:pt x="1522545" y="0"/>
                  </a:lnTo>
                  <a:lnTo>
                    <a:pt x="1563932" y="4094"/>
                  </a:lnTo>
                  <a:lnTo>
                    <a:pt x="1603350" y="16073"/>
                  </a:lnTo>
                  <a:lnTo>
                    <a:pt x="1639694" y="35476"/>
                  </a:lnTo>
                  <a:lnTo>
                    <a:pt x="1671854" y="61845"/>
                  </a:lnTo>
                  <a:lnTo>
                    <a:pt x="1698223" y="94005"/>
                  </a:lnTo>
                  <a:lnTo>
                    <a:pt x="1717626" y="130349"/>
                  </a:lnTo>
                  <a:lnTo>
                    <a:pt x="1729605" y="169767"/>
                  </a:lnTo>
                  <a:lnTo>
                    <a:pt x="1733699" y="211154"/>
                  </a:lnTo>
                  <a:lnTo>
                    <a:pt x="1733699" y="1055745"/>
                  </a:lnTo>
                  <a:lnTo>
                    <a:pt x="1728123" y="1104161"/>
                  </a:lnTo>
                  <a:lnTo>
                    <a:pt x="1712238" y="1148606"/>
                  </a:lnTo>
                  <a:lnTo>
                    <a:pt x="1687311" y="1187811"/>
                  </a:lnTo>
                  <a:lnTo>
                    <a:pt x="1654611" y="1220511"/>
                  </a:lnTo>
                  <a:lnTo>
                    <a:pt x="1615406" y="1245438"/>
                  </a:lnTo>
                  <a:lnTo>
                    <a:pt x="1570961" y="1261323"/>
                  </a:lnTo>
                  <a:lnTo>
                    <a:pt x="1522545" y="12668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6" name="Google Shape;286;p45"/>
            <p:cNvSpPr/>
            <p:nvPr/>
          </p:nvSpPr>
          <p:spPr>
            <a:xfrm>
              <a:off x="3609324" y="2438137"/>
              <a:ext cx="1734185" cy="1267460"/>
            </a:xfrm>
            <a:custGeom>
              <a:avLst/>
              <a:gdLst/>
              <a:ahLst/>
              <a:cxnLst/>
              <a:rect l="l" t="t" r="r" b="b"/>
              <a:pathLst>
                <a:path w="1734185" h="1267460" extrusionOk="0">
                  <a:moveTo>
                    <a:pt x="0" y="211154"/>
                  </a:moveTo>
                  <a:lnTo>
                    <a:pt x="5576" y="162738"/>
                  </a:lnTo>
                  <a:lnTo>
                    <a:pt x="21461" y="118293"/>
                  </a:lnTo>
                  <a:lnTo>
                    <a:pt x="46388" y="79088"/>
                  </a:lnTo>
                  <a:lnTo>
                    <a:pt x="79088" y="46388"/>
                  </a:lnTo>
                  <a:lnTo>
                    <a:pt x="118293" y="21461"/>
                  </a:lnTo>
                  <a:lnTo>
                    <a:pt x="162738" y="5576"/>
                  </a:lnTo>
                  <a:lnTo>
                    <a:pt x="211154" y="0"/>
                  </a:lnTo>
                  <a:lnTo>
                    <a:pt x="1522545" y="0"/>
                  </a:lnTo>
                  <a:lnTo>
                    <a:pt x="1563932" y="4094"/>
                  </a:lnTo>
                  <a:lnTo>
                    <a:pt x="1603350" y="16073"/>
                  </a:lnTo>
                  <a:lnTo>
                    <a:pt x="1639694" y="35476"/>
                  </a:lnTo>
                  <a:lnTo>
                    <a:pt x="1671854" y="61845"/>
                  </a:lnTo>
                  <a:lnTo>
                    <a:pt x="1698223" y="94005"/>
                  </a:lnTo>
                  <a:lnTo>
                    <a:pt x="1717626" y="130349"/>
                  </a:lnTo>
                  <a:lnTo>
                    <a:pt x="1729605" y="169767"/>
                  </a:lnTo>
                  <a:lnTo>
                    <a:pt x="1733699" y="211154"/>
                  </a:lnTo>
                  <a:lnTo>
                    <a:pt x="1733699" y="1055745"/>
                  </a:lnTo>
                  <a:lnTo>
                    <a:pt x="1728123" y="1104161"/>
                  </a:lnTo>
                  <a:lnTo>
                    <a:pt x="1712238" y="1148606"/>
                  </a:lnTo>
                  <a:lnTo>
                    <a:pt x="1687311" y="1187811"/>
                  </a:lnTo>
                  <a:lnTo>
                    <a:pt x="1654611" y="1220511"/>
                  </a:lnTo>
                  <a:lnTo>
                    <a:pt x="1615406" y="1245438"/>
                  </a:lnTo>
                  <a:lnTo>
                    <a:pt x="1570961" y="1261323"/>
                  </a:lnTo>
                  <a:lnTo>
                    <a:pt x="1522545" y="1266899"/>
                  </a:lnTo>
                  <a:lnTo>
                    <a:pt x="211154" y="1266899"/>
                  </a:lnTo>
                  <a:lnTo>
                    <a:pt x="162738" y="1261323"/>
                  </a:lnTo>
                  <a:lnTo>
                    <a:pt x="118293" y="1245438"/>
                  </a:lnTo>
                  <a:lnTo>
                    <a:pt x="79088" y="1220511"/>
                  </a:lnTo>
                  <a:lnTo>
                    <a:pt x="46388" y="1187811"/>
                  </a:lnTo>
                  <a:lnTo>
                    <a:pt x="21461" y="1148606"/>
                  </a:lnTo>
                  <a:lnTo>
                    <a:pt x="5576" y="1104161"/>
                  </a:lnTo>
                  <a:lnTo>
                    <a:pt x="0" y="1055745"/>
                  </a:lnTo>
                  <a:lnTo>
                    <a:pt x="0" y="211154"/>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7" name="Google Shape;287;p45"/>
            <p:cNvSpPr/>
            <p:nvPr/>
          </p:nvSpPr>
          <p:spPr>
            <a:xfrm>
              <a:off x="1443299" y="4154624"/>
              <a:ext cx="4391660" cy="603250"/>
            </a:xfrm>
            <a:custGeom>
              <a:avLst/>
              <a:gdLst/>
              <a:ahLst/>
              <a:cxnLst/>
              <a:rect l="l" t="t" r="r" b="b"/>
              <a:pathLst>
                <a:path w="4391660" h="603250" extrusionOk="0">
                  <a:moveTo>
                    <a:pt x="0" y="0"/>
                  </a:moveTo>
                  <a:lnTo>
                    <a:pt x="4391399" y="0"/>
                  </a:lnTo>
                  <a:lnTo>
                    <a:pt x="4391399" y="602999"/>
                  </a:lnTo>
                  <a:lnTo>
                    <a:pt x="0" y="6029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8" name="Google Shape;288;p45"/>
            <p:cNvSpPr/>
            <p:nvPr/>
          </p:nvSpPr>
          <p:spPr>
            <a:xfrm>
              <a:off x="6026550" y="3948099"/>
              <a:ext cx="1540509" cy="815339"/>
            </a:xfrm>
            <a:custGeom>
              <a:avLst/>
              <a:gdLst/>
              <a:ahLst/>
              <a:cxnLst/>
              <a:rect l="l" t="t" r="r" b="b"/>
              <a:pathLst>
                <a:path w="1540509" h="815339" extrusionOk="0">
                  <a:moveTo>
                    <a:pt x="1404397" y="814799"/>
                  </a:moveTo>
                  <a:lnTo>
                    <a:pt x="135802" y="814799"/>
                  </a:lnTo>
                  <a:lnTo>
                    <a:pt x="92878" y="807876"/>
                  </a:lnTo>
                  <a:lnTo>
                    <a:pt x="55599" y="788598"/>
                  </a:lnTo>
                  <a:lnTo>
                    <a:pt x="26201" y="759200"/>
                  </a:lnTo>
                  <a:lnTo>
                    <a:pt x="6923" y="721921"/>
                  </a:lnTo>
                  <a:lnTo>
                    <a:pt x="0" y="678997"/>
                  </a:lnTo>
                  <a:lnTo>
                    <a:pt x="0" y="135802"/>
                  </a:lnTo>
                  <a:lnTo>
                    <a:pt x="6923" y="92878"/>
                  </a:lnTo>
                  <a:lnTo>
                    <a:pt x="26201" y="55599"/>
                  </a:lnTo>
                  <a:lnTo>
                    <a:pt x="55599" y="26201"/>
                  </a:lnTo>
                  <a:lnTo>
                    <a:pt x="92878" y="6923"/>
                  </a:lnTo>
                  <a:lnTo>
                    <a:pt x="135802" y="0"/>
                  </a:lnTo>
                  <a:lnTo>
                    <a:pt x="1404397" y="0"/>
                  </a:lnTo>
                  <a:lnTo>
                    <a:pt x="1456366" y="10337"/>
                  </a:lnTo>
                  <a:lnTo>
                    <a:pt x="1500424" y="39775"/>
                  </a:lnTo>
                  <a:lnTo>
                    <a:pt x="1529862" y="83833"/>
                  </a:lnTo>
                  <a:lnTo>
                    <a:pt x="1540199" y="135802"/>
                  </a:lnTo>
                  <a:lnTo>
                    <a:pt x="1540199" y="678997"/>
                  </a:lnTo>
                  <a:lnTo>
                    <a:pt x="1533276" y="721921"/>
                  </a:lnTo>
                  <a:lnTo>
                    <a:pt x="1513998" y="759200"/>
                  </a:lnTo>
                  <a:lnTo>
                    <a:pt x="1484600" y="788598"/>
                  </a:lnTo>
                  <a:lnTo>
                    <a:pt x="1447321" y="807876"/>
                  </a:lnTo>
                  <a:lnTo>
                    <a:pt x="1404397" y="8147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9" name="Google Shape;289;p45"/>
            <p:cNvSpPr/>
            <p:nvPr/>
          </p:nvSpPr>
          <p:spPr>
            <a:xfrm>
              <a:off x="6026550" y="3948099"/>
              <a:ext cx="1540509" cy="815339"/>
            </a:xfrm>
            <a:custGeom>
              <a:avLst/>
              <a:gdLst/>
              <a:ahLst/>
              <a:cxnLst/>
              <a:rect l="l" t="t" r="r" b="b"/>
              <a:pathLst>
                <a:path w="1540509" h="815339" extrusionOk="0">
                  <a:moveTo>
                    <a:pt x="0" y="135802"/>
                  </a:moveTo>
                  <a:lnTo>
                    <a:pt x="6923" y="92878"/>
                  </a:lnTo>
                  <a:lnTo>
                    <a:pt x="26201" y="55599"/>
                  </a:lnTo>
                  <a:lnTo>
                    <a:pt x="55599" y="26201"/>
                  </a:lnTo>
                  <a:lnTo>
                    <a:pt x="92878" y="6923"/>
                  </a:lnTo>
                  <a:lnTo>
                    <a:pt x="135802" y="0"/>
                  </a:lnTo>
                  <a:lnTo>
                    <a:pt x="1404397" y="0"/>
                  </a:lnTo>
                  <a:lnTo>
                    <a:pt x="1456366" y="10337"/>
                  </a:lnTo>
                  <a:lnTo>
                    <a:pt x="1500424" y="39775"/>
                  </a:lnTo>
                  <a:lnTo>
                    <a:pt x="1529862" y="83833"/>
                  </a:lnTo>
                  <a:lnTo>
                    <a:pt x="1540199" y="135802"/>
                  </a:lnTo>
                  <a:lnTo>
                    <a:pt x="1540199" y="678997"/>
                  </a:lnTo>
                  <a:lnTo>
                    <a:pt x="1533276" y="721921"/>
                  </a:lnTo>
                  <a:lnTo>
                    <a:pt x="1513998" y="759200"/>
                  </a:lnTo>
                  <a:lnTo>
                    <a:pt x="1484600" y="788598"/>
                  </a:lnTo>
                  <a:lnTo>
                    <a:pt x="1447321" y="807876"/>
                  </a:lnTo>
                  <a:lnTo>
                    <a:pt x="1404397" y="814799"/>
                  </a:lnTo>
                  <a:lnTo>
                    <a:pt x="135802" y="814799"/>
                  </a:lnTo>
                  <a:lnTo>
                    <a:pt x="92878" y="807876"/>
                  </a:lnTo>
                  <a:lnTo>
                    <a:pt x="55599" y="788598"/>
                  </a:lnTo>
                  <a:lnTo>
                    <a:pt x="26201" y="759200"/>
                  </a:lnTo>
                  <a:lnTo>
                    <a:pt x="6923" y="721921"/>
                  </a:lnTo>
                  <a:lnTo>
                    <a:pt x="0" y="678997"/>
                  </a:lnTo>
                  <a:lnTo>
                    <a:pt x="0" y="13580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90" name="Google Shape;290;p45"/>
            <p:cNvSpPr/>
            <p:nvPr/>
          </p:nvSpPr>
          <p:spPr>
            <a:xfrm>
              <a:off x="1803649" y="1120274"/>
              <a:ext cx="458469" cy="3637279"/>
            </a:xfrm>
            <a:custGeom>
              <a:avLst/>
              <a:gdLst/>
              <a:ahLst/>
              <a:cxnLst/>
              <a:rect l="l" t="t" r="r" b="b"/>
              <a:pathLst>
                <a:path w="458469" h="3637279" extrusionOk="0">
                  <a:moveTo>
                    <a:pt x="458399" y="3637199"/>
                  </a:moveTo>
                  <a:lnTo>
                    <a:pt x="412208" y="3632543"/>
                  </a:lnTo>
                  <a:lnTo>
                    <a:pt x="369185" y="3619188"/>
                  </a:lnTo>
                  <a:lnTo>
                    <a:pt x="330252" y="3598056"/>
                  </a:lnTo>
                  <a:lnTo>
                    <a:pt x="296331" y="3570068"/>
                  </a:lnTo>
                  <a:lnTo>
                    <a:pt x="268343" y="3536147"/>
                  </a:lnTo>
                  <a:lnTo>
                    <a:pt x="247211" y="3497214"/>
                  </a:lnTo>
                  <a:lnTo>
                    <a:pt x="233856" y="3454191"/>
                  </a:lnTo>
                  <a:lnTo>
                    <a:pt x="229199" y="3407999"/>
                  </a:lnTo>
                  <a:lnTo>
                    <a:pt x="229199" y="2047799"/>
                  </a:lnTo>
                  <a:lnTo>
                    <a:pt x="224543" y="2001608"/>
                  </a:lnTo>
                  <a:lnTo>
                    <a:pt x="211188" y="1958585"/>
                  </a:lnTo>
                  <a:lnTo>
                    <a:pt x="190056" y="1919652"/>
                  </a:lnTo>
                  <a:lnTo>
                    <a:pt x="162068" y="1885731"/>
                  </a:lnTo>
                  <a:lnTo>
                    <a:pt x="128147" y="1857743"/>
                  </a:lnTo>
                  <a:lnTo>
                    <a:pt x="89214" y="1836611"/>
                  </a:lnTo>
                  <a:lnTo>
                    <a:pt x="46191" y="1823256"/>
                  </a:lnTo>
                  <a:lnTo>
                    <a:pt x="0" y="1818599"/>
                  </a:lnTo>
                  <a:lnTo>
                    <a:pt x="46191" y="1813943"/>
                  </a:lnTo>
                  <a:lnTo>
                    <a:pt x="89214" y="1800588"/>
                  </a:lnTo>
                  <a:lnTo>
                    <a:pt x="128147" y="1779456"/>
                  </a:lnTo>
                  <a:lnTo>
                    <a:pt x="162068" y="1751468"/>
                  </a:lnTo>
                  <a:lnTo>
                    <a:pt x="190056" y="1717547"/>
                  </a:lnTo>
                  <a:lnTo>
                    <a:pt x="211188" y="1678614"/>
                  </a:lnTo>
                  <a:lnTo>
                    <a:pt x="224543" y="1635591"/>
                  </a:lnTo>
                  <a:lnTo>
                    <a:pt x="229199" y="1589399"/>
                  </a:lnTo>
                  <a:lnTo>
                    <a:pt x="229199" y="229199"/>
                  </a:lnTo>
                  <a:lnTo>
                    <a:pt x="233856" y="183008"/>
                  </a:lnTo>
                  <a:lnTo>
                    <a:pt x="247211" y="139985"/>
                  </a:lnTo>
                  <a:lnTo>
                    <a:pt x="268343" y="101052"/>
                  </a:lnTo>
                  <a:lnTo>
                    <a:pt x="296331" y="67131"/>
                  </a:lnTo>
                  <a:lnTo>
                    <a:pt x="330252" y="39143"/>
                  </a:lnTo>
                  <a:lnTo>
                    <a:pt x="369185" y="18011"/>
                  </a:lnTo>
                  <a:lnTo>
                    <a:pt x="412208" y="4656"/>
                  </a:lnTo>
                  <a:lnTo>
                    <a:pt x="458399" y="0"/>
                  </a:lnTo>
                </a:path>
              </a:pathLst>
            </a:custGeom>
            <a:noFill/>
            <a:ln w="28550"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91" name="Google Shape;291;p45"/>
          <p:cNvSpPr txBox="1"/>
          <p:nvPr/>
        </p:nvSpPr>
        <p:spPr>
          <a:xfrm>
            <a:off x="1386049" y="4116075"/>
            <a:ext cx="4448700" cy="648600"/>
          </a:xfrm>
          <a:prstGeom prst="rect">
            <a:avLst/>
          </a:prstGeom>
          <a:noFill/>
          <a:ln>
            <a:noFill/>
          </a:ln>
        </p:spPr>
        <p:txBody>
          <a:bodyPr spcFirstLastPara="1" wrap="square" lIns="0" tIns="0" rIns="0" bIns="0" anchor="t" anchorCtr="0">
            <a:spAutoFit/>
          </a:bodyPr>
          <a:lstStyle/>
          <a:p>
            <a:pPr marL="1839595" marR="0" lvl="0" indent="0" algn="ctr" defTabSz="914400" rtl="0" eaLnBrk="1" fontAlgn="auto" latinLnBrk="0" hangingPunct="1">
              <a:lnSpc>
                <a:spcPct val="80294"/>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nodes</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a:p>
            <a:pPr marL="2513330" marR="664845" lvl="0" indent="-633" algn="ctr" defTabSz="914400" rtl="0" eaLnBrk="1" fontAlgn="auto" latinLnBrk="0" hangingPunct="1">
              <a:lnSpc>
                <a:spcPct val="102899"/>
              </a:lnSpc>
              <a:spcBef>
                <a:spcPts val="1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entities or  abstract classes</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292" name="Google Shape;292;p45"/>
          <p:cNvGrpSpPr/>
          <p:nvPr/>
        </p:nvGrpSpPr>
        <p:grpSpPr>
          <a:xfrm>
            <a:off x="4434475" y="3734199"/>
            <a:ext cx="1572414" cy="798495"/>
            <a:chOff x="4434475" y="3734199"/>
            <a:chExt cx="1572414" cy="798495"/>
          </a:xfrm>
        </p:grpSpPr>
        <p:sp>
          <p:nvSpPr>
            <p:cNvPr id="293" name="Google Shape;293;p45"/>
            <p:cNvSpPr/>
            <p:nvPr/>
          </p:nvSpPr>
          <p:spPr>
            <a:xfrm>
              <a:off x="4434475" y="3734199"/>
              <a:ext cx="191770" cy="256539"/>
            </a:xfrm>
            <a:custGeom>
              <a:avLst/>
              <a:gdLst/>
              <a:ahLst/>
              <a:cxnLst/>
              <a:rect l="l" t="t" r="r" b="b"/>
              <a:pathLst>
                <a:path w="191770" h="256539" extrusionOk="0">
                  <a:moveTo>
                    <a:pt x="143774" y="256199"/>
                  </a:moveTo>
                  <a:lnTo>
                    <a:pt x="47924" y="256199"/>
                  </a:lnTo>
                  <a:lnTo>
                    <a:pt x="47924" y="95849"/>
                  </a:lnTo>
                  <a:lnTo>
                    <a:pt x="0" y="95849"/>
                  </a:lnTo>
                  <a:lnTo>
                    <a:pt x="95849" y="0"/>
                  </a:lnTo>
                  <a:lnTo>
                    <a:pt x="191699" y="95849"/>
                  </a:lnTo>
                  <a:lnTo>
                    <a:pt x="143774" y="95849"/>
                  </a:lnTo>
                  <a:lnTo>
                    <a:pt x="143774" y="2561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94" name="Google Shape;294;p45"/>
            <p:cNvSpPr/>
            <p:nvPr/>
          </p:nvSpPr>
          <p:spPr>
            <a:xfrm>
              <a:off x="4434475" y="3734199"/>
              <a:ext cx="191770" cy="256539"/>
            </a:xfrm>
            <a:custGeom>
              <a:avLst/>
              <a:gdLst/>
              <a:ahLst/>
              <a:cxnLst/>
              <a:rect l="l" t="t" r="r" b="b"/>
              <a:pathLst>
                <a:path w="191770" h="256539" extrusionOk="0">
                  <a:moveTo>
                    <a:pt x="0" y="95849"/>
                  </a:moveTo>
                  <a:lnTo>
                    <a:pt x="95849" y="0"/>
                  </a:lnTo>
                  <a:lnTo>
                    <a:pt x="191699" y="95849"/>
                  </a:lnTo>
                  <a:lnTo>
                    <a:pt x="143774" y="95849"/>
                  </a:lnTo>
                  <a:lnTo>
                    <a:pt x="143774" y="256199"/>
                  </a:lnTo>
                  <a:lnTo>
                    <a:pt x="47924" y="256199"/>
                  </a:lnTo>
                  <a:lnTo>
                    <a:pt x="47924" y="95849"/>
                  </a:lnTo>
                  <a:lnTo>
                    <a:pt x="0" y="9584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95" name="Google Shape;295;p45"/>
            <p:cNvSpPr/>
            <p:nvPr/>
          </p:nvSpPr>
          <p:spPr>
            <a:xfrm>
              <a:off x="5086775" y="4340924"/>
              <a:ext cx="920114" cy="191770"/>
            </a:xfrm>
            <a:custGeom>
              <a:avLst/>
              <a:gdLst/>
              <a:ahLst/>
              <a:cxnLst/>
              <a:rect l="l" t="t" r="r" b="b"/>
              <a:pathLst>
                <a:path w="920114" h="191770" extrusionOk="0">
                  <a:moveTo>
                    <a:pt x="823649" y="191699"/>
                  </a:moveTo>
                  <a:lnTo>
                    <a:pt x="823649" y="143774"/>
                  </a:lnTo>
                  <a:lnTo>
                    <a:pt x="0" y="143774"/>
                  </a:lnTo>
                  <a:lnTo>
                    <a:pt x="0" y="47924"/>
                  </a:lnTo>
                  <a:lnTo>
                    <a:pt x="823649" y="47924"/>
                  </a:lnTo>
                  <a:lnTo>
                    <a:pt x="823649" y="0"/>
                  </a:lnTo>
                  <a:lnTo>
                    <a:pt x="919499" y="95849"/>
                  </a:lnTo>
                  <a:lnTo>
                    <a:pt x="8236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96" name="Google Shape;296;p45"/>
            <p:cNvSpPr/>
            <p:nvPr/>
          </p:nvSpPr>
          <p:spPr>
            <a:xfrm>
              <a:off x="5086775" y="4340924"/>
              <a:ext cx="920114" cy="191770"/>
            </a:xfrm>
            <a:custGeom>
              <a:avLst/>
              <a:gdLst/>
              <a:ahLst/>
              <a:cxnLst/>
              <a:rect l="l" t="t" r="r" b="b"/>
              <a:pathLst>
                <a:path w="920114" h="191770" extrusionOk="0">
                  <a:moveTo>
                    <a:pt x="823649" y="0"/>
                  </a:moveTo>
                  <a:lnTo>
                    <a:pt x="919499" y="95849"/>
                  </a:lnTo>
                  <a:lnTo>
                    <a:pt x="823649" y="191699"/>
                  </a:lnTo>
                  <a:lnTo>
                    <a:pt x="823649" y="143774"/>
                  </a:lnTo>
                  <a:lnTo>
                    <a:pt x="0" y="143774"/>
                  </a:lnTo>
                  <a:lnTo>
                    <a:pt x="0" y="47924"/>
                  </a:lnTo>
                  <a:lnTo>
                    <a:pt x="823649" y="47924"/>
                  </a:lnTo>
                  <a:lnTo>
                    <a:pt x="8236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97" name="Google Shape;297;p45"/>
          <p:cNvSpPr txBox="1"/>
          <p:nvPr/>
        </p:nvSpPr>
        <p:spPr>
          <a:xfrm>
            <a:off x="377787" y="2300867"/>
            <a:ext cx="1134600" cy="372000"/>
          </a:xfrm>
          <a:prstGeom prst="rect">
            <a:avLst/>
          </a:prstGeom>
          <a:noFill/>
          <a:ln>
            <a:noFill/>
          </a:ln>
        </p:spPr>
        <p:txBody>
          <a:bodyPr spcFirstLastPara="1" wrap="square" lIns="0" tIns="1777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50"/>
              <a:buFont typeface="Arial"/>
              <a:buNone/>
              <a:tabLst/>
              <a:defRPr/>
            </a:pPr>
            <a:r>
              <a:rPr kumimoji="0" lang="en-US" altLang="zh-CN" sz="1150" b="1" i="0" u="none" strike="noStrike" kern="0" cap="none" spc="0" normalizeH="0" baseline="0" noProof="0">
                <a:ln>
                  <a:noFill/>
                </a:ln>
                <a:solidFill>
                  <a:srgbClr val="E69137"/>
                </a:solidFill>
                <a:effectLst/>
                <a:uLnTx/>
                <a:uFillTx/>
                <a:latin typeface="Cambria"/>
                <a:ea typeface="Cambria"/>
                <a:cs typeface="Cambria"/>
                <a:sym typeface="Cambria"/>
              </a:rPr>
              <a:t>knowledge base</a:t>
            </a:r>
            <a:endParaRPr kumimoji="0" sz="11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298" name="Google Shape;298;p45"/>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10</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299" name="Google Shape;299;p45"/>
          <p:cNvSpPr txBox="1"/>
          <p:nvPr/>
        </p:nvSpPr>
        <p:spPr>
          <a:xfrm>
            <a:off x="7006364" y="68529"/>
            <a:ext cx="2066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Graphic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5"/>
              </a:rPr>
              <a:t>Megan Leszczynski (Stanford)</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00" name="Google Shape;300;p45"/>
          <p:cNvSpPr txBox="1"/>
          <p:nvPr/>
        </p:nvSpPr>
        <p:spPr>
          <a:xfrm>
            <a:off x="371255" y="3763500"/>
            <a:ext cx="13716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sng" strike="noStrike" kern="0" cap="none" spc="0" normalizeH="0" baseline="0" noProof="0">
                <a:ln>
                  <a:noFill/>
                </a:ln>
                <a:solidFill>
                  <a:srgbClr val="0097A7"/>
                </a:solidFill>
                <a:effectLst/>
                <a:uLnTx/>
                <a:uFillTx/>
                <a:latin typeface="Calibri"/>
                <a:ea typeface="Calibri"/>
                <a:cs typeface="Calibri"/>
                <a:sym typeface="Calibri"/>
                <a:hlinkClick r:id="rId6"/>
              </a:rPr>
              <a:t>Example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304"/>
        <p:cNvGrpSpPr/>
        <p:nvPr/>
      </p:nvGrpSpPr>
      <p:grpSpPr>
        <a:xfrm>
          <a:off x="0" y="0"/>
          <a:ext cx="0" cy="0"/>
          <a:chOff x="0" y="0"/>
          <a:chExt cx="0" cy="0"/>
        </a:xfrm>
      </p:grpSpPr>
      <p:sp>
        <p:nvSpPr>
          <p:cNvPr id="305" name="Google Shape;305;p46"/>
          <p:cNvSpPr txBox="1">
            <a:spLocks noGrp="1"/>
          </p:cNvSpPr>
          <p:nvPr>
            <p:ph type="title"/>
          </p:nvPr>
        </p:nvSpPr>
        <p:spPr>
          <a:xfrm>
            <a:off x="2679205" y="505350"/>
            <a:ext cx="37866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What is a knowledge base?</a:t>
            </a:r>
            <a:endParaRPr/>
          </a:p>
        </p:txBody>
      </p:sp>
      <p:grpSp>
        <p:nvGrpSpPr>
          <p:cNvPr id="306" name="Google Shape;306;p46"/>
          <p:cNvGrpSpPr/>
          <p:nvPr/>
        </p:nvGrpSpPr>
        <p:grpSpPr>
          <a:xfrm>
            <a:off x="202725" y="1161937"/>
            <a:ext cx="8763501" cy="3706107"/>
            <a:chOff x="202725" y="1161937"/>
            <a:chExt cx="8763501" cy="3706107"/>
          </a:xfrm>
        </p:grpSpPr>
        <p:pic>
          <p:nvPicPr>
            <p:cNvPr id="307" name="Google Shape;307;p46"/>
            <p:cNvPicPr preferRelativeResize="0"/>
            <p:nvPr/>
          </p:nvPicPr>
          <p:blipFill rotWithShape="1">
            <a:blip r:embed="rId3">
              <a:alphaModFix/>
            </a:blip>
            <a:srcRect/>
            <a:stretch/>
          </p:blipFill>
          <p:spPr>
            <a:xfrm>
              <a:off x="833025" y="1161937"/>
              <a:ext cx="8133201" cy="3637226"/>
            </a:xfrm>
            <a:prstGeom prst="rect">
              <a:avLst/>
            </a:prstGeom>
            <a:noFill/>
            <a:ln>
              <a:noFill/>
            </a:ln>
          </p:spPr>
        </p:pic>
        <p:sp>
          <p:nvSpPr>
            <p:cNvPr id="308" name="Google Shape;308;p46"/>
            <p:cNvSpPr/>
            <p:nvPr/>
          </p:nvSpPr>
          <p:spPr>
            <a:xfrm>
              <a:off x="833025" y="2183899"/>
              <a:ext cx="1950720" cy="2684145"/>
            </a:xfrm>
            <a:custGeom>
              <a:avLst/>
              <a:gdLst/>
              <a:ahLst/>
              <a:cxnLst/>
              <a:rect l="l" t="t" r="r" b="b"/>
              <a:pathLst>
                <a:path w="1950720" h="2684145" extrusionOk="0">
                  <a:moveTo>
                    <a:pt x="1950599" y="2684099"/>
                  </a:moveTo>
                  <a:lnTo>
                    <a:pt x="0" y="2684099"/>
                  </a:lnTo>
                  <a:lnTo>
                    <a:pt x="0" y="0"/>
                  </a:lnTo>
                  <a:lnTo>
                    <a:pt x="1950599" y="0"/>
                  </a:lnTo>
                  <a:lnTo>
                    <a:pt x="1950599" y="26840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09" name="Google Shape;309;p46"/>
            <p:cNvSpPr/>
            <p:nvPr/>
          </p:nvSpPr>
          <p:spPr>
            <a:xfrm>
              <a:off x="833025" y="2183899"/>
              <a:ext cx="1950720" cy="2684145"/>
            </a:xfrm>
            <a:custGeom>
              <a:avLst/>
              <a:gdLst/>
              <a:ahLst/>
              <a:cxnLst/>
              <a:rect l="l" t="t" r="r" b="b"/>
              <a:pathLst>
                <a:path w="1950720" h="2684145" extrusionOk="0">
                  <a:moveTo>
                    <a:pt x="0" y="0"/>
                  </a:moveTo>
                  <a:lnTo>
                    <a:pt x="1950599" y="0"/>
                  </a:lnTo>
                  <a:lnTo>
                    <a:pt x="1950599" y="2684099"/>
                  </a:lnTo>
                  <a:lnTo>
                    <a:pt x="0" y="26840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0" name="Google Shape;310;p46"/>
            <p:cNvSpPr/>
            <p:nvPr/>
          </p:nvSpPr>
          <p:spPr>
            <a:xfrm>
              <a:off x="2817374" y="3859874"/>
              <a:ext cx="2467610" cy="256539"/>
            </a:xfrm>
            <a:custGeom>
              <a:avLst/>
              <a:gdLst/>
              <a:ahLst/>
              <a:cxnLst/>
              <a:rect l="l" t="t" r="r" b="b"/>
              <a:pathLst>
                <a:path w="2467610" h="256539" extrusionOk="0">
                  <a:moveTo>
                    <a:pt x="2467499" y="256199"/>
                  </a:moveTo>
                  <a:lnTo>
                    <a:pt x="0" y="256199"/>
                  </a:lnTo>
                  <a:lnTo>
                    <a:pt x="0" y="0"/>
                  </a:lnTo>
                  <a:lnTo>
                    <a:pt x="2467499" y="0"/>
                  </a:lnTo>
                  <a:lnTo>
                    <a:pt x="2467499" y="256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1" name="Google Shape;311;p46"/>
            <p:cNvSpPr/>
            <p:nvPr/>
          </p:nvSpPr>
          <p:spPr>
            <a:xfrm>
              <a:off x="2817374" y="3859874"/>
              <a:ext cx="2467610" cy="256539"/>
            </a:xfrm>
            <a:custGeom>
              <a:avLst/>
              <a:gdLst/>
              <a:ahLst/>
              <a:cxnLst/>
              <a:rect l="l" t="t" r="r" b="b"/>
              <a:pathLst>
                <a:path w="2467610" h="256539" extrusionOk="0">
                  <a:moveTo>
                    <a:pt x="0" y="0"/>
                  </a:moveTo>
                  <a:lnTo>
                    <a:pt x="2467499" y="0"/>
                  </a:lnTo>
                  <a:lnTo>
                    <a:pt x="2467499" y="256199"/>
                  </a:lnTo>
                  <a:lnTo>
                    <a:pt x="0" y="256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12" name="Google Shape;312;p46"/>
            <p:cNvPicPr preferRelativeResize="0"/>
            <p:nvPr/>
          </p:nvPicPr>
          <p:blipFill rotWithShape="1">
            <a:blip r:embed="rId4">
              <a:alphaModFix/>
            </a:blip>
            <a:srcRect/>
            <a:stretch/>
          </p:blipFill>
          <p:spPr>
            <a:xfrm>
              <a:off x="202725" y="2525612"/>
              <a:ext cx="1483699" cy="1091949"/>
            </a:xfrm>
            <a:prstGeom prst="rect">
              <a:avLst/>
            </a:prstGeom>
            <a:noFill/>
            <a:ln>
              <a:noFill/>
            </a:ln>
          </p:spPr>
        </p:pic>
      </p:grpSp>
      <p:sp>
        <p:nvSpPr>
          <p:cNvPr id="313" name="Google Shape;313;p46"/>
          <p:cNvSpPr txBox="1"/>
          <p:nvPr/>
        </p:nvSpPr>
        <p:spPr>
          <a:xfrm>
            <a:off x="377787" y="2300867"/>
            <a:ext cx="1134600" cy="372000"/>
          </a:xfrm>
          <a:prstGeom prst="rect">
            <a:avLst/>
          </a:prstGeom>
          <a:noFill/>
          <a:ln>
            <a:noFill/>
          </a:ln>
        </p:spPr>
        <p:txBody>
          <a:bodyPr spcFirstLastPara="1" wrap="square" lIns="0" tIns="1777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50"/>
              <a:buFont typeface="Arial"/>
              <a:buNone/>
              <a:tabLst/>
              <a:defRPr/>
            </a:pPr>
            <a:r>
              <a:rPr kumimoji="0" lang="en-US" altLang="zh-CN" sz="1150" b="1" i="0" u="none" strike="noStrike" kern="0" cap="none" spc="0" normalizeH="0" baseline="0" noProof="0">
                <a:ln>
                  <a:noFill/>
                </a:ln>
                <a:solidFill>
                  <a:srgbClr val="E69137"/>
                </a:solidFill>
                <a:effectLst/>
                <a:uLnTx/>
                <a:uFillTx/>
                <a:latin typeface="Cambria"/>
                <a:ea typeface="Cambria"/>
                <a:cs typeface="Cambria"/>
                <a:sym typeface="Cambria"/>
              </a:rPr>
              <a:t>knowledge base</a:t>
            </a:r>
            <a:endParaRPr kumimoji="0" sz="11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314" name="Google Shape;314;p46"/>
          <p:cNvGrpSpPr/>
          <p:nvPr/>
        </p:nvGrpSpPr>
        <p:grpSpPr>
          <a:xfrm>
            <a:off x="1386049" y="1067649"/>
            <a:ext cx="7710841" cy="3690310"/>
            <a:chOff x="1386049" y="1067649"/>
            <a:chExt cx="7710841" cy="3690310"/>
          </a:xfrm>
        </p:grpSpPr>
        <p:sp>
          <p:nvSpPr>
            <p:cNvPr id="315" name="Google Shape;315;p46"/>
            <p:cNvSpPr/>
            <p:nvPr/>
          </p:nvSpPr>
          <p:spPr>
            <a:xfrm>
              <a:off x="8868925" y="1067649"/>
              <a:ext cx="227965" cy="199390"/>
            </a:xfrm>
            <a:custGeom>
              <a:avLst/>
              <a:gdLst/>
              <a:ahLst/>
              <a:cxnLst/>
              <a:rect l="l" t="t" r="r" b="b"/>
              <a:pathLst>
                <a:path w="227965" h="199390" extrusionOk="0">
                  <a:moveTo>
                    <a:pt x="227399" y="199199"/>
                  </a:moveTo>
                  <a:lnTo>
                    <a:pt x="0" y="199199"/>
                  </a:lnTo>
                  <a:lnTo>
                    <a:pt x="0" y="0"/>
                  </a:lnTo>
                  <a:lnTo>
                    <a:pt x="227399" y="0"/>
                  </a:lnTo>
                  <a:lnTo>
                    <a:pt x="227399" y="199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6" name="Google Shape;316;p46"/>
            <p:cNvSpPr/>
            <p:nvPr/>
          </p:nvSpPr>
          <p:spPr>
            <a:xfrm>
              <a:off x="8868925" y="1067649"/>
              <a:ext cx="227965" cy="199390"/>
            </a:xfrm>
            <a:custGeom>
              <a:avLst/>
              <a:gdLst/>
              <a:ahLst/>
              <a:cxnLst/>
              <a:rect l="l" t="t" r="r" b="b"/>
              <a:pathLst>
                <a:path w="227965" h="199390" extrusionOk="0">
                  <a:moveTo>
                    <a:pt x="0" y="0"/>
                  </a:moveTo>
                  <a:lnTo>
                    <a:pt x="227399" y="0"/>
                  </a:lnTo>
                  <a:lnTo>
                    <a:pt x="227399" y="199199"/>
                  </a:lnTo>
                  <a:lnTo>
                    <a:pt x="0" y="199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7" name="Google Shape;317;p46"/>
            <p:cNvSpPr/>
            <p:nvPr/>
          </p:nvSpPr>
          <p:spPr>
            <a:xfrm>
              <a:off x="1386049" y="4115974"/>
              <a:ext cx="4448810" cy="641985"/>
            </a:xfrm>
            <a:custGeom>
              <a:avLst/>
              <a:gdLst/>
              <a:ahLst/>
              <a:cxnLst/>
              <a:rect l="l" t="t" r="r" b="b"/>
              <a:pathLst>
                <a:path w="4448810" h="641985" extrusionOk="0">
                  <a:moveTo>
                    <a:pt x="4448699" y="641399"/>
                  </a:moveTo>
                  <a:lnTo>
                    <a:pt x="0" y="641399"/>
                  </a:lnTo>
                  <a:lnTo>
                    <a:pt x="0" y="0"/>
                  </a:lnTo>
                  <a:lnTo>
                    <a:pt x="4448699" y="0"/>
                  </a:lnTo>
                  <a:lnTo>
                    <a:pt x="4448699" y="641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8" name="Google Shape;318;p46"/>
            <p:cNvSpPr/>
            <p:nvPr/>
          </p:nvSpPr>
          <p:spPr>
            <a:xfrm>
              <a:off x="1386049" y="4115974"/>
              <a:ext cx="4448810" cy="641985"/>
            </a:xfrm>
            <a:custGeom>
              <a:avLst/>
              <a:gdLst/>
              <a:ahLst/>
              <a:cxnLst/>
              <a:rect l="l" t="t" r="r" b="b"/>
              <a:pathLst>
                <a:path w="4448810" h="641985" extrusionOk="0">
                  <a:moveTo>
                    <a:pt x="0" y="0"/>
                  </a:moveTo>
                  <a:lnTo>
                    <a:pt x="4448699" y="0"/>
                  </a:lnTo>
                  <a:lnTo>
                    <a:pt x="4448699" y="641399"/>
                  </a:lnTo>
                  <a:lnTo>
                    <a:pt x="0" y="641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9" name="Google Shape;319;p46"/>
            <p:cNvSpPr/>
            <p:nvPr/>
          </p:nvSpPr>
          <p:spPr>
            <a:xfrm>
              <a:off x="1803649" y="1120274"/>
              <a:ext cx="458469" cy="3637279"/>
            </a:xfrm>
            <a:custGeom>
              <a:avLst/>
              <a:gdLst/>
              <a:ahLst/>
              <a:cxnLst/>
              <a:rect l="l" t="t" r="r" b="b"/>
              <a:pathLst>
                <a:path w="458469" h="3637279" extrusionOk="0">
                  <a:moveTo>
                    <a:pt x="458399" y="3637199"/>
                  </a:moveTo>
                  <a:lnTo>
                    <a:pt x="412208" y="3632543"/>
                  </a:lnTo>
                  <a:lnTo>
                    <a:pt x="369185" y="3619188"/>
                  </a:lnTo>
                  <a:lnTo>
                    <a:pt x="330252" y="3598056"/>
                  </a:lnTo>
                  <a:lnTo>
                    <a:pt x="296331" y="3570068"/>
                  </a:lnTo>
                  <a:lnTo>
                    <a:pt x="268343" y="3536147"/>
                  </a:lnTo>
                  <a:lnTo>
                    <a:pt x="247211" y="3497214"/>
                  </a:lnTo>
                  <a:lnTo>
                    <a:pt x="233856" y="3454191"/>
                  </a:lnTo>
                  <a:lnTo>
                    <a:pt x="229199" y="3407999"/>
                  </a:lnTo>
                  <a:lnTo>
                    <a:pt x="229199" y="2047799"/>
                  </a:lnTo>
                  <a:lnTo>
                    <a:pt x="224543" y="2001608"/>
                  </a:lnTo>
                  <a:lnTo>
                    <a:pt x="211188" y="1958585"/>
                  </a:lnTo>
                  <a:lnTo>
                    <a:pt x="190056" y="1919652"/>
                  </a:lnTo>
                  <a:lnTo>
                    <a:pt x="162068" y="1885731"/>
                  </a:lnTo>
                  <a:lnTo>
                    <a:pt x="128147" y="1857743"/>
                  </a:lnTo>
                  <a:lnTo>
                    <a:pt x="89214" y="1836611"/>
                  </a:lnTo>
                  <a:lnTo>
                    <a:pt x="46191" y="1823256"/>
                  </a:lnTo>
                  <a:lnTo>
                    <a:pt x="0" y="1818599"/>
                  </a:lnTo>
                  <a:lnTo>
                    <a:pt x="46191" y="1813943"/>
                  </a:lnTo>
                  <a:lnTo>
                    <a:pt x="89214" y="1800588"/>
                  </a:lnTo>
                  <a:lnTo>
                    <a:pt x="128147" y="1779456"/>
                  </a:lnTo>
                  <a:lnTo>
                    <a:pt x="162068" y="1751468"/>
                  </a:lnTo>
                  <a:lnTo>
                    <a:pt x="190056" y="1717547"/>
                  </a:lnTo>
                  <a:lnTo>
                    <a:pt x="211188" y="1678614"/>
                  </a:lnTo>
                  <a:lnTo>
                    <a:pt x="224543" y="1635591"/>
                  </a:lnTo>
                  <a:lnTo>
                    <a:pt x="229199" y="1589399"/>
                  </a:lnTo>
                  <a:lnTo>
                    <a:pt x="229199" y="229199"/>
                  </a:lnTo>
                  <a:lnTo>
                    <a:pt x="233856" y="183008"/>
                  </a:lnTo>
                  <a:lnTo>
                    <a:pt x="247211" y="139985"/>
                  </a:lnTo>
                  <a:lnTo>
                    <a:pt x="268343" y="101052"/>
                  </a:lnTo>
                  <a:lnTo>
                    <a:pt x="296331" y="67131"/>
                  </a:lnTo>
                  <a:lnTo>
                    <a:pt x="330252" y="39143"/>
                  </a:lnTo>
                  <a:lnTo>
                    <a:pt x="369185" y="18011"/>
                  </a:lnTo>
                  <a:lnTo>
                    <a:pt x="412208" y="4656"/>
                  </a:lnTo>
                  <a:lnTo>
                    <a:pt x="458399" y="0"/>
                  </a:lnTo>
                </a:path>
              </a:pathLst>
            </a:custGeom>
            <a:noFill/>
            <a:ln w="28550"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20" name="Google Shape;320;p46"/>
          <p:cNvSpPr txBox="1"/>
          <p:nvPr/>
        </p:nvSpPr>
        <p:spPr>
          <a:xfrm>
            <a:off x="2817374" y="3859874"/>
            <a:ext cx="2467500" cy="261600"/>
          </a:xfrm>
          <a:prstGeom prst="rect">
            <a:avLst/>
          </a:prstGeom>
          <a:noFill/>
          <a:ln>
            <a:noFill/>
          </a:ln>
        </p:spPr>
        <p:txBody>
          <a:bodyPr spcFirstLastPara="1" wrap="square" lIns="0" tIns="0" rIns="0" bIns="0" anchor="t" anchorCtr="0">
            <a:spAutoFit/>
          </a:bodyPr>
          <a:lstStyle/>
          <a:p>
            <a:pPr marL="92075"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edges</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321" name="Google Shape;321;p46"/>
          <p:cNvSpPr txBox="1"/>
          <p:nvPr/>
        </p:nvSpPr>
        <p:spPr>
          <a:xfrm>
            <a:off x="1386049" y="4116075"/>
            <a:ext cx="4448700" cy="483000"/>
          </a:xfrm>
          <a:prstGeom prst="rect">
            <a:avLst/>
          </a:prstGeom>
          <a:noFill/>
          <a:ln>
            <a:noFill/>
          </a:ln>
        </p:spPr>
        <p:txBody>
          <a:bodyPr spcFirstLastPara="1" wrap="square" lIns="0" tIns="1250" rIns="0" bIns="0" anchor="t" anchorCtr="0">
            <a:spAutoFit/>
          </a:bodyPr>
          <a:lstStyle/>
          <a:p>
            <a:pPr marL="1085215" marR="1901825" lvl="0" indent="0" algn="ctr" defTabSz="914400" rtl="0" eaLnBrk="1" fontAlgn="auto" latinLnBrk="0" hangingPunct="1">
              <a:lnSpc>
                <a:spcPct val="123571"/>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relations between  entities</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322" name="Google Shape;322;p46"/>
          <p:cNvGrpSpPr/>
          <p:nvPr/>
        </p:nvGrpSpPr>
        <p:grpSpPr>
          <a:xfrm>
            <a:off x="3164424" y="1785704"/>
            <a:ext cx="3052081" cy="2570231"/>
            <a:chOff x="3164424" y="1785704"/>
            <a:chExt cx="3052081" cy="2570231"/>
          </a:xfrm>
        </p:grpSpPr>
        <p:sp>
          <p:nvSpPr>
            <p:cNvPr id="323" name="Google Shape;323;p46"/>
            <p:cNvSpPr/>
            <p:nvPr/>
          </p:nvSpPr>
          <p:spPr>
            <a:xfrm>
              <a:off x="4924280" y="3379306"/>
              <a:ext cx="1292225" cy="976629"/>
            </a:xfrm>
            <a:custGeom>
              <a:avLst/>
              <a:gdLst/>
              <a:ahLst/>
              <a:cxnLst/>
              <a:rect l="l" t="t" r="r" b="b"/>
              <a:pathLst>
                <a:path w="1292225" h="976629" extrusionOk="0">
                  <a:moveTo>
                    <a:pt x="1044167" y="976237"/>
                  </a:moveTo>
                  <a:lnTo>
                    <a:pt x="44523" y="455545"/>
                  </a:lnTo>
                  <a:lnTo>
                    <a:pt x="3454" y="405995"/>
                  </a:lnTo>
                  <a:lnTo>
                    <a:pt x="0" y="373944"/>
                  </a:lnTo>
                  <a:lnTo>
                    <a:pt x="9436" y="341917"/>
                  </a:lnTo>
                  <a:lnTo>
                    <a:pt x="166434" y="44520"/>
                  </a:lnTo>
                  <a:lnTo>
                    <a:pt x="187554" y="18665"/>
                  </a:lnTo>
                  <a:lnTo>
                    <a:pt x="215962" y="3449"/>
                  </a:lnTo>
                  <a:lnTo>
                    <a:pt x="248003" y="0"/>
                  </a:lnTo>
                  <a:lnTo>
                    <a:pt x="280023" y="9445"/>
                  </a:lnTo>
                  <a:lnTo>
                    <a:pt x="1247647" y="520692"/>
                  </a:lnTo>
                  <a:lnTo>
                    <a:pt x="1282295" y="554974"/>
                  </a:lnTo>
                  <a:lnTo>
                    <a:pt x="1292096" y="602877"/>
                  </a:lnTo>
                  <a:lnTo>
                    <a:pt x="1288986" y="618985"/>
                  </a:lnTo>
                  <a:lnTo>
                    <a:pt x="1125736" y="931717"/>
                  </a:lnTo>
                  <a:lnTo>
                    <a:pt x="1076208" y="972787"/>
                  </a:lnTo>
                  <a:lnTo>
                    <a:pt x="1044167" y="976237"/>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4" name="Google Shape;324;p46"/>
            <p:cNvSpPr/>
            <p:nvPr/>
          </p:nvSpPr>
          <p:spPr>
            <a:xfrm>
              <a:off x="4924280" y="3379306"/>
              <a:ext cx="1292225" cy="976629"/>
            </a:xfrm>
            <a:custGeom>
              <a:avLst/>
              <a:gdLst/>
              <a:ahLst/>
              <a:cxnLst/>
              <a:rect l="l" t="t" r="r" b="b"/>
              <a:pathLst>
                <a:path w="1292225" h="976629" extrusionOk="0">
                  <a:moveTo>
                    <a:pt x="166434" y="44520"/>
                  </a:moveTo>
                  <a:lnTo>
                    <a:pt x="187554" y="18665"/>
                  </a:lnTo>
                  <a:lnTo>
                    <a:pt x="215962" y="3449"/>
                  </a:lnTo>
                  <a:lnTo>
                    <a:pt x="280023" y="9445"/>
                  </a:lnTo>
                  <a:lnTo>
                    <a:pt x="1247647" y="520692"/>
                  </a:lnTo>
                  <a:lnTo>
                    <a:pt x="1282295" y="554974"/>
                  </a:lnTo>
                  <a:lnTo>
                    <a:pt x="1292096" y="602877"/>
                  </a:lnTo>
                  <a:lnTo>
                    <a:pt x="1288986" y="618985"/>
                  </a:lnTo>
                  <a:lnTo>
                    <a:pt x="1125736" y="931717"/>
                  </a:lnTo>
                  <a:lnTo>
                    <a:pt x="1076208" y="972787"/>
                  </a:lnTo>
                  <a:lnTo>
                    <a:pt x="1044167" y="976237"/>
                  </a:lnTo>
                  <a:lnTo>
                    <a:pt x="1012147" y="966792"/>
                  </a:lnTo>
                  <a:lnTo>
                    <a:pt x="44523" y="455545"/>
                  </a:lnTo>
                  <a:lnTo>
                    <a:pt x="18672" y="434414"/>
                  </a:lnTo>
                  <a:lnTo>
                    <a:pt x="3454" y="405995"/>
                  </a:lnTo>
                  <a:lnTo>
                    <a:pt x="0" y="373944"/>
                  </a:lnTo>
                  <a:lnTo>
                    <a:pt x="9436" y="341917"/>
                  </a:lnTo>
                  <a:lnTo>
                    <a:pt x="166434" y="4452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5" name="Google Shape;325;p46"/>
            <p:cNvSpPr/>
            <p:nvPr/>
          </p:nvSpPr>
          <p:spPr>
            <a:xfrm>
              <a:off x="3164424" y="1785704"/>
              <a:ext cx="1113154" cy="1040130"/>
            </a:xfrm>
            <a:custGeom>
              <a:avLst/>
              <a:gdLst/>
              <a:ahLst/>
              <a:cxnLst/>
              <a:rect l="l" t="t" r="r" b="b"/>
              <a:pathLst>
                <a:path w="1113154" h="1040130" extrusionOk="0">
                  <a:moveTo>
                    <a:pt x="786978" y="1040043"/>
                  </a:moveTo>
                  <a:lnTo>
                    <a:pt x="716932" y="1019199"/>
                  </a:lnTo>
                  <a:lnTo>
                    <a:pt x="34781" y="465444"/>
                  </a:lnTo>
                  <a:lnTo>
                    <a:pt x="0" y="401192"/>
                  </a:lnTo>
                  <a:lnTo>
                    <a:pt x="3250" y="364742"/>
                  </a:lnTo>
                  <a:lnTo>
                    <a:pt x="20858" y="331170"/>
                  </a:lnTo>
                  <a:lnTo>
                    <a:pt x="261655" y="34773"/>
                  </a:lnTo>
                  <a:lnTo>
                    <a:pt x="290913" y="10658"/>
                  </a:lnTo>
                  <a:lnTo>
                    <a:pt x="325934" y="0"/>
                  </a:lnTo>
                  <a:lnTo>
                    <a:pt x="362398" y="3246"/>
                  </a:lnTo>
                  <a:lnTo>
                    <a:pt x="1078132" y="574599"/>
                  </a:lnTo>
                  <a:lnTo>
                    <a:pt x="1109142" y="620433"/>
                  </a:lnTo>
                  <a:lnTo>
                    <a:pt x="1113001" y="657652"/>
                  </a:lnTo>
                  <a:lnTo>
                    <a:pt x="1109451" y="675935"/>
                  </a:lnTo>
                  <a:lnTo>
                    <a:pt x="851258" y="1005270"/>
                  </a:lnTo>
                  <a:lnTo>
                    <a:pt x="786978" y="1040043"/>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6" name="Google Shape;326;p46"/>
            <p:cNvSpPr/>
            <p:nvPr/>
          </p:nvSpPr>
          <p:spPr>
            <a:xfrm>
              <a:off x="3164424" y="1785704"/>
              <a:ext cx="1113154" cy="1040130"/>
            </a:xfrm>
            <a:custGeom>
              <a:avLst/>
              <a:gdLst/>
              <a:ahLst/>
              <a:cxnLst/>
              <a:rect l="l" t="t" r="r" b="b"/>
              <a:pathLst>
                <a:path w="1113154" h="1040130" extrusionOk="0">
                  <a:moveTo>
                    <a:pt x="261655" y="34773"/>
                  </a:moveTo>
                  <a:lnTo>
                    <a:pt x="290913" y="10658"/>
                  </a:lnTo>
                  <a:lnTo>
                    <a:pt x="325934" y="0"/>
                  </a:lnTo>
                  <a:lnTo>
                    <a:pt x="395981" y="20844"/>
                  </a:lnTo>
                  <a:lnTo>
                    <a:pt x="1078132" y="574599"/>
                  </a:lnTo>
                  <a:lnTo>
                    <a:pt x="1109142" y="620433"/>
                  </a:lnTo>
                  <a:lnTo>
                    <a:pt x="1113001" y="657652"/>
                  </a:lnTo>
                  <a:lnTo>
                    <a:pt x="1109451" y="675935"/>
                  </a:lnTo>
                  <a:lnTo>
                    <a:pt x="851258" y="1005270"/>
                  </a:lnTo>
                  <a:lnTo>
                    <a:pt x="786978" y="1040043"/>
                  </a:lnTo>
                  <a:lnTo>
                    <a:pt x="750515" y="1036797"/>
                  </a:lnTo>
                  <a:lnTo>
                    <a:pt x="716932" y="1019199"/>
                  </a:lnTo>
                  <a:lnTo>
                    <a:pt x="34781" y="465444"/>
                  </a:lnTo>
                  <a:lnTo>
                    <a:pt x="10659" y="436199"/>
                  </a:lnTo>
                  <a:lnTo>
                    <a:pt x="0" y="401192"/>
                  </a:lnTo>
                  <a:lnTo>
                    <a:pt x="3250" y="364742"/>
                  </a:lnTo>
                  <a:lnTo>
                    <a:pt x="20858" y="331170"/>
                  </a:lnTo>
                  <a:lnTo>
                    <a:pt x="261655" y="34773"/>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7" name="Google Shape;327;p46"/>
            <p:cNvSpPr/>
            <p:nvPr/>
          </p:nvSpPr>
          <p:spPr>
            <a:xfrm>
              <a:off x="3680075" y="3892125"/>
              <a:ext cx="1321435" cy="191770"/>
            </a:xfrm>
            <a:custGeom>
              <a:avLst/>
              <a:gdLst/>
              <a:ahLst/>
              <a:cxnLst/>
              <a:rect l="l" t="t" r="r" b="b"/>
              <a:pathLst>
                <a:path w="1321435" h="191770" extrusionOk="0">
                  <a:moveTo>
                    <a:pt x="1225349" y="191699"/>
                  </a:moveTo>
                  <a:lnTo>
                    <a:pt x="1225349" y="143774"/>
                  </a:lnTo>
                  <a:lnTo>
                    <a:pt x="0" y="143774"/>
                  </a:lnTo>
                  <a:lnTo>
                    <a:pt x="0" y="47924"/>
                  </a:lnTo>
                  <a:lnTo>
                    <a:pt x="1225349" y="47924"/>
                  </a:lnTo>
                  <a:lnTo>
                    <a:pt x="1225349" y="0"/>
                  </a:lnTo>
                  <a:lnTo>
                    <a:pt x="1321199" y="95849"/>
                  </a:lnTo>
                  <a:lnTo>
                    <a:pt x="12253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8" name="Google Shape;328;p46"/>
            <p:cNvSpPr/>
            <p:nvPr/>
          </p:nvSpPr>
          <p:spPr>
            <a:xfrm>
              <a:off x="3680075" y="3892125"/>
              <a:ext cx="1321435" cy="191770"/>
            </a:xfrm>
            <a:custGeom>
              <a:avLst/>
              <a:gdLst/>
              <a:ahLst/>
              <a:cxnLst/>
              <a:rect l="l" t="t" r="r" b="b"/>
              <a:pathLst>
                <a:path w="1321435" h="191770" extrusionOk="0">
                  <a:moveTo>
                    <a:pt x="1225349" y="0"/>
                  </a:moveTo>
                  <a:lnTo>
                    <a:pt x="1321199" y="95849"/>
                  </a:lnTo>
                  <a:lnTo>
                    <a:pt x="1225349" y="191699"/>
                  </a:lnTo>
                  <a:lnTo>
                    <a:pt x="1225349" y="143774"/>
                  </a:lnTo>
                  <a:lnTo>
                    <a:pt x="0" y="143774"/>
                  </a:lnTo>
                  <a:lnTo>
                    <a:pt x="0" y="47924"/>
                  </a:lnTo>
                  <a:lnTo>
                    <a:pt x="1225349" y="47924"/>
                  </a:lnTo>
                  <a:lnTo>
                    <a:pt x="12253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29" name="Google Shape;329;p46"/>
            <p:cNvSpPr/>
            <p:nvPr/>
          </p:nvSpPr>
          <p:spPr>
            <a:xfrm>
              <a:off x="3212905" y="2679925"/>
              <a:ext cx="494029" cy="1165225"/>
            </a:xfrm>
            <a:custGeom>
              <a:avLst/>
              <a:gdLst/>
              <a:ahLst/>
              <a:cxnLst/>
              <a:rect l="l" t="t" r="r" b="b"/>
              <a:pathLst>
                <a:path w="494029" h="1165225" extrusionOk="0">
                  <a:moveTo>
                    <a:pt x="90749" y="1164675"/>
                  </a:moveTo>
                  <a:lnTo>
                    <a:pt x="0" y="1133925"/>
                  </a:lnTo>
                  <a:lnTo>
                    <a:pt x="357815" y="75397"/>
                  </a:lnTo>
                  <a:lnTo>
                    <a:pt x="312440" y="60022"/>
                  </a:lnTo>
                  <a:lnTo>
                    <a:pt x="433874" y="0"/>
                  </a:lnTo>
                  <a:lnTo>
                    <a:pt x="493940" y="121522"/>
                  </a:lnTo>
                  <a:lnTo>
                    <a:pt x="448565" y="106147"/>
                  </a:lnTo>
                  <a:lnTo>
                    <a:pt x="90749" y="1164675"/>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0" name="Google Shape;330;p46"/>
            <p:cNvSpPr/>
            <p:nvPr/>
          </p:nvSpPr>
          <p:spPr>
            <a:xfrm>
              <a:off x="3212905" y="2679925"/>
              <a:ext cx="494029" cy="1165225"/>
            </a:xfrm>
            <a:custGeom>
              <a:avLst/>
              <a:gdLst/>
              <a:ahLst/>
              <a:cxnLst/>
              <a:rect l="l" t="t" r="r" b="b"/>
              <a:pathLst>
                <a:path w="494029" h="1165225" extrusionOk="0">
                  <a:moveTo>
                    <a:pt x="312440" y="60022"/>
                  </a:moveTo>
                  <a:lnTo>
                    <a:pt x="433874" y="0"/>
                  </a:lnTo>
                  <a:lnTo>
                    <a:pt x="493940" y="121522"/>
                  </a:lnTo>
                  <a:lnTo>
                    <a:pt x="448565" y="106147"/>
                  </a:lnTo>
                  <a:lnTo>
                    <a:pt x="90749" y="1164675"/>
                  </a:lnTo>
                  <a:lnTo>
                    <a:pt x="0" y="1133925"/>
                  </a:lnTo>
                  <a:lnTo>
                    <a:pt x="357815" y="75397"/>
                  </a:lnTo>
                  <a:lnTo>
                    <a:pt x="312440" y="6002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31" name="Google Shape;331;p46"/>
          <p:cNvSpPr txBox="1"/>
          <p:nvPr/>
        </p:nvSpPr>
        <p:spPr>
          <a:xfrm>
            <a:off x="7006364" y="68529"/>
            <a:ext cx="2066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Graphic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5"/>
              </a:rPr>
              <a:t>Megan Leszczynski (Stanford)</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32" name="Google Shape;332;p46"/>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11</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333" name="Google Shape;333;p46"/>
          <p:cNvSpPr txBox="1"/>
          <p:nvPr/>
        </p:nvSpPr>
        <p:spPr>
          <a:xfrm>
            <a:off x="371255" y="3763500"/>
            <a:ext cx="13716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sng" strike="noStrike" kern="0" cap="none" spc="0" normalizeH="0" baseline="0" noProof="0">
                <a:ln>
                  <a:noFill/>
                </a:ln>
                <a:solidFill>
                  <a:srgbClr val="0097A7"/>
                </a:solidFill>
                <a:effectLst/>
                <a:uLnTx/>
                <a:uFillTx/>
                <a:latin typeface="Calibri"/>
                <a:ea typeface="Calibri"/>
                <a:cs typeface="Calibri"/>
                <a:sym typeface="Calibri"/>
                <a:hlinkClick r:id="rId6"/>
              </a:rPr>
              <a:t>Example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337"/>
        <p:cNvGrpSpPr/>
        <p:nvPr/>
      </p:nvGrpSpPr>
      <p:grpSpPr>
        <a:xfrm>
          <a:off x="0" y="0"/>
          <a:ext cx="0" cy="0"/>
          <a:chOff x="0" y="0"/>
          <a:chExt cx="0" cy="0"/>
        </a:xfrm>
      </p:grpSpPr>
      <p:sp>
        <p:nvSpPr>
          <p:cNvPr id="338" name="Google Shape;338;p47"/>
          <p:cNvSpPr txBox="1">
            <a:spLocks noGrp="1"/>
          </p:cNvSpPr>
          <p:nvPr>
            <p:ph type="title"/>
          </p:nvPr>
        </p:nvSpPr>
        <p:spPr>
          <a:xfrm>
            <a:off x="2679205" y="505350"/>
            <a:ext cx="37866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How to query?</a:t>
            </a:r>
            <a:endParaRPr/>
          </a:p>
        </p:txBody>
      </p:sp>
      <p:grpSp>
        <p:nvGrpSpPr>
          <p:cNvPr id="339" name="Google Shape;339;p47"/>
          <p:cNvGrpSpPr/>
          <p:nvPr/>
        </p:nvGrpSpPr>
        <p:grpSpPr>
          <a:xfrm>
            <a:off x="806499" y="1067649"/>
            <a:ext cx="8290390" cy="3800395"/>
            <a:chOff x="806499" y="1067649"/>
            <a:chExt cx="8290390" cy="3800395"/>
          </a:xfrm>
        </p:grpSpPr>
        <p:pic>
          <p:nvPicPr>
            <p:cNvPr id="340" name="Google Shape;340;p47"/>
            <p:cNvPicPr preferRelativeResize="0"/>
            <p:nvPr/>
          </p:nvPicPr>
          <p:blipFill rotWithShape="1">
            <a:blip r:embed="rId3">
              <a:alphaModFix/>
            </a:blip>
            <a:srcRect/>
            <a:stretch/>
          </p:blipFill>
          <p:spPr>
            <a:xfrm>
              <a:off x="833025" y="1161937"/>
              <a:ext cx="8133201" cy="3637226"/>
            </a:xfrm>
            <a:prstGeom prst="rect">
              <a:avLst/>
            </a:prstGeom>
            <a:noFill/>
            <a:ln>
              <a:noFill/>
            </a:ln>
          </p:spPr>
        </p:pic>
        <p:sp>
          <p:nvSpPr>
            <p:cNvPr id="341" name="Google Shape;341;p47"/>
            <p:cNvSpPr/>
            <p:nvPr/>
          </p:nvSpPr>
          <p:spPr>
            <a:xfrm>
              <a:off x="833024" y="2183899"/>
              <a:ext cx="1950720" cy="2684145"/>
            </a:xfrm>
            <a:custGeom>
              <a:avLst/>
              <a:gdLst/>
              <a:ahLst/>
              <a:cxnLst/>
              <a:rect l="l" t="t" r="r" b="b"/>
              <a:pathLst>
                <a:path w="1950720" h="2684145" extrusionOk="0">
                  <a:moveTo>
                    <a:pt x="1950599" y="2684099"/>
                  </a:moveTo>
                  <a:lnTo>
                    <a:pt x="0" y="2684099"/>
                  </a:lnTo>
                  <a:lnTo>
                    <a:pt x="0" y="0"/>
                  </a:lnTo>
                  <a:lnTo>
                    <a:pt x="1950599" y="0"/>
                  </a:lnTo>
                  <a:lnTo>
                    <a:pt x="1950599" y="26840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2" name="Google Shape;342;p47"/>
            <p:cNvSpPr/>
            <p:nvPr/>
          </p:nvSpPr>
          <p:spPr>
            <a:xfrm>
              <a:off x="833024" y="2183899"/>
              <a:ext cx="1950720" cy="2684145"/>
            </a:xfrm>
            <a:custGeom>
              <a:avLst/>
              <a:gdLst/>
              <a:ahLst/>
              <a:cxnLst/>
              <a:rect l="l" t="t" r="r" b="b"/>
              <a:pathLst>
                <a:path w="1950720" h="2684145" extrusionOk="0">
                  <a:moveTo>
                    <a:pt x="0" y="0"/>
                  </a:moveTo>
                  <a:lnTo>
                    <a:pt x="1950599" y="0"/>
                  </a:lnTo>
                  <a:lnTo>
                    <a:pt x="1950599" y="2684099"/>
                  </a:lnTo>
                  <a:lnTo>
                    <a:pt x="0" y="26840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3" name="Google Shape;343;p47"/>
            <p:cNvSpPr/>
            <p:nvPr/>
          </p:nvSpPr>
          <p:spPr>
            <a:xfrm>
              <a:off x="2817374" y="3859874"/>
              <a:ext cx="2467610" cy="256539"/>
            </a:xfrm>
            <a:custGeom>
              <a:avLst/>
              <a:gdLst/>
              <a:ahLst/>
              <a:cxnLst/>
              <a:rect l="l" t="t" r="r" b="b"/>
              <a:pathLst>
                <a:path w="2467610" h="256539" extrusionOk="0">
                  <a:moveTo>
                    <a:pt x="2467499" y="256199"/>
                  </a:moveTo>
                  <a:lnTo>
                    <a:pt x="0" y="256199"/>
                  </a:lnTo>
                  <a:lnTo>
                    <a:pt x="0" y="0"/>
                  </a:lnTo>
                  <a:lnTo>
                    <a:pt x="2467499" y="0"/>
                  </a:lnTo>
                  <a:lnTo>
                    <a:pt x="2467499" y="256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4" name="Google Shape;344;p47"/>
            <p:cNvSpPr/>
            <p:nvPr/>
          </p:nvSpPr>
          <p:spPr>
            <a:xfrm>
              <a:off x="2817374" y="3859874"/>
              <a:ext cx="2467610" cy="256539"/>
            </a:xfrm>
            <a:custGeom>
              <a:avLst/>
              <a:gdLst/>
              <a:ahLst/>
              <a:cxnLst/>
              <a:rect l="l" t="t" r="r" b="b"/>
              <a:pathLst>
                <a:path w="2467610" h="256539" extrusionOk="0">
                  <a:moveTo>
                    <a:pt x="0" y="0"/>
                  </a:moveTo>
                  <a:lnTo>
                    <a:pt x="2467499" y="0"/>
                  </a:lnTo>
                  <a:lnTo>
                    <a:pt x="2467499" y="256199"/>
                  </a:lnTo>
                  <a:lnTo>
                    <a:pt x="0" y="256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5" name="Google Shape;345;p47"/>
            <p:cNvSpPr/>
            <p:nvPr/>
          </p:nvSpPr>
          <p:spPr>
            <a:xfrm>
              <a:off x="8868924" y="1067649"/>
              <a:ext cx="227965" cy="199390"/>
            </a:xfrm>
            <a:custGeom>
              <a:avLst/>
              <a:gdLst/>
              <a:ahLst/>
              <a:cxnLst/>
              <a:rect l="l" t="t" r="r" b="b"/>
              <a:pathLst>
                <a:path w="227965" h="199390" extrusionOk="0">
                  <a:moveTo>
                    <a:pt x="227399" y="199199"/>
                  </a:moveTo>
                  <a:lnTo>
                    <a:pt x="0" y="199199"/>
                  </a:lnTo>
                  <a:lnTo>
                    <a:pt x="0" y="0"/>
                  </a:lnTo>
                  <a:lnTo>
                    <a:pt x="227399" y="0"/>
                  </a:lnTo>
                  <a:lnTo>
                    <a:pt x="227399" y="1991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6" name="Google Shape;346;p47"/>
            <p:cNvSpPr/>
            <p:nvPr/>
          </p:nvSpPr>
          <p:spPr>
            <a:xfrm>
              <a:off x="8868924" y="1067649"/>
              <a:ext cx="227965" cy="199390"/>
            </a:xfrm>
            <a:custGeom>
              <a:avLst/>
              <a:gdLst/>
              <a:ahLst/>
              <a:cxnLst/>
              <a:rect l="l" t="t" r="r" b="b"/>
              <a:pathLst>
                <a:path w="227965" h="199390" extrusionOk="0">
                  <a:moveTo>
                    <a:pt x="0" y="0"/>
                  </a:moveTo>
                  <a:lnTo>
                    <a:pt x="227399" y="0"/>
                  </a:lnTo>
                  <a:lnTo>
                    <a:pt x="227399" y="199199"/>
                  </a:lnTo>
                  <a:lnTo>
                    <a:pt x="0" y="199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7" name="Google Shape;347;p47"/>
            <p:cNvSpPr/>
            <p:nvPr/>
          </p:nvSpPr>
          <p:spPr>
            <a:xfrm>
              <a:off x="1386049" y="4115974"/>
              <a:ext cx="4448810" cy="641985"/>
            </a:xfrm>
            <a:custGeom>
              <a:avLst/>
              <a:gdLst/>
              <a:ahLst/>
              <a:cxnLst/>
              <a:rect l="l" t="t" r="r" b="b"/>
              <a:pathLst>
                <a:path w="4448810" h="641985" extrusionOk="0">
                  <a:moveTo>
                    <a:pt x="4448699" y="641399"/>
                  </a:moveTo>
                  <a:lnTo>
                    <a:pt x="0" y="641399"/>
                  </a:lnTo>
                  <a:lnTo>
                    <a:pt x="0" y="0"/>
                  </a:lnTo>
                  <a:lnTo>
                    <a:pt x="4448699" y="0"/>
                  </a:lnTo>
                  <a:lnTo>
                    <a:pt x="4448699" y="641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48" name="Google Shape;348;p47"/>
            <p:cNvSpPr/>
            <p:nvPr/>
          </p:nvSpPr>
          <p:spPr>
            <a:xfrm>
              <a:off x="1386049" y="4115974"/>
              <a:ext cx="4448810" cy="641985"/>
            </a:xfrm>
            <a:custGeom>
              <a:avLst/>
              <a:gdLst/>
              <a:ahLst/>
              <a:cxnLst/>
              <a:rect l="l" t="t" r="r" b="b"/>
              <a:pathLst>
                <a:path w="4448810" h="641985" extrusionOk="0">
                  <a:moveTo>
                    <a:pt x="0" y="0"/>
                  </a:moveTo>
                  <a:lnTo>
                    <a:pt x="4448699" y="0"/>
                  </a:lnTo>
                  <a:lnTo>
                    <a:pt x="4448699" y="641399"/>
                  </a:lnTo>
                  <a:lnTo>
                    <a:pt x="0" y="641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49" name="Google Shape;349;p47"/>
            <p:cNvPicPr preferRelativeResize="0"/>
            <p:nvPr/>
          </p:nvPicPr>
          <p:blipFill rotWithShape="1">
            <a:blip r:embed="rId4">
              <a:alphaModFix/>
            </a:blip>
            <a:srcRect/>
            <a:stretch/>
          </p:blipFill>
          <p:spPr>
            <a:xfrm>
              <a:off x="806499" y="3929364"/>
              <a:ext cx="3763600" cy="642148"/>
            </a:xfrm>
            <a:prstGeom prst="rect">
              <a:avLst/>
            </a:prstGeom>
            <a:noFill/>
            <a:ln>
              <a:noFill/>
            </a:ln>
          </p:spPr>
        </p:pic>
      </p:grpSp>
      <p:sp>
        <p:nvSpPr>
          <p:cNvPr id="350" name="Google Shape;350;p47"/>
          <p:cNvSpPr txBox="1"/>
          <p:nvPr/>
        </p:nvSpPr>
        <p:spPr>
          <a:xfrm>
            <a:off x="1386049" y="4116075"/>
            <a:ext cx="4448700" cy="633000"/>
          </a:xfrm>
          <a:prstGeom prst="rect">
            <a:avLst/>
          </a:prstGeom>
          <a:noFill/>
          <a:ln>
            <a:noFill/>
          </a:ln>
        </p:spPr>
        <p:txBody>
          <a:bodyPr spcFirstLastPara="1" wrap="square" lIns="0" tIns="125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endParaRPr kumimoji="0" sz="2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65505" marR="0" lvl="0" indent="0" algn="l" defTabSz="914400" rtl="0" eaLnBrk="1" fontAlgn="auto" latinLnBrk="0" hangingPunct="1">
              <a:lnSpc>
                <a:spcPct val="100000"/>
              </a:lnSpc>
              <a:spcBef>
                <a:spcPts val="5"/>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990000"/>
                </a:solidFill>
                <a:effectLst/>
                <a:uLnTx/>
                <a:uFillTx/>
                <a:latin typeface="Cambria"/>
                <a:ea typeface="Cambria"/>
                <a:cs typeface="Cambria"/>
                <a:sym typeface="Cambria"/>
              </a:rPr>
              <a:t>query</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351" name="Google Shape;351;p47"/>
          <p:cNvGrpSpPr/>
          <p:nvPr/>
        </p:nvGrpSpPr>
        <p:grpSpPr>
          <a:xfrm>
            <a:off x="2084691" y="1067638"/>
            <a:ext cx="6936404" cy="1543495"/>
            <a:chOff x="2084691" y="1067638"/>
            <a:chExt cx="6936404" cy="1543495"/>
          </a:xfrm>
        </p:grpSpPr>
        <p:sp>
          <p:nvSpPr>
            <p:cNvPr id="352" name="Google Shape;352;p47"/>
            <p:cNvSpPr/>
            <p:nvPr/>
          </p:nvSpPr>
          <p:spPr>
            <a:xfrm>
              <a:off x="7025291" y="1266838"/>
              <a:ext cx="1995804" cy="1344295"/>
            </a:xfrm>
            <a:custGeom>
              <a:avLst/>
              <a:gdLst/>
              <a:ahLst/>
              <a:cxnLst/>
              <a:rect l="l" t="t" r="r" b="b"/>
              <a:pathLst>
                <a:path w="1995804" h="1344295" extrusionOk="0">
                  <a:moveTo>
                    <a:pt x="1771545" y="0"/>
                  </a:moveTo>
                  <a:lnTo>
                    <a:pt x="1816690" y="4550"/>
                  </a:lnTo>
                  <a:lnTo>
                    <a:pt x="1858741" y="17603"/>
                  </a:lnTo>
                  <a:lnTo>
                    <a:pt x="1896796" y="38256"/>
                  </a:lnTo>
                  <a:lnTo>
                    <a:pt x="1929955" y="65609"/>
                  </a:lnTo>
                  <a:lnTo>
                    <a:pt x="1957315" y="98761"/>
                  </a:lnTo>
                  <a:lnTo>
                    <a:pt x="1977977" y="136811"/>
                  </a:lnTo>
                  <a:lnTo>
                    <a:pt x="1991038" y="178859"/>
                  </a:lnTo>
                  <a:lnTo>
                    <a:pt x="1995599" y="224004"/>
                  </a:lnTo>
                  <a:lnTo>
                    <a:pt x="1995799" y="1119995"/>
                  </a:lnTo>
                  <a:lnTo>
                    <a:pt x="1991466" y="1163900"/>
                  </a:lnTo>
                  <a:lnTo>
                    <a:pt x="1978768" y="1205718"/>
                  </a:lnTo>
                  <a:lnTo>
                    <a:pt x="1958192" y="1244273"/>
                  </a:lnTo>
                  <a:lnTo>
                    <a:pt x="1930225" y="1278390"/>
                  </a:lnTo>
                  <a:lnTo>
                    <a:pt x="1896115" y="1306364"/>
                  </a:lnTo>
                  <a:lnTo>
                    <a:pt x="1857564" y="1326948"/>
                  </a:lnTo>
                  <a:lnTo>
                    <a:pt x="1815749" y="1339656"/>
                  </a:lnTo>
                  <a:lnTo>
                    <a:pt x="1771845" y="1344000"/>
                  </a:lnTo>
                  <a:lnTo>
                    <a:pt x="224254" y="1344000"/>
                  </a:lnTo>
                  <a:lnTo>
                    <a:pt x="179108" y="1339449"/>
                  </a:lnTo>
                  <a:lnTo>
                    <a:pt x="137057" y="1326396"/>
                  </a:lnTo>
                  <a:lnTo>
                    <a:pt x="99002" y="1305743"/>
                  </a:lnTo>
                  <a:lnTo>
                    <a:pt x="65844" y="1278390"/>
                  </a:lnTo>
                  <a:lnTo>
                    <a:pt x="38484" y="1245238"/>
                  </a:lnTo>
                  <a:lnTo>
                    <a:pt x="17822" y="1207188"/>
                  </a:lnTo>
                  <a:lnTo>
                    <a:pt x="4760" y="1165140"/>
                  </a:lnTo>
                  <a:lnTo>
                    <a:pt x="199" y="1119995"/>
                  </a:lnTo>
                  <a:lnTo>
                    <a:pt x="0" y="224004"/>
                  </a:lnTo>
                  <a:lnTo>
                    <a:pt x="4540" y="178859"/>
                  </a:lnTo>
                  <a:lnTo>
                    <a:pt x="17583" y="136811"/>
                  </a:lnTo>
                  <a:lnTo>
                    <a:pt x="38228" y="98761"/>
                  </a:lnTo>
                  <a:lnTo>
                    <a:pt x="65573" y="65609"/>
                  </a:lnTo>
                  <a:lnTo>
                    <a:pt x="98719" y="38256"/>
                  </a:lnTo>
                  <a:lnTo>
                    <a:pt x="136765" y="17603"/>
                  </a:lnTo>
                  <a:lnTo>
                    <a:pt x="178810" y="4550"/>
                  </a:lnTo>
                  <a:lnTo>
                    <a:pt x="223954" y="0"/>
                  </a:lnTo>
                  <a:lnTo>
                    <a:pt x="1771545" y="0"/>
                  </a:lnTo>
                  <a:close/>
                </a:path>
              </a:pathLst>
            </a:custGeom>
            <a:noFill/>
            <a:ln w="28550" cap="flat" cmpd="sng">
              <a:solidFill>
                <a:srgbClr val="99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53" name="Google Shape;353;p47"/>
            <p:cNvSpPr/>
            <p:nvPr/>
          </p:nvSpPr>
          <p:spPr>
            <a:xfrm>
              <a:off x="2084691" y="1067638"/>
              <a:ext cx="1995804" cy="1344295"/>
            </a:xfrm>
            <a:custGeom>
              <a:avLst/>
              <a:gdLst/>
              <a:ahLst/>
              <a:cxnLst/>
              <a:rect l="l" t="t" r="r" b="b"/>
              <a:pathLst>
                <a:path w="1995804" h="1344295" extrusionOk="0">
                  <a:moveTo>
                    <a:pt x="1771845" y="1344000"/>
                  </a:moveTo>
                  <a:lnTo>
                    <a:pt x="224254" y="1344000"/>
                  </a:lnTo>
                  <a:lnTo>
                    <a:pt x="179108" y="1339449"/>
                  </a:lnTo>
                  <a:lnTo>
                    <a:pt x="137057" y="1326396"/>
                  </a:lnTo>
                  <a:lnTo>
                    <a:pt x="99002" y="1305743"/>
                  </a:lnTo>
                  <a:lnTo>
                    <a:pt x="65844" y="1278390"/>
                  </a:lnTo>
                  <a:lnTo>
                    <a:pt x="38484" y="1245238"/>
                  </a:lnTo>
                  <a:lnTo>
                    <a:pt x="17822" y="1207188"/>
                  </a:lnTo>
                  <a:lnTo>
                    <a:pt x="4761" y="1165140"/>
                  </a:lnTo>
                  <a:lnTo>
                    <a:pt x="199" y="1119995"/>
                  </a:lnTo>
                  <a:lnTo>
                    <a:pt x="0" y="224004"/>
                  </a:lnTo>
                  <a:lnTo>
                    <a:pt x="4540" y="178859"/>
                  </a:lnTo>
                  <a:lnTo>
                    <a:pt x="17583" y="136811"/>
                  </a:lnTo>
                  <a:lnTo>
                    <a:pt x="38228" y="98761"/>
                  </a:lnTo>
                  <a:lnTo>
                    <a:pt x="65573" y="65609"/>
                  </a:lnTo>
                  <a:lnTo>
                    <a:pt x="98719" y="38256"/>
                  </a:lnTo>
                  <a:lnTo>
                    <a:pt x="136765" y="17603"/>
                  </a:lnTo>
                  <a:lnTo>
                    <a:pt x="178810" y="4550"/>
                  </a:lnTo>
                  <a:lnTo>
                    <a:pt x="223954" y="0"/>
                  </a:lnTo>
                  <a:lnTo>
                    <a:pt x="1771545" y="0"/>
                  </a:lnTo>
                  <a:lnTo>
                    <a:pt x="1816691" y="4550"/>
                  </a:lnTo>
                  <a:lnTo>
                    <a:pt x="1858741" y="17603"/>
                  </a:lnTo>
                  <a:lnTo>
                    <a:pt x="1896796" y="38256"/>
                  </a:lnTo>
                  <a:lnTo>
                    <a:pt x="1929955" y="65609"/>
                  </a:lnTo>
                  <a:lnTo>
                    <a:pt x="1957315" y="98761"/>
                  </a:lnTo>
                  <a:lnTo>
                    <a:pt x="1977977" y="136811"/>
                  </a:lnTo>
                  <a:lnTo>
                    <a:pt x="1991038" y="178859"/>
                  </a:lnTo>
                  <a:lnTo>
                    <a:pt x="1995599" y="224004"/>
                  </a:lnTo>
                  <a:lnTo>
                    <a:pt x="1995799" y="1119995"/>
                  </a:lnTo>
                  <a:lnTo>
                    <a:pt x="1991465" y="1163900"/>
                  </a:lnTo>
                  <a:lnTo>
                    <a:pt x="1978767" y="1205718"/>
                  </a:lnTo>
                  <a:lnTo>
                    <a:pt x="1958192" y="1244273"/>
                  </a:lnTo>
                  <a:lnTo>
                    <a:pt x="1930225" y="1278390"/>
                  </a:lnTo>
                  <a:lnTo>
                    <a:pt x="1896114" y="1306364"/>
                  </a:lnTo>
                  <a:lnTo>
                    <a:pt x="1857564" y="1326948"/>
                  </a:lnTo>
                  <a:lnTo>
                    <a:pt x="1815749" y="1339656"/>
                  </a:lnTo>
                  <a:lnTo>
                    <a:pt x="1771845" y="1344000"/>
                  </a:lnTo>
                  <a:close/>
                </a:path>
              </a:pathLst>
            </a:custGeom>
            <a:solidFill>
              <a:srgbClr val="990000">
                <a:alpha val="129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54" name="Google Shape;354;p47"/>
            <p:cNvSpPr/>
            <p:nvPr/>
          </p:nvSpPr>
          <p:spPr>
            <a:xfrm>
              <a:off x="2084691" y="1067638"/>
              <a:ext cx="1995804" cy="1344295"/>
            </a:xfrm>
            <a:custGeom>
              <a:avLst/>
              <a:gdLst/>
              <a:ahLst/>
              <a:cxnLst/>
              <a:rect l="l" t="t" r="r" b="b"/>
              <a:pathLst>
                <a:path w="1995804" h="1344295" extrusionOk="0">
                  <a:moveTo>
                    <a:pt x="1771545" y="0"/>
                  </a:moveTo>
                  <a:lnTo>
                    <a:pt x="1816691" y="4550"/>
                  </a:lnTo>
                  <a:lnTo>
                    <a:pt x="1858741" y="17603"/>
                  </a:lnTo>
                  <a:lnTo>
                    <a:pt x="1896796" y="38256"/>
                  </a:lnTo>
                  <a:lnTo>
                    <a:pt x="1929955" y="65609"/>
                  </a:lnTo>
                  <a:lnTo>
                    <a:pt x="1957315" y="98761"/>
                  </a:lnTo>
                  <a:lnTo>
                    <a:pt x="1977977" y="136811"/>
                  </a:lnTo>
                  <a:lnTo>
                    <a:pt x="1991038" y="178859"/>
                  </a:lnTo>
                  <a:lnTo>
                    <a:pt x="1995599" y="224004"/>
                  </a:lnTo>
                  <a:lnTo>
                    <a:pt x="1995799" y="1119995"/>
                  </a:lnTo>
                  <a:lnTo>
                    <a:pt x="1991465" y="1163900"/>
                  </a:lnTo>
                  <a:lnTo>
                    <a:pt x="1978767" y="1205718"/>
                  </a:lnTo>
                  <a:lnTo>
                    <a:pt x="1958192" y="1244273"/>
                  </a:lnTo>
                  <a:lnTo>
                    <a:pt x="1930225" y="1278390"/>
                  </a:lnTo>
                  <a:lnTo>
                    <a:pt x="1896114" y="1306364"/>
                  </a:lnTo>
                  <a:lnTo>
                    <a:pt x="1857564" y="1326948"/>
                  </a:lnTo>
                  <a:lnTo>
                    <a:pt x="1815749" y="1339656"/>
                  </a:lnTo>
                  <a:lnTo>
                    <a:pt x="1771845" y="1344000"/>
                  </a:lnTo>
                  <a:lnTo>
                    <a:pt x="224254" y="1344000"/>
                  </a:lnTo>
                  <a:lnTo>
                    <a:pt x="179108" y="1339449"/>
                  </a:lnTo>
                  <a:lnTo>
                    <a:pt x="137057" y="1326396"/>
                  </a:lnTo>
                  <a:lnTo>
                    <a:pt x="99002" y="1305743"/>
                  </a:lnTo>
                  <a:lnTo>
                    <a:pt x="65844" y="1278390"/>
                  </a:lnTo>
                  <a:lnTo>
                    <a:pt x="38484" y="1245238"/>
                  </a:lnTo>
                  <a:lnTo>
                    <a:pt x="17822" y="1207188"/>
                  </a:lnTo>
                  <a:lnTo>
                    <a:pt x="4761" y="1165140"/>
                  </a:lnTo>
                  <a:lnTo>
                    <a:pt x="199" y="1119995"/>
                  </a:lnTo>
                  <a:lnTo>
                    <a:pt x="0" y="224004"/>
                  </a:lnTo>
                  <a:lnTo>
                    <a:pt x="4540" y="178859"/>
                  </a:lnTo>
                  <a:lnTo>
                    <a:pt x="17583" y="136811"/>
                  </a:lnTo>
                  <a:lnTo>
                    <a:pt x="38228" y="98761"/>
                  </a:lnTo>
                  <a:lnTo>
                    <a:pt x="65573" y="65609"/>
                  </a:lnTo>
                  <a:lnTo>
                    <a:pt x="98719" y="38256"/>
                  </a:lnTo>
                  <a:lnTo>
                    <a:pt x="136765" y="17603"/>
                  </a:lnTo>
                  <a:lnTo>
                    <a:pt x="178810" y="4550"/>
                  </a:lnTo>
                  <a:lnTo>
                    <a:pt x="223954" y="0"/>
                  </a:lnTo>
                  <a:lnTo>
                    <a:pt x="1771545" y="0"/>
                  </a:lnTo>
                  <a:close/>
                </a:path>
              </a:pathLst>
            </a:custGeom>
            <a:noFill/>
            <a:ln w="28550" cap="flat" cmpd="sng">
              <a:solidFill>
                <a:srgbClr val="99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55" name="Google Shape;355;p47"/>
          <p:cNvSpPr txBox="1"/>
          <p:nvPr/>
        </p:nvSpPr>
        <p:spPr>
          <a:xfrm>
            <a:off x="7006364" y="68529"/>
            <a:ext cx="2066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Graphic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5"/>
              </a:rPr>
              <a:t>Megan Leszczynski (Stanford)</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56" name="Google Shape;356;p47"/>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12</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360"/>
        <p:cNvGrpSpPr/>
        <p:nvPr/>
      </p:nvGrpSpPr>
      <p:grpSpPr>
        <a:xfrm>
          <a:off x="0" y="0"/>
          <a:ext cx="0" cy="0"/>
          <a:chOff x="0" y="0"/>
          <a:chExt cx="0" cy="0"/>
        </a:xfrm>
      </p:grpSpPr>
      <p:sp>
        <p:nvSpPr>
          <p:cNvPr id="361" name="Google Shape;361;p48"/>
          <p:cNvSpPr txBox="1">
            <a:spLocks noGrp="1"/>
          </p:cNvSpPr>
          <p:nvPr>
            <p:ph type="title"/>
          </p:nvPr>
        </p:nvSpPr>
        <p:spPr>
          <a:xfrm>
            <a:off x="1989705" y="505350"/>
            <a:ext cx="51663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How were knowledge bases formed?</a:t>
            </a:r>
            <a:endParaRPr/>
          </a:p>
        </p:txBody>
      </p:sp>
      <p:grpSp>
        <p:nvGrpSpPr>
          <p:cNvPr id="362" name="Google Shape;362;p48"/>
          <p:cNvGrpSpPr/>
          <p:nvPr/>
        </p:nvGrpSpPr>
        <p:grpSpPr>
          <a:xfrm>
            <a:off x="403100" y="1241573"/>
            <a:ext cx="2465380" cy="2502207"/>
            <a:chOff x="403100" y="1241573"/>
            <a:chExt cx="2465380" cy="2502207"/>
          </a:xfrm>
        </p:grpSpPr>
        <p:pic>
          <p:nvPicPr>
            <p:cNvPr id="363" name="Google Shape;363;p48"/>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364" name="Google Shape;364;p48"/>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65" name="Google Shape;365;p48"/>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366" name="Google Shape;366;p48"/>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67" name="Google Shape;367;p48"/>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368" name="Google Shape;368;p48"/>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69" name="Google Shape;369;p48"/>
          <p:cNvSpPr txBox="1"/>
          <p:nvPr/>
        </p:nvSpPr>
        <p:spPr>
          <a:xfrm>
            <a:off x="1023076" y="4145489"/>
            <a:ext cx="1779300" cy="536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unstructured text</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370" name="Google Shape;370;p48"/>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13</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371" name="Google Shape;371;p48"/>
          <p:cNvSpPr txBox="1"/>
          <p:nvPr/>
        </p:nvSpPr>
        <p:spPr>
          <a:xfrm>
            <a:off x="6019800" y="4145489"/>
            <a:ext cx="28956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Structured knowledge base</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372" name="Google Shape;372;p48"/>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76"/>
        <p:cNvGrpSpPr/>
        <p:nvPr/>
      </p:nvGrpSpPr>
      <p:grpSpPr>
        <a:xfrm>
          <a:off x="0" y="0"/>
          <a:ext cx="0" cy="0"/>
          <a:chOff x="0" y="0"/>
          <a:chExt cx="0" cy="0"/>
        </a:xfrm>
      </p:grpSpPr>
      <p:sp>
        <p:nvSpPr>
          <p:cNvPr id="377" name="Google Shape;377;p49"/>
          <p:cNvSpPr txBox="1">
            <a:spLocks noGrp="1"/>
          </p:cNvSpPr>
          <p:nvPr>
            <p:ph type="title"/>
          </p:nvPr>
        </p:nvSpPr>
        <p:spPr>
          <a:xfrm>
            <a:off x="1989705" y="505350"/>
            <a:ext cx="51663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How were knowledge bases formed?</a:t>
            </a:r>
            <a:endParaRPr/>
          </a:p>
        </p:txBody>
      </p:sp>
      <p:grpSp>
        <p:nvGrpSpPr>
          <p:cNvPr id="378" name="Google Shape;378;p49"/>
          <p:cNvGrpSpPr/>
          <p:nvPr/>
        </p:nvGrpSpPr>
        <p:grpSpPr>
          <a:xfrm>
            <a:off x="403100" y="1241573"/>
            <a:ext cx="2465380" cy="2502207"/>
            <a:chOff x="403100" y="1241573"/>
            <a:chExt cx="2465380" cy="2502207"/>
          </a:xfrm>
        </p:grpSpPr>
        <p:pic>
          <p:nvPicPr>
            <p:cNvPr id="379" name="Google Shape;379;p49"/>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380" name="Google Shape;380;p49"/>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81" name="Google Shape;381;p49"/>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382" name="Google Shape;382;p49"/>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83" name="Google Shape;383;p49"/>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384" name="Google Shape;384;p49"/>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85" name="Google Shape;385;p49"/>
          <p:cNvSpPr txBox="1"/>
          <p:nvPr/>
        </p:nvSpPr>
        <p:spPr>
          <a:xfrm>
            <a:off x="1023076" y="4145489"/>
            <a:ext cx="1779300" cy="536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unstructured text</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386" name="Google Shape;386;p49"/>
          <p:cNvGrpSpPr/>
          <p:nvPr/>
        </p:nvGrpSpPr>
        <p:grpSpPr>
          <a:xfrm>
            <a:off x="3616225" y="2194724"/>
            <a:ext cx="2101215" cy="1291589"/>
            <a:chOff x="3616225" y="2194724"/>
            <a:chExt cx="2101215" cy="1291589"/>
          </a:xfrm>
        </p:grpSpPr>
        <p:sp>
          <p:nvSpPr>
            <p:cNvPr id="387" name="Google Shape;387;p49"/>
            <p:cNvSpPr/>
            <p:nvPr/>
          </p:nvSpPr>
          <p:spPr>
            <a:xfrm>
              <a:off x="3616225" y="2194724"/>
              <a:ext cx="2101215" cy="1291589"/>
            </a:xfrm>
            <a:custGeom>
              <a:avLst/>
              <a:gdLst/>
              <a:ahLst/>
              <a:cxnLst/>
              <a:rect l="l" t="t" r="r" b="b"/>
              <a:pathLst>
                <a:path w="2101215" h="1291589" extrusionOk="0">
                  <a:moveTo>
                    <a:pt x="1885345" y="1291499"/>
                  </a:moveTo>
                  <a:lnTo>
                    <a:pt x="215254" y="1291499"/>
                  </a:lnTo>
                  <a:lnTo>
                    <a:pt x="165898" y="1285814"/>
                  </a:lnTo>
                  <a:lnTo>
                    <a:pt x="120590" y="1269621"/>
                  </a:lnTo>
                  <a:lnTo>
                    <a:pt x="80623" y="1244211"/>
                  </a:lnTo>
                  <a:lnTo>
                    <a:pt x="47288" y="1210876"/>
                  </a:lnTo>
                  <a:lnTo>
                    <a:pt x="21878" y="1170909"/>
                  </a:lnTo>
                  <a:lnTo>
                    <a:pt x="5685" y="1125601"/>
                  </a:lnTo>
                  <a:lnTo>
                    <a:pt x="0" y="1076245"/>
                  </a:lnTo>
                  <a:lnTo>
                    <a:pt x="0" y="215254"/>
                  </a:lnTo>
                  <a:lnTo>
                    <a:pt x="5685" y="165898"/>
                  </a:lnTo>
                  <a:lnTo>
                    <a:pt x="21878" y="120590"/>
                  </a:lnTo>
                  <a:lnTo>
                    <a:pt x="47288" y="80623"/>
                  </a:lnTo>
                  <a:lnTo>
                    <a:pt x="80623" y="47288"/>
                  </a:lnTo>
                  <a:lnTo>
                    <a:pt x="120590" y="21878"/>
                  </a:lnTo>
                  <a:lnTo>
                    <a:pt x="165898" y="5685"/>
                  </a:lnTo>
                  <a:lnTo>
                    <a:pt x="215254" y="0"/>
                  </a:lnTo>
                  <a:lnTo>
                    <a:pt x="1885345" y="0"/>
                  </a:lnTo>
                  <a:lnTo>
                    <a:pt x="1927535" y="4174"/>
                  </a:lnTo>
                  <a:lnTo>
                    <a:pt x="1967719" y="16385"/>
                  </a:lnTo>
                  <a:lnTo>
                    <a:pt x="2004768" y="36165"/>
                  </a:lnTo>
                  <a:lnTo>
                    <a:pt x="2037553" y="63046"/>
                  </a:lnTo>
                  <a:lnTo>
                    <a:pt x="2064434" y="95831"/>
                  </a:lnTo>
                  <a:lnTo>
                    <a:pt x="2084214" y="132879"/>
                  </a:lnTo>
                  <a:lnTo>
                    <a:pt x="2096425" y="173064"/>
                  </a:lnTo>
                  <a:lnTo>
                    <a:pt x="2100599" y="215254"/>
                  </a:lnTo>
                  <a:lnTo>
                    <a:pt x="2100599" y="1076245"/>
                  </a:lnTo>
                  <a:lnTo>
                    <a:pt x="2094914" y="1125601"/>
                  </a:lnTo>
                  <a:lnTo>
                    <a:pt x="2078721" y="1170909"/>
                  </a:lnTo>
                  <a:lnTo>
                    <a:pt x="2053311" y="1210876"/>
                  </a:lnTo>
                  <a:lnTo>
                    <a:pt x="2019976" y="1244211"/>
                  </a:lnTo>
                  <a:lnTo>
                    <a:pt x="1980009" y="1269621"/>
                  </a:lnTo>
                  <a:lnTo>
                    <a:pt x="1934701" y="1285814"/>
                  </a:lnTo>
                  <a:lnTo>
                    <a:pt x="1885345" y="12914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88" name="Google Shape;388;p49"/>
            <p:cNvSpPr/>
            <p:nvPr/>
          </p:nvSpPr>
          <p:spPr>
            <a:xfrm>
              <a:off x="3616225" y="2194724"/>
              <a:ext cx="2101215" cy="1291589"/>
            </a:xfrm>
            <a:custGeom>
              <a:avLst/>
              <a:gdLst/>
              <a:ahLst/>
              <a:cxnLst/>
              <a:rect l="l" t="t" r="r" b="b"/>
              <a:pathLst>
                <a:path w="2101215" h="1291589" extrusionOk="0">
                  <a:moveTo>
                    <a:pt x="0" y="215254"/>
                  </a:moveTo>
                  <a:lnTo>
                    <a:pt x="5685" y="165898"/>
                  </a:lnTo>
                  <a:lnTo>
                    <a:pt x="21878" y="120590"/>
                  </a:lnTo>
                  <a:lnTo>
                    <a:pt x="47288" y="80623"/>
                  </a:lnTo>
                  <a:lnTo>
                    <a:pt x="80623" y="47288"/>
                  </a:lnTo>
                  <a:lnTo>
                    <a:pt x="120590" y="21878"/>
                  </a:lnTo>
                  <a:lnTo>
                    <a:pt x="165898" y="5685"/>
                  </a:lnTo>
                  <a:lnTo>
                    <a:pt x="215254" y="0"/>
                  </a:lnTo>
                  <a:lnTo>
                    <a:pt x="1885345" y="0"/>
                  </a:lnTo>
                  <a:lnTo>
                    <a:pt x="1927535" y="4174"/>
                  </a:lnTo>
                  <a:lnTo>
                    <a:pt x="1967719" y="16385"/>
                  </a:lnTo>
                  <a:lnTo>
                    <a:pt x="2004768" y="36165"/>
                  </a:lnTo>
                  <a:lnTo>
                    <a:pt x="2037553" y="63046"/>
                  </a:lnTo>
                  <a:lnTo>
                    <a:pt x="2064434" y="95831"/>
                  </a:lnTo>
                  <a:lnTo>
                    <a:pt x="2084214" y="132879"/>
                  </a:lnTo>
                  <a:lnTo>
                    <a:pt x="2096425" y="173064"/>
                  </a:lnTo>
                  <a:lnTo>
                    <a:pt x="2100599" y="215254"/>
                  </a:lnTo>
                  <a:lnTo>
                    <a:pt x="2100599" y="1076245"/>
                  </a:lnTo>
                  <a:lnTo>
                    <a:pt x="2094914" y="1125601"/>
                  </a:lnTo>
                  <a:lnTo>
                    <a:pt x="2078721" y="1170909"/>
                  </a:lnTo>
                  <a:lnTo>
                    <a:pt x="2053311" y="1210876"/>
                  </a:lnTo>
                  <a:lnTo>
                    <a:pt x="2019976" y="1244211"/>
                  </a:lnTo>
                  <a:lnTo>
                    <a:pt x="1980009" y="1269621"/>
                  </a:lnTo>
                  <a:lnTo>
                    <a:pt x="1934701" y="1285814"/>
                  </a:lnTo>
                  <a:lnTo>
                    <a:pt x="1885345" y="1291499"/>
                  </a:lnTo>
                  <a:lnTo>
                    <a:pt x="215254" y="1291499"/>
                  </a:lnTo>
                  <a:lnTo>
                    <a:pt x="165898" y="1285814"/>
                  </a:lnTo>
                  <a:lnTo>
                    <a:pt x="120590" y="1269621"/>
                  </a:lnTo>
                  <a:lnTo>
                    <a:pt x="80623" y="1244211"/>
                  </a:lnTo>
                  <a:lnTo>
                    <a:pt x="47288" y="1210876"/>
                  </a:lnTo>
                  <a:lnTo>
                    <a:pt x="21878" y="1170909"/>
                  </a:lnTo>
                  <a:lnTo>
                    <a:pt x="5685" y="1125601"/>
                  </a:lnTo>
                  <a:lnTo>
                    <a:pt x="0" y="1076245"/>
                  </a:lnTo>
                  <a:lnTo>
                    <a:pt x="0" y="215254"/>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89" name="Google Shape;389;p49"/>
          <p:cNvSpPr txBox="1"/>
          <p:nvPr/>
        </p:nvSpPr>
        <p:spPr>
          <a:xfrm>
            <a:off x="3767012" y="2611112"/>
            <a:ext cx="1801500" cy="492600"/>
          </a:xfrm>
          <a:prstGeom prst="rect">
            <a:avLst/>
          </a:prstGeom>
          <a:noFill/>
          <a:ln>
            <a:noFill/>
          </a:ln>
        </p:spPr>
        <p:txBody>
          <a:bodyPr spcFirstLastPara="1" wrap="square" lIns="0" tIns="22850" rIns="0" bIns="0" anchor="t" anchorCtr="0">
            <a:spAutoFit/>
          </a:bodyPr>
          <a:lstStyle/>
          <a:p>
            <a:pPr marL="566420" marR="5080" lvl="0" indent="-554355"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Extraction  Pipeline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390" name="Google Shape;390;p49"/>
          <p:cNvGrpSpPr/>
          <p:nvPr/>
        </p:nvGrpSpPr>
        <p:grpSpPr>
          <a:xfrm>
            <a:off x="3021300" y="2650075"/>
            <a:ext cx="387985" cy="191769"/>
            <a:chOff x="3021300" y="2650075"/>
            <a:chExt cx="387985" cy="191769"/>
          </a:xfrm>
        </p:grpSpPr>
        <p:sp>
          <p:nvSpPr>
            <p:cNvPr id="391" name="Google Shape;391;p49"/>
            <p:cNvSpPr/>
            <p:nvPr/>
          </p:nvSpPr>
          <p:spPr>
            <a:xfrm>
              <a:off x="3021300" y="2650075"/>
              <a:ext cx="387985" cy="191769"/>
            </a:xfrm>
            <a:custGeom>
              <a:avLst/>
              <a:gdLst/>
              <a:ahLst/>
              <a:cxnLst/>
              <a:rect l="l" t="t" r="r" b="b"/>
              <a:pathLst>
                <a:path w="387985" h="191769" extrusionOk="0">
                  <a:moveTo>
                    <a:pt x="292049" y="191699"/>
                  </a:moveTo>
                  <a:lnTo>
                    <a:pt x="292049" y="143774"/>
                  </a:lnTo>
                  <a:lnTo>
                    <a:pt x="0" y="143774"/>
                  </a:lnTo>
                  <a:lnTo>
                    <a:pt x="0" y="47924"/>
                  </a:lnTo>
                  <a:lnTo>
                    <a:pt x="292049" y="47924"/>
                  </a:lnTo>
                  <a:lnTo>
                    <a:pt x="292049" y="0"/>
                  </a:lnTo>
                  <a:lnTo>
                    <a:pt x="387899" y="95849"/>
                  </a:lnTo>
                  <a:lnTo>
                    <a:pt x="2920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92" name="Google Shape;392;p49"/>
            <p:cNvSpPr/>
            <p:nvPr/>
          </p:nvSpPr>
          <p:spPr>
            <a:xfrm>
              <a:off x="3021300" y="2650075"/>
              <a:ext cx="387985" cy="191769"/>
            </a:xfrm>
            <a:custGeom>
              <a:avLst/>
              <a:gdLst/>
              <a:ahLst/>
              <a:cxnLst/>
              <a:rect l="l" t="t" r="r" b="b"/>
              <a:pathLst>
                <a:path w="387985" h="191769" extrusionOk="0">
                  <a:moveTo>
                    <a:pt x="292049" y="0"/>
                  </a:moveTo>
                  <a:lnTo>
                    <a:pt x="387899" y="95849"/>
                  </a:lnTo>
                  <a:lnTo>
                    <a:pt x="292049" y="191699"/>
                  </a:lnTo>
                  <a:lnTo>
                    <a:pt x="292049" y="143774"/>
                  </a:lnTo>
                  <a:lnTo>
                    <a:pt x="0" y="143774"/>
                  </a:lnTo>
                  <a:lnTo>
                    <a:pt x="0" y="47924"/>
                  </a:lnTo>
                  <a:lnTo>
                    <a:pt x="292049" y="47924"/>
                  </a:lnTo>
                  <a:lnTo>
                    <a:pt x="2920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93" name="Google Shape;393;p49"/>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14</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394" name="Google Shape;394;p49"/>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95" name="Google Shape;395;p49"/>
          <p:cNvSpPr txBox="1"/>
          <p:nvPr/>
        </p:nvSpPr>
        <p:spPr>
          <a:xfrm>
            <a:off x="6019800" y="4145489"/>
            <a:ext cx="28956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Structured knowledge base</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400"/>
        <p:cNvGrpSpPr/>
        <p:nvPr/>
      </p:nvGrpSpPr>
      <p:grpSpPr>
        <a:xfrm>
          <a:off x="0" y="0"/>
          <a:ext cx="0" cy="0"/>
          <a:chOff x="0" y="0"/>
          <a:chExt cx="0" cy="0"/>
        </a:xfrm>
      </p:grpSpPr>
      <p:sp>
        <p:nvSpPr>
          <p:cNvPr id="401" name="Google Shape;401;p50"/>
          <p:cNvSpPr txBox="1">
            <a:spLocks noGrp="1"/>
          </p:cNvSpPr>
          <p:nvPr>
            <p:ph type="title"/>
          </p:nvPr>
        </p:nvSpPr>
        <p:spPr>
          <a:xfrm>
            <a:off x="1989705" y="505350"/>
            <a:ext cx="51663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How were knowledge bases formed?</a:t>
            </a:r>
            <a:endParaRPr/>
          </a:p>
        </p:txBody>
      </p:sp>
      <p:grpSp>
        <p:nvGrpSpPr>
          <p:cNvPr id="402" name="Google Shape;402;p50"/>
          <p:cNvGrpSpPr/>
          <p:nvPr/>
        </p:nvGrpSpPr>
        <p:grpSpPr>
          <a:xfrm>
            <a:off x="403100" y="1241573"/>
            <a:ext cx="2465380" cy="2502207"/>
            <a:chOff x="403100" y="1241573"/>
            <a:chExt cx="2465380" cy="2502207"/>
          </a:xfrm>
        </p:grpSpPr>
        <p:pic>
          <p:nvPicPr>
            <p:cNvPr id="403" name="Google Shape;403;p50"/>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404" name="Google Shape;404;p50"/>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05" name="Google Shape;405;p50"/>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406" name="Google Shape;406;p50"/>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07" name="Google Shape;407;p50"/>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408" name="Google Shape;408;p50"/>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09" name="Google Shape;409;p50"/>
          <p:cNvSpPr txBox="1"/>
          <p:nvPr/>
        </p:nvSpPr>
        <p:spPr>
          <a:xfrm>
            <a:off x="1023076" y="4145489"/>
            <a:ext cx="1779300" cy="536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unstructured text</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410" name="Google Shape;410;p50"/>
          <p:cNvGrpSpPr/>
          <p:nvPr/>
        </p:nvGrpSpPr>
        <p:grpSpPr>
          <a:xfrm>
            <a:off x="3616225" y="2194724"/>
            <a:ext cx="2101215" cy="1291589"/>
            <a:chOff x="3616225" y="2194724"/>
            <a:chExt cx="2101215" cy="1291589"/>
          </a:xfrm>
        </p:grpSpPr>
        <p:sp>
          <p:nvSpPr>
            <p:cNvPr id="411" name="Google Shape;411;p50"/>
            <p:cNvSpPr/>
            <p:nvPr/>
          </p:nvSpPr>
          <p:spPr>
            <a:xfrm>
              <a:off x="3616225" y="2194724"/>
              <a:ext cx="2101215" cy="1291589"/>
            </a:xfrm>
            <a:custGeom>
              <a:avLst/>
              <a:gdLst/>
              <a:ahLst/>
              <a:cxnLst/>
              <a:rect l="l" t="t" r="r" b="b"/>
              <a:pathLst>
                <a:path w="2101215" h="1291589" extrusionOk="0">
                  <a:moveTo>
                    <a:pt x="1885345" y="1291499"/>
                  </a:moveTo>
                  <a:lnTo>
                    <a:pt x="215254" y="1291499"/>
                  </a:lnTo>
                  <a:lnTo>
                    <a:pt x="165898" y="1285814"/>
                  </a:lnTo>
                  <a:lnTo>
                    <a:pt x="120590" y="1269621"/>
                  </a:lnTo>
                  <a:lnTo>
                    <a:pt x="80623" y="1244211"/>
                  </a:lnTo>
                  <a:lnTo>
                    <a:pt x="47288" y="1210876"/>
                  </a:lnTo>
                  <a:lnTo>
                    <a:pt x="21878" y="1170909"/>
                  </a:lnTo>
                  <a:lnTo>
                    <a:pt x="5685" y="1125601"/>
                  </a:lnTo>
                  <a:lnTo>
                    <a:pt x="0" y="1076245"/>
                  </a:lnTo>
                  <a:lnTo>
                    <a:pt x="0" y="215254"/>
                  </a:lnTo>
                  <a:lnTo>
                    <a:pt x="5685" y="165898"/>
                  </a:lnTo>
                  <a:lnTo>
                    <a:pt x="21878" y="120590"/>
                  </a:lnTo>
                  <a:lnTo>
                    <a:pt x="47288" y="80623"/>
                  </a:lnTo>
                  <a:lnTo>
                    <a:pt x="80623" y="47288"/>
                  </a:lnTo>
                  <a:lnTo>
                    <a:pt x="120590" y="21878"/>
                  </a:lnTo>
                  <a:lnTo>
                    <a:pt x="165898" y="5685"/>
                  </a:lnTo>
                  <a:lnTo>
                    <a:pt x="215254" y="0"/>
                  </a:lnTo>
                  <a:lnTo>
                    <a:pt x="1885345" y="0"/>
                  </a:lnTo>
                  <a:lnTo>
                    <a:pt x="1927535" y="4174"/>
                  </a:lnTo>
                  <a:lnTo>
                    <a:pt x="1967719" y="16385"/>
                  </a:lnTo>
                  <a:lnTo>
                    <a:pt x="2004768" y="36165"/>
                  </a:lnTo>
                  <a:lnTo>
                    <a:pt x="2037553" y="63046"/>
                  </a:lnTo>
                  <a:lnTo>
                    <a:pt x="2064434" y="95831"/>
                  </a:lnTo>
                  <a:lnTo>
                    <a:pt x="2084214" y="132879"/>
                  </a:lnTo>
                  <a:lnTo>
                    <a:pt x="2096425" y="173064"/>
                  </a:lnTo>
                  <a:lnTo>
                    <a:pt x="2100599" y="215254"/>
                  </a:lnTo>
                  <a:lnTo>
                    <a:pt x="2100599" y="1076245"/>
                  </a:lnTo>
                  <a:lnTo>
                    <a:pt x="2094914" y="1125601"/>
                  </a:lnTo>
                  <a:lnTo>
                    <a:pt x="2078721" y="1170909"/>
                  </a:lnTo>
                  <a:lnTo>
                    <a:pt x="2053311" y="1210876"/>
                  </a:lnTo>
                  <a:lnTo>
                    <a:pt x="2019976" y="1244211"/>
                  </a:lnTo>
                  <a:lnTo>
                    <a:pt x="1980009" y="1269621"/>
                  </a:lnTo>
                  <a:lnTo>
                    <a:pt x="1934701" y="1285814"/>
                  </a:lnTo>
                  <a:lnTo>
                    <a:pt x="1885345" y="12914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12" name="Google Shape;412;p50"/>
            <p:cNvSpPr/>
            <p:nvPr/>
          </p:nvSpPr>
          <p:spPr>
            <a:xfrm>
              <a:off x="3616225" y="2194724"/>
              <a:ext cx="2101215" cy="1291589"/>
            </a:xfrm>
            <a:custGeom>
              <a:avLst/>
              <a:gdLst/>
              <a:ahLst/>
              <a:cxnLst/>
              <a:rect l="l" t="t" r="r" b="b"/>
              <a:pathLst>
                <a:path w="2101215" h="1291589" extrusionOk="0">
                  <a:moveTo>
                    <a:pt x="0" y="215254"/>
                  </a:moveTo>
                  <a:lnTo>
                    <a:pt x="5685" y="165898"/>
                  </a:lnTo>
                  <a:lnTo>
                    <a:pt x="21878" y="120590"/>
                  </a:lnTo>
                  <a:lnTo>
                    <a:pt x="47288" y="80623"/>
                  </a:lnTo>
                  <a:lnTo>
                    <a:pt x="80623" y="47288"/>
                  </a:lnTo>
                  <a:lnTo>
                    <a:pt x="120590" y="21878"/>
                  </a:lnTo>
                  <a:lnTo>
                    <a:pt x="165898" y="5685"/>
                  </a:lnTo>
                  <a:lnTo>
                    <a:pt x="215254" y="0"/>
                  </a:lnTo>
                  <a:lnTo>
                    <a:pt x="1885345" y="0"/>
                  </a:lnTo>
                  <a:lnTo>
                    <a:pt x="1927535" y="4174"/>
                  </a:lnTo>
                  <a:lnTo>
                    <a:pt x="1967719" y="16385"/>
                  </a:lnTo>
                  <a:lnTo>
                    <a:pt x="2004768" y="36165"/>
                  </a:lnTo>
                  <a:lnTo>
                    <a:pt x="2037553" y="63046"/>
                  </a:lnTo>
                  <a:lnTo>
                    <a:pt x="2064434" y="95831"/>
                  </a:lnTo>
                  <a:lnTo>
                    <a:pt x="2084214" y="132879"/>
                  </a:lnTo>
                  <a:lnTo>
                    <a:pt x="2096425" y="173064"/>
                  </a:lnTo>
                  <a:lnTo>
                    <a:pt x="2100599" y="215254"/>
                  </a:lnTo>
                  <a:lnTo>
                    <a:pt x="2100599" y="1076245"/>
                  </a:lnTo>
                  <a:lnTo>
                    <a:pt x="2094914" y="1125601"/>
                  </a:lnTo>
                  <a:lnTo>
                    <a:pt x="2078721" y="1170909"/>
                  </a:lnTo>
                  <a:lnTo>
                    <a:pt x="2053311" y="1210876"/>
                  </a:lnTo>
                  <a:lnTo>
                    <a:pt x="2019976" y="1244211"/>
                  </a:lnTo>
                  <a:lnTo>
                    <a:pt x="1980009" y="1269621"/>
                  </a:lnTo>
                  <a:lnTo>
                    <a:pt x="1934701" y="1285814"/>
                  </a:lnTo>
                  <a:lnTo>
                    <a:pt x="1885345" y="1291499"/>
                  </a:lnTo>
                  <a:lnTo>
                    <a:pt x="215254" y="1291499"/>
                  </a:lnTo>
                  <a:lnTo>
                    <a:pt x="165898" y="1285814"/>
                  </a:lnTo>
                  <a:lnTo>
                    <a:pt x="120590" y="1269621"/>
                  </a:lnTo>
                  <a:lnTo>
                    <a:pt x="80623" y="1244211"/>
                  </a:lnTo>
                  <a:lnTo>
                    <a:pt x="47288" y="1210876"/>
                  </a:lnTo>
                  <a:lnTo>
                    <a:pt x="21878" y="1170909"/>
                  </a:lnTo>
                  <a:lnTo>
                    <a:pt x="5685" y="1125601"/>
                  </a:lnTo>
                  <a:lnTo>
                    <a:pt x="0" y="1076245"/>
                  </a:lnTo>
                  <a:lnTo>
                    <a:pt x="0" y="215254"/>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13" name="Google Shape;413;p50"/>
          <p:cNvSpPr txBox="1"/>
          <p:nvPr/>
        </p:nvSpPr>
        <p:spPr>
          <a:xfrm>
            <a:off x="3767012" y="2611112"/>
            <a:ext cx="1801500" cy="492600"/>
          </a:xfrm>
          <a:prstGeom prst="rect">
            <a:avLst/>
          </a:prstGeom>
          <a:noFill/>
          <a:ln>
            <a:noFill/>
          </a:ln>
        </p:spPr>
        <p:txBody>
          <a:bodyPr spcFirstLastPara="1" wrap="square" lIns="0" tIns="22850" rIns="0" bIns="0" anchor="t" anchorCtr="0">
            <a:spAutoFit/>
          </a:bodyPr>
          <a:lstStyle/>
          <a:p>
            <a:pPr marL="566420" marR="5080" lvl="0" indent="-554355"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Extraction  Pipeline</a:t>
            </a:r>
            <a:endParaRPr kumimoji="0"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414" name="Google Shape;414;p50"/>
          <p:cNvGrpSpPr/>
          <p:nvPr/>
        </p:nvGrpSpPr>
        <p:grpSpPr>
          <a:xfrm>
            <a:off x="3021300" y="2650075"/>
            <a:ext cx="387985" cy="191769"/>
            <a:chOff x="3021300" y="2650075"/>
            <a:chExt cx="387985" cy="191769"/>
          </a:xfrm>
        </p:grpSpPr>
        <p:sp>
          <p:nvSpPr>
            <p:cNvPr id="415" name="Google Shape;415;p50"/>
            <p:cNvSpPr/>
            <p:nvPr/>
          </p:nvSpPr>
          <p:spPr>
            <a:xfrm>
              <a:off x="3021300" y="2650075"/>
              <a:ext cx="387985" cy="191769"/>
            </a:xfrm>
            <a:custGeom>
              <a:avLst/>
              <a:gdLst/>
              <a:ahLst/>
              <a:cxnLst/>
              <a:rect l="l" t="t" r="r" b="b"/>
              <a:pathLst>
                <a:path w="387985" h="191769" extrusionOk="0">
                  <a:moveTo>
                    <a:pt x="292049" y="191699"/>
                  </a:moveTo>
                  <a:lnTo>
                    <a:pt x="292049" y="143774"/>
                  </a:lnTo>
                  <a:lnTo>
                    <a:pt x="0" y="143774"/>
                  </a:lnTo>
                  <a:lnTo>
                    <a:pt x="0" y="47924"/>
                  </a:lnTo>
                  <a:lnTo>
                    <a:pt x="292049" y="47924"/>
                  </a:lnTo>
                  <a:lnTo>
                    <a:pt x="292049" y="0"/>
                  </a:lnTo>
                  <a:lnTo>
                    <a:pt x="387899" y="95849"/>
                  </a:lnTo>
                  <a:lnTo>
                    <a:pt x="2920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16" name="Google Shape;416;p50"/>
            <p:cNvSpPr/>
            <p:nvPr/>
          </p:nvSpPr>
          <p:spPr>
            <a:xfrm>
              <a:off x="3021300" y="2650075"/>
              <a:ext cx="387985" cy="191769"/>
            </a:xfrm>
            <a:custGeom>
              <a:avLst/>
              <a:gdLst/>
              <a:ahLst/>
              <a:cxnLst/>
              <a:rect l="l" t="t" r="r" b="b"/>
              <a:pathLst>
                <a:path w="387985" h="191769" extrusionOk="0">
                  <a:moveTo>
                    <a:pt x="292049" y="0"/>
                  </a:moveTo>
                  <a:lnTo>
                    <a:pt x="387899" y="95849"/>
                  </a:lnTo>
                  <a:lnTo>
                    <a:pt x="292049" y="191699"/>
                  </a:lnTo>
                  <a:lnTo>
                    <a:pt x="292049" y="143774"/>
                  </a:lnTo>
                  <a:lnTo>
                    <a:pt x="0" y="143774"/>
                  </a:lnTo>
                  <a:lnTo>
                    <a:pt x="0" y="47924"/>
                  </a:lnTo>
                  <a:lnTo>
                    <a:pt x="292049" y="47924"/>
                  </a:lnTo>
                  <a:lnTo>
                    <a:pt x="2920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17" name="Google Shape;417;p50"/>
          <p:cNvGrpSpPr/>
          <p:nvPr/>
        </p:nvGrpSpPr>
        <p:grpSpPr>
          <a:xfrm>
            <a:off x="5923837" y="2650075"/>
            <a:ext cx="387985" cy="191769"/>
            <a:chOff x="5923837" y="2650075"/>
            <a:chExt cx="387985" cy="191769"/>
          </a:xfrm>
        </p:grpSpPr>
        <p:sp>
          <p:nvSpPr>
            <p:cNvPr id="418" name="Google Shape;418;p50"/>
            <p:cNvSpPr/>
            <p:nvPr/>
          </p:nvSpPr>
          <p:spPr>
            <a:xfrm>
              <a:off x="5923837" y="2650075"/>
              <a:ext cx="387985" cy="191769"/>
            </a:xfrm>
            <a:custGeom>
              <a:avLst/>
              <a:gdLst/>
              <a:ahLst/>
              <a:cxnLst/>
              <a:rect l="l" t="t" r="r" b="b"/>
              <a:pathLst>
                <a:path w="387985" h="191769" extrusionOk="0">
                  <a:moveTo>
                    <a:pt x="292049" y="191699"/>
                  </a:moveTo>
                  <a:lnTo>
                    <a:pt x="292049" y="143774"/>
                  </a:lnTo>
                  <a:lnTo>
                    <a:pt x="0" y="143774"/>
                  </a:lnTo>
                  <a:lnTo>
                    <a:pt x="0" y="47924"/>
                  </a:lnTo>
                  <a:lnTo>
                    <a:pt x="292049" y="47924"/>
                  </a:lnTo>
                  <a:lnTo>
                    <a:pt x="292049" y="0"/>
                  </a:lnTo>
                  <a:lnTo>
                    <a:pt x="387899" y="95849"/>
                  </a:lnTo>
                  <a:lnTo>
                    <a:pt x="2920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19" name="Google Shape;419;p50"/>
            <p:cNvSpPr/>
            <p:nvPr/>
          </p:nvSpPr>
          <p:spPr>
            <a:xfrm>
              <a:off x="5923837" y="2650075"/>
              <a:ext cx="387985" cy="191769"/>
            </a:xfrm>
            <a:custGeom>
              <a:avLst/>
              <a:gdLst/>
              <a:ahLst/>
              <a:cxnLst/>
              <a:rect l="l" t="t" r="r" b="b"/>
              <a:pathLst>
                <a:path w="387985" h="191769" extrusionOk="0">
                  <a:moveTo>
                    <a:pt x="292049" y="0"/>
                  </a:moveTo>
                  <a:lnTo>
                    <a:pt x="387899" y="95849"/>
                  </a:lnTo>
                  <a:lnTo>
                    <a:pt x="292049" y="191699"/>
                  </a:lnTo>
                  <a:lnTo>
                    <a:pt x="292049" y="143774"/>
                  </a:lnTo>
                  <a:lnTo>
                    <a:pt x="0" y="143774"/>
                  </a:lnTo>
                  <a:lnTo>
                    <a:pt x="0" y="47924"/>
                  </a:lnTo>
                  <a:lnTo>
                    <a:pt x="292049" y="47924"/>
                  </a:lnTo>
                  <a:lnTo>
                    <a:pt x="2920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20" name="Google Shape;420;p50"/>
          <p:cNvGrpSpPr/>
          <p:nvPr/>
        </p:nvGrpSpPr>
        <p:grpSpPr>
          <a:xfrm>
            <a:off x="6504050" y="1793624"/>
            <a:ext cx="2232975" cy="1937615"/>
            <a:chOff x="6504050" y="1793624"/>
            <a:chExt cx="2232975" cy="1937615"/>
          </a:xfrm>
        </p:grpSpPr>
        <p:pic>
          <p:nvPicPr>
            <p:cNvPr id="421" name="Google Shape;421;p50"/>
            <p:cNvPicPr preferRelativeResize="0"/>
            <p:nvPr/>
          </p:nvPicPr>
          <p:blipFill rotWithShape="1">
            <a:blip r:embed="rId6">
              <a:alphaModFix/>
            </a:blip>
            <a:srcRect/>
            <a:stretch/>
          </p:blipFill>
          <p:spPr>
            <a:xfrm>
              <a:off x="6504050" y="1793624"/>
              <a:ext cx="2021475" cy="1937615"/>
            </a:xfrm>
            <a:prstGeom prst="rect">
              <a:avLst/>
            </a:prstGeom>
            <a:noFill/>
            <a:ln>
              <a:noFill/>
            </a:ln>
          </p:spPr>
        </p:pic>
        <p:sp>
          <p:nvSpPr>
            <p:cNvPr id="422" name="Google Shape;422;p50"/>
            <p:cNvSpPr/>
            <p:nvPr/>
          </p:nvSpPr>
          <p:spPr>
            <a:xfrm>
              <a:off x="8038525" y="2535299"/>
              <a:ext cx="698500" cy="759460"/>
            </a:xfrm>
            <a:custGeom>
              <a:avLst/>
              <a:gdLst/>
              <a:ahLst/>
              <a:cxnLst/>
              <a:rect l="l" t="t" r="r" b="b"/>
              <a:pathLst>
                <a:path w="698500" h="759460" extrusionOk="0">
                  <a:moveTo>
                    <a:pt x="173399" y="758999"/>
                  </a:moveTo>
                  <a:lnTo>
                    <a:pt x="0" y="145199"/>
                  </a:lnTo>
                  <a:lnTo>
                    <a:pt x="524999" y="0"/>
                  </a:lnTo>
                  <a:lnTo>
                    <a:pt x="698399" y="613799"/>
                  </a:lnTo>
                  <a:lnTo>
                    <a:pt x="173399" y="7589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23" name="Google Shape;423;p50"/>
            <p:cNvSpPr/>
            <p:nvPr/>
          </p:nvSpPr>
          <p:spPr>
            <a:xfrm>
              <a:off x="8038525" y="2535299"/>
              <a:ext cx="698500" cy="759460"/>
            </a:xfrm>
            <a:custGeom>
              <a:avLst/>
              <a:gdLst/>
              <a:ahLst/>
              <a:cxnLst/>
              <a:rect l="l" t="t" r="r" b="b"/>
              <a:pathLst>
                <a:path w="698500" h="759460" extrusionOk="0">
                  <a:moveTo>
                    <a:pt x="0" y="145199"/>
                  </a:moveTo>
                  <a:lnTo>
                    <a:pt x="524999" y="0"/>
                  </a:lnTo>
                  <a:lnTo>
                    <a:pt x="698399" y="613799"/>
                  </a:lnTo>
                  <a:lnTo>
                    <a:pt x="173399" y="758999"/>
                  </a:lnTo>
                  <a:lnTo>
                    <a:pt x="0" y="145199"/>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24" name="Google Shape;424;p50"/>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425" name="Google Shape;425;p50"/>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15</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426" name="Google Shape;426;p50"/>
          <p:cNvSpPr txBox="1"/>
          <p:nvPr/>
        </p:nvSpPr>
        <p:spPr>
          <a:xfrm>
            <a:off x="6019800" y="4145489"/>
            <a:ext cx="28956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E69137"/>
                </a:solidFill>
                <a:effectLst/>
                <a:uLnTx/>
                <a:uFillTx/>
                <a:latin typeface="Cambria"/>
                <a:ea typeface="Cambria"/>
                <a:cs typeface="Cambria"/>
                <a:sym typeface="Cambria"/>
              </a:rPr>
              <a:t>Structured knowledge base</a:t>
            </a: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430"/>
        <p:cNvGrpSpPr/>
        <p:nvPr/>
      </p:nvGrpSpPr>
      <p:grpSpPr>
        <a:xfrm>
          <a:off x="0" y="0"/>
          <a:ext cx="0" cy="0"/>
          <a:chOff x="0" y="0"/>
          <a:chExt cx="0" cy="0"/>
        </a:xfrm>
      </p:grpSpPr>
      <p:sp>
        <p:nvSpPr>
          <p:cNvPr id="431" name="Google Shape;431;p51"/>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16</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432" name="Google Shape;432;p51"/>
          <p:cNvSpPr txBox="1">
            <a:spLocks noGrp="1"/>
          </p:cNvSpPr>
          <p:nvPr>
            <p:ph type="title"/>
          </p:nvPr>
        </p:nvSpPr>
        <p:spPr>
          <a:xfrm>
            <a:off x="1812924" y="522603"/>
            <a:ext cx="6219192"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dirty="0"/>
              <a:t>Downsides of using knowledge bases</a:t>
            </a:r>
            <a:endParaRPr dirty="0"/>
          </a:p>
        </p:txBody>
      </p:sp>
      <p:sp>
        <p:nvSpPr>
          <p:cNvPr id="433" name="Google Shape;433;p51"/>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438"/>
        <p:cNvGrpSpPr/>
        <p:nvPr/>
      </p:nvGrpSpPr>
      <p:grpSpPr>
        <a:xfrm>
          <a:off x="0" y="0"/>
          <a:ext cx="0" cy="0"/>
          <a:chOff x="0" y="0"/>
          <a:chExt cx="0" cy="0"/>
        </a:xfrm>
      </p:grpSpPr>
      <p:grpSp>
        <p:nvGrpSpPr>
          <p:cNvPr id="439" name="Google Shape;439;p52"/>
          <p:cNvGrpSpPr/>
          <p:nvPr/>
        </p:nvGrpSpPr>
        <p:grpSpPr>
          <a:xfrm>
            <a:off x="3637589" y="1599244"/>
            <a:ext cx="2101215" cy="2391410"/>
            <a:chOff x="3630950" y="1550425"/>
            <a:chExt cx="2101215" cy="2391410"/>
          </a:xfrm>
        </p:grpSpPr>
        <p:sp>
          <p:nvSpPr>
            <p:cNvPr id="440" name="Google Shape;440;p52"/>
            <p:cNvSpPr/>
            <p:nvPr/>
          </p:nvSpPr>
          <p:spPr>
            <a:xfrm>
              <a:off x="3630950" y="1550425"/>
              <a:ext cx="2101215" cy="2391410"/>
            </a:xfrm>
            <a:custGeom>
              <a:avLst/>
              <a:gdLst/>
              <a:ahLst/>
              <a:cxnLst/>
              <a:rect l="l" t="t" r="r" b="b"/>
              <a:pathLst>
                <a:path w="2101215" h="2391410" extrusionOk="0">
                  <a:moveTo>
                    <a:pt x="0" y="350106"/>
                  </a:moveTo>
                  <a:lnTo>
                    <a:pt x="3196" y="302599"/>
                  </a:lnTo>
                  <a:lnTo>
                    <a:pt x="12506" y="257034"/>
                  </a:lnTo>
                  <a:lnTo>
                    <a:pt x="27513" y="213829"/>
                  </a:lnTo>
                  <a:lnTo>
                    <a:pt x="47799" y="173401"/>
                  </a:lnTo>
                  <a:lnTo>
                    <a:pt x="72949" y="136167"/>
                  </a:lnTo>
                  <a:lnTo>
                    <a:pt x="102544" y="102543"/>
                  </a:lnTo>
                  <a:lnTo>
                    <a:pt x="136167" y="72949"/>
                  </a:lnTo>
                  <a:lnTo>
                    <a:pt x="173401" y="47799"/>
                  </a:lnTo>
                  <a:lnTo>
                    <a:pt x="213829" y="27513"/>
                  </a:lnTo>
                  <a:lnTo>
                    <a:pt x="257034" y="12506"/>
                  </a:lnTo>
                  <a:lnTo>
                    <a:pt x="302599" y="3196"/>
                  </a:lnTo>
                  <a:lnTo>
                    <a:pt x="350106" y="0"/>
                  </a:lnTo>
                  <a:lnTo>
                    <a:pt x="1750492" y="0"/>
                  </a:lnTo>
                  <a:lnTo>
                    <a:pt x="1796512" y="3036"/>
                  </a:lnTo>
                  <a:lnTo>
                    <a:pt x="1841353" y="11994"/>
                  </a:lnTo>
                  <a:lnTo>
                    <a:pt x="1884473" y="26650"/>
                  </a:lnTo>
                  <a:lnTo>
                    <a:pt x="1925325" y="46777"/>
                  </a:lnTo>
                  <a:lnTo>
                    <a:pt x="1963368" y="72150"/>
                  </a:lnTo>
                  <a:lnTo>
                    <a:pt x="1998055" y="102543"/>
                  </a:lnTo>
                  <a:lnTo>
                    <a:pt x="2028449" y="137231"/>
                  </a:lnTo>
                  <a:lnTo>
                    <a:pt x="2053822" y="175273"/>
                  </a:lnTo>
                  <a:lnTo>
                    <a:pt x="2073949" y="216126"/>
                  </a:lnTo>
                  <a:lnTo>
                    <a:pt x="2088605" y="259246"/>
                  </a:lnTo>
                  <a:lnTo>
                    <a:pt x="2097563" y="304087"/>
                  </a:lnTo>
                  <a:lnTo>
                    <a:pt x="2100599" y="350106"/>
                  </a:lnTo>
                  <a:lnTo>
                    <a:pt x="2100599" y="2040892"/>
                  </a:lnTo>
                  <a:lnTo>
                    <a:pt x="2097403" y="2088400"/>
                  </a:lnTo>
                  <a:lnTo>
                    <a:pt x="2088093" y="2133965"/>
                  </a:lnTo>
                  <a:lnTo>
                    <a:pt x="2073086" y="2177170"/>
                  </a:lnTo>
                  <a:lnTo>
                    <a:pt x="2052800" y="2217598"/>
                  </a:lnTo>
                  <a:lnTo>
                    <a:pt x="2027650" y="2254832"/>
                  </a:lnTo>
                  <a:lnTo>
                    <a:pt x="1998055" y="2288455"/>
                  </a:lnTo>
                  <a:lnTo>
                    <a:pt x="1964432" y="2318050"/>
                  </a:lnTo>
                  <a:lnTo>
                    <a:pt x="1927198" y="2343200"/>
                  </a:lnTo>
                  <a:lnTo>
                    <a:pt x="1886770" y="2363486"/>
                  </a:lnTo>
                  <a:lnTo>
                    <a:pt x="1843565" y="2378493"/>
                  </a:lnTo>
                  <a:lnTo>
                    <a:pt x="1798000" y="2387803"/>
                  </a:lnTo>
                  <a:lnTo>
                    <a:pt x="1750492" y="2390999"/>
                  </a:lnTo>
                  <a:lnTo>
                    <a:pt x="350106" y="2390999"/>
                  </a:lnTo>
                  <a:lnTo>
                    <a:pt x="302599" y="2387803"/>
                  </a:lnTo>
                  <a:lnTo>
                    <a:pt x="257034" y="2378493"/>
                  </a:lnTo>
                  <a:lnTo>
                    <a:pt x="213829" y="2363486"/>
                  </a:lnTo>
                  <a:lnTo>
                    <a:pt x="173401" y="2343200"/>
                  </a:lnTo>
                  <a:lnTo>
                    <a:pt x="136167" y="2318050"/>
                  </a:lnTo>
                  <a:lnTo>
                    <a:pt x="102544" y="2288455"/>
                  </a:lnTo>
                  <a:lnTo>
                    <a:pt x="72949" y="2254832"/>
                  </a:lnTo>
                  <a:lnTo>
                    <a:pt x="47799" y="2217598"/>
                  </a:lnTo>
                  <a:lnTo>
                    <a:pt x="27513" y="2177170"/>
                  </a:lnTo>
                  <a:lnTo>
                    <a:pt x="12506" y="2133965"/>
                  </a:lnTo>
                  <a:lnTo>
                    <a:pt x="3196" y="2088400"/>
                  </a:lnTo>
                  <a:lnTo>
                    <a:pt x="0" y="2040892"/>
                  </a:lnTo>
                  <a:lnTo>
                    <a:pt x="0" y="350106"/>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1" name="Google Shape;441;p52"/>
            <p:cNvSpPr/>
            <p:nvPr/>
          </p:nvSpPr>
          <p:spPr>
            <a:xfrm>
              <a:off x="3759187" y="2981650"/>
              <a:ext cx="1814195" cy="275589"/>
            </a:xfrm>
            <a:custGeom>
              <a:avLst/>
              <a:gdLst/>
              <a:ahLst/>
              <a:cxnLst/>
              <a:rect l="l" t="t" r="r" b="b"/>
              <a:pathLst>
                <a:path w="1814195" h="275589" extrusionOk="0">
                  <a:moveTo>
                    <a:pt x="1768249" y="275099"/>
                  </a:moveTo>
                  <a:lnTo>
                    <a:pt x="45850" y="275099"/>
                  </a:lnTo>
                  <a:lnTo>
                    <a:pt x="28003" y="271496"/>
                  </a:lnTo>
                  <a:lnTo>
                    <a:pt x="13429" y="261670"/>
                  </a:lnTo>
                  <a:lnTo>
                    <a:pt x="3603" y="247096"/>
                  </a:lnTo>
                  <a:lnTo>
                    <a:pt x="0" y="229248"/>
                  </a:lnTo>
                  <a:lnTo>
                    <a:pt x="0" y="45850"/>
                  </a:ln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2" name="Google Shape;442;p52"/>
            <p:cNvSpPr/>
            <p:nvPr/>
          </p:nvSpPr>
          <p:spPr>
            <a:xfrm>
              <a:off x="3759187" y="2981650"/>
              <a:ext cx="1814195" cy="275589"/>
            </a:xfrm>
            <a:custGeom>
              <a:avLst/>
              <a:gdLst/>
              <a:ahLst/>
              <a:cxnLst/>
              <a:rect l="l" t="t" r="r" b="b"/>
              <a:pathLst>
                <a:path w="1814195" h="275589" extrusionOk="0">
                  <a:moveTo>
                    <a:pt x="0" y="45850"/>
                  </a:move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lnTo>
                    <a:pt x="45850" y="275099"/>
                  </a:lnTo>
                  <a:lnTo>
                    <a:pt x="28003" y="271496"/>
                  </a:lnTo>
                  <a:lnTo>
                    <a:pt x="13429" y="261670"/>
                  </a:lnTo>
                  <a:lnTo>
                    <a:pt x="3603" y="247096"/>
                  </a:lnTo>
                  <a:lnTo>
                    <a:pt x="0" y="229248"/>
                  </a:lnTo>
                  <a:lnTo>
                    <a:pt x="0" y="4585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3" name="Google Shape;443;p52"/>
            <p:cNvSpPr/>
            <p:nvPr/>
          </p:nvSpPr>
          <p:spPr>
            <a:xfrm>
              <a:off x="3749512" y="3331125"/>
              <a:ext cx="1814195" cy="275589"/>
            </a:xfrm>
            <a:custGeom>
              <a:avLst/>
              <a:gdLst/>
              <a:ahLst/>
              <a:cxnLst/>
              <a:rect l="l" t="t" r="r" b="b"/>
              <a:pathLst>
                <a:path w="1814195" h="275589" extrusionOk="0">
                  <a:moveTo>
                    <a:pt x="1768249" y="275099"/>
                  </a:moveTo>
                  <a:lnTo>
                    <a:pt x="45850" y="275099"/>
                  </a:lnTo>
                  <a:lnTo>
                    <a:pt x="28003" y="271496"/>
                  </a:lnTo>
                  <a:lnTo>
                    <a:pt x="13429" y="261670"/>
                  </a:lnTo>
                  <a:lnTo>
                    <a:pt x="3603" y="247096"/>
                  </a:lnTo>
                  <a:lnTo>
                    <a:pt x="0" y="229249"/>
                  </a:lnTo>
                  <a:lnTo>
                    <a:pt x="0" y="45850"/>
                  </a:lnTo>
                  <a:lnTo>
                    <a:pt x="3603" y="28003"/>
                  </a:lnTo>
                  <a:lnTo>
                    <a:pt x="13429" y="13429"/>
                  </a:lnTo>
                  <a:lnTo>
                    <a:pt x="28003" y="3603"/>
                  </a:lnTo>
                  <a:lnTo>
                    <a:pt x="45850" y="0"/>
                  </a:lnTo>
                  <a:lnTo>
                    <a:pt x="1768249" y="0"/>
                  </a:lnTo>
                  <a:lnTo>
                    <a:pt x="1806396" y="20412"/>
                  </a:lnTo>
                  <a:lnTo>
                    <a:pt x="1814099" y="45850"/>
                  </a:lnTo>
                  <a:lnTo>
                    <a:pt x="1814099" y="229249"/>
                  </a:lnTo>
                  <a:lnTo>
                    <a:pt x="1810496" y="247096"/>
                  </a:lnTo>
                  <a:lnTo>
                    <a:pt x="1800670" y="261670"/>
                  </a:lnTo>
                  <a:lnTo>
                    <a:pt x="1786096" y="271496"/>
                  </a:lnTo>
                  <a:lnTo>
                    <a:pt x="1768249" y="2750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4" name="Google Shape;444;p52"/>
            <p:cNvSpPr/>
            <p:nvPr/>
          </p:nvSpPr>
          <p:spPr>
            <a:xfrm>
              <a:off x="3749512" y="3331125"/>
              <a:ext cx="1814195" cy="275589"/>
            </a:xfrm>
            <a:custGeom>
              <a:avLst/>
              <a:gdLst/>
              <a:ahLst/>
              <a:cxnLst/>
              <a:rect l="l" t="t" r="r" b="b"/>
              <a:pathLst>
                <a:path w="1814195" h="275589" extrusionOk="0">
                  <a:moveTo>
                    <a:pt x="0" y="45850"/>
                  </a:moveTo>
                  <a:lnTo>
                    <a:pt x="3603" y="28003"/>
                  </a:lnTo>
                  <a:lnTo>
                    <a:pt x="13429" y="13429"/>
                  </a:lnTo>
                  <a:lnTo>
                    <a:pt x="28003" y="3603"/>
                  </a:lnTo>
                  <a:lnTo>
                    <a:pt x="45850" y="0"/>
                  </a:lnTo>
                  <a:lnTo>
                    <a:pt x="1768249" y="0"/>
                  </a:lnTo>
                  <a:lnTo>
                    <a:pt x="1806396" y="20412"/>
                  </a:lnTo>
                  <a:lnTo>
                    <a:pt x="1814099" y="45850"/>
                  </a:lnTo>
                  <a:lnTo>
                    <a:pt x="1814099" y="229249"/>
                  </a:lnTo>
                  <a:lnTo>
                    <a:pt x="1810496" y="247096"/>
                  </a:lnTo>
                  <a:lnTo>
                    <a:pt x="1800670" y="261670"/>
                  </a:lnTo>
                  <a:lnTo>
                    <a:pt x="1786096" y="271496"/>
                  </a:lnTo>
                  <a:lnTo>
                    <a:pt x="1768249" y="275099"/>
                  </a:lnTo>
                  <a:lnTo>
                    <a:pt x="45850" y="275099"/>
                  </a:lnTo>
                  <a:lnTo>
                    <a:pt x="28003" y="271496"/>
                  </a:lnTo>
                  <a:lnTo>
                    <a:pt x="13429" y="261670"/>
                  </a:lnTo>
                  <a:lnTo>
                    <a:pt x="3603" y="247096"/>
                  </a:lnTo>
                  <a:lnTo>
                    <a:pt x="0" y="229249"/>
                  </a:lnTo>
                  <a:lnTo>
                    <a:pt x="0" y="4585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5" name="Google Shape;445;p52"/>
            <p:cNvSpPr/>
            <p:nvPr/>
          </p:nvSpPr>
          <p:spPr>
            <a:xfrm>
              <a:off x="3769437" y="2282700"/>
              <a:ext cx="1814195" cy="275589"/>
            </a:xfrm>
            <a:custGeom>
              <a:avLst/>
              <a:gdLst/>
              <a:ahLst/>
              <a:cxnLst/>
              <a:rect l="l" t="t" r="r" b="b"/>
              <a:pathLst>
                <a:path w="1814195" h="275589" extrusionOk="0">
                  <a:moveTo>
                    <a:pt x="1768249" y="275099"/>
                  </a:moveTo>
                  <a:lnTo>
                    <a:pt x="45850" y="275099"/>
                  </a:lnTo>
                  <a:lnTo>
                    <a:pt x="28003" y="271496"/>
                  </a:lnTo>
                  <a:lnTo>
                    <a:pt x="13429" y="261670"/>
                  </a:lnTo>
                  <a:lnTo>
                    <a:pt x="3603" y="247096"/>
                  </a:lnTo>
                  <a:lnTo>
                    <a:pt x="0" y="229248"/>
                  </a:lnTo>
                  <a:lnTo>
                    <a:pt x="0" y="45850"/>
                  </a:ln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6" name="Google Shape;446;p52"/>
            <p:cNvSpPr/>
            <p:nvPr/>
          </p:nvSpPr>
          <p:spPr>
            <a:xfrm>
              <a:off x="3769437" y="2282700"/>
              <a:ext cx="1814195" cy="275589"/>
            </a:xfrm>
            <a:custGeom>
              <a:avLst/>
              <a:gdLst/>
              <a:ahLst/>
              <a:cxnLst/>
              <a:rect l="l" t="t" r="r" b="b"/>
              <a:pathLst>
                <a:path w="1814195" h="275589" extrusionOk="0">
                  <a:moveTo>
                    <a:pt x="0" y="45850"/>
                  </a:move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lnTo>
                    <a:pt x="45850" y="275099"/>
                  </a:lnTo>
                  <a:lnTo>
                    <a:pt x="28003" y="271496"/>
                  </a:lnTo>
                  <a:lnTo>
                    <a:pt x="13429" y="261670"/>
                  </a:lnTo>
                  <a:lnTo>
                    <a:pt x="3603" y="247096"/>
                  </a:lnTo>
                  <a:lnTo>
                    <a:pt x="0" y="229248"/>
                  </a:lnTo>
                  <a:lnTo>
                    <a:pt x="0" y="4585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7" name="Google Shape;447;p52"/>
            <p:cNvSpPr/>
            <p:nvPr/>
          </p:nvSpPr>
          <p:spPr>
            <a:xfrm>
              <a:off x="3754775" y="2632174"/>
              <a:ext cx="1814195" cy="275589"/>
            </a:xfrm>
            <a:custGeom>
              <a:avLst/>
              <a:gdLst/>
              <a:ahLst/>
              <a:cxnLst/>
              <a:rect l="l" t="t" r="r" b="b"/>
              <a:pathLst>
                <a:path w="1814195" h="275589" extrusionOk="0">
                  <a:moveTo>
                    <a:pt x="1768249" y="275099"/>
                  </a:moveTo>
                  <a:lnTo>
                    <a:pt x="45850" y="275099"/>
                  </a:lnTo>
                  <a:lnTo>
                    <a:pt x="28003" y="271496"/>
                  </a:lnTo>
                  <a:lnTo>
                    <a:pt x="13429" y="261670"/>
                  </a:lnTo>
                  <a:lnTo>
                    <a:pt x="3603" y="247096"/>
                  </a:lnTo>
                  <a:lnTo>
                    <a:pt x="0" y="229248"/>
                  </a:lnTo>
                  <a:lnTo>
                    <a:pt x="0" y="45850"/>
                  </a:ln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48" name="Google Shape;448;p52"/>
            <p:cNvSpPr/>
            <p:nvPr/>
          </p:nvSpPr>
          <p:spPr>
            <a:xfrm>
              <a:off x="3754775" y="2632174"/>
              <a:ext cx="1814195" cy="275589"/>
            </a:xfrm>
            <a:custGeom>
              <a:avLst/>
              <a:gdLst/>
              <a:ahLst/>
              <a:cxnLst/>
              <a:rect l="l" t="t" r="r" b="b"/>
              <a:pathLst>
                <a:path w="1814195" h="275589" extrusionOk="0">
                  <a:moveTo>
                    <a:pt x="0" y="45850"/>
                  </a:moveTo>
                  <a:lnTo>
                    <a:pt x="3603" y="28003"/>
                  </a:lnTo>
                  <a:lnTo>
                    <a:pt x="13429" y="13429"/>
                  </a:lnTo>
                  <a:lnTo>
                    <a:pt x="28003" y="3603"/>
                  </a:lnTo>
                  <a:lnTo>
                    <a:pt x="45850" y="0"/>
                  </a:lnTo>
                  <a:lnTo>
                    <a:pt x="1768249" y="0"/>
                  </a:lnTo>
                  <a:lnTo>
                    <a:pt x="1806396" y="20412"/>
                  </a:lnTo>
                  <a:lnTo>
                    <a:pt x="1814099" y="45850"/>
                  </a:lnTo>
                  <a:lnTo>
                    <a:pt x="1814099" y="229248"/>
                  </a:lnTo>
                  <a:lnTo>
                    <a:pt x="1810496" y="247096"/>
                  </a:lnTo>
                  <a:lnTo>
                    <a:pt x="1800670" y="261670"/>
                  </a:lnTo>
                  <a:lnTo>
                    <a:pt x="1786096" y="271496"/>
                  </a:lnTo>
                  <a:lnTo>
                    <a:pt x="1768249" y="275099"/>
                  </a:lnTo>
                  <a:lnTo>
                    <a:pt x="45850" y="275099"/>
                  </a:lnTo>
                  <a:lnTo>
                    <a:pt x="28003" y="271496"/>
                  </a:lnTo>
                  <a:lnTo>
                    <a:pt x="13429" y="261670"/>
                  </a:lnTo>
                  <a:lnTo>
                    <a:pt x="3603" y="247096"/>
                  </a:lnTo>
                  <a:lnTo>
                    <a:pt x="0" y="229248"/>
                  </a:lnTo>
                  <a:lnTo>
                    <a:pt x="0" y="4585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49" name="Google Shape;449;p52"/>
          <p:cNvSpPr txBox="1"/>
          <p:nvPr/>
        </p:nvSpPr>
        <p:spPr>
          <a:xfrm>
            <a:off x="3850830" y="1611288"/>
            <a:ext cx="1623000" cy="2376300"/>
          </a:xfrm>
          <a:prstGeom prst="rect">
            <a:avLst/>
          </a:prstGeom>
          <a:noFill/>
          <a:ln>
            <a:noFill/>
          </a:ln>
        </p:spPr>
        <p:txBody>
          <a:bodyPr spcFirstLastPara="1" wrap="square" lIns="0" tIns="22850" rIns="0" bIns="0" anchor="t" anchorCtr="0">
            <a:spAutoFit/>
          </a:bodyPr>
          <a:lstStyle/>
          <a:p>
            <a:pPr marL="62230" marR="5080" lvl="0" indent="-635" algn="ctr"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Extraction Pipeline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218440" marR="170815" lvl="0" indent="0" algn="ctr" defTabSz="914400" rtl="0" eaLnBrk="1" fontAlgn="auto" latinLnBrk="0" hangingPunct="1">
              <a:lnSpc>
                <a:spcPct val="250000"/>
              </a:lnSpc>
              <a:spcBef>
                <a:spcPts val="220"/>
              </a:spcBef>
              <a:spcAft>
                <a:spcPts val="0"/>
              </a:spcAft>
              <a:buClr>
                <a:srgbClr val="000000"/>
              </a:buClr>
              <a:buSzPts val="1000"/>
              <a:buFont typeface="Arial"/>
              <a:buNone/>
              <a:tabLst/>
              <a:defRPr/>
            </a:pPr>
            <a:r>
              <a:rPr kumimoji="0" lang="en-US" altLang="zh-CN" sz="1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Data preprocessing  Data merging</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0" algn="ctr" defTabSz="914400" rtl="0" eaLnBrk="1" fontAlgn="auto" latinLnBrk="0" hangingPunct="1">
              <a:lnSpc>
                <a:spcPct val="250000"/>
              </a:lnSpc>
              <a:spcBef>
                <a:spcPts val="5"/>
              </a:spcBef>
              <a:spcAft>
                <a:spcPts val="0"/>
              </a:spcAft>
              <a:buClr>
                <a:srgbClr val="000000"/>
              </a:buClr>
              <a:buSzPts val="1000"/>
              <a:buFont typeface="Arial"/>
              <a:buNone/>
              <a:tabLst/>
              <a:defRPr/>
            </a:pPr>
            <a:r>
              <a:rPr kumimoji="0" lang="en-US" altLang="zh-CN" sz="1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Entity/relation extraction  Ontology extraction</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255" marR="0" lvl="0" indent="0" algn="ctr" defTabSz="914400" rtl="0" eaLnBrk="1" fontAlgn="auto" latinLnBrk="0" hangingPunct="1">
              <a:lnSpc>
                <a:spcPct val="104444"/>
              </a:lnSpc>
              <a:spcBef>
                <a:spcPts val="0"/>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E69137"/>
                </a:solidFill>
                <a:effectLst/>
                <a:uLnTx/>
                <a:uFillTx/>
                <a:latin typeface="Cambria"/>
                <a:ea typeface="Cambria"/>
                <a:cs typeface="Cambria"/>
                <a:sym typeface="Cambria"/>
              </a:rPr>
              <a:t>. . .</a:t>
            </a:r>
            <a:endParaRPr kumimoji="0" sz="18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450" name="Google Shape;450;p52"/>
          <p:cNvSpPr txBox="1">
            <a:spLocks noGrp="1"/>
          </p:cNvSpPr>
          <p:nvPr>
            <p:ph type="title"/>
          </p:nvPr>
        </p:nvSpPr>
        <p:spPr>
          <a:xfrm>
            <a:off x="1950023" y="505350"/>
            <a:ext cx="52452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Downsides of using knowledge bases</a:t>
            </a:r>
            <a:endParaRPr/>
          </a:p>
        </p:txBody>
      </p:sp>
      <p:sp>
        <p:nvSpPr>
          <p:cNvPr id="451" name="Google Shape;451;p52"/>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27</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452" name="Google Shape;452;p52"/>
          <p:cNvGrpSpPr/>
          <p:nvPr/>
        </p:nvGrpSpPr>
        <p:grpSpPr>
          <a:xfrm>
            <a:off x="403100" y="1241573"/>
            <a:ext cx="2465380" cy="2502207"/>
            <a:chOff x="403100" y="1241573"/>
            <a:chExt cx="2465380" cy="2502207"/>
          </a:xfrm>
        </p:grpSpPr>
        <p:pic>
          <p:nvPicPr>
            <p:cNvPr id="453" name="Google Shape;453;p52"/>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454" name="Google Shape;454;p52"/>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55" name="Google Shape;455;p52"/>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456" name="Google Shape;456;p52"/>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57" name="Google Shape;457;p52"/>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458" name="Google Shape;458;p52"/>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59" name="Google Shape;459;p52"/>
          <p:cNvGrpSpPr/>
          <p:nvPr/>
        </p:nvGrpSpPr>
        <p:grpSpPr>
          <a:xfrm>
            <a:off x="3021300" y="2650075"/>
            <a:ext cx="387985" cy="191769"/>
            <a:chOff x="3021300" y="2650075"/>
            <a:chExt cx="387985" cy="191769"/>
          </a:xfrm>
        </p:grpSpPr>
        <p:sp>
          <p:nvSpPr>
            <p:cNvPr id="460" name="Google Shape;460;p52"/>
            <p:cNvSpPr/>
            <p:nvPr/>
          </p:nvSpPr>
          <p:spPr>
            <a:xfrm>
              <a:off x="3021300" y="2650075"/>
              <a:ext cx="387985" cy="191769"/>
            </a:xfrm>
            <a:custGeom>
              <a:avLst/>
              <a:gdLst/>
              <a:ahLst/>
              <a:cxnLst/>
              <a:rect l="l" t="t" r="r" b="b"/>
              <a:pathLst>
                <a:path w="387985" h="191769" extrusionOk="0">
                  <a:moveTo>
                    <a:pt x="292049" y="191699"/>
                  </a:moveTo>
                  <a:lnTo>
                    <a:pt x="292049" y="143774"/>
                  </a:lnTo>
                  <a:lnTo>
                    <a:pt x="0" y="143774"/>
                  </a:lnTo>
                  <a:lnTo>
                    <a:pt x="0" y="47924"/>
                  </a:lnTo>
                  <a:lnTo>
                    <a:pt x="292049" y="47924"/>
                  </a:lnTo>
                  <a:lnTo>
                    <a:pt x="292049" y="0"/>
                  </a:lnTo>
                  <a:lnTo>
                    <a:pt x="387899" y="95849"/>
                  </a:lnTo>
                  <a:lnTo>
                    <a:pt x="2920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61" name="Google Shape;461;p52"/>
            <p:cNvSpPr/>
            <p:nvPr/>
          </p:nvSpPr>
          <p:spPr>
            <a:xfrm>
              <a:off x="3021300" y="2650075"/>
              <a:ext cx="387985" cy="191769"/>
            </a:xfrm>
            <a:custGeom>
              <a:avLst/>
              <a:gdLst/>
              <a:ahLst/>
              <a:cxnLst/>
              <a:rect l="l" t="t" r="r" b="b"/>
              <a:pathLst>
                <a:path w="387985" h="191769" extrusionOk="0">
                  <a:moveTo>
                    <a:pt x="292049" y="0"/>
                  </a:moveTo>
                  <a:lnTo>
                    <a:pt x="387899" y="95849"/>
                  </a:lnTo>
                  <a:lnTo>
                    <a:pt x="292049" y="191699"/>
                  </a:lnTo>
                  <a:lnTo>
                    <a:pt x="292049" y="143774"/>
                  </a:lnTo>
                  <a:lnTo>
                    <a:pt x="0" y="143774"/>
                  </a:lnTo>
                  <a:lnTo>
                    <a:pt x="0" y="47924"/>
                  </a:lnTo>
                  <a:lnTo>
                    <a:pt x="292049" y="47924"/>
                  </a:lnTo>
                  <a:lnTo>
                    <a:pt x="2920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62" name="Google Shape;462;p52"/>
          <p:cNvGrpSpPr/>
          <p:nvPr/>
        </p:nvGrpSpPr>
        <p:grpSpPr>
          <a:xfrm>
            <a:off x="5923837" y="2650075"/>
            <a:ext cx="387985" cy="191769"/>
            <a:chOff x="5923837" y="2650075"/>
            <a:chExt cx="387985" cy="191769"/>
          </a:xfrm>
        </p:grpSpPr>
        <p:sp>
          <p:nvSpPr>
            <p:cNvPr id="463" name="Google Shape;463;p52"/>
            <p:cNvSpPr/>
            <p:nvPr/>
          </p:nvSpPr>
          <p:spPr>
            <a:xfrm>
              <a:off x="5923837" y="2650075"/>
              <a:ext cx="387985" cy="191769"/>
            </a:xfrm>
            <a:custGeom>
              <a:avLst/>
              <a:gdLst/>
              <a:ahLst/>
              <a:cxnLst/>
              <a:rect l="l" t="t" r="r" b="b"/>
              <a:pathLst>
                <a:path w="387985" h="191769" extrusionOk="0">
                  <a:moveTo>
                    <a:pt x="292049" y="191699"/>
                  </a:moveTo>
                  <a:lnTo>
                    <a:pt x="292049" y="143774"/>
                  </a:lnTo>
                  <a:lnTo>
                    <a:pt x="0" y="143774"/>
                  </a:lnTo>
                  <a:lnTo>
                    <a:pt x="0" y="47924"/>
                  </a:lnTo>
                  <a:lnTo>
                    <a:pt x="292049" y="47924"/>
                  </a:lnTo>
                  <a:lnTo>
                    <a:pt x="292049" y="0"/>
                  </a:lnTo>
                  <a:lnTo>
                    <a:pt x="387899" y="95849"/>
                  </a:lnTo>
                  <a:lnTo>
                    <a:pt x="292049" y="191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64" name="Google Shape;464;p52"/>
            <p:cNvSpPr/>
            <p:nvPr/>
          </p:nvSpPr>
          <p:spPr>
            <a:xfrm>
              <a:off x="5923837" y="2650075"/>
              <a:ext cx="387985" cy="191769"/>
            </a:xfrm>
            <a:custGeom>
              <a:avLst/>
              <a:gdLst/>
              <a:ahLst/>
              <a:cxnLst/>
              <a:rect l="l" t="t" r="r" b="b"/>
              <a:pathLst>
                <a:path w="387985" h="191769" extrusionOk="0">
                  <a:moveTo>
                    <a:pt x="292049" y="0"/>
                  </a:moveTo>
                  <a:lnTo>
                    <a:pt x="387899" y="95849"/>
                  </a:lnTo>
                  <a:lnTo>
                    <a:pt x="292049" y="191699"/>
                  </a:lnTo>
                  <a:lnTo>
                    <a:pt x="292049" y="143774"/>
                  </a:lnTo>
                  <a:lnTo>
                    <a:pt x="0" y="143774"/>
                  </a:lnTo>
                  <a:lnTo>
                    <a:pt x="0" y="47924"/>
                  </a:lnTo>
                  <a:lnTo>
                    <a:pt x="292049" y="47924"/>
                  </a:lnTo>
                  <a:lnTo>
                    <a:pt x="292049"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65" name="Google Shape;465;p52"/>
          <p:cNvGrpSpPr/>
          <p:nvPr/>
        </p:nvGrpSpPr>
        <p:grpSpPr>
          <a:xfrm>
            <a:off x="6504050" y="1793624"/>
            <a:ext cx="2232975" cy="1937615"/>
            <a:chOff x="6504050" y="1793624"/>
            <a:chExt cx="2232975" cy="1937615"/>
          </a:xfrm>
        </p:grpSpPr>
        <p:pic>
          <p:nvPicPr>
            <p:cNvPr id="466" name="Google Shape;466;p52"/>
            <p:cNvPicPr preferRelativeResize="0"/>
            <p:nvPr/>
          </p:nvPicPr>
          <p:blipFill rotWithShape="1">
            <a:blip r:embed="rId6">
              <a:alphaModFix/>
            </a:blip>
            <a:srcRect/>
            <a:stretch/>
          </p:blipFill>
          <p:spPr>
            <a:xfrm>
              <a:off x="6504050" y="1793624"/>
              <a:ext cx="2021475" cy="1937615"/>
            </a:xfrm>
            <a:prstGeom prst="rect">
              <a:avLst/>
            </a:prstGeom>
            <a:noFill/>
            <a:ln>
              <a:noFill/>
            </a:ln>
          </p:spPr>
        </p:pic>
        <p:sp>
          <p:nvSpPr>
            <p:cNvPr id="467" name="Google Shape;467;p52"/>
            <p:cNvSpPr/>
            <p:nvPr/>
          </p:nvSpPr>
          <p:spPr>
            <a:xfrm>
              <a:off x="8038525" y="2535299"/>
              <a:ext cx="698500" cy="759460"/>
            </a:xfrm>
            <a:custGeom>
              <a:avLst/>
              <a:gdLst/>
              <a:ahLst/>
              <a:cxnLst/>
              <a:rect l="l" t="t" r="r" b="b"/>
              <a:pathLst>
                <a:path w="698500" h="759460" extrusionOk="0">
                  <a:moveTo>
                    <a:pt x="173399" y="758999"/>
                  </a:moveTo>
                  <a:lnTo>
                    <a:pt x="0" y="145199"/>
                  </a:lnTo>
                  <a:lnTo>
                    <a:pt x="524999" y="0"/>
                  </a:lnTo>
                  <a:lnTo>
                    <a:pt x="698399" y="613799"/>
                  </a:lnTo>
                  <a:lnTo>
                    <a:pt x="173399" y="7589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68" name="Google Shape;468;p52"/>
            <p:cNvSpPr/>
            <p:nvPr/>
          </p:nvSpPr>
          <p:spPr>
            <a:xfrm>
              <a:off x="8038525" y="2535299"/>
              <a:ext cx="698500" cy="759460"/>
            </a:xfrm>
            <a:custGeom>
              <a:avLst/>
              <a:gdLst/>
              <a:ahLst/>
              <a:cxnLst/>
              <a:rect l="l" t="t" r="r" b="b"/>
              <a:pathLst>
                <a:path w="698500" h="759460" extrusionOk="0">
                  <a:moveTo>
                    <a:pt x="0" y="145199"/>
                  </a:moveTo>
                  <a:lnTo>
                    <a:pt x="524999" y="0"/>
                  </a:lnTo>
                  <a:lnTo>
                    <a:pt x="698399" y="613799"/>
                  </a:lnTo>
                  <a:lnTo>
                    <a:pt x="173399" y="758999"/>
                  </a:lnTo>
                  <a:lnTo>
                    <a:pt x="0" y="145199"/>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69" name="Google Shape;469;p52"/>
          <p:cNvSpPr txBox="1"/>
          <p:nvPr/>
        </p:nvSpPr>
        <p:spPr>
          <a:xfrm>
            <a:off x="420918" y="4522649"/>
            <a:ext cx="81726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Populating the knowledge base often involves </a:t>
            </a:r>
            <a:r>
              <a:rPr kumimoji="0" lang="en-US" altLang="zh-CN" sz="17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complicated, multi-step NLP pipelines</a:t>
            </a:r>
            <a:endParaRPr kumimoji="0" sz="17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sp>
        <p:nvSpPr>
          <p:cNvPr id="470" name="Google Shape;470;p52"/>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474"/>
        <p:cNvGrpSpPr/>
        <p:nvPr/>
      </p:nvGrpSpPr>
      <p:grpSpPr>
        <a:xfrm>
          <a:off x="0" y="0"/>
          <a:ext cx="0" cy="0"/>
          <a:chOff x="0" y="0"/>
          <a:chExt cx="0" cy="0"/>
        </a:xfrm>
      </p:grpSpPr>
      <p:grpSp>
        <p:nvGrpSpPr>
          <p:cNvPr id="475" name="Google Shape;475;p53"/>
          <p:cNvGrpSpPr/>
          <p:nvPr/>
        </p:nvGrpSpPr>
        <p:grpSpPr>
          <a:xfrm>
            <a:off x="3247150" y="2616562"/>
            <a:ext cx="2519679" cy="1366233"/>
            <a:chOff x="3247150" y="2616562"/>
            <a:chExt cx="2519679" cy="1366233"/>
          </a:xfrm>
        </p:grpSpPr>
        <p:sp>
          <p:nvSpPr>
            <p:cNvPr id="476" name="Google Shape;476;p53"/>
            <p:cNvSpPr/>
            <p:nvPr/>
          </p:nvSpPr>
          <p:spPr>
            <a:xfrm>
              <a:off x="3325450" y="3625925"/>
              <a:ext cx="2362835" cy="356870"/>
            </a:xfrm>
            <a:custGeom>
              <a:avLst/>
              <a:gdLst/>
              <a:ahLst/>
              <a:cxnLst/>
              <a:rect l="l" t="t" r="r" b="b"/>
              <a:pathLst>
                <a:path w="2362835" h="356870" extrusionOk="0">
                  <a:moveTo>
                    <a:pt x="2303348" y="356699"/>
                  </a:moveTo>
                  <a:lnTo>
                    <a:pt x="59451" y="356699"/>
                  </a:lnTo>
                  <a:lnTo>
                    <a:pt x="36310" y="352028"/>
                  </a:lnTo>
                  <a:lnTo>
                    <a:pt x="17412" y="339287"/>
                  </a:lnTo>
                  <a:lnTo>
                    <a:pt x="4671" y="320389"/>
                  </a:lnTo>
                  <a:lnTo>
                    <a:pt x="0" y="297248"/>
                  </a:lnTo>
                  <a:lnTo>
                    <a:pt x="0" y="59451"/>
                  </a:lnTo>
                  <a:lnTo>
                    <a:pt x="4671" y="36310"/>
                  </a:lnTo>
                  <a:lnTo>
                    <a:pt x="17412" y="17412"/>
                  </a:lnTo>
                  <a:lnTo>
                    <a:pt x="36310" y="4671"/>
                  </a:lnTo>
                  <a:lnTo>
                    <a:pt x="59451" y="0"/>
                  </a:lnTo>
                  <a:lnTo>
                    <a:pt x="2303348" y="0"/>
                  </a:lnTo>
                  <a:lnTo>
                    <a:pt x="2345386" y="17412"/>
                  </a:lnTo>
                  <a:lnTo>
                    <a:pt x="2362799" y="59451"/>
                  </a:lnTo>
                  <a:lnTo>
                    <a:pt x="2362799" y="297248"/>
                  </a:lnTo>
                  <a:lnTo>
                    <a:pt x="2358128" y="320389"/>
                  </a:lnTo>
                  <a:lnTo>
                    <a:pt x="2345387" y="339287"/>
                  </a:lnTo>
                  <a:lnTo>
                    <a:pt x="2326489" y="352028"/>
                  </a:lnTo>
                  <a:lnTo>
                    <a:pt x="2303348" y="356699"/>
                  </a:lnTo>
                  <a:close/>
                </a:path>
              </a:pathLst>
            </a:custGeom>
            <a:solidFill>
              <a:srgbClr val="990000">
                <a:alpha val="129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77" name="Google Shape;477;p53"/>
            <p:cNvSpPr/>
            <p:nvPr/>
          </p:nvSpPr>
          <p:spPr>
            <a:xfrm>
              <a:off x="3325450" y="3625925"/>
              <a:ext cx="2362835" cy="356870"/>
            </a:xfrm>
            <a:custGeom>
              <a:avLst/>
              <a:gdLst/>
              <a:ahLst/>
              <a:cxnLst/>
              <a:rect l="l" t="t" r="r" b="b"/>
              <a:pathLst>
                <a:path w="2362835" h="356870" extrusionOk="0">
                  <a:moveTo>
                    <a:pt x="0" y="59451"/>
                  </a:moveTo>
                  <a:lnTo>
                    <a:pt x="4671" y="36310"/>
                  </a:lnTo>
                  <a:lnTo>
                    <a:pt x="17412" y="17412"/>
                  </a:lnTo>
                  <a:lnTo>
                    <a:pt x="36310" y="4671"/>
                  </a:lnTo>
                  <a:lnTo>
                    <a:pt x="59451" y="0"/>
                  </a:lnTo>
                  <a:lnTo>
                    <a:pt x="2303348" y="0"/>
                  </a:lnTo>
                  <a:lnTo>
                    <a:pt x="2345386" y="17412"/>
                  </a:lnTo>
                  <a:lnTo>
                    <a:pt x="2362799" y="59451"/>
                  </a:lnTo>
                  <a:lnTo>
                    <a:pt x="2362799" y="297248"/>
                  </a:lnTo>
                  <a:lnTo>
                    <a:pt x="2358128" y="320389"/>
                  </a:lnTo>
                  <a:lnTo>
                    <a:pt x="2345387" y="339287"/>
                  </a:lnTo>
                  <a:lnTo>
                    <a:pt x="2326489" y="352028"/>
                  </a:lnTo>
                  <a:lnTo>
                    <a:pt x="2303348" y="356699"/>
                  </a:lnTo>
                  <a:lnTo>
                    <a:pt x="59451" y="356699"/>
                  </a:lnTo>
                  <a:lnTo>
                    <a:pt x="36310" y="352028"/>
                  </a:lnTo>
                  <a:lnTo>
                    <a:pt x="17412" y="339287"/>
                  </a:lnTo>
                  <a:lnTo>
                    <a:pt x="4671" y="320389"/>
                  </a:lnTo>
                  <a:lnTo>
                    <a:pt x="0" y="297248"/>
                  </a:lnTo>
                  <a:lnTo>
                    <a:pt x="0" y="59451"/>
                  </a:lnTo>
                  <a:close/>
                </a:path>
              </a:pathLst>
            </a:custGeom>
            <a:noFill/>
            <a:ln w="19025"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78" name="Google Shape;478;p53"/>
            <p:cNvSpPr/>
            <p:nvPr/>
          </p:nvSpPr>
          <p:spPr>
            <a:xfrm>
              <a:off x="3247150" y="2616562"/>
              <a:ext cx="2519679" cy="572769"/>
            </a:xfrm>
            <a:custGeom>
              <a:avLst/>
              <a:gdLst/>
              <a:ahLst/>
              <a:cxnLst/>
              <a:rect l="l" t="t" r="r" b="b"/>
              <a:pathLst>
                <a:path w="2519679" h="572769" extrusionOk="0">
                  <a:moveTo>
                    <a:pt x="0" y="95451"/>
                  </a:moveTo>
                  <a:lnTo>
                    <a:pt x="7501" y="58297"/>
                  </a:lnTo>
                  <a:lnTo>
                    <a:pt x="27957" y="27957"/>
                  </a:lnTo>
                  <a:lnTo>
                    <a:pt x="58297" y="7501"/>
                  </a:lnTo>
                  <a:lnTo>
                    <a:pt x="95451" y="0"/>
                  </a:lnTo>
                  <a:lnTo>
                    <a:pt x="2423947" y="0"/>
                  </a:lnTo>
                  <a:lnTo>
                    <a:pt x="2476905" y="16037"/>
                  </a:lnTo>
                  <a:lnTo>
                    <a:pt x="2512134" y="58924"/>
                  </a:lnTo>
                  <a:lnTo>
                    <a:pt x="2519399" y="95451"/>
                  </a:lnTo>
                  <a:lnTo>
                    <a:pt x="2519399" y="477247"/>
                  </a:lnTo>
                  <a:lnTo>
                    <a:pt x="2511898" y="514402"/>
                  </a:lnTo>
                  <a:lnTo>
                    <a:pt x="2491442" y="544742"/>
                  </a:lnTo>
                  <a:lnTo>
                    <a:pt x="2461102" y="565198"/>
                  </a:lnTo>
                  <a:lnTo>
                    <a:pt x="2423947" y="572699"/>
                  </a:lnTo>
                  <a:lnTo>
                    <a:pt x="95451" y="572699"/>
                  </a:lnTo>
                  <a:lnTo>
                    <a:pt x="58297" y="565198"/>
                  </a:lnTo>
                  <a:lnTo>
                    <a:pt x="27957" y="544742"/>
                  </a:lnTo>
                  <a:lnTo>
                    <a:pt x="7501" y="514402"/>
                  </a:lnTo>
                  <a:lnTo>
                    <a:pt x="0" y="477247"/>
                  </a:lnTo>
                  <a:lnTo>
                    <a:pt x="0" y="9545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79" name="Google Shape;479;p53"/>
          <p:cNvSpPr txBox="1"/>
          <p:nvPr/>
        </p:nvSpPr>
        <p:spPr>
          <a:xfrm>
            <a:off x="3607337" y="2673550"/>
            <a:ext cx="1801500" cy="492600"/>
          </a:xfrm>
          <a:prstGeom prst="rect">
            <a:avLst/>
          </a:prstGeom>
          <a:noFill/>
          <a:ln>
            <a:noFill/>
          </a:ln>
        </p:spPr>
        <p:txBody>
          <a:bodyPr spcFirstLastPara="1" wrap="square" lIns="0" tIns="22850" rIns="0" bIns="0" anchor="t" anchorCtr="0">
            <a:spAutoFit/>
          </a:bodyPr>
          <a:lstStyle/>
          <a:p>
            <a:pPr marL="566420" marR="5080" lvl="0" indent="-554355"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Extraction  Pipeline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480" name="Google Shape;480;p53"/>
          <p:cNvSpPr txBox="1">
            <a:spLocks noGrp="1"/>
          </p:cNvSpPr>
          <p:nvPr>
            <p:ph type="title"/>
          </p:nvPr>
        </p:nvSpPr>
        <p:spPr>
          <a:xfrm>
            <a:off x="1950023" y="505350"/>
            <a:ext cx="52452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Downsides of using knowledge bases</a:t>
            </a:r>
            <a:endParaRPr/>
          </a:p>
        </p:txBody>
      </p:sp>
      <p:grpSp>
        <p:nvGrpSpPr>
          <p:cNvPr id="481" name="Google Shape;481;p53"/>
          <p:cNvGrpSpPr/>
          <p:nvPr/>
        </p:nvGrpSpPr>
        <p:grpSpPr>
          <a:xfrm>
            <a:off x="403100" y="1241573"/>
            <a:ext cx="3042945" cy="2502207"/>
            <a:chOff x="403100" y="1241573"/>
            <a:chExt cx="3042945" cy="2502207"/>
          </a:xfrm>
        </p:grpSpPr>
        <p:pic>
          <p:nvPicPr>
            <p:cNvPr id="482" name="Google Shape;482;p53"/>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483" name="Google Shape;483;p53"/>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84" name="Google Shape;484;p53"/>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485" name="Google Shape;485;p53"/>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86" name="Google Shape;486;p53"/>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487" name="Google Shape;487;p53"/>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8" name="Google Shape;488;p53"/>
            <p:cNvSpPr/>
            <p:nvPr/>
          </p:nvSpPr>
          <p:spPr>
            <a:xfrm>
              <a:off x="978924" y="2518599"/>
              <a:ext cx="1005839" cy="146685"/>
            </a:xfrm>
            <a:custGeom>
              <a:avLst/>
              <a:gdLst/>
              <a:ahLst/>
              <a:cxnLst/>
              <a:rect l="l" t="t" r="r" b="b"/>
              <a:pathLst>
                <a:path w="1005839" h="146685" extrusionOk="0">
                  <a:moveTo>
                    <a:pt x="0" y="24350"/>
                  </a:moveTo>
                  <a:lnTo>
                    <a:pt x="1913" y="14872"/>
                  </a:lnTo>
                  <a:lnTo>
                    <a:pt x="7132" y="7132"/>
                  </a:lnTo>
                  <a:lnTo>
                    <a:pt x="14872" y="1913"/>
                  </a:lnTo>
                  <a:lnTo>
                    <a:pt x="24350" y="0"/>
                  </a:lnTo>
                  <a:lnTo>
                    <a:pt x="981249" y="0"/>
                  </a:lnTo>
                  <a:lnTo>
                    <a:pt x="987707" y="0"/>
                  </a:lnTo>
                  <a:lnTo>
                    <a:pt x="993901" y="2565"/>
                  </a:lnTo>
                  <a:lnTo>
                    <a:pt x="998467" y="7131"/>
                  </a:lnTo>
                  <a:lnTo>
                    <a:pt x="1003034" y="11698"/>
                  </a:lnTo>
                  <a:lnTo>
                    <a:pt x="1005599" y="17892"/>
                  </a:lnTo>
                  <a:lnTo>
                    <a:pt x="1005599" y="24350"/>
                  </a:lnTo>
                  <a:lnTo>
                    <a:pt x="1005599" y="121749"/>
                  </a:lnTo>
                  <a:lnTo>
                    <a:pt x="1003686" y="131227"/>
                  </a:lnTo>
                  <a:lnTo>
                    <a:pt x="998467" y="138967"/>
                  </a:lnTo>
                  <a:lnTo>
                    <a:pt x="990727" y="144186"/>
                  </a:lnTo>
                  <a:lnTo>
                    <a:pt x="981249" y="146099"/>
                  </a:lnTo>
                  <a:lnTo>
                    <a:pt x="24350" y="146099"/>
                  </a:lnTo>
                  <a:lnTo>
                    <a:pt x="14872" y="144186"/>
                  </a:lnTo>
                  <a:lnTo>
                    <a:pt x="7132" y="138967"/>
                  </a:lnTo>
                  <a:lnTo>
                    <a:pt x="1913" y="131227"/>
                  </a:lnTo>
                  <a:lnTo>
                    <a:pt x="0" y="121749"/>
                  </a:lnTo>
                  <a:lnTo>
                    <a:pt x="0" y="2435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9" name="Google Shape;489;p53"/>
            <p:cNvSpPr/>
            <p:nvPr/>
          </p:nvSpPr>
          <p:spPr>
            <a:xfrm>
              <a:off x="1996975" y="1891672"/>
              <a:ext cx="1449070" cy="649605"/>
            </a:xfrm>
            <a:custGeom>
              <a:avLst/>
              <a:gdLst/>
              <a:ahLst/>
              <a:cxnLst/>
              <a:rect l="l" t="t" r="r" b="b"/>
              <a:pathLst>
                <a:path w="1449070" h="649605" extrusionOk="0">
                  <a:moveTo>
                    <a:pt x="24899" y="649329"/>
                  </a:moveTo>
                  <a:lnTo>
                    <a:pt x="0" y="587829"/>
                  </a:lnTo>
                  <a:lnTo>
                    <a:pt x="1374608" y="30749"/>
                  </a:lnTo>
                  <a:lnTo>
                    <a:pt x="1362158" y="0"/>
                  </a:lnTo>
                  <a:lnTo>
                    <a:pt x="1448549" y="36579"/>
                  </a:lnTo>
                  <a:lnTo>
                    <a:pt x="1411958" y="122999"/>
                  </a:lnTo>
                  <a:lnTo>
                    <a:pt x="1399508" y="92249"/>
                  </a:lnTo>
                  <a:lnTo>
                    <a:pt x="24899" y="64932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90" name="Google Shape;490;p53"/>
            <p:cNvSpPr/>
            <p:nvPr/>
          </p:nvSpPr>
          <p:spPr>
            <a:xfrm>
              <a:off x="1996975" y="1891672"/>
              <a:ext cx="1449070" cy="649605"/>
            </a:xfrm>
            <a:custGeom>
              <a:avLst/>
              <a:gdLst/>
              <a:ahLst/>
              <a:cxnLst/>
              <a:rect l="l" t="t" r="r" b="b"/>
              <a:pathLst>
                <a:path w="1449070" h="649605" extrusionOk="0">
                  <a:moveTo>
                    <a:pt x="0" y="587829"/>
                  </a:moveTo>
                  <a:lnTo>
                    <a:pt x="1374608" y="30749"/>
                  </a:lnTo>
                  <a:lnTo>
                    <a:pt x="1362158" y="0"/>
                  </a:lnTo>
                  <a:lnTo>
                    <a:pt x="1448549" y="36579"/>
                  </a:lnTo>
                  <a:lnTo>
                    <a:pt x="1411958" y="122999"/>
                  </a:lnTo>
                  <a:lnTo>
                    <a:pt x="1399508" y="92249"/>
                  </a:lnTo>
                  <a:lnTo>
                    <a:pt x="24899" y="649329"/>
                  </a:lnTo>
                  <a:lnTo>
                    <a:pt x="0" y="58782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91" name="Google Shape;491;p53"/>
          <p:cNvSpPr txBox="1"/>
          <p:nvPr/>
        </p:nvSpPr>
        <p:spPr>
          <a:xfrm>
            <a:off x="3387342" y="1189838"/>
            <a:ext cx="2241600" cy="962700"/>
          </a:xfrm>
          <a:prstGeom prst="rect">
            <a:avLst/>
          </a:prstGeom>
          <a:noFill/>
          <a:ln>
            <a:noFill/>
          </a:ln>
        </p:spPr>
        <p:txBody>
          <a:bodyPr spcFirstLastPara="1" wrap="square" lIns="0" tIns="55875"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unstructured text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0" algn="ctr" defTabSz="914400" rtl="0" eaLnBrk="1" fontAlgn="auto" latinLnBrk="0" hangingPunct="1">
              <a:lnSpc>
                <a:spcPct val="100000"/>
              </a:lnSpc>
              <a:spcBef>
                <a:spcPts val="345"/>
              </a:spcBef>
              <a:spcAft>
                <a:spcPts val="0"/>
              </a:spcAft>
              <a:buClr>
                <a:srgbClr val="000000"/>
              </a:buClr>
              <a:buSzPts val="1400"/>
              <a:buFont typeface="Arial"/>
              <a:buNone/>
              <a:tabLst/>
              <a:defRPr/>
            </a:pPr>
            <a:r>
              <a:rPr kumimoji="0" lang="zh-CN" altLang="en-US" sz="1400" b="0" i="0" u="none" strike="noStrike" kern="0" cap="none" spc="0" normalizeH="0" baseline="0" noProof="0">
                <a:ln>
                  <a:noFill/>
                </a:ln>
                <a:solidFill>
                  <a:srgbClr val="000000"/>
                </a:solidFill>
                <a:effectLst/>
                <a:uLnTx/>
                <a:uFillTx/>
                <a:latin typeface="Georgia"/>
                <a:ea typeface="Georgia"/>
                <a:cs typeface="Georgia"/>
                <a:sym typeface="Georgia"/>
              </a:rPr>
              <a:t>“</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Born in St. Louis, Missouri,  to a prominent Boston  Brahmin family…”</a:t>
            </a:r>
            <a:endParaRPr kumimoji="0" sz="1400" b="0" i="0" u="none" strike="noStrike" kern="0" cap="none" spc="0" normalizeH="0" baseline="0" noProof="0">
              <a:ln>
                <a:noFill/>
              </a:ln>
              <a:solidFill>
                <a:srgbClr val="000000"/>
              </a:solidFill>
              <a:effectLst/>
              <a:uLnTx/>
              <a:uFillTx/>
              <a:latin typeface="Georgia"/>
              <a:ea typeface="Georgia"/>
              <a:cs typeface="Georgia"/>
              <a:sym typeface="Georgia"/>
            </a:endParaRPr>
          </a:p>
        </p:txBody>
      </p:sp>
      <p:grpSp>
        <p:nvGrpSpPr>
          <p:cNvPr id="492" name="Google Shape;492;p53"/>
          <p:cNvGrpSpPr/>
          <p:nvPr/>
        </p:nvGrpSpPr>
        <p:grpSpPr>
          <a:xfrm>
            <a:off x="6484475" y="1798746"/>
            <a:ext cx="2242097" cy="2043720"/>
            <a:chOff x="6484475" y="1798746"/>
            <a:chExt cx="2242097" cy="2043720"/>
          </a:xfrm>
        </p:grpSpPr>
        <p:pic>
          <p:nvPicPr>
            <p:cNvPr id="493" name="Google Shape;493;p53"/>
            <p:cNvPicPr preferRelativeResize="0"/>
            <p:nvPr/>
          </p:nvPicPr>
          <p:blipFill rotWithShape="1">
            <a:blip r:embed="rId6">
              <a:alphaModFix/>
            </a:blip>
            <a:srcRect/>
            <a:stretch/>
          </p:blipFill>
          <p:spPr>
            <a:xfrm>
              <a:off x="6484475" y="1798746"/>
              <a:ext cx="2132214" cy="2043720"/>
            </a:xfrm>
            <a:prstGeom prst="rect">
              <a:avLst/>
            </a:prstGeom>
            <a:noFill/>
            <a:ln>
              <a:noFill/>
            </a:ln>
          </p:spPr>
        </p:pic>
        <p:sp>
          <p:nvSpPr>
            <p:cNvPr id="494" name="Google Shape;494;p53"/>
            <p:cNvSpPr/>
            <p:nvPr/>
          </p:nvSpPr>
          <p:spPr>
            <a:xfrm>
              <a:off x="8143007" y="2679015"/>
              <a:ext cx="583565" cy="635635"/>
            </a:xfrm>
            <a:custGeom>
              <a:avLst/>
              <a:gdLst/>
              <a:ahLst/>
              <a:cxnLst/>
              <a:rect l="l" t="t" r="r" b="b"/>
              <a:pathLst>
                <a:path w="583565" h="635635" extrusionOk="0">
                  <a:moveTo>
                    <a:pt x="583499" y="635399"/>
                  </a:moveTo>
                  <a:lnTo>
                    <a:pt x="57899" y="634499"/>
                  </a:lnTo>
                  <a:lnTo>
                    <a:pt x="0" y="0"/>
                  </a:lnTo>
                  <a:lnTo>
                    <a:pt x="525599" y="899"/>
                  </a:lnTo>
                  <a:lnTo>
                    <a:pt x="583499" y="635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95" name="Google Shape;495;p53"/>
            <p:cNvSpPr/>
            <p:nvPr/>
          </p:nvSpPr>
          <p:spPr>
            <a:xfrm>
              <a:off x="8143007" y="2679015"/>
              <a:ext cx="583565" cy="635635"/>
            </a:xfrm>
            <a:custGeom>
              <a:avLst/>
              <a:gdLst/>
              <a:ahLst/>
              <a:cxnLst/>
              <a:rect l="l" t="t" r="r" b="b"/>
              <a:pathLst>
                <a:path w="583565" h="635635" extrusionOk="0">
                  <a:moveTo>
                    <a:pt x="0" y="0"/>
                  </a:moveTo>
                  <a:lnTo>
                    <a:pt x="525599" y="899"/>
                  </a:lnTo>
                  <a:lnTo>
                    <a:pt x="583499" y="635399"/>
                  </a:lnTo>
                  <a:lnTo>
                    <a:pt x="57899" y="6344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96" name="Google Shape;496;p53"/>
          <p:cNvGrpSpPr/>
          <p:nvPr/>
        </p:nvGrpSpPr>
        <p:grpSpPr>
          <a:xfrm>
            <a:off x="4439199" y="3264806"/>
            <a:ext cx="133350" cy="285750"/>
            <a:chOff x="4439199" y="3264806"/>
            <a:chExt cx="133350" cy="285750"/>
          </a:xfrm>
        </p:grpSpPr>
        <p:sp>
          <p:nvSpPr>
            <p:cNvPr id="497" name="Google Shape;497;p53"/>
            <p:cNvSpPr/>
            <p:nvPr/>
          </p:nvSpPr>
          <p:spPr>
            <a:xfrm>
              <a:off x="4439199" y="3264806"/>
              <a:ext cx="133350" cy="285750"/>
            </a:xfrm>
            <a:custGeom>
              <a:avLst/>
              <a:gdLst/>
              <a:ahLst/>
              <a:cxnLst/>
              <a:rect l="l" t="t" r="r" b="b"/>
              <a:pathLst>
                <a:path w="133350" h="285750" extrusionOk="0">
                  <a:moveTo>
                    <a:pt x="66449" y="285600"/>
                  </a:moveTo>
                  <a:lnTo>
                    <a:pt x="0" y="219150"/>
                  </a:lnTo>
                  <a:lnTo>
                    <a:pt x="33224" y="219150"/>
                  </a:lnTo>
                  <a:lnTo>
                    <a:pt x="33224" y="0"/>
                  </a:lnTo>
                  <a:lnTo>
                    <a:pt x="99674" y="0"/>
                  </a:lnTo>
                  <a:lnTo>
                    <a:pt x="99674" y="219150"/>
                  </a:lnTo>
                  <a:lnTo>
                    <a:pt x="132899" y="219150"/>
                  </a:lnTo>
                  <a:lnTo>
                    <a:pt x="66449" y="285600"/>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98" name="Google Shape;498;p53"/>
            <p:cNvSpPr/>
            <p:nvPr/>
          </p:nvSpPr>
          <p:spPr>
            <a:xfrm>
              <a:off x="4439199" y="3264806"/>
              <a:ext cx="133350" cy="285750"/>
            </a:xfrm>
            <a:custGeom>
              <a:avLst/>
              <a:gdLst/>
              <a:ahLst/>
              <a:cxnLst/>
              <a:rect l="l" t="t" r="r" b="b"/>
              <a:pathLst>
                <a:path w="133350" h="285750" extrusionOk="0">
                  <a:moveTo>
                    <a:pt x="99674" y="0"/>
                  </a:moveTo>
                  <a:lnTo>
                    <a:pt x="99674" y="219150"/>
                  </a:lnTo>
                  <a:lnTo>
                    <a:pt x="132899" y="219150"/>
                  </a:lnTo>
                  <a:lnTo>
                    <a:pt x="66449" y="285600"/>
                  </a:lnTo>
                  <a:lnTo>
                    <a:pt x="0" y="219150"/>
                  </a:lnTo>
                  <a:lnTo>
                    <a:pt x="33224" y="219150"/>
                  </a:lnTo>
                  <a:lnTo>
                    <a:pt x="33224" y="0"/>
                  </a:lnTo>
                  <a:lnTo>
                    <a:pt x="99674"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499" name="Google Shape;499;p53"/>
          <p:cNvGrpSpPr/>
          <p:nvPr/>
        </p:nvGrpSpPr>
        <p:grpSpPr>
          <a:xfrm>
            <a:off x="4439199" y="2200549"/>
            <a:ext cx="133350" cy="318135"/>
            <a:chOff x="4439199" y="2200549"/>
            <a:chExt cx="133350" cy="318135"/>
          </a:xfrm>
        </p:grpSpPr>
        <p:sp>
          <p:nvSpPr>
            <p:cNvPr id="500" name="Google Shape;500;p53"/>
            <p:cNvSpPr/>
            <p:nvPr/>
          </p:nvSpPr>
          <p:spPr>
            <a:xfrm>
              <a:off x="4439199" y="2200549"/>
              <a:ext cx="133350" cy="318135"/>
            </a:xfrm>
            <a:custGeom>
              <a:avLst/>
              <a:gdLst/>
              <a:ahLst/>
              <a:cxnLst/>
              <a:rect l="l" t="t" r="r" b="b"/>
              <a:pathLst>
                <a:path w="133350" h="318135" extrusionOk="0">
                  <a:moveTo>
                    <a:pt x="66449" y="317999"/>
                  </a:moveTo>
                  <a:lnTo>
                    <a:pt x="0" y="251549"/>
                  </a:lnTo>
                  <a:lnTo>
                    <a:pt x="33224" y="251549"/>
                  </a:lnTo>
                  <a:lnTo>
                    <a:pt x="33224" y="0"/>
                  </a:lnTo>
                  <a:lnTo>
                    <a:pt x="99674" y="0"/>
                  </a:lnTo>
                  <a:lnTo>
                    <a:pt x="99674" y="251549"/>
                  </a:lnTo>
                  <a:lnTo>
                    <a:pt x="132899" y="251549"/>
                  </a:lnTo>
                  <a:lnTo>
                    <a:pt x="66449" y="3179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01" name="Google Shape;501;p53"/>
            <p:cNvSpPr/>
            <p:nvPr/>
          </p:nvSpPr>
          <p:spPr>
            <a:xfrm>
              <a:off x="4439199" y="2200549"/>
              <a:ext cx="133350" cy="318135"/>
            </a:xfrm>
            <a:custGeom>
              <a:avLst/>
              <a:gdLst/>
              <a:ahLst/>
              <a:cxnLst/>
              <a:rect l="l" t="t" r="r" b="b"/>
              <a:pathLst>
                <a:path w="133350" h="318135" extrusionOk="0">
                  <a:moveTo>
                    <a:pt x="99674" y="0"/>
                  </a:moveTo>
                  <a:lnTo>
                    <a:pt x="99674" y="251549"/>
                  </a:lnTo>
                  <a:lnTo>
                    <a:pt x="132899" y="251549"/>
                  </a:lnTo>
                  <a:lnTo>
                    <a:pt x="66449" y="317999"/>
                  </a:lnTo>
                  <a:lnTo>
                    <a:pt x="0" y="251549"/>
                  </a:lnTo>
                  <a:lnTo>
                    <a:pt x="33224" y="251549"/>
                  </a:lnTo>
                  <a:lnTo>
                    <a:pt x="33224" y="0"/>
                  </a:lnTo>
                  <a:lnTo>
                    <a:pt x="99674"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02" name="Google Shape;502;p53"/>
          <p:cNvSpPr txBox="1"/>
          <p:nvPr/>
        </p:nvSpPr>
        <p:spPr>
          <a:xfrm>
            <a:off x="8151828" y="2702299"/>
            <a:ext cx="758100" cy="231000"/>
          </a:xfrm>
          <a:prstGeom prst="rect">
            <a:avLst/>
          </a:prstGeom>
          <a:solidFill>
            <a:srgbClr val="DCE7DA"/>
          </a:solidFill>
          <a:ln>
            <a:noFill/>
          </a:ln>
        </p:spPr>
        <p:txBody>
          <a:bodyPr spcFirstLastPara="1" wrap="square" lIns="0" tIns="0" rIns="0" bIns="0" anchor="t" anchorCtr="0">
            <a:spAutoFit/>
          </a:bodyPr>
          <a:lstStyle/>
          <a:p>
            <a:pPr marL="0" marR="0" lvl="0" indent="0" algn="l" defTabSz="914400" rtl="0" eaLnBrk="1" fontAlgn="auto" latinLnBrk="0" hangingPunct="1">
              <a:lnSpc>
                <a:spcPct val="115933"/>
              </a:lnSpc>
              <a:spcBef>
                <a:spcPts val="0"/>
              </a:spcBef>
              <a:spcAft>
                <a:spcPts val="0"/>
              </a:spcAft>
              <a:buClr>
                <a:srgbClr val="000000"/>
              </a:buClr>
              <a:buSzPts val="1500"/>
              <a:buFont typeface="Arial"/>
              <a:buNone/>
              <a:tabLst/>
              <a:defRPr/>
            </a:pPr>
            <a:r>
              <a:rPr kumimoji="0" lang="en-US" altLang="zh-CN"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T.S. Eliot</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503" name="Google Shape;503;p53"/>
          <p:cNvGrpSpPr/>
          <p:nvPr/>
        </p:nvGrpSpPr>
        <p:grpSpPr>
          <a:xfrm>
            <a:off x="5685776" y="2230075"/>
            <a:ext cx="2387579" cy="1389622"/>
            <a:chOff x="5685776" y="2230075"/>
            <a:chExt cx="2387579" cy="1389622"/>
          </a:xfrm>
        </p:grpSpPr>
        <p:sp>
          <p:nvSpPr>
            <p:cNvPr id="504" name="Google Shape;504;p53"/>
            <p:cNvSpPr/>
            <p:nvPr/>
          </p:nvSpPr>
          <p:spPr>
            <a:xfrm>
              <a:off x="5685776" y="2945327"/>
              <a:ext cx="862965" cy="674370"/>
            </a:xfrm>
            <a:custGeom>
              <a:avLst/>
              <a:gdLst/>
              <a:ahLst/>
              <a:cxnLst/>
              <a:rect l="l" t="t" r="r" b="b"/>
              <a:pathLst>
                <a:path w="862965" h="674370" extrusionOk="0">
                  <a:moveTo>
                    <a:pt x="40049" y="674269"/>
                  </a:moveTo>
                  <a:lnTo>
                    <a:pt x="0" y="621319"/>
                  </a:lnTo>
                  <a:lnTo>
                    <a:pt x="789378" y="26474"/>
                  </a:lnTo>
                  <a:lnTo>
                    <a:pt x="769353" y="0"/>
                  </a:lnTo>
                  <a:lnTo>
                    <a:pt x="862424" y="12994"/>
                  </a:lnTo>
                  <a:lnTo>
                    <a:pt x="849453" y="105899"/>
                  </a:lnTo>
                  <a:lnTo>
                    <a:pt x="829428" y="79424"/>
                  </a:lnTo>
                  <a:lnTo>
                    <a:pt x="40049" y="674269"/>
                  </a:lnTo>
                  <a:close/>
                </a:path>
              </a:pathLst>
            </a:custGeom>
            <a:solidFill>
              <a:srgbClr val="990000"/>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05" name="Google Shape;505;p53"/>
            <p:cNvSpPr/>
            <p:nvPr/>
          </p:nvSpPr>
          <p:spPr>
            <a:xfrm>
              <a:off x="5685776" y="2945327"/>
              <a:ext cx="862965" cy="674370"/>
            </a:xfrm>
            <a:custGeom>
              <a:avLst/>
              <a:gdLst/>
              <a:ahLst/>
              <a:cxnLst/>
              <a:rect l="l" t="t" r="r" b="b"/>
              <a:pathLst>
                <a:path w="862965" h="674370" extrusionOk="0">
                  <a:moveTo>
                    <a:pt x="0" y="621319"/>
                  </a:moveTo>
                  <a:lnTo>
                    <a:pt x="789378" y="26474"/>
                  </a:lnTo>
                  <a:lnTo>
                    <a:pt x="769353" y="0"/>
                  </a:lnTo>
                  <a:lnTo>
                    <a:pt x="862424" y="12994"/>
                  </a:lnTo>
                  <a:lnTo>
                    <a:pt x="849453" y="105899"/>
                  </a:lnTo>
                  <a:lnTo>
                    <a:pt x="829428" y="79424"/>
                  </a:lnTo>
                  <a:lnTo>
                    <a:pt x="40049" y="674269"/>
                  </a:lnTo>
                  <a:lnTo>
                    <a:pt x="0" y="621319"/>
                  </a:lnTo>
                  <a:close/>
                </a:path>
              </a:pathLst>
            </a:custGeom>
            <a:noFill/>
            <a:ln w="9525" cap="flat" cmpd="sng">
              <a:solidFill>
                <a:srgbClr val="99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06" name="Google Shape;506;p53"/>
            <p:cNvSpPr/>
            <p:nvPr/>
          </p:nvSpPr>
          <p:spPr>
            <a:xfrm>
              <a:off x="7486615" y="2230075"/>
              <a:ext cx="586740" cy="167639"/>
            </a:xfrm>
            <a:custGeom>
              <a:avLst/>
              <a:gdLst/>
              <a:ahLst/>
              <a:cxnLst/>
              <a:rect l="l" t="t" r="r" b="b"/>
              <a:pathLst>
                <a:path w="586740" h="167639" extrusionOk="0">
                  <a:moveTo>
                    <a:pt x="586418" y="167639"/>
                  </a:moveTo>
                  <a:lnTo>
                    <a:pt x="0" y="167639"/>
                  </a:lnTo>
                  <a:lnTo>
                    <a:pt x="0" y="0"/>
                  </a:lnTo>
                  <a:lnTo>
                    <a:pt x="586418" y="0"/>
                  </a:lnTo>
                  <a:lnTo>
                    <a:pt x="586418" y="16763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07" name="Google Shape;507;p53"/>
          <p:cNvSpPr txBox="1"/>
          <p:nvPr/>
        </p:nvSpPr>
        <p:spPr>
          <a:xfrm>
            <a:off x="7473915" y="2211787"/>
            <a:ext cx="6120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endParaRPr kumimoji="0" sz="1100" b="0" i="0" u="none" strike="noStrike" kern="0" cap="none" spc="0" normalizeH="0" baseline="0" noProof="0">
              <a:ln>
                <a:noFill/>
              </a:ln>
              <a:solidFill>
                <a:srgbClr val="000000"/>
              </a:solidFill>
              <a:effectLst/>
              <a:uLnTx/>
              <a:uFillTx/>
              <a:latin typeface="Courier New"/>
              <a:ea typeface="Courier New"/>
              <a:cs typeface="Courier New"/>
              <a:sym typeface="Courier New"/>
            </a:endParaRPr>
          </a:p>
        </p:txBody>
      </p:sp>
      <p:sp>
        <p:nvSpPr>
          <p:cNvPr id="508" name="Google Shape;508;p53"/>
          <p:cNvSpPr txBox="1"/>
          <p:nvPr/>
        </p:nvSpPr>
        <p:spPr>
          <a:xfrm>
            <a:off x="8039106" y="1522217"/>
            <a:ext cx="626700" cy="243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altLang="zh-CN" sz="1500" b="1" i="0" u="none" strike="noStrike" kern="0" cap="none" spc="0" normalizeH="0" baseline="0" noProof="0">
                <a:ln>
                  <a:noFill/>
                </a:ln>
                <a:solidFill>
                  <a:srgbClr val="CC0000"/>
                </a:solidFill>
                <a:effectLst/>
                <a:uLnTx/>
                <a:uFillTx/>
                <a:latin typeface="Times New Roman"/>
                <a:ea typeface="Times New Roman"/>
                <a:cs typeface="Times New Roman"/>
                <a:sym typeface="Times New Roman"/>
              </a:rPr>
              <a:t>Boston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509" name="Google Shape;509;p53"/>
          <p:cNvGrpSpPr/>
          <p:nvPr/>
        </p:nvGrpSpPr>
        <p:grpSpPr>
          <a:xfrm>
            <a:off x="7781900" y="1832599"/>
            <a:ext cx="716625" cy="1132175"/>
            <a:chOff x="7781900" y="1832599"/>
            <a:chExt cx="716625" cy="1132175"/>
          </a:xfrm>
        </p:grpSpPr>
        <p:sp>
          <p:nvSpPr>
            <p:cNvPr id="510" name="Google Shape;510;p53"/>
            <p:cNvSpPr/>
            <p:nvPr/>
          </p:nvSpPr>
          <p:spPr>
            <a:xfrm>
              <a:off x="7781900" y="2679024"/>
              <a:ext cx="292100" cy="285750"/>
            </a:xfrm>
            <a:custGeom>
              <a:avLst/>
              <a:gdLst/>
              <a:ahLst/>
              <a:cxnLst/>
              <a:rect l="l" t="t" r="r" b="b"/>
              <a:pathLst>
                <a:path w="292100" h="285750" extrusionOk="0">
                  <a:moveTo>
                    <a:pt x="145799" y="285599"/>
                  </a:moveTo>
                  <a:lnTo>
                    <a:pt x="99715" y="278319"/>
                  </a:lnTo>
                  <a:lnTo>
                    <a:pt x="59692" y="258047"/>
                  </a:lnTo>
                  <a:lnTo>
                    <a:pt x="28130" y="227135"/>
                  </a:lnTo>
                  <a:lnTo>
                    <a:pt x="7432" y="187935"/>
                  </a:lnTo>
                  <a:lnTo>
                    <a:pt x="0" y="142799"/>
                  </a:lnTo>
                  <a:lnTo>
                    <a:pt x="7432" y="97664"/>
                  </a:lnTo>
                  <a:lnTo>
                    <a:pt x="28130" y="58464"/>
                  </a:lnTo>
                  <a:lnTo>
                    <a:pt x="59692" y="27552"/>
                  </a:lnTo>
                  <a:lnTo>
                    <a:pt x="99715" y="7280"/>
                  </a:lnTo>
                  <a:lnTo>
                    <a:pt x="145799" y="0"/>
                  </a:lnTo>
                  <a:lnTo>
                    <a:pt x="174377" y="2769"/>
                  </a:lnTo>
                  <a:lnTo>
                    <a:pt x="226689" y="23992"/>
                  </a:lnTo>
                  <a:lnTo>
                    <a:pt x="267103" y="63574"/>
                  </a:lnTo>
                  <a:lnTo>
                    <a:pt x="288772" y="114811"/>
                  </a:lnTo>
                  <a:lnTo>
                    <a:pt x="291599" y="142799"/>
                  </a:lnTo>
                  <a:lnTo>
                    <a:pt x="284167" y="187935"/>
                  </a:lnTo>
                  <a:lnTo>
                    <a:pt x="263469" y="227135"/>
                  </a:lnTo>
                  <a:lnTo>
                    <a:pt x="231907" y="258047"/>
                  </a:lnTo>
                  <a:lnTo>
                    <a:pt x="191884" y="278319"/>
                  </a:lnTo>
                  <a:lnTo>
                    <a:pt x="145799" y="285599"/>
                  </a:lnTo>
                  <a:close/>
                </a:path>
              </a:pathLst>
            </a:custGeom>
            <a:solidFill>
              <a:srgbClr val="6AA84F">
                <a:alpha val="2431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11" name="Google Shape;511;p53"/>
            <p:cNvSpPr/>
            <p:nvPr/>
          </p:nvSpPr>
          <p:spPr>
            <a:xfrm>
              <a:off x="7781900" y="2679024"/>
              <a:ext cx="292100" cy="285750"/>
            </a:xfrm>
            <a:custGeom>
              <a:avLst/>
              <a:gdLst/>
              <a:ahLst/>
              <a:cxnLst/>
              <a:rect l="l" t="t" r="r" b="b"/>
              <a:pathLst>
                <a:path w="292100" h="285750" extrusionOk="0">
                  <a:moveTo>
                    <a:pt x="0" y="142799"/>
                  </a:moveTo>
                  <a:lnTo>
                    <a:pt x="7432" y="97664"/>
                  </a:lnTo>
                  <a:lnTo>
                    <a:pt x="28130" y="58464"/>
                  </a:lnTo>
                  <a:lnTo>
                    <a:pt x="59692" y="27552"/>
                  </a:lnTo>
                  <a:lnTo>
                    <a:pt x="99715" y="7280"/>
                  </a:lnTo>
                  <a:lnTo>
                    <a:pt x="145799" y="0"/>
                  </a:lnTo>
                  <a:lnTo>
                    <a:pt x="201595" y="10870"/>
                  </a:lnTo>
                  <a:lnTo>
                    <a:pt x="248895" y="41825"/>
                  </a:lnTo>
                  <a:lnTo>
                    <a:pt x="280501" y="88152"/>
                  </a:lnTo>
                  <a:lnTo>
                    <a:pt x="291599" y="142799"/>
                  </a:lnTo>
                  <a:lnTo>
                    <a:pt x="284167" y="187935"/>
                  </a:lnTo>
                  <a:lnTo>
                    <a:pt x="263469" y="227135"/>
                  </a:lnTo>
                  <a:lnTo>
                    <a:pt x="231907" y="258047"/>
                  </a:lnTo>
                  <a:lnTo>
                    <a:pt x="191884" y="278319"/>
                  </a:lnTo>
                  <a:lnTo>
                    <a:pt x="145799" y="285599"/>
                  </a:lnTo>
                  <a:lnTo>
                    <a:pt x="99715" y="278319"/>
                  </a:lnTo>
                  <a:lnTo>
                    <a:pt x="59692" y="258047"/>
                  </a:lnTo>
                  <a:lnTo>
                    <a:pt x="28130" y="227135"/>
                  </a:lnTo>
                  <a:lnTo>
                    <a:pt x="7432" y="187935"/>
                  </a:lnTo>
                  <a:lnTo>
                    <a:pt x="0" y="142799"/>
                  </a:lnTo>
                  <a:close/>
                </a:path>
              </a:pathLst>
            </a:custGeom>
            <a:noFill/>
            <a:ln w="19025" cap="flat" cmpd="sng">
              <a:solidFill>
                <a:srgbClr val="6AA84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12" name="Google Shape;512;p53"/>
            <p:cNvSpPr/>
            <p:nvPr/>
          </p:nvSpPr>
          <p:spPr>
            <a:xfrm>
              <a:off x="7974247" y="2103987"/>
              <a:ext cx="330200" cy="594994"/>
            </a:xfrm>
            <a:custGeom>
              <a:avLst/>
              <a:gdLst/>
              <a:ahLst/>
              <a:cxnLst/>
              <a:rect l="l" t="t" r="r" b="b"/>
              <a:pathLst>
                <a:path w="330200" h="594994" extrusionOk="0">
                  <a:moveTo>
                    <a:pt x="39691" y="594533"/>
                  </a:moveTo>
                  <a:lnTo>
                    <a:pt x="35577" y="592462"/>
                  </a:lnTo>
                  <a:lnTo>
                    <a:pt x="5777" y="577462"/>
                  </a:lnTo>
                  <a:lnTo>
                    <a:pt x="1662" y="575391"/>
                  </a:lnTo>
                  <a:lnTo>
                    <a:pt x="0" y="570373"/>
                  </a:lnTo>
                  <a:lnTo>
                    <a:pt x="283193" y="4870"/>
                  </a:lnTo>
                  <a:lnTo>
                    <a:pt x="284183" y="2892"/>
                  </a:lnTo>
                  <a:lnTo>
                    <a:pt x="285918" y="1390"/>
                  </a:lnTo>
                  <a:lnTo>
                    <a:pt x="290113" y="0"/>
                  </a:lnTo>
                  <a:lnTo>
                    <a:pt x="292402" y="168"/>
                  </a:lnTo>
                  <a:lnTo>
                    <a:pt x="324177" y="16162"/>
                  </a:lnTo>
                  <a:lnTo>
                    <a:pt x="328291" y="18233"/>
                  </a:lnTo>
                  <a:lnTo>
                    <a:pt x="329955" y="23251"/>
                  </a:lnTo>
                  <a:lnTo>
                    <a:pt x="44699" y="592873"/>
                  </a:lnTo>
                  <a:lnTo>
                    <a:pt x="39691" y="594533"/>
                  </a:lnTo>
                  <a:close/>
                </a:path>
              </a:pathLst>
            </a:custGeom>
            <a:solidFill>
              <a:srgbClr val="6AA84F">
                <a:alpha val="2431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13" name="Google Shape;513;p53"/>
            <p:cNvSpPr/>
            <p:nvPr/>
          </p:nvSpPr>
          <p:spPr>
            <a:xfrm>
              <a:off x="7974247" y="2103987"/>
              <a:ext cx="330200" cy="594994"/>
            </a:xfrm>
            <a:custGeom>
              <a:avLst/>
              <a:gdLst/>
              <a:ahLst/>
              <a:cxnLst/>
              <a:rect l="l" t="t" r="r" b="b"/>
              <a:pathLst>
                <a:path w="330200" h="594994" extrusionOk="0">
                  <a:moveTo>
                    <a:pt x="5777" y="577462"/>
                  </a:moveTo>
                  <a:lnTo>
                    <a:pt x="1662" y="575391"/>
                  </a:lnTo>
                  <a:lnTo>
                    <a:pt x="0" y="570373"/>
                  </a:lnTo>
                  <a:lnTo>
                    <a:pt x="2062" y="566254"/>
                  </a:lnTo>
                  <a:lnTo>
                    <a:pt x="283193" y="4870"/>
                  </a:lnTo>
                  <a:lnTo>
                    <a:pt x="284183" y="2892"/>
                  </a:lnTo>
                  <a:lnTo>
                    <a:pt x="285918" y="1390"/>
                  </a:lnTo>
                  <a:lnTo>
                    <a:pt x="288016" y="695"/>
                  </a:lnTo>
                  <a:lnTo>
                    <a:pt x="290113" y="0"/>
                  </a:lnTo>
                  <a:lnTo>
                    <a:pt x="292402" y="168"/>
                  </a:lnTo>
                  <a:lnTo>
                    <a:pt x="294377" y="1162"/>
                  </a:lnTo>
                  <a:lnTo>
                    <a:pt x="324177" y="16162"/>
                  </a:lnTo>
                  <a:lnTo>
                    <a:pt x="328291" y="18233"/>
                  </a:lnTo>
                  <a:lnTo>
                    <a:pt x="329955" y="23251"/>
                  </a:lnTo>
                  <a:lnTo>
                    <a:pt x="327893" y="27370"/>
                  </a:lnTo>
                  <a:lnTo>
                    <a:pt x="46762" y="588754"/>
                  </a:lnTo>
                  <a:lnTo>
                    <a:pt x="44699" y="592873"/>
                  </a:lnTo>
                  <a:lnTo>
                    <a:pt x="39691" y="594533"/>
                  </a:lnTo>
                  <a:lnTo>
                    <a:pt x="35577" y="592462"/>
                  </a:lnTo>
                  <a:lnTo>
                    <a:pt x="5777" y="577462"/>
                  </a:lnTo>
                  <a:close/>
                </a:path>
              </a:pathLst>
            </a:custGeom>
            <a:noFill/>
            <a:ln w="19025" cap="flat" cmpd="sng">
              <a:solidFill>
                <a:srgbClr val="6AA84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14" name="Google Shape;514;p53"/>
            <p:cNvSpPr/>
            <p:nvPr/>
          </p:nvSpPr>
          <p:spPr>
            <a:xfrm>
              <a:off x="8206425" y="1832599"/>
              <a:ext cx="292100" cy="285750"/>
            </a:xfrm>
            <a:custGeom>
              <a:avLst/>
              <a:gdLst/>
              <a:ahLst/>
              <a:cxnLst/>
              <a:rect l="l" t="t" r="r" b="b"/>
              <a:pathLst>
                <a:path w="292100" h="285750" extrusionOk="0">
                  <a:moveTo>
                    <a:pt x="145799" y="285599"/>
                  </a:moveTo>
                  <a:lnTo>
                    <a:pt x="99715" y="278319"/>
                  </a:lnTo>
                  <a:lnTo>
                    <a:pt x="59692" y="258047"/>
                  </a:lnTo>
                  <a:lnTo>
                    <a:pt x="28130" y="227135"/>
                  </a:lnTo>
                  <a:lnTo>
                    <a:pt x="7432" y="187935"/>
                  </a:lnTo>
                  <a:lnTo>
                    <a:pt x="0" y="142799"/>
                  </a:lnTo>
                  <a:lnTo>
                    <a:pt x="7432" y="97664"/>
                  </a:lnTo>
                  <a:lnTo>
                    <a:pt x="28130" y="58464"/>
                  </a:lnTo>
                  <a:lnTo>
                    <a:pt x="59692" y="27552"/>
                  </a:lnTo>
                  <a:lnTo>
                    <a:pt x="99715" y="7280"/>
                  </a:lnTo>
                  <a:lnTo>
                    <a:pt x="145799" y="0"/>
                  </a:lnTo>
                  <a:lnTo>
                    <a:pt x="174377" y="2769"/>
                  </a:lnTo>
                  <a:lnTo>
                    <a:pt x="226689" y="23992"/>
                  </a:lnTo>
                  <a:lnTo>
                    <a:pt x="267103" y="63574"/>
                  </a:lnTo>
                  <a:lnTo>
                    <a:pt x="288772" y="114811"/>
                  </a:lnTo>
                  <a:lnTo>
                    <a:pt x="291599" y="142799"/>
                  </a:lnTo>
                  <a:lnTo>
                    <a:pt x="284167" y="187935"/>
                  </a:lnTo>
                  <a:lnTo>
                    <a:pt x="263469" y="227135"/>
                  </a:lnTo>
                  <a:lnTo>
                    <a:pt x="231907" y="258047"/>
                  </a:lnTo>
                  <a:lnTo>
                    <a:pt x="191884" y="278319"/>
                  </a:lnTo>
                  <a:lnTo>
                    <a:pt x="145799" y="285599"/>
                  </a:lnTo>
                  <a:close/>
                </a:path>
              </a:pathLst>
            </a:custGeom>
            <a:solidFill>
              <a:srgbClr val="990000">
                <a:alpha val="129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15" name="Google Shape;515;p53"/>
            <p:cNvSpPr/>
            <p:nvPr/>
          </p:nvSpPr>
          <p:spPr>
            <a:xfrm>
              <a:off x="8206425" y="1832599"/>
              <a:ext cx="292100" cy="285750"/>
            </a:xfrm>
            <a:custGeom>
              <a:avLst/>
              <a:gdLst/>
              <a:ahLst/>
              <a:cxnLst/>
              <a:rect l="l" t="t" r="r" b="b"/>
              <a:pathLst>
                <a:path w="292100" h="285750" extrusionOk="0">
                  <a:moveTo>
                    <a:pt x="0" y="142799"/>
                  </a:moveTo>
                  <a:lnTo>
                    <a:pt x="7432" y="97664"/>
                  </a:lnTo>
                  <a:lnTo>
                    <a:pt x="28130" y="58464"/>
                  </a:lnTo>
                  <a:lnTo>
                    <a:pt x="59692" y="27552"/>
                  </a:lnTo>
                  <a:lnTo>
                    <a:pt x="99715" y="7280"/>
                  </a:lnTo>
                  <a:lnTo>
                    <a:pt x="145799" y="0"/>
                  </a:lnTo>
                  <a:lnTo>
                    <a:pt x="201595" y="10870"/>
                  </a:lnTo>
                  <a:lnTo>
                    <a:pt x="248895" y="41825"/>
                  </a:lnTo>
                  <a:lnTo>
                    <a:pt x="280501" y="88152"/>
                  </a:lnTo>
                  <a:lnTo>
                    <a:pt x="291599" y="142799"/>
                  </a:lnTo>
                  <a:lnTo>
                    <a:pt x="284167" y="187935"/>
                  </a:lnTo>
                  <a:lnTo>
                    <a:pt x="263469" y="227135"/>
                  </a:lnTo>
                  <a:lnTo>
                    <a:pt x="231907" y="258047"/>
                  </a:lnTo>
                  <a:lnTo>
                    <a:pt x="191884" y="278319"/>
                  </a:lnTo>
                  <a:lnTo>
                    <a:pt x="145799" y="285599"/>
                  </a:lnTo>
                  <a:lnTo>
                    <a:pt x="99715" y="278319"/>
                  </a:lnTo>
                  <a:lnTo>
                    <a:pt x="59692" y="258047"/>
                  </a:lnTo>
                  <a:lnTo>
                    <a:pt x="28130" y="227135"/>
                  </a:lnTo>
                  <a:lnTo>
                    <a:pt x="7432" y="187935"/>
                  </a:lnTo>
                  <a:lnTo>
                    <a:pt x="0" y="142799"/>
                  </a:lnTo>
                  <a:close/>
                </a:path>
              </a:pathLst>
            </a:custGeom>
            <a:noFill/>
            <a:ln w="19025"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16" name="Google Shape;516;p53"/>
          <p:cNvSpPr txBox="1"/>
          <p:nvPr/>
        </p:nvSpPr>
        <p:spPr>
          <a:xfrm>
            <a:off x="3410221" y="3558048"/>
            <a:ext cx="2191500" cy="709200"/>
          </a:xfrm>
          <a:prstGeom prst="rect">
            <a:avLst/>
          </a:prstGeom>
          <a:noFill/>
          <a:ln>
            <a:noFill/>
          </a:ln>
        </p:spPr>
        <p:txBody>
          <a:bodyPr spcFirstLastPara="1" wrap="square" lIns="0" tIns="132075"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(T.S. Eliot</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 </a:t>
            </a:r>
            <a:r>
              <a:rPr kumimoji="0" lang="en-US" altLang="zh-CN" sz="11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 </a:t>
            </a:r>
            <a:r>
              <a:rPr kumimoji="0" lang="en-US" altLang="zh-CN" sz="1400" b="1" i="0" u="none" strike="noStrike" kern="0" cap="none" spc="0" normalizeH="0" baseline="0" noProof="0">
                <a:ln>
                  <a:noFill/>
                </a:ln>
                <a:solidFill>
                  <a:srgbClr val="CC0000"/>
                </a:solidFill>
                <a:effectLst/>
                <a:uLnTx/>
                <a:uFillTx/>
                <a:latin typeface="Cambria"/>
                <a:ea typeface="Cambria"/>
                <a:cs typeface="Cambria"/>
                <a:sym typeface="Cambria"/>
              </a:rPr>
              <a:t>Boston</a:t>
            </a: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2540" marR="0" lvl="0" indent="0" algn="ctr" defTabSz="914400" rtl="0" eaLnBrk="1" fontAlgn="auto" latinLnBrk="0" hangingPunct="1">
              <a:lnSpc>
                <a:spcPct val="100000"/>
              </a:lnSpc>
              <a:spcBef>
                <a:spcPts val="1010"/>
              </a:spcBef>
              <a:spcAft>
                <a:spcPts val="0"/>
              </a:spcAft>
              <a:buClr>
                <a:srgbClr val="000000"/>
              </a:buClr>
              <a:buSzPts val="1500"/>
              <a:buFont typeface="Arial"/>
              <a:buNone/>
              <a:tabLst/>
              <a:defRPr/>
            </a:pPr>
            <a:r>
              <a:rPr kumimoji="0" lang="en-US" altLang="zh-CN" sz="1500" b="1" i="0" u="none" strike="noStrike" kern="0" cap="none" spc="0" normalizeH="0" baseline="0" noProof="0">
                <a:ln>
                  <a:noFill/>
                </a:ln>
                <a:solidFill>
                  <a:srgbClr val="CC0000"/>
                </a:solidFill>
                <a:effectLst/>
                <a:uLnTx/>
                <a:uFillTx/>
                <a:latin typeface="Times New Roman"/>
                <a:ea typeface="Times New Roman"/>
                <a:cs typeface="Times New Roman"/>
                <a:sym typeface="Times New Roman"/>
              </a:rPr>
              <a:t>incorrect extraction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17" name="Google Shape;517;p53"/>
          <p:cNvSpPr txBox="1"/>
          <p:nvPr/>
        </p:nvSpPr>
        <p:spPr>
          <a:xfrm>
            <a:off x="687968" y="4540353"/>
            <a:ext cx="7639800" cy="26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700"/>
              <a:buFont typeface="Arial"/>
              <a:buNone/>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Prone to </a:t>
            </a:r>
            <a:r>
              <a:rPr kumimoji="0" lang="en-US" altLang="zh-CN" sz="17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error propagation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from human annotations or knowledge extraction)</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18" name="Google Shape;518;p53"/>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18</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519" name="Google Shape;519;p53"/>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523"/>
        <p:cNvGrpSpPr/>
        <p:nvPr/>
      </p:nvGrpSpPr>
      <p:grpSpPr>
        <a:xfrm>
          <a:off x="0" y="0"/>
          <a:ext cx="0" cy="0"/>
          <a:chOff x="0" y="0"/>
          <a:chExt cx="0" cy="0"/>
        </a:xfrm>
      </p:grpSpPr>
      <p:grpSp>
        <p:nvGrpSpPr>
          <p:cNvPr id="524" name="Google Shape;524;p54"/>
          <p:cNvGrpSpPr/>
          <p:nvPr/>
        </p:nvGrpSpPr>
        <p:grpSpPr>
          <a:xfrm>
            <a:off x="3247150" y="2616562"/>
            <a:ext cx="2519679" cy="1366233"/>
            <a:chOff x="3247150" y="2616562"/>
            <a:chExt cx="2519679" cy="1366233"/>
          </a:xfrm>
        </p:grpSpPr>
        <p:sp>
          <p:nvSpPr>
            <p:cNvPr id="525" name="Google Shape;525;p54"/>
            <p:cNvSpPr/>
            <p:nvPr/>
          </p:nvSpPr>
          <p:spPr>
            <a:xfrm>
              <a:off x="3325450" y="3625925"/>
              <a:ext cx="2362835" cy="356870"/>
            </a:xfrm>
            <a:custGeom>
              <a:avLst/>
              <a:gdLst/>
              <a:ahLst/>
              <a:cxnLst/>
              <a:rect l="l" t="t" r="r" b="b"/>
              <a:pathLst>
                <a:path w="2362835" h="356870" extrusionOk="0">
                  <a:moveTo>
                    <a:pt x="2303348" y="356699"/>
                  </a:moveTo>
                  <a:lnTo>
                    <a:pt x="59451" y="356699"/>
                  </a:lnTo>
                  <a:lnTo>
                    <a:pt x="36310" y="352028"/>
                  </a:lnTo>
                  <a:lnTo>
                    <a:pt x="17412" y="339287"/>
                  </a:lnTo>
                  <a:lnTo>
                    <a:pt x="4671" y="320389"/>
                  </a:lnTo>
                  <a:lnTo>
                    <a:pt x="0" y="297248"/>
                  </a:lnTo>
                  <a:lnTo>
                    <a:pt x="0" y="59451"/>
                  </a:lnTo>
                  <a:lnTo>
                    <a:pt x="4671" y="36310"/>
                  </a:lnTo>
                  <a:lnTo>
                    <a:pt x="17412" y="17412"/>
                  </a:lnTo>
                  <a:lnTo>
                    <a:pt x="36310" y="4671"/>
                  </a:lnTo>
                  <a:lnTo>
                    <a:pt x="59451" y="0"/>
                  </a:lnTo>
                  <a:lnTo>
                    <a:pt x="2303348" y="0"/>
                  </a:lnTo>
                  <a:lnTo>
                    <a:pt x="2345386" y="17412"/>
                  </a:lnTo>
                  <a:lnTo>
                    <a:pt x="2362799" y="59451"/>
                  </a:lnTo>
                  <a:lnTo>
                    <a:pt x="2362799" y="297248"/>
                  </a:lnTo>
                  <a:lnTo>
                    <a:pt x="2358128" y="320389"/>
                  </a:lnTo>
                  <a:lnTo>
                    <a:pt x="2345387" y="339287"/>
                  </a:lnTo>
                  <a:lnTo>
                    <a:pt x="2326489" y="352028"/>
                  </a:lnTo>
                  <a:lnTo>
                    <a:pt x="2303348" y="356699"/>
                  </a:lnTo>
                  <a:close/>
                </a:path>
              </a:pathLst>
            </a:custGeom>
            <a:solidFill>
              <a:srgbClr val="990000">
                <a:alpha val="129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26" name="Google Shape;526;p54"/>
            <p:cNvSpPr/>
            <p:nvPr/>
          </p:nvSpPr>
          <p:spPr>
            <a:xfrm>
              <a:off x="3325450" y="3625925"/>
              <a:ext cx="2362835" cy="356870"/>
            </a:xfrm>
            <a:custGeom>
              <a:avLst/>
              <a:gdLst/>
              <a:ahLst/>
              <a:cxnLst/>
              <a:rect l="l" t="t" r="r" b="b"/>
              <a:pathLst>
                <a:path w="2362835" h="356870" extrusionOk="0">
                  <a:moveTo>
                    <a:pt x="0" y="59451"/>
                  </a:moveTo>
                  <a:lnTo>
                    <a:pt x="4671" y="36310"/>
                  </a:lnTo>
                  <a:lnTo>
                    <a:pt x="17412" y="17412"/>
                  </a:lnTo>
                  <a:lnTo>
                    <a:pt x="36310" y="4671"/>
                  </a:lnTo>
                  <a:lnTo>
                    <a:pt x="59451" y="0"/>
                  </a:lnTo>
                  <a:lnTo>
                    <a:pt x="2303348" y="0"/>
                  </a:lnTo>
                  <a:lnTo>
                    <a:pt x="2345386" y="17412"/>
                  </a:lnTo>
                  <a:lnTo>
                    <a:pt x="2362799" y="59451"/>
                  </a:lnTo>
                  <a:lnTo>
                    <a:pt x="2362799" y="297248"/>
                  </a:lnTo>
                  <a:lnTo>
                    <a:pt x="2358128" y="320389"/>
                  </a:lnTo>
                  <a:lnTo>
                    <a:pt x="2345387" y="339287"/>
                  </a:lnTo>
                  <a:lnTo>
                    <a:pt x="2326489" y="352028"/>
                  </a:lnTo>
                  <a:lnTo>
                    <a:pt x="2303348" y="356699"/>
                  </a:lnTo>
                  <a:lnTo>
                    <a:pt x="59451" y="356699"/>
                  </a:lnTo>
                  <a:lnTo>
                    <a:pt x="36310" y="352028"/>
                  </a:lnTo>
                  <a:lnTo>
                    <a:pt x="17412" y="339287"/>
                  </a:lnTo>
                  <a:lnTo>
                    <a:pt x="4671" y="320389"/>
                  </a:lnTo>
                  <a:lnTo>
                    <a:pt x="0" y="297248"/>
                  </a:lnTo>
                  <a:lnTo>
                    <a:pt x="0" y="59451"/>
                  </a:lnTo>
                  <a:close/>
                </a:path>
              </a:pathLst>
            </a:custGeom>
            <a:noFill/>
            <a:ln w="19025"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27" name="Google Shape;527;p54"/>
            <p:cNvSpPr/>
            <p:nvPr/>
          </p:nvSpPr>
          <p:spPr>
            <a:xfrm>
              <a:off x="3247150" y="2616562"/>
              <a:ext cx="2519679" cy="572769"/>
            </a:xfrm>
            <a:custGeom>
              <a:avLst/>
              <a:gdLst/>
              <a:ahLst/>
              <a:cxnLst/>
              <a:rect l="l" t="t" r="r" b="b"/>
              <a:pathLst>
                <a:path w="2519679" h="572769" extrusionOk="0">
                  <a:moveTo>
                    <a:pt x="0" y="95451"/>
                  </a:moveTo>
                  <a:lnTo>
                    <a:pt x="7501" y="58297"/>
                  </a:lnTo>
                  <a:lnTo>
                    <a:pt x="27957" y="27957"/>
                  </a:lnTo>
                  <a:lnTo>
                    <a:pt x="58297" y="7501"/>
                  </a:lnTo>
                  <a:lnTo>
                    <a:pt x="95451" y="0"/>
                  </a:lnTo>
                  <a:lnTo>
                    <a:pt x="2423947" y="0"/>
                  </a:lnTo>
                  <a:lnTo>
                    <a:pt x="2476905" y="16037"/>
                  </a:lnTo>
                  <a:lnTo>
                    <a:pt x="2512134" y="58924"/>
                  </a:lnTo>
                  <a:lnTo>
                    <a:pt x="2519399" y="95451"/>
                  </a:lnTo>
                  <a:lnTo>
                    <a:pt x="2519399" y="477247"/>
                  </a:lnTo>
                  <a:lnTo>
                    <a:pt x="2511898" y="514402"/>
                  </a:lnTo>
                  <a:lnTo>
                    <a:pt x="2491442" y="544742"/>
                  </a:lnTo>
                  <a:lnTo>
                    <a:pt x="2461102" y="565198"/>
                  </a:lnTo>
                  <a:lnTo>
                    <a:pt x="2423947" y="572699"/>
                  </a:lnTo>
                  <a:lnTo>
                    <a:pt x="95451" y="572699"/>
                  </a:lnTo>
                  <a:lnTo>
                    <a:pt x="58297" y="565198"/>
                  </a:lnTo>
                  <a:lnTo>
                    <a:pt x="27957" y="544742"/>
                  </a:lnTo>
                  <a:lnTo>
                    <a:pt x="7501" y="514402"/>
                  </a:lnTo>
                  <a:lnTo>
                    <a:pt x="0" y="477247"/>
                  </a:lnTo>
                  <a:lnTo>
                    <a:pt x="0" y="9545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28" name="Google Shape;528;p54"/>
          <p:cNvSpPr txBox="1"/>
          <p:nvPr/>
        </p:nvSpPr>
        <p:spPr>
          <a:xfrm>
            <a:off x="3607337" y="2673550"/>
            <a:ext cx="1801500" cy="492600"/>
          </a:xfrm>
          <a:prstGeom prst="rect">
            <a:avLst/>
          </a:prstGeom>
          <a:noFill/>
          <a:ln>
            <a:noFill/>
          </a:ln>
        </p:spPr>
        <p:txBody>
          <a:bodyPr spcFirstLastPara="1" wrap="square" lIns="0" tIns="22850" rIns="0" bIns="0" anchor="t" anchorCtr="0">
            <a:spAutoFit/>
          </a:bodyPr>
          <a:lstStyle/>
          <a:p>
            <a:pPr marL="566420" marR="5080" lvl="0" indent="-554355"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Extraction  Pipeline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29" name="Google Shape;529;p54"/>
          <p:cNvSpPr txBox="1">
            <a:spLocks noGrp="1"/>
          </p:cNvSpPr>
          <p:nvPr>
            <p:ph type="title"/>
          </p:nvPr>
        </p:nvSpPr>
        <p:spPr>
          <a:xfrm>
            <a:off x="1950023" y="505350"/>
            <a:ext cx="52452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Downsides of using knowledge bases</a:t>
            </a:r>
            <a:endParaRPr/>
          </a:p>
        </p:txBody>
      </p:sp>
      <p:grpSp>
        <p:nvGrpSpPr>
          <p:cNvPr id="530" name="Google Shape;530;p54"/>
          <p:cNvGrpSpPr/>
          <p:nvPr/>
        </p:nvGrpSpPr>
        <p:grpSpPr>
          <a:xfrm>
            <a:off x="403100" y="1241573"/>
            <a:ext cx="3042945" cy="2502207"/>
            <a:chOff x="403100" y="1241573"/>
            <a:chExt cx="3042945" cy="2502207"/>
          </a:xfrm>
        </p:grpSpPr>
        <p:pic>
          <p:nvPicPr>
            <p:cNvPr id="531" name="Google Shape;531;p54"/>
            <p:cNvPicPr preferRelativeResize="0"/>
            <p:nvPr/>
          </p:nvPicPr>
          <p:blipFill rotWithShape="1">
            <a:blip r:embed="rId3">
              <a:alphaModFix/>
            </a:blip>
            <a:srcRect/>
            <a:stretch/>
          </p:blipFill>
          <p:spPr>
            <a:xfrm>
              <a:off x="412625" y="1251098"/>
              <a:ext cx="1861260" cy="2083075"/>
            </a:xfrm>
            <a:prstGeom prst="rect">
              <a:avLst/>
            </a:prstGeom>
            <a:noFill/>
            <a:ln>
              <a:noFill/>
            </a:ln>
          </p:spPr>
        </p:pic>
        <p:sp>
          <p:nvSpPr>
            <p:cNvPr id="532" name="Google Shape;532;p54"/>
            <p:cNvSpPr/>
            <p:nvPr/>
          </p:nvSpPr>
          <p:spPr>
            <a:xfrm>
              <a:off x="403100" y="1241573"/>
              <a:ext cx="1913255" cy="2102485"/>
            </a:xfrm>
            <a:custGeom>
              <a:avLst/>
              <a:gdLst/>
              <a:ahLst/>
              <a:cxnLst/>
              <a:rect l="l" t="t" r="r" b="b"/>
              <a:pathLst>
                <a:path w="1913255" h="2102485" extrusionOk="0">
                  <a:moveTo>
                    <a:pt x="0" y="0"/>
                  </a:moveTo>
                  <a:lnTo>
                    <a:pt x="1912775" y="0"/>
                  </a:lnTo>
                  <a:lnTo>
                    <a:pt x="1912775" y="2102125"/>
                  </a:lnTo>
                  <a:lnTo>
                    <a:pt x="0" y="2102125"/>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533" name="Google Shape;533;p54"/>
            <p:cNvPicPr preferRelativeResize="0"/>
            <p:nvPr/>
          </p:nvPicPr>
          <p:blipFill rotWithShape="1">
            <a:blip r:embed="rId4">
              <a:alphaModFix/>
            </a:blip>
            <a:srcRect/>
            <a:stretch/>
          </p:blipFill>
          <p:spPr>
            <a:xfrm>
              <a:off x="681950" y="1549849"/>
              <a:ext cx="1893725" cy="1899112"/>
            </a:xfrm>
            <a:prstGeom prst="rect">
              <a:avLst/>
            </a:prstGeom>
            <a:noFill/>
            <a:ln>
              <a:noFill/>
            </a:ln>
          </p:spPr>
        </p:pic>
        <p:sp>
          <p:nvSpPr>
            <p:cNvPr id="534" name="Google Shape;534;p54"/>
            <p:cNvSpPr/>
            <p:nvPr/>
          </p:nvSpPr>
          <p:spPr>
            <a:xfrm>
              <a:off x="672425" y="1540324"/>
              <a:ext cx="1913255" cy="1918335"/>
            </a:xfrm>
            <a:custGeom>
              <a:avLst/>
              <a:gdLst/>
              <a:ahLst/>
              <a:cxnLst/>
              <a:rect l="l" t="t" r="r" b="b"/>
              <a:pathLst>
                <a:path w="1913255" h="1918335" extrusionOk="0">
                  <a:moveTo>
                    <a:pt x="0" y="0"/>
                  </a:moveTo>
                  <a:lnTo>
                    <a:pt x="1912775" y="0"/>
                  </a:lnTo>
                  <a:lnTo>
                    <a:pt x="1912775" y="1918162"/>
                  </a:lnTo>
                  <a:lnTo>
                    <a:pt x="0" y="1918162"/>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535" name="Google Shape;535;p54"/>
            <p:cNvPicPr preferRelativeResize="0"/>
            <p:nvPr/>
          </p:nvPicPr>
          <p:blipFill rotWithShape="1">
            <a:blip r:embed="rId5">
              <a:alphaModFix/>
            </a:blip>
            <a:srcRect/>
            <a:stretch/>
          </p:blipFill>
          <p:spPr>
            <a:xfrm>
              <a:off x="964750" y="1758135"/>
              <a:ext cx="1893725" cy="1975580"/>
            </a:xfrm>
            <a:prstGeom prst="rect">
              <a:avLst/>
            </a:prstGeom>
            <a:noFill/>
            <a:ln>
              <a:noFill/>
            </a:ln>
          </p:spPr>
        </p:pic>
        <p:sp>
          <p:nvSpPr>
            <p:cNvPr id="536" name="Google Shape;536;p54"/>
            <p:cNvSpPr/>
            <p:nvPr/>
          </p:nvSpPr>
          <p:spPr>
            <a:xfrm>
              <a:off x="955225" y="1748610"/>
              <a:ext cx="1913255" cy="1995170"/>
            </a:xfrm>
            <a:custGeom>
              <a:avLst/>
              <a:gdLst/>
              <a:ahLst/>
              <a:cxnLst/>
              <a:rect l="l" t="t" r="r" b="b"/>
              <a:pathLst>
                <a:path w="1913255" h="1995170" extrusionOk="0">
                  <a:moveTo>
                    <a:pt x="0" y="0"/>
                  </a:moveTo>
                  <a:lnTo>
                    <a:pt x="1912774" y="0"/>
                  </a:lnTo>
                  <a:lnTo>
                    <a:pt x="1912774" y="1994631"/>
                  </a:lnTo>
                  <a:lnTo>
                    <a:pt x="0" y="1994631"/>
                  </a:lnTo>
                  <a:lnTo>
                    <a:pt x="0" y="0"/>
                  </a:lnTo>
                  <a:close/>
                </a:path>
              </a:pathLst>
            </a:custGeom>
            <a:noFill/>
            <a:ln w="190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37" name="Google Shape;537;p54"/>
            <p:cNvSpPr/>
            <p:nvPr/>
          </p:nvSpPr>
          <p:spPr>
            <a:xfrm>
              <a:off x="978924" y="2518599"/>
              <a:ext cx="1005839" cy="146685"/>
            </a:xfrm>
            <a:custGeom>
              <a:avLst/>
              <a:gdLst/>
              <a:ahLst/>
              <a:cxnLst/>
              <a:rect l="l" t="t" r="r" b="b"/>
              <a:pathLst>
                <a:path w="1005839" h="146685" extrusionOk="0">
                  <a:moveTo>
                    <a:pt x="0" y="24350"/>
                  </a:moveTo>
                  <a:lnTo>
                    <a:pt x="1913" y="14872"/>
                  </a:lnTo>
                  <a:lnTo>
                    <a:pt x="7132" y="7132"/>
                  </a:lnTo>
                  <a:lnTo>
                    <a:pt x="14872" y="1913"/>
                  </a:lnTo>
                  <a:lnTo>
                    <a:pt x="24350" y="0"/>
                  </a:lnTo>
                  <a:lnTo>
                    <a:pt x="981249" y="0"/>
                  </a:lnTo>
                  <a:lnTo>
                    <a:pt x="987707" y="0"/>
                  </a:lnTo>
                  <a:lnTo>
                    <a:pt x="993901" y="2565"/>
                  </a:lnTo>
                  <a:lnTo>
                    <a:pt x="998467" y="7131"/>
                  </a:lnTo>
                  <a:lnTo>
                    <a:pt x="1003034" y="11698"/>
                  </a:lnTo>
                  <a:lnTo>
                    <a:pt x="1005599" y="17892"/>
                  </a:lnTo>
                  <a:lnTo>
                    <a:pt x="1005599" y="24350"/>
                  </a:lnTo>
                  <a:lnTo>
                    <a:pt x="1005599" y="121749"/>
                  </a:lnTo>
                  <a:lnTo>
                    <a:pt x="1003686" y="131227"/>
                  </a:lnTo>
                  <a:lnTo>
                    <a:pt x="998467" y="138967"/>
                  </a:lnTo>
                  <a:lnTo>
                    <a:pt x="990727" y="144186"/>
                  </a:lnTo>
                  <a:lnTo>
                    <a:pt x="981249" y="146099"/>
                  </a:lnTo>
                  <a:lnTo>
                    <a:pt x="24350" y="146099"/>
                  </a:lnTo>
                  <a:lnTo>
                    <a:pt x="14872" y="144186"/>
                  </a:lnTo>
                  <a:lnTo>
                    <a:pt x="7132" y="138967"/>
                  </a:lnTo>
                  <a:lnTo>
                    <a:pt x="1913" y="131227"/>
                  </a:lnTo>
                  <a:lnTo>
                    <a:pt x="0" y="121749"/>
                  </a:lnTo>
                  <a:lnTo>
                    <a:pt x="0" y="2435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38" name="Google Shape;538;p54"/>
            <p:cNvSpPr/>
            <p:nvPr/>
          </p:nvSpPr>
          <p:spPr>
            <a:xfrm>
              <a:off x="1996975" y="1891672"/>
              <a:ext cx="1449070" cy="649605"/>
            </a:xfrm>
            <a:custGeom>
              <a:avLst/>
              <a:gdLst/>
              <a:ahLst/>
              <a:cxnLst/>
              <a:rect l="l" t="t" r="r" b="b"/>
              <a:pathLst>
                <a:path w="1449070" h="649605" extrusionOk="0">
                  <a:moveTo>
                    <a:pt x="24899" y="649329"/>
                  </a:moveTo>
                  <a:lnTo>
                    <a:pt x="0" y="587829"/>
                  </a:lnTo>
                  <a:lnTo>
                    <a:pt x="1374608" y="30749"/>
                  </a:lnTo>
                  <a:lnTo>
                    <a:pt x="1362158" y="0"/>
                  </a:lnTo>
                  <a:lnTo>
                    <a:pt x="1448549" y="36579"/>
                  </a:lnTo>
                  <a:lnTo>
                    <a:pt x="1411958" y="122999"/>
                  </a:lnTo>
                  <a:lnTo>
                    <a:pt x="1399508" y="92249"/>
                  </a:lnTo>
                  <a:lnTo>
                    <a:pt x="24899" y="64932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39" name="Google Shape;539;p54"/>
            <p:cNvSpPr/>
            <p:nvPr/>
          </p:nvSpPr>
          <p:spPr>
            <a:xfrm>
              <a:off x="1996975" y="1891672"/>
              <a:ext cx="1449070" cy="649605"/>
            </a:xfrm>
            <a:custGeom>
              <a:avLst/>
              <a:gdLst/>
              <a:ahLst/>
              <a:cxnLst/>
              <a:rect l="l" t="t" r="r" b="b"/>
              <a:pathLst>
                <a:path w="1449070" h="649605" extrusionOk="0">
                  <a:moveTo>
                    <a:pt x="0" y="587829"/>
                  </a:moveTo>
                  <a:lnTo>
                    <a:pt x="1374608" y="30749"/>
                  </a:lnTo>
                  <a:lnTo>
                    <a:pt x="1362158" y="0"/>
                  </a:lnTo>
                  <a:lnTo>
                    <a:pt x="1448549" y="36579"/>
                  </a:lnTo>
                  <a:lnTo>
                    <a:pt x="1411958" y="122999"/>
                  </a:lnTo>
                  <a:lnTo>
                    <a:pt x="1399508" y="92249"/>
                  </a:lnTo>
                  <a:lnTo>
                    <a:pt x="24899" y="649329"/>
                  </a:lnTo>
                  <a:lnTo>
                    <a:pt x="0" y="58782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40" name="Google Shape;540;p54"/>
          <p:cNvSpPr txBox="1"/>
          <p:nvPr/>
        </p:nvSpPr>
        <p:spPr>
          <a:xfrm>
            <a:off x="3387342" y="1189838"/>
            <a:ext cx="2241600" cy="962700"/>
          </a:xfrm>
          <a:prstGeom prst="rect">
            <a:avLst/>
          </a:prstGeom>
          <a:noFill/>
          <a:ln>
            <a:noFill/>
          </a:ln>
        </p:spPr>
        <p:txBody>
          <a:bodyPr spcFirstLastPara="1" wrap="square" lIns="0" tIns="55875"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unstructured text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0" algn="ctr" defTabSz="914400" rtl="0" eaLnBrk="1" fontAlgn="auto" latinLnBrk="0" hangingPunct="1">
              <a:lnSpc>
                <a:spcPct val="100000"/>
              </a:lnSpc>
              <a:spcBef>
                <a:spcPts val="345"/>
              </a:spcBef>
              <a:spcAft>
                <a:spcPts val="0"/>
              </a:spcAft>
              <a:buClr>
                <a:srgbClr val="000000"/>
              </a:buClr>
              <a:buSzPts val="1400"/>
              <a:buFont typeface="Arial"/>
              <a:buNone/>
              <a:tabLst/>
              <a:defRPr/>
            </a:pPr>
            <a:r>
              <a:rPr kumimoji="0" lang="zh-CN" altLang="en-US" sz="1400" b="0" i="0" u="none" strike="noStrike" kern="0" cap="none" spc="0" normalizeH="0" baseline="0" noProof="0">
                <a:ln>
                  <a:noFill/>
                </a:ln>
                <a:solidFill>
                  <a:srgbClr val="000000"/>
                </a:solidFill>
                <a:effectLst/>
                <a:uLnTx/>
                <a:uFillTx/>
                <a:latin typeface="Georgia"/>
                <a:ea typeface="Georgia"/>
                <a:cs typeface="Georgia"/>
                <a:sym typeface="Georgia"/>
              </a:rPr>
              <a:t>“</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Born in St. Louis, Missouri,  to a prominent Boston  Brahmin family…”</a:t>
            </a:r>
            <a:endParaRPr kumimoji="0" sz="1400" b="0" i="0" u="none" strike="noStrike" kern="0" cap="none" spc="0" normalizeH="0" baseline="0" noProof="0">
              <a:ln>
                <a:noFill/>
              </a:ln>
              <a:solidFill>
                <a:srgbClr val="000000"/>
              </a:solidFill>
              <a:effectLst/>
              <a:uLnTx/>
              <a:uFillTx/>
              <a:latin typeface="Georgia"/>
              <a:ea typeface="Georgia"/>
              <a:cs typeface="Georgia"/>
              <a:sym typeface="Georgia"/>
            </a:endParaRPr>
          </a:p>
        </p:txBody>
      </p:sp>
      <p:grpSp>
        <p:nvGrpSpPr>
          <p:cNvPr id="541" name="Google Shape;541;p54"/>
          <p:cNvGrpSpPr/>
          <p:nvPr/>
        </p:nvGrpSpPr>
        <p:grpSpPr>
          <a:xfrm>
            <a:off x="6484475" y="1798746"/>
            <a:ext cx="2242097" cy="2043720"/>
            <a:chOff x="6484475" y="1798746"/>
            <a:chExt cx="2242097" cy="2043720"/>
          </a:xfrm>
        </p:grpSpPr>
        <p:pic>
          <p:nvPicPr>
            <p:cNvPr id="542" name="Google Shape;542;p54"/>
            <p:cNvPicPr preferRelativeResize="0"/>
            <p:nvPr/>
          </p:nvPicPr>
          <p:blipFill rotWithShape="1">
            <a:blip r:embed="rId6">
              <a:alphaModFix/>
            </a:blip>
            <a:srcRect/>
            <a:stretch/>
          </p:blipFill>
          <p:spPr>
            <a:xfrm>
              <a:off x="6484475" y="1798746"/>
              <a:ext cx="2132214" cy="2043720"/>
            </a:xfrm>
            <a:prstGeom prst="rect">
              <a:avLst/>
            </a:prstGeom>
            <a:noFill/>
            <a:ln>
              <a:noFill/>
            </a:ln>
          </p:spPr>
        </p:pic>
        <p:sp>
          <p:nvSpPr>
            <p:cNvPr id="543" name="Google Shape;543;p54"/>
            <p:cNvSpPr/>
            <p:nvPr/>
          </p:nvSpPr>
          <p:spPr>
            <a:xfrm>
              <a:off x="8143007" y="2679015"/>
              <a:ext cx="583565" cy="635635"/>
            </a:xfrm>
            <a:custGeom>
              <a:avLst/>
              <a:gdLst/>
              <a:ahLst/>
              <a:cxnLst/>
              <a:rect l="l" t="t" r="r" b="b"/>
              <a:pathLst>
                <a:path w="583565" h="635635" extrusionOk="0">
                  <a:moveTo>
                    <a:pt x="583499" y="635399"/>
                  </a:moveTo>
                  <a:lnTo>
                    <a:pt x="57899" y="634499"/>
                  </a:lnTo>
                  <a:lnTo>
                    <a:pt x="0" y="0"/>
                  </a:lnTo>
                  <a:lnTo>
                    <a:pt x="525599" y="899"/>
                  </a:lnTo>
                  <a:lnTo>
                    <a:pt x="583499" y="635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44" name="Google Shape;544;p54"/>
            <p:cNvSpPr/>
            <p:nvPr/>
          </p:nvSpPr>
          <p:spPr>
            <a:xfrm>
              <a:off x="8143007" y="2679015"/>
              <a:ext cx="583565" cy="635635"/>
            </a:xfrm>
            <a:custGeom>
              <a:avLst/>
              <a:gdLst/>
              <a:ahLst/>
              <a:cxnLst/>
              <a:rect l="l" t="t" r="r" b="b"/>
              <a:pathLst>
                <a:path w="583565" h="635635" extrusionOk="0">
                  <a:moveTo>
                    <a:pt x="0" y="0"/>
                  </a:moveTo>
                  <a:lnTo>
                    <a:pt x="525599" y="899"/>
                  </a:lnTo>
                  <a:lnTo>
                    <a:pt x="583499" y="635399"/>
                  </a:lnTo>
                  <a:lnTo>
                    <a:pt x="57899" y="6344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545" name="Google Shape;545;p54"/>
          <p:cNvGrpSpPr/>
          <p:nvPr/>
        </p:nvGrpSpPr>
        <p:grpSpPr>
          <a:xfrm>
            <a:off x="4439199" y="3264806"/>
            <a:ext cx="133350" cy="285750"/>
            <a:chOff x="4439199" y="3264806"/>
            <a:chExt cx="133350" cy="285750"/>
          </a:xfrm>
        </p:grpSpPr>
        <p:sp>
          <p:nvSpPr>
            <p:cNvPr id="546" name="Google Shape;546;p54"/>
            <p:cNvSpPr/>
            <p:nvPr/>
          </p:nvSpPr>
          <p:spPr>
            <a:xfrm>
              <a:off x="4439199" y="3264806"/>
              <a:ext cx="133350" cy="285750"/>
            </a:xfrm>
            <a:custGeom>
              <a:avLst/>
              <a:gdLst/>
              <a:ahLst/>
              <a:cxnLst/>
              <a:rect l="l" t="t" r="r" b="b"/>
              <a:pathLst>
                <a:path w="133350" h="285750" extrusionOk="0">
                  <a:moveTo>
                    <a:pt x="66449" y="285600"/>
                  </a:moveTo>
                  <a:lnTo>
                    <a:pt x="0" y="219150"/>
                  </a:lnTo>
                  <a:lnTo>
                    <a:pt x="33224" y="219150"/>
                  </a:lnTo>
                  <a:lnTo>
                    <a:pt x="33224" y="0"/>
                  </a:lnTo>
                  <a:lnTo>
                    <a:pt x="99674" y="0"/>
                  </a:lnTo>
                  <a:lnTo>
                    <a:pt x="99674" y="219150"/>
                  </a:lnTo>
                  <a:lnTo>
                    <a:pt x="132899" y="219150"/>
                  </a:lnTo>
                  <a:lnTo>
                    <a:pt x="66449" y="285600"/>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47" name="Google Shape;547;p54"/>
            <p:cNvSpPr/>
            <p:nvPr/>
          </p:nvSpPr>
          <p:spPr>
            <a:xfrm>
              <a:off x="4439199" y="3264806"/>
              <a:ext cx="133350" cy="285750"/>
            </a:xfrm>
            <a:custGeom>
              <a:avLst/>
              <a:gdLst/>
              <a:ahLst/>
              <a:cxnLst/>
              <a:rect l="l" t="t" r="r" b="b"/>
              <a:pathLst>
                <a:path w="133350" h="285750" extrusionOk="0">
                  <a:moveTo>
                    <a:pt x="99674" y="0"/>
                  </a:moveTo>
                  <a:lnTo>
                    <a:pt x="99674" y="219150"/>
                  </a:lnTo>
                  <a:lnTo>
                    <a:pt x="132899" y="219150"/>
                  </a:lnTo>
                  <a:lnTo>
                    <a:pt x="66449" y="285600"/>
                  </a:lnTo>
                  <a:lnTo>
                    <a:pt x="0" y="219150"/>
                  </a:lnTo>
                  <a:lnTo>
                    <a:pt x="33224" y="219150"/>
                  </a:lnTo>
                  <a:lnTo>
                    <a:pt x="33224" y="0"/>
                  </a:lnTo>
                  <a:lnTo>
                    <a:pt x="99674"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548" name="Google Shape;548;p54"/>
          <p:cNvGrpSpPr/>
          <p:nvPr/>
        </p:nvGrpSpPr>
        <p:grpSpPr>
          <a:xfrm>
            <a:off x="4439199" y="2200549"/>
            <a:ext cx="133350" cy="318135"/>
            <a:chOff x="4439199" y="2200549"/>
            <a:chExt cx="133350" cy="318135"/>
          </a:xfrm>
        </p:grpSpPr>
        <p:sp>
          <p:nvSpPr>
            <p:cNvPr id="549" name="Google Shape;549;p54"/>
            <p:cNvSpPr/>
            <p:nvPr/>
          </p:nvSpPr>
          <p:spPr>
            <a:xfrm>
              <a:off x="4439199" y="2200549"/>
              <a:ext cx="133350" cy="318135"/>
            </a:xfrm>
            <a:custGeom>
              <a:avLst/>
              <a:gdLst/>
              <a:ahLst/>
              <a:cxnLst/>
              <a:rect l="l" t="t" r="r" b="b"/>
              <a:pathLst>
                <a:path w="133350" h="318135" extrusionOk="0">
                  <a:moveTo>
                    <a:pt x="66449" y="317999"/>
                  </a:moveTo>
                  <a:lnTo>
                    <a:pt x="0" y="251549"/>
                  </a:lnTo>
                  <a:lnTo>
                    <a:pt x="33224" y="251549"/>
                  </a:lnTo>
                  <a:lnTo>
                    <a:pt x="33224" y="0"/>
                  </a:lnTo>
                  <a:lnTo>
                    <a:pt x="99674" y="0"/>
                  </a:lnTo>
                  <a:lnTo>
                    <a:pt x="99674" y="251549"/>
                  </a:lnTo>
                  <a:lnTo>
                    <a:pt x="132899" y="251549"/>
                  </a:lnTo>
                  <a:lnTo>
                    <a:pt x="66449" y="3179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50" name="Google Shape;550;p54"/>
            <p:cNvSpPr/>
            <p:nvPr/>
          </p:nvSpPr>
          <p:spPr>
            <a:xfrm>
              <a:off x="4439199" y="2200549"/>
              <a:ext cx="133350" cy="318135"/>
            </a:xfrm>
            <a:custGeom>
              <a:avLst/>
              <a:gdLst/>
              <a:ahLst/>
              <a:cxnLst/>
              <a:rect l="l" t="t" r="r" b="b"/>
              <a:pathLst>
                <a:path w="133350" h="318135" extrusionOk="0">
                  <a:moveTo>
                    <a:pt x="99674" y="0"/>
                  </a:moveTo>
                  <a:lnTo>
                    <a:pt x="99674" y="251549"/>
                  </a:lnTo>
                  <a:lnTo>
                    <a:pt x="132899" y="251549"/>
                  </a:lnTo>
                  <a:lnTo>
                    <a:pt x="66449" y="317999"/>
                  </a:lnTo>
                  <a:lnTo>
                    <a:pt x="0" y="251549"/>
                  </a:lnTo>
                  <a:lnTo>
                    <a:pt x="33224" y="251549"/>
                  </a:lnTo>
                  <a:lnTo>
                    <a:pt x="33224" y="0"/>
                  </a:lnTo>
                  <a:lnTo>
                    <a:pt x="99674"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51" name="Google Shape;551;p54"/>
          <p:cNvSpPr txBox="1"/>
          <p:nvPr/>
        </p:nvSpPr>
        <p:spPr>
          <a:xfrm>
            <a:off x="8151828" y="2702299"/>
            <a:ext cx="758100" cy="231000"/>
          </a:xfrm>
          <a:prstGeom prst="rect">
            <a:avLst/>
          </a:prstGeom>
          <a:solidFill>
            <a:srgbClr val="DCE7DA"/>
          </a:solidFill>
          <a:ln>
            <a:noFill/>
          </a:ln>
        </p:spPr>
        <p:txBody>
          <a:bodyPr spcFirstLastPara="1" wrap="square" lIns="0" tIns="0" rIns="0" bIns="0" anchor="t" anchorCtr="0">
            <a:spAutoFit/>
          </a:bodyPr>
          <a:lstStyle/>
          <a:p>
            <a:pPr marL="0" marR="0" lvl="0" indent="0" algn="l" defTabSz="914400" rtl="0" eaLnBrk="1" fontAlgn="auto" latinLnBrk="0" hangingPunct="1">
              <a:lnSpc>
                <a:spcPct val="115933"/>
              </a:lnSpc>
              <a:spcBef>
                <a:spcPts val="0"/>
              </a:spcBef>
              <a:spcAft>
                <a:spcPts val="0"/>
              </a:spcAft>
              <a:buClr>
                <a:srgbClr val="000000"/>
              </a:buClr>
              <a:buSzPts val="1500"/>
              <a:buFont typeface="Arial"/>
              <a:buNone/>
              <a:tabLst/>
              <a:defRPr/>
            </a:pPr>
            <a:r>
              <a:rPr kumimoji="0" lang="en-US" altLang="zh-CN"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T.S. Eliot</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552" name="Google Shape;552;p54"/>
          <p:cNvGrpSpPr/>
          <p:nvPr/>
        </p:nvGrpSpPr>
        <p:grpSpPr>
          <a:xfrm>
            <a:off x="5685776" y="2230075"/>
            <a:ext cx="2387579" cy="1389622"/>
            <a:chOff x="5685776" y="2230075"/>
            <a:chExt cx="2387579" cy="1389622"/>
          </a:xfrm>
        </p:grpSpPr>
        <p:sp>
          <p:nvSpPr>
            <p:cNvPr id="553" name="Google Shape;553;p54"/>
            <p:cNvSpPr/>
            <p:nvPr/>
          </p:nvSpPr>
          <p:spPr>
            <a:xfrm>
              <a:off x="5685776" y="2945327"/>
              <a:ext cx="862965" cy="674370"/>
            </a:xfrm>
            <a:custGeom>
              <a:avLst/>
              <a:gdLst/>
              <a:ahLst/>
              <a:cxnLst/>
              <a:rect l="l" t="t" r="r" b="b"/>
              <a:pathLst>
                <a:path w="862965" h="674370" extrusionOk="0">
                  <a:moveTo>
                    <a:pt x="40049" y="674269"/>
                  </a:moveTo>
                  <a:lnTo>
                    <a:pt x="0" y="621319"/>
                  </a:lnTo>
                  <a:lnTo>
                    <a:pt x="789378" y="26474"/>
                  </a:lnTo>
                  <a:lnTo>
                    <a:pt x="769353" y="0"/>
                  </a:lnTo>
                  <a:lnTo>
                    <a:pt x="862424" y="12994"/>
                  </a:lnTo>
                  <a:lnTo>
                    <a:pt x="849453" y="105899"/>
                  </a:lnTo>
                  <a:lnTo>
                    <a:pt x="829428" y="79424"/>
                  </a:lnTo>
                  <a:lnTo>
                    <a:pt x="40049" y="674269"/>
                  </a:lnTo>
                  <a:close/>
                </a:path>
              </a:pathLst>
            </a:custGeom>
            <a:solidFill>
              <a:srgbClr val="990000"/>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54" name="Google Shape;554;p54"/>
            <p:cNvSpPr/>
            <p:nvPr/>
          </p:nvSpPr>
          <p:spPr>
            <a:xfrm>
              <a:off x="5685776" y="2945327"/>
              <a:ext cx="862965" cy="674370"/>
            </a:xfrm>
            <a:custGeom>
              <a:avLst/>
              <a:gdLst/>
              <a:ahLst/>
              <a:cxnLst/>
              <a:rect l="l" t="t" r="r" b="b"/>
              <a:pathLst>
                <a:path w="862965" h="674370" extrusionOk="0">
                  <a:moveTo>
                    <a:pt x="0" y="621319"/>
                  </a:moveTo>
                  <a:lnTo>
                    <a:pt x="789378" y="26474"/>
                  </a:lnTo>
                  <a:lnTo>
                    <a:pt x="769353" y="0"/>
                  </a:lnTo>
                  <a:lnTo>
                    <a:pt x="862424" y="12994"/>
                  </a:lnTo>
                  <a:lnTo>
                    <a:pt x="849453" y="105899"/>
                  </a:lnTo>
                  <a:lnTo>
                    <a:pt x="829428" y="79424"/>
                  </a:lnTo>
                  <a:lnTo>
                    <a:pt x="40049" y="674269"/>
                  </a:lnTo>
                  <a:lnTo>
                    <a:pt x="0" y="621319"/>
                  </a:lnTo>
                  <a:close/>
                </a:path>
              </a:pathLst>
            </a:custGeom>
            <a:noFill/>
            <a:ln w="9525" cap="flat" cmpd="sng">
              <a:solidFill>
                <a:srgbClr val="99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55" name="Google Shape;555;p54"/>
            <p:cNvSpPr/>
            <p:nvPr/>
          </p:nvSpPr>
          <p:spPr>
            <a:xfrm>
              <a:off x="7486615" y="2230075"/>
              <a:ext cx="586740" cy="167639"/>
            </a:xfrm>
            <a:custGeom>
              <a:avLst/>
              <a:gdLst/>
              <a:ahLst/>
              <a:cxnLst/>
              <a:rect l="l" t="t" r="r" b="b"/>
              <a:pathLst>
                <a:path w="586740" h="167639" extrusionOk="0">
                  <a:moveTo>
                    <a:pt x="586418" y="167639"/>
                  </a:moveTo>
                  <a:lnTo>
                    <a:pt x="0" y="167639"/>
                  </a:lnTo>
                  <a:lnTo>
                    <a:pt x="0" y="0"/>
                  </a:lnTo>
                  <a:lnTo>
                    <a:pt x="586418" y="0"/>
                  </a:lnTo>
                  <a:lnTo>
                    <a:pt x="586418" y="16763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56" name="Google Shape;556;p54"/>
          <p:cNvSpPr txBox="1"/>
          <p:nvPr/>
        </p:nvSpPr>
        <p:spPr>
          <a:xfrm>
            <a:off x="7473915" y="2211787"/>
            <a:ext cx="6120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endParaRPr kumimoji="0" sz="1100" b="0" i="0" u="none" strike="noStrike" kern="0" cap="none" spc="0" normalizeH="0" baseline="0" noProof="0">
              <a:ln>
                <a:noFill/>
              </a:ln>
              <a:solidFill>
                <a:srgbClr val="000000"/>
              </a:solidFill>
              <a:effectLst/>
              <a:uLnTx/>
              <a:uFillTx/>
              <a:latin typeface="Courier New"/>
              <a:ea typeface="Courier New"/>
              <a:cs typeface="Courier New"/>
              <a:sym typeface="Courier New"/>
            </a:endParaRPr>
          </a:p>
        </p:txBody>
      </p:sp>
      <p:sp>
        <p:nvSpPr>
          <p:cNvPr id="557" name="Google Shape;557;p54"/>
          <p:cNvSpPr txBox="1"/>
          <p:nvPr/>
        </p:nvSpPr>
        <p:spPr>
          <a:xfrm>
            <a:off x="8039106" y="1522217"/>
            <a:ext cx="626700" cy="243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altLang="zh-CN" sz="1500" b="1" i="0" u="none" strike="noStrike" kern="0" cap="none" spc="0" normalizeH="0" baseline="0" noProof="0">
                <a:ln>
                  <a:noFill/>
                </a:ln>
                <a:solidFill>
                  <a:srgbClr val="CC0000"/>
                </a:solidFill>
                <a:effectLst/>
                <a:uLnTx/>
                <a:uFillTx/>
                <a:latin typeface="Times New Roman"/>
                <a:ea typeface="Times New Roman"/>
                <a:cs typeface="Times New Roman"/>
                <a:sym typeface="Times New Roman"/>
              </a:rPr>
              <a:t>Boston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558" name="Google Shape;558;p54"/>
          <p:cNvGrpSpPr/>
          <p:nvPr/>
        </p:nvGrpSpPr>
        <p:grpSpPr>
          <a:xfrm>
            <a:off x="7781900" y="1832599"/>
            <a:ext cx="716625" cy="1132175"/>
            <a:chOff x="7781900" y="1832599"/>
            <a:chExt cx="716625" cy="1132175"/>
          </a:xfrm>
        </p:grpSpPr>
        <p:sp>
          <p:nvSpPr>
            <p:cNvPr id="559" name="Google Shape;559;p54"/>
            <p:cNvSpPr/>
            <p:nvPr/>
          </p:nvSpPr>
          <p:spPr>
            <a:xfrm>
              <a:off x="7781900" y="2679024"/>
              <a:ext cx="292100" cy="285750"/>
            </a:xfrm>
            <a:custGeom>
              <a:avLst/>
              <a:gdLst/>
              <a:ahLst/>
              <a:cxnLst/>
              <a:rect l="l" t="t" r="r" b="b"/>
              <a:pathLst>
                <a:path w="292100" h="285750" extrusionOk="0">
                  <a:moveTo>
                    <a:pt x="145799" y="285599"/>
                  </a:moveTo>
                  <a:lnTo>
                    <a:pt x="99715" y="278319"/>
                  </a:lnTo>
                  <a:lnTo>
                    <a:pt x="59692" y="258047"/>
                  </a:lnTo>
                  <a:lnTo>
                    <a:pt x="28130" y="227135"/>
                  </a:lnTo>
                  <a:lnTo>
                    <a:pt x="7432" y="187935"/>
                  </a:lnTo>
                  <a:lnTo>
                    <a:pt x="0" y="142799"/>
                  </a:lnTo>
                  <a:lnTo>
                    <a:pt x="7432" y="97664"/>
                  </a:lnTo>
                  <a:lnTo>
                    <a:pt x="28130" y="58464"/>
                  </a:lnTo>
                  <a:lnTo>
                    <a:pt x="59692" y="27552"/>
                  </a:lnTo>
                  <a:lnTo>
                    <a:pt x="99715" y="7280"/>
                  </a:lnTo>
                  <a:lnTo>
                    <a:pt x="145799" y="0"/>
                  </a:lnTo>
                  <a:lnTo>
                    <a:pt x="174377" y="2769"/>
                  </a:lnTo>
                  <a:lnTo>
                    <a:pt x="226689" y="23992"/>
                  </a:lnTo>
                  <a:lnTo>
                    <a:pt x="267103" y="63574"/>
                  </a:lnTo>
                  <a:lnTo>
                    <a:pt x="288772" y="114811"/>
                  </a:lnTo>
                  <a:lnTo>
                    <a:pt x="291599" y="142799"/>
                  </a:lnTo>
                  <a:lnTo>
                    <a:pt x="284167" y="187935"/>
                  </a:lnTo>
                  <a:lnTo>
                    <a:pt x="263469" y="227135"/>
                  </a:lnTo>
                  <a:lnTo>
                    <a:pt x="231907" y="258047"/>
                  </a:lnTo>
                  <a:lnTo>
                    <a:pt x="191884" y="278319"/>
                  </a:lnTo>
                  <a:lnTo>
                    <a:pt x="145799" y="285599"/>
                  </a:lnTo>
                  <a:close/>
                </a:path>
              </a:pathLst>
            </a:custGeom>
            <a:solidFill>
              <a:srgbClr val="6AA84F">
                <a:alpha val="2431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0" name="Google Shape;560;p54"/>
            <p:cNvSpPr/>
            <p:nvPr/>
          </p:nvSpPr>
          <p:spPr>
            <a:xfrm>
              <a:off x="7781900" y="2679024"/>
              <a:ext cx="292100" cy="285750"/>
            </a:xfrm>
            <a:custGeom>
              <a:avLst/>
              <a:gdLst/>
              <a:ahLst/>
              <a:cxnLst/>
              <a:rect l="l" t="t" r="r" b="b"/>
              <a:pathLst>
                <a:path w="292100" h="285750" extrusionOk="0">
                  <a:moveTo>
                    <a:pt x="0" y="142799"/>
                  </a:moveTo>
                  <a:lnTo>
                    <a:pt x="7432" y="97664"/>
                  </a:lnTo>
                  <a:lnTo>
                    <a:pt x="28130" y="58464"/>
                  </a:lnTo>
                  <a:lnTo>
                    <a:pt x="59692" y="27552"/>
                  </a:lnTo>
                  <a:lnTo>
                    <a:pt x="99715" y="7280"/>
                  </a:lnTo>
                  <a:lnTo>
                    <a:pt x="145799" y="0"/>
                  </a:lnTo>
                  <a:lnTo>
                    <a:pt x="201595" y="10870"/>
                  </a:lnTo>
                  <a:lnTo>
                    <a:pt x="248895" y="41825"/>
                  </a:lnTo>
                  <a:lnTo>
                    <a:pt x="280501" y="88152"/>
                  </a:lnTo>
                  <a:lnTo>
                    <a:pt x="291599" y="142799"/>
                  </a:lnTo>
                  <a:lnTo>
                    <a:pt x="284167" y="187935"/>
                  </a:lnTo>
                  <a:lnTo>
                    <a:pt x="263469" y="227135"/>
                  </a:lnTo>
                  <a:lnTo>
                    <a:pt x="231907" y="258047"/>
                  </a:lnTo>
                  <a:lnTo>
                    <a:pt x="191884" y="278319"/>
                  </a:lnTo>
                  <a:lnTo>
                    <a:pt x="145799" y="285599"/>
                  </a:lnTo>
                  <a:lnTo>
                    <a:pt x="99715" y="278319"/>
                  </a:lnTo>
                  <a:lnTo>
                    <a:pt x="59692" y="258047"/>
                  </a:lnTo>
                  <a:lnTo>
                    <a:pt x="28130" y="227135"/>
                  </a:lnTo>
                  <a:lnTo>
                    <a:pt x="7432" y="187935"/>
                  </a:lnTo>
                  <a:lnTo>
                    <a:pt x="0" y="142799"/>
                  </a:lnTo>
                  <a:close/>
                </a:path>
              </a:pathLst>
            </a:custGeom>
            <a:noFill/>
            <a:ln w="19025" cap="flat" cmpd="sng">
              <a:solidFill>
                <a:srgbClr val="6AA84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1" name="Google Shape;561;p54"/>
            <p:cNvSpPr/>
            <p:nvPr/>
          </p:nvSpPr>
          <p:spPr>
            <a:xfrm>
              <a:off x="7974247" y="2103987"/>
              <a:ext cx="330200" cy="594994"/>
            </a:xfrm>
            <a:custGeom>
              <a:avLst/>
              <a:gdLst/>
              <a:ahLst/>
              <a:cxnLst/>
              <a:rect l="l" t="t" r="r" b="b"/>
              <a:pathLst>
                <a:path w="330200" h="594994" extrusionOk="0">
                  <a:moveTo>
                    <a:pt x="39691" y="594533"/>
                  </a:moveTo>
                  <a:lnTo>
                    <a:pt x="35577" y="592462"/>
                  </a:lnTo>
                  <a:lnTo>
                    <a:pt x="5777" y="577462"/>
                  </a:lnTo>
                  <a:lnTo>
                    <a:pt x="1662" y="575391"/>
                  </a:lnTo>
                  <a:lnTo>
                    <a:pt x="0" y="570373"/>
                  </a:lnTo>
                  <a:lnTo>
                    <a:pt x="283193" y="4870"/>
                  </a:lnTo>
                  <a:lnTo>
                    <a:pt x="284183" y="2892"/>
                  </a:lnTo>
                  <a:lnTo>
                    <a:pt x="285918" y="1390"/>
                  </a:lnTo>
                  <a:lnTo>
                    <a:pt x="290113" y="0"/>
                  </a:lnTo>
                  <a:lnTo>
                    <a:pt x="292402" y="168"/>
                  </a:lnTo>
                  <a:lnTo>
                    <a:pt x="324177" y="16162"/>
                  </a:lnTo>
                  <a:lnTo>
                    <a:pt x="328291" y="18233"/>
                  </a:lnTo>
                  <a:lnTo>
                    <a:pt x="329955" y="23251"/>
                  </a:lnTo>
                  <a:lnTo>
                    <a:pt x="44699" y="592873"/>
                  </a:lnTo>
                  <a:lnTo>
                    <a:pt x="39691" y="594533"/>
                  </a:lnTo>
                  <a:close/>
                </a:path>
              </a:pathLst>
            </a:custGeom>
            <a:solidFill>
              <a:srgbClr val="6AA84F">
                <a:alpha val="2431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2" name="Google Shape;562;p54"/>
            <p:cNvSpPr/>
            <p:nvPr/>
          </p:nvSpPr>
          <p:spPr>
            <a:xfrm>
              <a:off x="7974247" y="2103987"/>
              <a:ext cx="330200" cy="594994"/>
            </a:xfrm>
            <a:custGeom>
              <a:avLst/>
              <a:gdLst/>
              <a:ahLst/>
              <a:cxnLst/>
              <a:rect l="l" t="t" r="r" b="b"/>
              <a:pathLst>
                <a:path w="330200" h="594994" extrusionOk="0">
                  <a:moveTo>
                    <a:pt x="5777" y="577462"/>
                  </a:moveTo>
                  <a:lnTo>
                    <a:pt x="1662" y="575391"/>
                  </a:lnTo>
                  <a:lnTo>
                    <a:pt x="0" y="570373"/>
                  </a:lnTo>
                  <a:lnTo>
                    <a:pt x="2062" y="566254"/>
                  </a:lnTo>
                  <a:lnTo>
                    <a:pt x="283193" y="4870"/>
                  </a:lnTo>
                  <a:lnTo>
                    <a:pt x="284183" y="2892"/>
                  </a:lnTo>
                  <a:lnTo>
                    <a:pt x="285918" y="1390"/>
                  </a:lnTo>
                  <a:lnTo>
                    <a:pt x="288016" y="695"/>
                  </a:lnTo>
                  <a:lnTo>
                    <a:pt x="290113" y="0"/>
                  </a:lnTo>
                  <a:lnTo>
                    <a:pt x="292402" y="168"/>
                  </a:lnTo>
                  <a:lnTo>
                    <a:pt x="294377" y="1162"/>
                  </a:lnTo>
                  <a:lnTo>
                    <a:pt x="324177" y="16162"/>
                  </a:lnTo>
                  <a:lnTo>
                    <a:pt x="328291" y="18233"/>
                  </a:lnTo>
                  <a:lnTo>
                    <a:pt x="329955" y="23251"/>
                  </a:lnTo>
                  <a:lnTo>
                    <a:pt x="327893" y="27370"/>
                  </a:lnTo>
                  <a:lnTo>
                    <a:pt x="46762" y="588754"/>
                  </a:lnTo>
                  <a:lnTo>
                    <a:pt x="44699" y="592873"/>
                  </a:lnTo>
                  <a:lnTo>
                    <a:pt x="39691" y="594533"/>
                  </a:lnTo>
                  <a:lnTo>
                    <a:pt x="35577" y="592462"/>
                  </a:lnTo>
                  <a:lnTo>
                    <a:pt x="5777" y="577462"/>
                  </a:lnTo>
                  <a:close/>
                </a:path>
              </a:pathLst>
            </a:custGeom>
            <a:noFill/>
            <a:ln w="19025" cap="flat" cmpd="sng">
              <a:solidFill>
                <a:srgbClr val="6AA84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3" name="Google Shape;563;p54"/>
            <p:cNvSpPr/>
            <p:nvPr/>
          </p:nvSpPr>
          <p:spPr>
            <a:xfrm>
              <a:off x="8206425" y="1832599"/>
              <a:ext cx="292100" cy="285750"/>
            </a:xfrm>
            <a:custGeom>
              <a:avLst/>
              <a:gdLst/>
              <a:ahLst/>
              <a:cxnLst/>
              <a:rect l="l" t="t" r="r" b="b"/>
              <a:pathLst>
                <a:path w="292100" h="285750" extrusionOk="0">
                  <a:moveTo>
                    <a:pt x="145799" y="285599"/>
                  </a:moveTo>
                  <a:lnTo>
                    <a:pt x="99715" y="278319"/>
                  </a:lnTo>
                  <a:lnTo>
                    <a:pt x="59692" y="258047"/>
                  </a:lnTo>
                  <a:lnTo>
                    <a:pt x="28130" y="227135"/>
                  </a:lnTo>
                  <a:lnTo>
                    <a:pt x="7432" y="187935"/>
                  </a:lnTo>
                  <a:lnTo>
                    <a:pt x="0" y="142799"/>
                  </a:lnTo>
                  <a:lnTo>
                    <a:pt x="7432" y="97664"/>
                  </a:lnTo>
                  <a:lnTo>
                    <a:pt x="28130" y="58464"/>
                  </a:lnTo>
                  <a:lnTo>
                    <a:pt x="59692" y="27552"/>
                  </a:lnTo>
                  <a:lnTo>
                    <a:pt x="99715" y="7280"/>
                  </a:lnTo>
                  <a:lnTo>
                    <a:pt x="145799" y="0"/>
                  </a:lnTo>
                  <a:lnTo>
                    <a:pt x="174377" y="2769"/>
                  </a:lnTo>
                  <a:lnTo>
                    <a:pt x="226689" y="23992"/>
                  </a:lnTo>
                  <a:lnTo>
                    <a:pt x="267103" y="63574"/>
                  </a:lnTo>
                  <a:lnTo>
                    <a:pt x="288772" y="114811"/>
                  </a:lnTo>
                  <a:lnTo>
                    <a:pt x="291599" y="142799"/>
                  </a:lnTo>
                  <a:lnTo>
                    <a:pt x="284167" y="187935"/>
                  </a:lnTo>
                  <a:lnTo>
                    <a:pt x="263469" y="227135"/>
                  </a:lnTo>
                  <a:lnTo>
                    <a:pt x="231907" y="258047"/>
                  </a:lnTo>
                  <a:lnTo>
                    <a:pt x="191884" y="278319"/>
                  </a:lnTo>
                  <a:lnTo>
                    <a:pt x="145799" y="285599"/>
                  </a:lnTo>
                  <a:close/>
                </a:path>
              </a:pathLst>
            </a:custGeom>
            <a:solidFill>
              <a:srgbClr val="990000">
                <a:alpha val="129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4" name="Google Shape;564;p54"/>
            <p:cNvSpPr/>
            <p:nvPr/>
          </p:nvSpPr>
          <p:spPr>
            <a:xfrm>
              <a:off x="8206425" y="1832599"/>
              <a:ext cx="292100" cy="285750"/>
            </a:xfrm>
            <a:custGeom>
              <a:avLst/>
              <a:gdLst/>
              <a:ahLst/>
              <a:cxnLst/>
              <a:rect l="l" t="t" r="r" b="b"/>
              <a:pathLst>
                <a:path w="292100" h="285750" extrusionOk="0">
                  <a:moveTo>
                    <a:pt x="0" y="142799"/>
                  </a:moveTo>
                  <a:lnTo>
                    <a:pt x="7432" y="97664"/>
                  </a:lnTo>
                  <a:lnTo>
                    <a:pt x="28130" y="58464"/>
                  </a:lnTo>
                  <a:lnTo>
                    <a:pt x="59692" y="27552"/>
                  </a:lnTo>
                  <a:lnTo>
                    <a:pt x="99715" y="7280"/>
                  </a:lnTo>
                  <a:lnTo>
                    <a:pt x="145799" y="0"/>
                  </a:lnTo>
                  <a:lnTo>
                    <a:pt x="201595" y="10870"/>
                  </a:lnTo>
                  <a:lnTo>
                    <a:pt x="248895" y="41825"/>
                  </a:lnTo>
                  <a:lnTo>
                    <a:pt x="280501" y="88152"/>
                  </a:lnTo>
                  <a:lnTo>
                    <a:pt x="291599" y="142799"/>
                  </a:lnTo>
                  <a:lnTo>
                    <a:pt x="284167" y="187935"/>
                  </a:lnTo>
                  <a:lnTo>
                    <a:pt x="263469" y="227135"/>
                  </a:lnTo>
                  <a:lnTo>
                    <a:pt x="231907" y="258047"/>
                  </a:lnTo>
                  <a:lnTo>
                    <a:pt x="191884" y="278319"/>
                  </a:lnTo>
                  <a:lnTo>
                    <a:pt x="145799" y="285599"/>
                  </a:lnTo>
                  <a:lnTo>
                    <a:pt x="99715" y="278319"/>
                  </a:lnTo>
                  <a:lnTo>
                    <a:pt x="59692" y="258047"/>
                  </a:lnTo>
                  <a:lnTo>
                    <a:pt x="28130" y="227135"/>
                  </a:lnTo>
                  <a:lnTo>
                    <a:pt x="7432" y="187935"/>
                  </a:lnTo>
                  <a:lnTo>
                    <a:pt x="0" y="142799"/>
                  </a:lnTo>
                  <a:close/>
                </a:path>
              </a:pathLst>
            </a:custGeom>
            <a:noFill/>
            <a:ln w="19025"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565" name="Google Shape;565;p54"/>
          <p:cNvSpPr txBox="1"/>
          <p:nvPr/>
        </p:nvSpPr>
        <p:spPr>
          <a:xfrm>
            <a:off x="3410221" y="3558048"/>
            <a:ext cx="2191500" cy="709200"/>
          </a:xfrm>
          <a:prstGeom prst="rect">
            <a:avLst/>
          </a:prstGeom>
          <a:noFill/>
          <a:ln>
            <a:noFill/>
          </a:ln>
        </p:spPr>
        <p:txBody>
          <a:bodyPr spcFirstLastPara="1" wrap="square" lIns="0" tIns="132075"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(T.S. Eliot</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 </a:t>
            </a:r>
            <a:r>
              <a:rPr kumimoji="0" lang="en-US" altLang="zh-CN" sz="11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r>
              <a:rPr kumimoji="0" lang="en-US" altLang="zh-CN" sz="1400" b="0" i="0" u="none" strike="noStrike" kern="0" cap="none" spc="0" normalizeH="0" baseline="0" noProof="0">
                <a:ln>
                  <a:noFill/>
                </a:ln>
                <a:solidFill>
                  <a:srgbClr val="000000"/>
                </a:solidFill>
                <a:effectLst/>
                <a:uLnTx/>
                <a:uFillTx/>
                <a:latin typeface="Georgia"/>
                <a:ea typeface="Georgia"/>
                <a:cs typeface="Georgia"/>
                <a:sym typeface="Georgia"/>
              </a:rPr>
              <a:t>, </a:t>
            </a:r>
            <a:r>
              <a:rPr kumimoji="0" lang="en-US" altLang="zh-CN" sz="1400" b="1" i="0" u="none" strike="noStrike" kern="0" cap="none" spc="0" normalizeH="0" baseline="0" noProof="0">
                <a:ln>
                  <a:noFill/>
                </a:ln>
                <a:solidFill>
                  <a:srgbClr val="CC0000"/>
                </a:solidFill>
                <a:effectLst/>
                <a:uLnTx/>
                <a:uFillTx/>
                <a:latin typeface="Cambria"/>
                <a:ea typeface="Cambria"/>
                <a:cs typeface="Cambria"/>
                <a:sym typeface="Cambria"/>
              </a:rPr>
              <a:t>Boston</a:t>
            </a: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2540" marR="0" lvl="0" indent="0" algn="ctr" defTabSz="914400" rtl="0" eaLnBrk="1" fontAlgn="auto" latinLnBrk="0" hangingPunct="1">
              <a:lnSpc>
                <a:spcPct val="100000"/>
              </a:lnSpc>
              <a:spcBef>
                <a:spcPts val="1010"/>
              </a:spcBef>
              <a:spcAft>
                <a:spcPts val="0"/>
              </a:spcAft>
              <a:buClr>
                <a:srgbClr val="000000"/>
              </a:buClr>
              <a:buSzPts val="1500"/>
              <a:buFont typeface="Arial"/>
              <a:buNone/>
              <a:tabLst/>
              <a:defRPr/>
            </a:pPr>
            <a:r>
              <a:rPr kumimoji="0" lang="en-US" altLang="zh-CN" sz="1500" b="1" i="0" u="none" strike="noStrike" kern="0" cap="none" spc="0" normalizeH="0" baseline="0" noProof="0">
                <a:ln>
                  <a:noFill/>
                </a:ln>
                <a:solidFill>
                  <a:srgbClr val="CC0000"/>
                </a:solidFill>
                <a:effectLst/>
                <a:uLnTx/>
                <a:uFillTx/>
                <a:latin typeface="Times New Roman"/>
                <a:ea typeface="Times New Roman"/>
                <a:cs typeface="Times New Roman"/>
                <a:sym typeface="Times New Roman"/>
              </a:rPr>
              <a:t>incorrect extraction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66" name="Google Shape;566;p54"/>
          <p:cNvSpPr txBox="1"/>
          <p:nvPr/>
        </p:nvSpPr>
        <p:spPr>
          <a:xfrm>
            <a:off x="267419" y="4540353"/>
            <a:ext cx="9316528" cy="308674"/>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700"/>
              <a:buFont typeface="Arial"/>
              <a:buNone/>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Triples lead to </a:t>
            </a:r>
            <a:r>
              <a:rPr kumimoji="0" lang="en-US" altLang="zh-CN" sz="17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information loss</a:t>
            </a: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hard to include all possible information we may be interested in.</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67" name="Google Shape;567;p54"/>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19</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568" name="Google Shape;568;p54"/>
          <p:cNvSpPr txBox="1"/>
          <p:nvPr/>
        </p:nvSpPr>
        <p:spPr>
          <a:xfrm>
            <a:off x="6992316" y="68529"/>
            <a:ext cx="20796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Right-most graphic from </a:t>
            </a:r>
            <a:r>
              <a:rPr kumimoji="0" lang="en-US" altLang="zh-CN" sz="850" b="0" i="1" u="sng" strike="noStrike" kern="0" cap="none" spc="0" normalizeH="0" baseline="0" noProof="0">
                <a:ln>
                  <a:noFill/>
                </a:ln>
                <a:solidFill>
                  <a:srgbClr val="3D85C6"/>
                </a:solidFill>
                <a:effectLst/>
                <a:uLnTx/>
                <a:uFillTx/>
                <a:latin typeface="Times New Roman"/>
                <a:ea typeface="Times New Roman"/>
                <a:cs typeface="Times New Roman"/>
                <a:sym typeface="Times New Roman"/>
              </a:rPr>
              <a:t>Petroni et al., 2019</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69" name="Google Shape;569;p54"/>
          <p:cNvSpPr txBox="1"/>
          <p:nvPr/>
        </p:nvSpPr>
        <p:spPr>
          <a:xfrm>
            <a:off x="6430554" y="916602"/>
            <a:ext cx="2971800" cy="646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Q: Describe Eliot’s family’s related information.</a:t>
            </a:r>
            <a:endParaRPr kumimoji="0" sz="1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cxnSp>
        <p:nvCxnSpPr>
          <p:cNvPr id="570" name="Google Shape;570;p54"/>
          <p:cNvCxnSpPr>
            <a:stCxn id="569" idx="2"/>
          </p:cNvCxnSpPr>
          <p:nvPr/>
        </p:nvCxnSpPr>
        <p:spPr>
          <a:xfrm flipH="1">
            <a:off x="7881654" y="1563102"/>
            <a:ext cx="34800" cy="1091100"/>
          </a:xfrm>
          <a:prstGeom prst="straightConnector1">
            <a:avLst/>
          </a:prstGeom>
          <a:noFill/>
          <a:ln w="19050" cap="flat" cmpd="sng">
            <a:solidFill>
              <a:srgbClr val="FF0000"/>
            </a:solidFill>
            <a:prstDash val="solid"/>
            <a:round/>
            <a:headEnd type="none" w="sm" len="sm"/>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5"/>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rgbClr val="FF0000"/>
              </a:buClr>
              <a:buSzPct val="91502"/>
              <a:buFont typeface="Times New Roman"/>
              <a:buNone/>
            </a:pPr>
            <a:r>
              <a:rPr lang="zh-CN" sz="3400">
                <a:solidFill>
                  <a:srgbClr val="FF0000"/>
                </a:solidFill>
              </a:rPr>
              <a:t>Are there better alternatives?</a:t>
            </a:r>
            <a:br>
              <a:rPr lang="zh-CN" sz="3400">
                <a:solidFill>
                  <a:srgbClr val="FF0000"/>
                </a:solidFill>
              </a:rPr>
            </a:br>
            <a:br>
              <a:rPr lang="zh-CN" sz="3400">
                <a:solidFill>
                  <a:srgbClr val="FF0000"/>
                </a:solidFill>
              </a:rPr>
            </a:br>
            <a:r>
              <a:rPr lang="zh-CN" sz="1800">
                <a:solidFill>
                  <a:srgbClr val="595959"/>
                </a:solidFill>
              </a:rPr>
              <a:t>Traditional knowledge bases are </a:t>
            </a:r>
            <a:r>
              <a:rPr lang="zh-CN" sz="1800" b="1">
                <a:solidFill>
                  <a:srgbClr val="E69137"/>
                </a:solidFill>
                <a:latin typeface="Cambria"/>
                <a:ea typeface="Cambria"/>
                <a:cs typeface="Cambria"/>
                <a:sym typeface="Cambria"/>
              </a:rPr>
              <a:t>inflexible</a:t>
            </a:r>
            <a:br>
              <a:rPr lang="zh-CN" sz="1800" b="1">
                <a:solidFill>
                  <a:srgbClr val="E69137"/>
                </a:solidFill>
                <a:latin typeface="Cambria"/>
                <a:ea typeface="Cambria"/>
                <a:cs typeface="Cambria"/>
                <a:sym typeface="Cambria"/>
              </a:rPr>
            </a:br>
            <a:r>
              <a:rPr lang="zh-CN" sz="1800" b="1">
                <a:solidFill>
                  <a:srgbClr val="E69137"/>
                </a:solidFill>
                <a:latin typeface="Cambria"/>
                <a:ea typeface="Cambria"/>
                <a:cs typeface="Cambria"/>
                <a:sym typeface="Cambria"/>
              </a:rPr>
              <a:t> </a:t>
            </a:r>
            <a:r>
              <a:rPr lang="zh-CN" sz="1800">
                <a:solidFill>
                  <a:srgbClr val="595959"/>
                </a:solidFill>
              </a:rPr>
              <a:t>and require </a:t>
            </a:r>
            <a:r>
              <a:rPr lang="zh-CN" sz="1800" b="1">
                <a:solidFill>
                  <a:srgbClr val="E69137"/>
                </a:solidFill>
                <a:latin typeface="Cambria"/>
                <a:ea typeface="Cambria"/>
                <a:cs typeface="Cambria"/>
                <a:sym typeface="Cambria"/>
              </a:rPr>
              <a:t>signiﬁcant manual eﬀort</a:t>
            </a:r>
            <a:r>
              <a:rPr lang="zh-CN" sz="1800">
                <a:solidFill>
                  <a:srgbClr val="595959"/>
                </a:solidFill>
              </a:rPr>
              <a:t>.</a:t>
            </a:r>
            <a:br>
              <a:rPr lang="zh-CN" sz="3600"/>
            </a:br>
            <a:endParaRPr sz="3400">
              <a:solidFill>
                <a:srgbClr val="FF0000"/>
              </a:solidFill>
            </a:endParaRPr>
          </a:p>
        </p:txBody>
      </p:sp>
      <p:sp>
        <p:nvSpPr>
          <p:cNvPr id="576" name="Google Shape;576;p55"/>
          <p:cNvSpPr/>
          <p:nvPr/>
        </p:nvSpPr>
        <p:spPr>
          <a:xfrm>
            <a:off x="4454820" y="2417863"/>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581"/>
        <p:cNvGrpSpPr/>
        <p:nvPr/>
      </p:nvGrpSpPr>
      <p:grpSpPr>
        <a:xfrm>
          <a:off x="0" y="0"/>
          <a:ext cx="0" cy="0"/>
          <a:chOff x="0" y="0"/>
          <a:chExt cx="0" cy="0"/>
        </a:xfrm>
      </p:grpSpPr>
      <p:sp>
        <p:nvSpPr>
          <p:cNvPr id="582" name="Google Shape;582;p56"/>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21</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583" name="Google Shape;583;p56"/>
          <p:cNvSpPr txBox="1">
            <a:spLocks noGrp="1"/>
          </p:cNvSpPr>
          <p:nvPr>
            <p:ph type="title"/>
          </p:nvPr>
        </p:nvSpPr>
        <p:spPr>
          <a:xfrm>
            <a:off x="602225" y="1992122"/>
            <a:ext cx="7942500" cy="1121100"/>
          </a:xfrm>
          <a:prstGeom prst="rect">
            <a:avLst/>
          </a:prstGeom>
          <a:noFill/>
          <a:ln>
            <a:noFill/>
          </a:ln>
        </p:spPr>
        <p:txBody>
          <a:bodyPr spcFirstLastPara="1" wrap="square" lIns="0" tIns="12700" rIns="0" bIns="0" anchor="t" anchorCtr="0">
            <a:spAutoFit/>
          </a:bodyPr>
          <a:lstStyle/>
          <a:p>
            <a:pPr marL="1937385" marR="5080" lvl="0" indent="-1925320" algn="l" rtl="0">
              <a:lnSpc>
                <a:spcPct val="100000"/>
              </a:lnSpc>
              <a:spcBef>
                <a:spcPts val="0"/>
              </a:spcBef>
              <a:spcAft>
                <a:spcPts val="0"/>
              </a:spcAft>
              <a:buSzPts val="1400"/>
              <a:buNone/>
            </a:pPr>
            <a:r>
              <a:rPr lang="zh-CN" sz="3600"/>
              <a:t>Language Models as Knowledge Bases?  (Petroni et al., 2019)</a:t>
            </a:r>
            <a:endParaRPr sz="3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588"/>
        <p:cNvGrpSpPr/>
        <p:nvPr/>
      </p:nvGrpSpPr>
      <p:grpSpPr>
        <a:xfrm>
          <a:off x="0" y="0"/>
          <a:ext cx="0" cy="0"/>
          <a:chOff x="0" y="0"/>
          <a:chExt cx="0" cy="0"/>
        </a:xfrm>
      </p:grpSpPr>
      <p:sp>
        <p:nvSpPr>
          <p:cNvPr id="589" name="Google Shape;589;p57"/>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22</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590" name="Google Shape;590;p57"/>
          <p:cNvSpPr txBox="1">
            <a:spLocks noGrp="1"/>
          </p:cNvSpPr>
          <p:nvPr>
            <p:ph type="title"/>
          </p:nvPr>
        </p:nvSpPr>
        <p:spPr>
          <a:xfrm>
            <a:off x="1836059" y="505350"/>
            <a:ext cx="5474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Language models as knowledge bases?</a:t>
            </a:r>
            <a:endParaRPr/>
          </a:p>
        </p:txBody>
      </p:sp>
      <p:sp>
        <p:nvSpPr>
          <p:cNvPr id="591" name="Google Shape;591;p57"/>
          <p:cNvSpPr txBox="1"/>
          <p:nvPr/>
        </p:nvSpPr>
        <p:spPr>
          <a:xfrm>
            <a:off x="539375" y="1159758"/>
            <a:ext cx="8167500" cy="1588500"/>
          </a:xfrm>
          <a:prstGeom prst="rect">
            <a:avLst/>
          </a:prstGeom>
          <a:noFill/>
          <a:ln>
            <a:noFill/>
          </a:ln>
        </p:spPr>
        <p:txBody>
          <a:bodyPr spcFirstLastPara="1" wrap="square" lIns="0" tIns="679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altLang="zh-CN"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Why language models?</a:t>
            </a: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75"/>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Scalability: pre-trained on a huge corpus of data</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Time/Labor efficiency: does not require annotations/supervision</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Flexibility: more ﬂexible with natural language queries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Accessibility: can be used oﬀ-the-shelf</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92" name="Google Shape;592;p57"/>
          <p:cNvSpPr txBox="1"/>
          <p:nvPr/>
        </p:nvSpPr>
        <p:spPr>
          <a:xfrm>
            <a:off x="7375485" y="68529"/>
            <a:ext cx="16968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3"/>
              </a:rPr>
              <a:t>www.slyderstavern.com</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596"/>
        <p:cNvGrpSpPr/>
        <p:nvPr/>
      </p:nvGrpSpPr>
      <p:grpSpPr>
        <a:xfrm>
          <a:off x="0" y="0"/>
          <a:ext cx="0" cy="0"/>
          <a:chOff x="0" y="0"/>
          <a:chExt cx="0" cy="0"/>
        </a:xfrm>
      </p:grpSpPr>
      <p:sp>
        <p:nvSpPr>
          <p:cNvPr id="597" name="Google Shape;597;p58"/>
          <p:cNvSpPr txBox="1"/>
          <p:nvPr/>
        </p:nvSpPr>
        <p:spPr>
          <a:xfrm>
            <a:off x="914400" y="2343150"/>
            <a:ext cx="8680800" cy="995100"/>
          </a:xfrm>
          <a:prstGeom prst="rect">
            <a:avLst/>
          </a:prstGeom>
          <a:noFill/>
          <a:ln>
            <a:noFill/>
          </a:ln>
        </p:spPr>
        <p:txBody>
          <a:bodyPr spcFirstLastPara="1" wrap="square" lIns="0" tIns="67925" rIns="0" bIns="0" anchor="t" anchorCtr="0">
            <a:spAutoFit/>
          </a:bodyPr>
          <a:lstStyle/>
          <a:p>
            <a:pPr marL="12700" marR="665480" lvl="0" indent="0" algn="l" defTabSz="914400" rtl="0" eaLnBrk="1" fontAlgn="auto" latinLnBrk="0" hangingPunct="1">
              <a:lnSpc>
                <a:spcPct val="114999"/>
              </a:lnSpc>
              <a:spcBef>
                <a:spcPts val="0"/>
              </a:spcBef>
              <a:spcAft>
                <a:spcPts val="0"/>
              </a:spcAft>
              <a:buClr>
                <a:srgbClr val="000000"/>
              </a:buClr>
              <a:buSzPts val="2800"/>
              <a:buFont typeface="Arial"/>
              <a:buNone/>
              <a:tabLst/>
              <a:defRPr/>
            </a:pPr>
            <a:r>
              <a:rPr kumimoji="0" lang="zh-CN" altLang="en-US" sz="2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a:t>
            </a:r>
            <a:r>
              <a:rPr kumimoji="0" lang="en-US" altLang="zh-CN" sz="2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Do language  models really store knowledge</a:t>
            </a:r>
            <a:r>
              <a:rPr kumimoji="0" lang="zh-CN" altLang="en-US" sz="2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endParaRPr kumimoji="0" sz="2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12700" marR="665480" lvl="0" indent="0" algn="l" defTabSz="914400" rtl="0" eaLnBrk="1" fontAlgn="auto" latinLnBrk="0" hangingPunct="1">
              <a:lnSpc>
                <a:spcPct val="114999"/>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sp>
        <p:nvSpPr>
          <p:cNvPr id="598" name="Google Shape;598;p58"/>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23</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599" name="Google Shape;599;p58"/>
          <p:cNvSpPr txBox="1"/>
          <p:nvPr/>
        </p:nvSpPr>
        <p:spPr>
          <a:xfrm>
            <a:off x="7375485" y="68529"/>
            <a:ext cx="16968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3"/>
              </a:rPr>
              <a:t>www.slyderstavern.com</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59"/>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FF0000"/>
              </a:buClr>
              <a:buSzPts val="2800"/>
              <a:buFont typeface="Times New Roman"/>
              <a:buNone/>
            </a:pPr>
            <a:br>
              <a:rPr lang="zh-CN" sz="3600">
                <a:solidFill>
                  <a:srgbClr val="FF0000"/>
                </a:solidFill>
              </a:rPr>
            </a:br>
            <a:endParaRPr sz="3400">
              <a:solidFill>
                <a:srgbClr val="FF0000"/>
              </a:solidFill>
            </a:endParaRPr>
          </a:p>
        </p:txBody>
      </p:sp>
      <p:sp>
        <p:nvSpPr>
          <p:cNvPr id="605" name="Google Shape;605;p59"/>
          <p:cNvSpPr/>
          <p:nvPr/>
        </p:nvSpPr>
        <p:spPr>
          <a:xfrm>
            <a:off x="4670586" y="971550"/>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06" name="Google Shape;606;p59" descr="Probe &amp; Seeker, 6&quot; Length | Dissecting Probe | Home Science Tools"/>
          <p:cNvPicPr preferRelativeResize="0"/>
          <p:nvPr/>
        </p:nvPicPr>
        <p:blipFill rotWithShape="1">
          <a:blip r:embed="rId3">
            <a:alphaModFix/>
          </a:blip>
          <a:srcRect/>
          <a:stretch/>
        </p:blipFill>
        <p:spPr>
          <a:xfrm rot="-4573008">
            <a:off x="4997385" y="1293989"/>
            <a:ext cx="1629216" cy="1733550"/>
          </a:xfrm>
          <a:prstGeom prst="rect">
            <a:avLst/>
          </a:prstGeom>
          <a:noFill/>
          <a:ln>
            <a:noFill/>
          </a:ln>
        </p:spPr>
      </p:pic>
      <p:sp>
        <p:nvSpPr>
          <p:cNvPr id="607" name="Google Shape;607;p59"/>
          <p:cNvSpPr/>
          <p:nvPr/>
        </p:nvSpPr>
        <p:spPr>
          <a:xfrm>
            <a:off x="6006966" y="2481440"/>
            <a:ext cx="22989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probe(</a:t>
            </a: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探针，探测</a:t>
            </a: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08" name="Google Shape;608;p59" descr="LLMs and BERT Overview – Text Analysis in Python"/>
          <p:cNvPicPr preferRelativeResize="0"/>
          <p:nvPr/>
        </p:nvPicPr>
        <p:blipFill rotWithShape="1">
          <a:blip r:embed="rId4">
            <a:alphaModFix/>
          </a:blip>
          <a:srcRect/>
          <a:stretch/>
        </p:blipFill>
        <p:spPr>
          <a:xfrm>
            <a:off x="2000091" y="2193320"/>
            <a:ext cx="2884089" cy="2132948"/>
          </a:xfrm>
          <a:prstGeom prst="rect">
            <a:avLst/>
          </a:prstGeom>
          <a:noFill/>
          <a:ln>
            <a:noFill/>
          </a:ln>
        </p:spPr>
      </p:pic>
      <p:sp>
        <p:nvSpPr>
          <p:cNvPr id="609" name="Google Shape;609;p59"/>
          <p:cNvSpPr txBox="1"/>
          <p:nvPr/>
        </p:nvSpPr>
        <p:spPr>
          <a:xfrm>
            <a:off x="3669665" y="536713"/>
            <a:ext cx="5474400" cy="397500"/>
          </a:xfrm>
          <a:prstGeom prst="rect">
            <a:avLst/>
          </a:prstGeom>
          <a:noFill/>
          <a:ln>
            <a:noFill/>
          </a:ln>
        </p:spPr>
        <p:txBody>
          <a:bodyPr spcFirstLastPara="1" wrap="square" lIns="0" tIns="12700" rIns="0" bIns="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2800"/>
              <a:buFont typeface="Times New Roman"/>
              <a:buNone/>
              <a:tabLst/>
              <a:defRPr/>
            </a:pPr>
            <a:r>
              <a:rPr kumimoji="0" lang="en-US" altLang="zh-CN" sz="2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LAMA probe</a:t>
            </a:r>
            <a:endParaRPr kumimoji="0" sz="2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613"/>
        <p:cNvGrpSpPr/>
        <p:nvPr/>
      </p:nvGrpSpPr>
      <p:grpSpPr>
        <a:xfrm>
          <a:off x="0" y="0"/>
          <a:ext cx="0" cy="0"/>
          <a:chOff x="0" y="0"/>
          <a:chExt cx="0" cy="0"/>
        </a:xfrm>
      </p:grpSpPr>
      <p:sp>
        <p:nvSpPr>
          <p:cNvPr id="614" name="Google Shape;614;p60"/>
          <p:cNvSpPr txBox="1">
            <a:spLocks noGrp="1"/>
          </p:cNvSpPr>
          <p:nvPr>
            <p:ph type="title"/>
          </p:nvPr>
        </p:nvSpPr>
        <p:spPr>
          <a:xfrm>
            <a:off x="3651407" y="513624"/>
            <a:ext cx="1826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LAMA Probe</a:t>
            </a:r>
            <a:endParaRPr/>
          </a:p>
        </p:txBody>
      </p:sp>
      <p:sp>
        <p:nvSpPr>
          <p:cNvPr id="615" name="Google Shape;615;p60"/>
          <p:cNvSpPr txBox="1"/>
          <p:nvPr/>
        </p:nvSpPr>
        <p:spPr>
          <a:xfrm>
            <a:off x="637630" y="1216864"/>
            <a:ext cx="7167900" cy="2745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1" i="0" u="none" strike="noStrike" kern="0" cap="none" spc="0" normalizeH="0" baseline="0" noProof="0">
                <a:ln>
                  <a:noFill/>
                </a:ln>
                <a:solidFill>
                  <a:srgbClr val="000000"/>
                </a:solidFill>
                <a:effectLst/>
                <a:uLnTx/>
                <a:uFillTx/>
                <a:latin typeface="Cambria"/>
                <a:ea typeface="Cambria"/>
                <a:cs typeface="Cambria"/>
                <a:sym typeface="Cambria"/>
              </a:rPr>
              <a:t>Goal</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evaluate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factual + commonsense knowledge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in language models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16" name="Google Shape;616;p60"/>
          <p:cNvSpPr/>
          <p:nvPr/>
        </p:nvSpPr>
        <p:spPr>
          <a:xfrm>
            <a:off x="3325706" y="4634050"/>
            <a:ext cx="271145" cy="259079"/>
          </a:xfrm>
          <a:custGeom>
            <a:avLst/>
            <a:gdLst/>
            <a:ahLst/>
            <a:cxnLst/>
            <a:rect l="l" t="t" r="r" b="b"/>
            <a:pathLst>
              <a:path w="271145" h="259079" extrusionOk="0">
                <a:moveTo>
                  <a:pt x="270829" y="259079"/>
                </a:moveTo>
                <a:lnTo>
                  <a:pt x="0" y="259079"/>
                </a:lnTo>
                <a:lnTo>
                  <a:pt x="0" y="0"/>
                </a:lnTo>
                <a:lnTo>
                  <a:pt x="270829" y="0"/>
                </a:lnTo>
                <a:lnTo>
                  <a:pt x="270829"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17" name="Google Shape;617;p60"/>
          <p:cNvSpPr/>
          <p:nvPr/>
        </p:nvSpPr>
        <p:spPr>
          <a:xfrm>
            <a:off x="4342555" y="4634050"/>
            <a:ext cx="193675" cy="259079"/>
          </a:xfrm>
          <a:custGeom>
            <a:avLst/>
            <a:gdLst/>
            <a:ahLst/>
            <a:cxnLst/>
            <a:rect l="l" t="t" r="r" b="b"/>
            <a:pathLst>
              <a:path w="193675" h="259079" extrusionOk="0">
                <a:moveTo>
                  <a:pt x="193357" y="259079"/>
                </a:moveTo>
                <a:lnTo>
                  <a:pt x="0" y="259079"/>
                </a:lnTo>
                <a:lnTo>
                  <a:pt x="0" y="0"/>
                </a:lnTo>
                <a:lnTo>
                  <a:pt x="193357" y="0"/>
                </a:lnTo>
                <a:lnTo>
                  <a:pt x="193357"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18" name="Google Shape;618;p60"/>
          <p:cNvSpPr/>
          <p:nvPr/>
        </p:nvSpPr>
        <p:spPr>
          <a:xfrm>
            <a:off x="4999235" y="4634050"/>
            <a:ext cx="146050" cy="259079"/>
          </a:xfrm>
          <a:custGeom>
            <a:avLst/>
            <a:gdLst/>
            <a:ahLst/>
            <a:cxnLst/>
            <a:rect l="l" t="t" r="r" b="b"/>
            <a:pathLst>
              <a:path w="146050" h="259079" extrusionOk="0">
                <a:moveTo>
                  <a:pt x="145665" y="259079"/>
                </a:moveTo>
                <a:lnTo>
                  <a:pt x="0" y="259079"/>
                </a:lnTo>
                <a:lnTo>
                  <a:pt x="0" y="0"/>
                </a:lnTo>
                <a:lnTo>
                  <a:pt x="145665" y="0"/>
                </a:lnTo>
                <a:lnTo>
                  <a:pt x="145665"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19" name="Google Shape;619;p60"/>
          <p:cNvPicPr preferRelativeResize="0"/>
          <p:nvPr/>
        </p:nvPicPr>
        <p:blipFill rotWithShape="1">
          <a:blip r:embed="rId3">
            <a:alphaModFix/>
          </a:blip>
          <a:srcRect/>
          <a:stretch/>
        </p:blipFill>
        <p:spPr>
          <a:xfrm>
            <a:off x="2936190" y="328872"/>
            <a:ext cx="530709" cy="697116"/>
          </a:xfrm>
          <a:prstGeom prst="rect">
            <a:avLst/>
          </a:prstGeom>
          <a:noFill/>
          <a:ln>
            <a:noFill/>
          </a:ln>
        </p:spPr>
      </p:pic>
      <p:pic>
        <p:nvPicPr>
          <p:cNvPr id="620" name="Google Shape;620;p60"/>
          <p:cNvPicPr preferRelativeResize="0"/>
          <p:nvPr/>
        </p:nvPicPr>
        <p:blipFill rotWithShape="1">
          <a:blip r:embed="rId3">
            <a:alphaModFix/>
          </a:blip>
          <a:srcRect/>
          <a:stretch/>
        </p:blipFill>
        <p:spPr>
          <a:xfrm>
            <a:off x="5630890" y="328884"/>
            <a:ext cx="530709" cy="697116"/>
          </a:xfrm>
          <a:prstGeom prst="rect">
            <a:avLst/>
          </a:prstGeom>
          <a:noFill/>
          <a:ln>
            <a:noFill/>
          </a:ln>
        </p:spPr>
      </p:pic>
      <p:sp>
        <p:nvSpPr>
          <p:cNvPr id="621" name="Google Shape;621;p60"/>
          <p:cNvSpPr txBox="1"/>
          <p:nvPr/>
        </p:nvSpPr>
        <p:spPr>
          <a:xfrm>
            <a:off x="7581449" y="68529"/>
            <a:ext cx="1490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courtesy of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Patrick Lewis</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22" name="Google Shape;622;p60"/>
          <p:cNvSpPr txBox="1"/>
          <p:nvPr/>
        </p:nvSpPr>
        <p:spPr>
          <a:xfrm>
            <a:off x="3313006" y="4630417"/>
            <a:ext cx="2508300" cy="26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LA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nguage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M</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odel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nalysis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23" name="Google Shape;623;p60"/>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25</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627"/>
        <p:cNvGrpSpPr/>
        <p:nvPr/>
      </p:nvGrpSpPr>
      <p:grpSpPr>
        <a:xfrm>
          <a:off x="0" y="0"/>
          <a:ext cx="0" cy="0"/>
          <a:chOff x="0" y="0"/>
          <a:chExt cx="0" cy="0"/>
        </a:xfrm>
      </p:grpSpPr>
      <p:sp>
        <p:nvSpPr>
          <p:cNvPr id="628" name="Google Shape;628;p61"/>
          <p:cNvSpPr txBox="1">
            <a:spLocks noGrp="1"/>
          </p:cNvSpPr>
          <p:nvPr>
            <p:ph type="title"/>
          </p:nvPr>
        </p:nvSpPr>
        <p:spPr>
          <a:xfrm>
            <a:off x="3651407" y="513624"/>
            <a:ext cx="1826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LAMA Probe</a:t>
            </a:r>
            <a:endParaRPr/>
          </a:p>
        </p:txBody>
      </p:sp>
      <p:sp>
        <p:nvSpPr>
          <p:cNvPr id="629" name="Google Shape;629;p61"/>
          <p:cNvSpPr txBox="1"/>
          <p:nvPr/>
        </p:nvSpPr>
        <p:spPr>
          <a:xfrm>
            <a:off x="637630" y="1216864"/>
            <a:ext cx="7773000" cy="11508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1" i="0" u="none" strike="noStrike" kern="0" cap="none" spc="0" normalizeH="0" baseline="0" noProof="0">
                <a:ln>
                  <a:noFill/>
                </a:ln>
                <a:solidFill>
                  <a:srgbClr val="000000"/>
                </a:solidFill>
                <a:effectLst/>
                <a:uLnTx/>
                <a:uFillTx/>
                <a:latin typeface="Cambria"/>
                <a:ea typeface="Cambria"/>
                <a:cs typeface="Cambria"/>
                <a:sym typeface="Cambria"/>
              </a:rPr>
              <a:t>Goal</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evaluate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factual + commonsense knowledge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in language models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45"/>
              </a:spcBef>
              <a:spcAft>
                <a:spcPts val="0"/>
              </a:spcAft>
              <a:buClr>
                <a:srgbClr val="000000"/>
              </a:buClr>
              <a:buSzPts val="2000"/>
              <a:buFont typeface="Arial"/>
              <a:buNone/>
              <a:tabLst/>
              <a:defRPr/>
            </a:pP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5080" lvl="0" indent="-359410" algn="l" defTabSz="914400" rtl="0" eaLnBrk="1" fontAlgn="auto" latinLnBrk="0" hangingPunct="1">
              <a:lnSpc>
                <a:spcPct val="114999"/>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Collect set of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knowledge sources </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(i.e. set of facts) and test to see how well the  modelʼs knowledge captures these facts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30" name="Google Shape;630;p61"/>
          <p:cNvSpPr/>
          <p:nvPr/>
        </p:nvSpPr>
        <p:spPr>
          <a:xfrm>
            <a:off x="3325706" y="4634050"/>
            <a:ext cx="271145" cy="259079"/>
          </a:xfrm>
          <a:custGeom>
            <a:avLst/>
            <a:gdLst/>
            <a:ahLst/>
            <a:cxnLst/>
            <a:rect l="l" t="t" r="r" b="b"/>
            <a:pathLst>
              <a:path w="271145" h="259079" extrusionOk="0">
                <a:moveTo>
                  <a:pt x="270829" y="259079"/>
                </a:moveTo>
                <a:lnTo>
                  <a:pt x="0" y="259079"/>
                </a:lnTo>
                <a:lnTo>
                  <a:pt x="0" y="0"/>
                </a:lnTo>
                <a:lnTo>
                  <a:pt x="270829" y="0"/>
                </a:lnTo>
                <a:lnTo>
                  <a:pt x="270829"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31" name="Google Shape;631;p61"/>
          <p:cNvSpPr/>
          <p:nvPr/>
        </p:nvSpPr>
        <p:spPr>
          <a:xfrm>
            <a:off x="4342555" y="4634050"/>
            <a:ext cx="193675" cy="259079"/>
          </a:xfrm>
          <a:custGeom>
            <a:avLst/>
            <a:gdLst/>
            <a:ahLst/>
            <a:cxnLst/>
            <a:rect l="l" t="t" r="r" b="b"/>
            <a:pathLst>
              <a:path w="193675" h="259079" extrusionOk="0">
                <a:moveTo>
                  <a:pt x="193357" y="259079"/>
                </a:moveTo>
                <a:lnTo>
                  <a:pt x="0" y="259079"/>
                </a:lnTo>
                <a:lnTo>
                  <a:pt x="0" y="0"/>
                </a:lnTo>
                <a:lnTo>
                  <a:pt x="193357" y="0"/>
                </a:lnTo>
                <a:lnTo>
                  <a:pt x="193357"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32" name="Google Shape;632;p61"/>
          <p:cNvSpPr/>
          <p:nvPr/>
        </p:nvSpPr>
        <p:spPr>
          <a:xfrm>
            <a:off x="4999235" y="4634050"/>
            <a:ext cx="146050" cy="259079"/>
          </a:xfrm>
          <a:custGeom>
            <a:avLst/>
            <a:gdLst/>
            <a:ahLst/>
            <a:cxnLst/>
            <a:rect l="l" t="t" r="r" b="b"/>
            <a:pathLst>
              <a:path w="146050" h="259079" extrusionOk="0">
                <a:moveTo>
                  <a:pt x="145665" y="259079"/>
                </a:moveTo>
                <a:lnTo>
                  <a:pt x="0" y="259079"/>
                </a:lnTo>
                <a:lnTo>
                  <a:pt x="0" y="0"/>
                </a:lnTo>
                <a:lnTo>
                  <a:pt x="145665" y="0"/>
                </a:lnTo>
                <a:lnTo>
                  <a:pt x="145665"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33" name="Google Shape;633;p61"/>
          <p:cNvPicPr preferRelativeResize="0"/>
          <p:nvPr/>
        </p:nvPicPr>
        <p:blipFill rotWithShape="1">
          <a:blip r:embed="rId3">
            <a:alphaModFix/>
          </a:blip>
          <a:srcRect/>
          <a:stretch/>
        </p:blipFill>
        <p:spPr>
          <a:xfrm>
            <a:off x="2936190" y="328872"/>
            <a:ext cx="530709" cy="697116"/>
          </a:xfrm>
          <a:prstGeom prst="rect">
            <a:avLst/>
          </a:prstGeom>
          <a:noFill/>
          <a:ln>
            <a:noFill/>
          </a:ln>
        </p:spPr>
      </p:pic>
      <p:pic>
        <p:nvPicPr>
          <p:cNvPr id="634" name="Google Shape;634;p61"/>
          <p:cNvPicPr preferRelativeResize="0"/>
          <p:nvPr/>
        </p:nvPicPr>
        <p:blipFill rotWithShape="1">
          <a:blip r:embed="rId3">
            <a:alphaModFix/>
          </a:blip>
          <a:srcRect/>
          <a:stretch/>
        </p:blipFill>
        <p:spPr>
          <a:xfrm>
            <a:off x="5630890" y="328884"/>
            <a:ext cx="530709" cy="697116"/>
          </a:xfrm>
          <a:prstGeom prst="rect">
            <a:avLst/>
          </a:prstGeom>
          <a:noFill/>
          <a:ln>
            <a:noFill/>
          </a:ln>
        </p:spPr>
      </p:pic>
      <p:sp>
        <p:nvSpPr>
          <p:cNvPr id="635" name="Google Shape;635;p61"/>
          <p:cNvSpPr txBox="1"/>
          <p:nvPr/>
        </p:nvSpPr>
        <p:spPr>
          <a:xfrm>
            <a:off x="7581449" y="68529"/>
            <a:ext cx="1490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courtesy of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Patrick Lewis</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36" name="Google Shape;636;p61"/>
          <p:cNvSpPr txBox="1"/>
          <p:nvPr/>
        </p:nvSpPr>
        <p:spPr>
          <a:xfrm>
            <a:off x="3313006" y="4630417"/>
            <a:ext cx="2508300" cy="26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LA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nguage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M</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odel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nalysis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37" name="Google Shape;637;p61"/>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26</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641"/>
        <p:cNvGrpSpPr/>
        <p:nvPr/>
      </p:nvGrpSpPr>
      <p:grpSpPr>
        <a:xfrm>
          <a:off x="0" y="0"/>
          <a:ext cx="0" cy="0"/>
          <a:chOff x="0" y="0"/>
          <a:chExt cx="0" cy="0"/>
        </a:xfrm>
      </p:grpSpPr>
      <p:sp>
        <p:nvSpPr>
          <p:cNvPr id="642" name="Google Shape;642;p62"/>
          <p:cNvSpPr txBox="1">
            <a:spLocks noGrp="1"/>
          </p:cNvSpPr>
          <p:nvPr>
            <p:ph type="title"/>
          </p:nvPr>
        </p:nvSpPr>
        <p:spPr>
          <a:xfrm>
            <a:off x="3651407" y="513624"/>
            <a:ext cx="1826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LAMA Probe</a:t>
            </a:r>
            <a:endParaRPr/>
          </a:p>
        </p:txBody>
      </p:sp>
      <p:sp>
        <p:nvSpPr>
          <p:cNvPr id="643" name="Google Shape;643;p62"/>
          <p:cNvSpPr txBox="1"/>
          <p:nvPr/>
        </p:nvSpPr>
        <p:spPr>
          <a:xfrm>
            <a:off x="637630" y="1216864"/>
            <a:ext cx="7773000" cy="18063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1" i="0" u="none" strike="noStrike" kern="0" cap="none" spc="0" normalizeH="0" baseline="0" noProof="0">
                <a:ln>
                  <a:noFill/>
                </a:ln>
                <a:solidFill>
                  <a:srgbClr val="000000"/>
                </a:solidFill>
                <a:effectLst/>
                <a:uLnTx/>
                <a:uFillTx/>
                <a:latin typeface="Cambria"/>
                <a:ea typeface="Cambria"/>
                <a:cs typeface="Cambria"/>
                <a:sym typeface="Cambria"/>
              </a:rPr>
              <a:t>Goal: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evaluate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factual + commonsense knowledge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in language models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45"/>
              </a:spcBef>
              <a:spcAft>
                <a:spcPts val="0"/>
              </a:spcAft>
              <a:buClr>
                <a:srgbClr val="000000"/>
              </a:buClr>
              <a:buSzPts val="2000"/>
              <a:buFont typeface="Arial"/>
              <a:buNone/>
              <a:tabLst/>
              <a:defRPr/>
            </a:pP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5080" lvl="0" indent="-359410" algn="l" defTabSz="914400" rtl="0" eaLnBrk="1" fontAlgn="auto" latinLnBrk="0" hangingPunct="1">
              <a:lnSpc>
                <a:spcPct val="114999"/>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Collect set of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knowledge sources </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(i.e. set of facts) and test to see how well the  modelʼs knowledge captures these facts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5"/>
              </a:spcBef>
              <a:spcAft>
                <a:spcPts val="0"/>
              </a:spcAft>
              <a:buClr>
                <a:srgbClr val="000000"/>
              </a:buClr>
              <a:buSzPts val="2300"/>
              <a:buFont typeface="Arial"/>
              <a:buNone/>
              <a:tabLst/>
              <a:defRPr/>
            </a:pPr>
            <a:endParaRPr kumimoji="0" sz="2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How do we know how “knowledgeable” a LM is about a particular fact?</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44" name="Google Shape;644;p62"/>
          <p:cNvSpPr/>
          <p:nvPr/>
        </p:nvSpPr>
        <p:spPr>
          <a:xfrm>
            <a:off x="3325706" y="4634050"/>
            <a:ext cx="271145" cy="259079"/>
          </a:xfrm>
          <a:custGeom>
            <a:avLst/>
            <a:gdLst/>
            <a:ahLst/>
            <a:cxnLst/>
            <a:rect l="l" t="t" r="r" b="b"/>
            <a:pathLst>
              <a:path w="271145" h="259079" extrusionOk="0">
                <a:moveTo>
                  <a:pt x="270829" y="259079"/>
                </a:moveTo>
                <a:lnTo>
                  <a:pt x="0" y="259079"/>
                </a:lnTo>
                <a:lnTo>
                  <a:pt x="0" y="0"/>
                </a:lnTo>
                <a:lnTo>
                  <a:pt x="270829" y="0"/>
                </a:lnTo>
                <a:lnTo>
                  <a:pt x="270829"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45" name="Google Shape;645;p62"/>
          <p:cNvSpPr/>
          <p:nvPr/>
        </p:nvSpPr>
        <p:spPr>
          <a:xfrm>
            <a:off x="4342555" y="4634050"/>
            <a:ext cx="193675" cy="259079"/>
          </a:xfrm>
          <a:custGeom>
            <a:avLst/>
            <a:gdLst/>
            <a:ahLst/>
            <a:cxnLst/>
            <a:rect l="l" t="t" r="r" b="b"/>
            <a:pathLst>
              <a:path w="193675" h="259079" extrusionOk="0">
                <a:moveTo>
                  <a:pt x="193357" y="259079"/>
                </a:moveTo>
                <a:lnTo>
                  <a:pt x="0" y="259079"/>
                </a:lnTo>
                <a:lnTo>
                  <a:pt x="0" y="0"/>
                </a:lnTo>
                <a:lnTo>
                  <a:pt x="193357" y="0"/>
                </a:lnTo>
                <a:lnTo>
                  <a:pt x="193357"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46" name="Google Shape;646;p62"/>
          <p:cNvSpPr/>
          <p:nvPr/>
        </p:nvSpPr>
        <p:spPr>
          <a:xfrm>
            <a:off x="4999235" y="4634050"/>
            <a:ext cx="146050" cy="259079"/>
          </a:xfrm>
          <a:custGeom>
            <a:avLst/>
            <a:gdLst/>
            <a:ahLst/>
            <a:cxnLst/>
            <a:rect l="l" t="t" r="r" b="b"/>
            <a:pathLst>
              <a:path w="146050" h="259079" extrusionOk="0">
                <a:moveTo>
                  <a:pt x="145665" y="259079"/>
                </a:moveTo>
                <a:lnTo>
                  <a:pt x="0" y="259079"/>
                </a:lnTo>
                <a:lnTo>
                  <a:pt x="0" y="0"/>
                </a:lnTo>
                <a:lnTo>
                  <a:pt x="145665" y="0"/>
                </a:lnTo>
                <a:lnTo>
                  <a:pt x="145665"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47" name="Google Shape;647;p62"/>
          <p:cNvPicPr preferRelativeResize="0"/>
          <p:nvPr/>
        </p:nvPicPr>
        <p:blipFill rotWithShape="1">
          <a:blip r:embed="rId3">
            <a:alphaModFix/>
          </a:blip>
          <a:srcRect/>
          <a:stretch/>
        </p:blipFill>
        <p:spPr>
          <a:xfrm>
            <a:off x="2936190" y="328872"/>
            <a:ext cx="530709" cy="697116"/>
          </a:xfrm>
          <a:prstGeom prst="rect">
            <a:avLst/>
          </a:prstGeom>
          <a:noFill/>
          <a:ln>
            <a:noFill/>
          </a:ln>
        </p:spPr>
      </p:pic>
      <p:pic>
        <p:nvPicPr>
          <p:cNvPr id="648" name="Google Shape;648;p62"/>
          <p:cNvPicPr preferRelativeResize="0"/>
          <p:nvPr/>
        </p:nvPicPr>
        <p:blipFill rotWithShape="1">
          <a:blip r:embed="rId3">
            <a:alphaModFix/>
          </a:blip>
          <a:srcRect/>
          <a:stretch/>
        </p:blipFill>
        <p:spPr>
          <a:xfrm>
            <a:off x="5630890" y="328884"/>
            <a:ext cx="530709" cy="697116"/>
          </a:xfrm>
          <a:prstGeom prst="rect">
            <a:avLst/>
          </a:prstGeom>
          <a:noFill/>
          <a:ln>
            <a:noFill/>
          </a:ln>
        </p:spPr>
      </p:pic>
      <p:sp>
        <p:nvSpPr>
          <p:cNvPr id="649" name="Google Shape;649;p62"/>
          <p:cNvSpPr txBox="1"/>
          <p:nvPr/>
        </p:nvSpPr>
        <p:spPr>
          <a:xfrm>
            <a:off x="7581449" y="68529"/>
            <a:ext cx="1490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courtesy of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Patrick Lewis</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50" name="Google Shape;650;p62"/>
          <p:cNvSpPr txBox="1"/>
          <p:nvPr/>
        </p:nvSpPr>
        <p:spPr>
          <a:xfrm>
            <a:off x="3313006" y="4630417"/>
            <a:ext cx="2508300" cy="26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LA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nguage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M</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odel </a:t>
            </a:r>
            <a:r>
              <a:rPr kumimoji="0" lang="en-US" altLang="zh-CN" sz="1700" b="1" i="0" u="none" strike="noStrike" kern="0" cap="none" spc="0" normalizeH="0" baseline="0" noProof="0">
                <a:ln>
                  <a:noFill/>
                </a:ln>
                <a:solidFill>
                  <a:srgbClr val="595959"/>
                </a:solidFill>
                <a:effectLst/>
                <a:uLnTx/>
                <a:uFillTx/>
                <a:latin typeface="Cambria"/>
                <a:ea typeface="Cambria"/>
                <a:cs typeface="Cambria"/>
                <a:sym typeface="Cambria"/>
              </a:rPr>
              <a:t>A</a:t>
            </a:r>
            <a:r>
              <a:rPr kumimoji="0" lang="en-US" altLang="zh-CN" sz="17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nalysis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51" name="Google Shape;651;p62"/>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27</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655"/>
        <p:cNvGrpSpPr/>
        <p:nvPr/>
      </p:nvGrpSpPr>
      <p:grpSpPr>
        <a:xfrm>
          <a:off x="0" y="0"/>
          <a:ext cx="0" cy="0"/>
          <a:chOff x="0" y="0"/>
          <a:chExt cx="0" cy="0"/>
        </a:xfrm>
      </p:grpSpPr>
      <p:sp>
        <p:nvSpPr>
          <p:cNvPr id="656" name="Google Shape;656;p63"/>
          <p:cNvSpPr/>
          <p:nvPr/>
        </p:nvSpPr>
        <p:spPr>
          <a:xfrm>
            <a:off x="3325706" y="4634050"/>
            <a:ext cx="271145" cy="259079"/>
          </a:xfrm>
          <a:custGeom>
            <a:avLst/>
            <a:gdLst/>
            <a:ahLst/>
            <a:cxnLst/>
            <a:rect l="l" t="t" r="r" b="b"/>
            <a:pathLst>
              <a:path w="271145" h="259079" extrusionOk="0">
                <a:moveTo>
                  <a:pt x="270829" y="259079"/>
                </a:moveTo>
                <a:lnTo>
                  <a:pt x="0" y="259079"/>
                </a:lnTo>
                <a:lnTo>
                  <a:pt x="0" y="0"/>
                </a:lnTo>
                <a:lnTo>
                  <a:pt x="270829" y="0"/>
                </a:lnTo>
                <a:lnTo>
                  <a:pt x="270829"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57" name="Google Shape;657;p63"/>
          <p:cNvSpPr/>
          <p:nvPr/>
        </p:nvSpPr>
        <p:spPr>
          <a:xfrm>
            <a:off x="4342555" y="4634050"/>
            <a:ext cx="193675" cy="259079"/>
          </a:xfrm>
          <a:custGeom>
            <a:avLst/>
            <a:gdLst/>
            <a:ahLst/>
            <a:cxnLst/>
            <a:rect l="l" t="t" r="r" b="b"/>
            <a:pathLst>
              <a:path w="193675" h="259079" extrusionOk="0">
                <a:moveTo>
                  <a:pt x="193357" y="259079"/>
                </a:moveTo>
                <a:lnTo>
                  <a:pt x="0" y="259079"/>
                </a:lnTo>
                <a:lnTo>
                  <a:pt x="0" y="0"/>
                </a:lnTo>
                <a:lnTo>
                  <a:pt x="193357" y="0"/>
                </a:lnTo>
                <a:lnTo>
                  <a:pt x="193357"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58" name="Google Shape;658;p63"/>
          <p:cNvSpPr/>
          <p:nvPr/>
        </p:nvSpPr>
        <p:spPr>
          <a:xfrm>
            <a:off x="4999235" y="4634050"/>
            <a:ext cx="146050" cy="259079"/>
          </a:xfrm>
          <a:custGeom>
            <a:avLst/>
            <a:gdLst/>
            <a:ahLst/>
            <a:cxnLst/>
            <a:rect l="l" t="t" r="r" b="b"/>
            <a:pathLst>
              <a:path w="146050" h="259079" extrusionOk="0">
                <a:moveTo>
                  <a:pt x="145665" y="259079"/>
                </a:moveTo>
                <a:lnTo>
                  <a:pt x="0" y="259079"/>
                </a:lnTo>
                <a:lnTo>
                  <a:pt x="0" y="0"/>
                </a:lnTo>
                <a:lnTo>
                  <a:pt x="145665" y="0"/>
                </a:lnTo>
                <a:lnTo>
                  <a:pt x="145665" y="25907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59" name="Google Shape;659;p63"/>
          <p:cNvSpPr/>
          <p:nvPr/>
        </p:nvSpPr>
        <p:spPr>
          <a:xfrm>
            <a:off x="268200" y="3388624"/>
            <a:ext cx="8608060" cy="922020"/>
          </a:xfrm>
          <a:custGeom>
            <a:avLst/>
            <a:gdLst/>
            <a:ahLst/>
            <a:cxnLst/>
            <a:rect l="l" t="t" r="r" b="b"/>
            <a:pathLst>
              <a:path w="8608060" h="922020"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60" name="Google Shape;660;p63"/>
          <p:cNvSpPr txBox="1"/>
          <p:nvPr/>
        </p:nvSpPr>
        <p:spPr>
          <a:xfrm>
            <a:off x="637630" y="1216864"/>
            <a:ext cx="7773000" cy="29799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1" i="0" u="none" strike="noStrike" kern="0" cap="none" spc="0" normalizeH="0" baseline="0" noProof="0">
                <a:ln>
                  <a:noFill/>
                </a:ln>
                <a:solidFill>
                  <a:srgbClr val="000000"/>
                </a:solidFill>
                <a:effectLst/>
                <a:uLnTx/>
                <a:uFillTx/>
                <a:latin typeface="Cambria"/>
                <a:ea typeface="Cambria"/>
                <a:cs typeface="Cambria"/>
                <a:sym typeface="Cambria"/>
              </a:rPr>
              <a:t>Goal: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evaluate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factual + commonsense knowledge </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in language models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45"/>
              </a:spcBef>
              <a:spcAft>
                <a:spcPts val="0"/>
              </a:spcAft>
              <a:buClr>
                <a:srgbClr val="000000"/>
              </a:buClr>
              <a:buSzPts val="2000"/>
              <a:buFont typeface="Arial"/>
              <a:buNone/>
              <a:tabLst/>
              <a:defRPr/>
            </a:pP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5080" lvl="0" indent="-359410" algn="l" defTabSz="914400" rtl="0" eaLnBrk="1" fontAlgn="auto" latinLnBrk="0" hangingPunct="1">
              <a:lnSpc>
                <a:spcPct val="114999"/>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Collect set of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knowledge sources </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(i.e. set of facts) and test to see how well the  modelʼs knowledge captures these facts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5"/>
              </a:spcBef>
              <a:spcAft>
                <a:spcPts val="0"/>
              </a:spcAft>
              <a:buClr>
                <a:srgbClr val="000000"/>
              </a:buClr>
              <a:buSzPts val="2300"/>
              <a:buFont typeface="Arial"/>
              <a:buNone/>
              <a:tabLst/>
              <a:defRPr/>
            </a:pPr>
            <a:endParaRPr kumimoji="0" sz="2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0" lvl="0" indent="-359410" algn="l" defTabSz="914400" rtl="0" eaLnBrk="1" fontAlgn="auto" latinLnBrk="0" hangingPunct="1">
              <a:lnSpc>
                <a:spcPct val="100000"/>
              </a:lnSpc>
              <a:spcBef>
                <a:spcPts val="0"/>
              </a:spcBef>
              <a:spcAft>
                <a:spcPts val="0"/>
              </a:spcAft>
              <a:buClr>
                <a:srgbClr val="000000"/>
              </a:buClr>
              <a:buSzPts val="1700"/>
              <a:buFont typeface="Arial"/>
              <a:buChar char="●"/>
              <a:tabLst/>
              <a:defRPr/>
            </a:pPr>
            <a:r>
              <a:rPr kumimoji="0" lang="en-US" altLang="zh-CN" sz="170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How do we know how “knowledgeable” a LM is about a particular fact?</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2100"/>
              <a:buFont typeface="Arial"/>
              <a:buNone/>
              <a:tabLst/>
              <a:defRPr/>
            </a:pPr>
            <a:endParaRPr kumimoji="0" sz="2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15"/>
              </a:spcBef>
              <a:spcAft>
                <a:spcPts val="0"/>
              </a:spcAft>
              <a:buClr>
                <a:srgbClr val="000000"/>
              </a:buClr>
              <a:buSzPts val="1900"/>
              <a:buFont typeface="Arial"/>
              <a:buNone/>
              <a:tabLst/>
              <a:defRPr/>
            </a:pPr>
            <a:endParaRPr kumimoji="0" sz="19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715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652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61" name="Google Shape;661;p63"/>
          <p:cNvSpPr txBox="1">
            <a:spLocks noGrp="1"/>
          </p:cNvSpPr>
          <p:nvPr>
            <p:ph type="title"/>
          </p:nvPr>
        </p:nvSpPr>
        <p:spPr>
          <a:xfrm>
            <a:off x="3651407" y="513624"/>
            <a:ext cx="1826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LAMA Probe</a:t>
            </a:r>
            <a:endParaRPr/>
          </a:p>
        </p:txBody>
      </p:sp>
      <p:pic>
        <p:nvPicPr>
          <p:cNvPr id="662" name="Google Shape;662;p63"/>
          <p:cNvPicPr preferRelativeResize="0"/>
          <p:nvPr/>
        </p:nvPicPr>
        <p:blipFill rotWithShape="1">
          <a:blip r:embed="rId3">
            <a:alphaModFix/>
          </a:blip>
          <a:srcRect/>
          <a:stretch/>
        </p:blipFill>
        <p:spPr>
          <a:xfrm>
            <a:off x="2936190" y="328872"/>
            <a:ext cx="530709" cy="697116"/>
          </a:xfrm>
          <a:prstGeom prst="rect">
            <a:avLst/>
          </a:prstGeom>
          <a:noFill/>
          <a:ln>
            <a:noFill/>
          </a:ln>
        </p:spPr>
      </p:pic>
      <p:pic>
        <p:nvPicPr>
          <p:cNvPr id="663" name="Google Shape;663;p63"/>
          <p:cNvPicPr preferRelativeResize="0"/>
          <p:nvPr/>
        </p:nvPicPr>
        <p:blipFill rotWithShape="1">
          <a:blip r:embed="rId3">
            <a:alphaModFix/>
          </a:blip>
          <a:srcRect/>
          <a:stretch/>
        </p:blipFill>
        <p:spPr>
          <a:xfrm>
            <a:off x="5630890" y="328884"/>
            <a:ext cx="530709" cy="697116"/>
          </a:xfrm>
          <a:prstGeom prst="rect">
            <a:avLst/>
          </a:prstGeom>
          <a:noFill/>
          <a:ln>
            <a:noFill/>
          </a:ln>
        </p:spPr>
      </p:pic>
      <p:sp>
        <p:nvSpPr>
          <p:cNvPr id="664" name="Google Shape;664;p63"/>
          <p:cNvSpPr txBox="1"/>
          <p:nvPr/>
        </p:nvSpPr>
        <p:spPr>
          <a:xfrm>
            <a:off x="7581449" y="68529"/>
            <a:ext cx="14904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Image courtesy of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Patrick Lewis</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65" name="Google Shape;665;p63"/>
          <p:cNvSpPr txBox="1"/>
          <p:nvPr/>
        </p:nvSpPr>
        <p:spPr>
          <a:xfrm>
            <a:off x="3325706" y="4600147"/>
            <a:ext cx="2508300" cy="2772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7647"/>
              </a:lnSpc>
              <a:spcBef>
                <a:spcPts val="0"/>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595959"/>
                </a:solidFill>
                <a:effectLst/>
                <a:uLnTx/>
                <a:uFillTx/>
                <a:latin typeface="Cambria"/>
                <a:ea typeface="Cambria"/>
                <a:cs typeface="Cambria"/>
                <a:sym typeface="Cambria"/>
              </a:rPr>
              <a:t>LA</a:t>
            </a:r>
            <a:r>
              <a:rPr kumimoji="0" lang="en-US" altLang="zh-CN" sz="18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nguage </a:t>
            </a:r>
            <a:r>
              <a:rPr kumimoji="0" lang="en-US" altLang="zh-CN" sz="1800" b="1" i="0" u="none" strike="noStrike" kern="0" cap="none" spc="0" normalizeH="0" baseline="0" noProof="0">
                <a:ln>
                  <a:noFill/>
                </a:ln>
                <a:solidFill>
                  <a:srgbClr val="595959"/>
                </a:solidFill>
                <a:effectLst/>
                <a:uLnTx/>
                <a:uFillTx/>
                <a:latin typeface="Cambria"/>
                <a:ea typeface="Cambria"/>
                <a:cs typeface="Cambria"/>
                <a:sym typeface="Cambria"/>
              </a:rPr>
              <a:t>M</a:t>
            </a:r>
            <a:r>
              <a:rPr kumimoji="0" lang="en-US" altLang="zh-CN" sz="18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odel </a:t>
            </a:r>
            <a:r>
              <a:rPr kumimoji="0" lang="en-US" altLang="zh-CN" sz="1800" b="1" i="0" u="none" strike="noStrike" kern="0" cap="none" spc="0" normalizeH="0" baseline="0" noProof="0">
                <a:ln>
                  <a:noFill/>
                </a:ln>
                <a:solidFill>
                  <a:srgbClr val="595959"/>
                </a:solidFill>
                <a:effectLst/>
                <a:uLnTx/>
                <a:uFillTx/>
                <a:latin typeface="Cambria"/>
                <a:ea typeface="Cambria"/>
                <a:cs typeface="Cambria"/>
                <a:sym typeface="Cambria"/>
              </a:rPr>
              <a:t>A</a:t>
            </a:r>
            <a:r>
              <a:rPr kumimoji="0" lang="en-US" altLang="zh-CN" sz="1800" b="0" i="0" u="none" strike="noStrike" kern="0" cap="none" spc="0" normalizeH="0" baseline="0" noProof="0">
                <a:ln>
                  <a:noFill/>
                </a:ln>
                <a:solidFill>
                  <a:srgbClr val="595959"/>
                </a:solidFill>
                <a:effectLst/>
                <a:uLnTx/>
                <a:uFillTx/>
                <a:latin typeface="Times New Roman"/>
                <a:ea typeface="Times New Roman"/>
                <a:cs typeface="Times New Roman"/>
                <a:sym typeface="Times New Roman"/>
              </a:rPr>
              <a:t>nalysis</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66" name="Google Shape;666;p63"/>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28</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670"/>
        <p:cNvGrpSpPr/>
        <p:nvPr/>
      </p:nvGrpSpPr>
      <p:grpSpPr>
        <a:xfrm>
          <a:off x="0" y="0"/>
          <a:ext cx="0" cy="0"/>
          <a:chOff x="0" y="0"/>
          <a:chExt cx="0" cy="0"/>
        </a:xfrm>
      </p:grpSpPr>
      <p:sp>
        <p:nvSpPr>
          <p:cNvPr id="671" name="Google Shape;671;p64"/>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672" name="Google Shape;672;p64"/>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73" name="Google Shape;673;p64"/>
          <p:cNvSpPr txBox="1"/>
          <p:nvPr/>
        </p:nvSpPr>
        <p:spPr>
          <a:xfrm>
            <a:off x="743748" y="1180605"/>
            <a:ext cx="7657500" cy="568800"/>
          </a:xfrm>
          <a:prstGeom prst="rect">
            <a:avLst/>
          </a:prstGeom>
          <a:noFill/>
          <a:ln>
            <a:noFill/>
          </a:ln>
        </p:spPr>
        <p:txBody>
          <a:bodyPr spcFirstLastPara="1" wrap="square" lIns="0" tIns="12700" rIns="0" bIns="0" anchor="t" anchorCtr="0">
            <a:spAutoFit/>
          </a:bodyPr>
          <a:lstStyle/>
          <a:p>
            <a:pPr marL="63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674" name="Google Shape;674;p64"/>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29</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675" name="Google Shape;675;p64"/>
          <p:cNvSpPr txBox="1"/>
          <p:nvPr/>
        </p:nvSpPr>
        <p:spPr>
          <a:xfrm>
            <a:off x="73025" y="4870881"/>
            <a:ext cx="13272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zh-CN" altLang="en-US" sz="1100" b="0" i="0" u="none" strike="noStrike" kern="0" cap="none" spc="0" normalizeH="0" baseline="0" noProof="0">
                <a:ln>
                  <a:noFill/>
                </a:ln>
                <a:solidFill>
                  <a:srgbClr val="000000"/>
                </a:solidFill>
                <a:effectLst/>
                <a:uLnTx/>
                <a:uFillTx/>
                <a:latin typeface="Georgia"/>
                <a:ea typeface="Georgia"/>
                <a:cs typeface="Georgia"/>
                <a:sym typeface="Georgia"/>
              </a:rPr>
              <a:t>*</a:t>
            </a:r>
            <a:r>
              <a:rPr kumimoji="0" lang="en-US" altLang="zh-CN" sz="1100" b="0" i="0" u="none" strike="noStrike" kern="0" cap="none" spc="0" normalizeH="0" baseline="0" noProof="0">
                <a:ln>
                  <a:noFill/>
                </a:ln>
                <a:solidFill>
                  <a:srgbClr val="000000"/>
                </a:solidFill>
                <a:effectLst/>
                <a:uLnTx/>
                <a:uFillTx/>
                <a:latin typeface="Georgia"/>
                <a:ea typeface="Georgia"/>
                <a:cs typeface="Georgia"/>
                <a:sym typeface="Georgia"/>
              </a:rPr>
              <a:t>according to the LM</a:t>
            </a:r>
            <a:endParaRPr kumimoji="0" sz="1100" b="0" i="0" u="none" strike="noStrike" kern="0" cap="none" spc="0" normalizeH="0" baseline="0" noProof="0">
              <a:ln>
                <a:noFill/>
              </a:ln>
              <a:solidFill>
                <a:srgbClr val="000000"/>
              </a:solidFill>
              <a:effectLst/>
              <a:uLnTx/>
              <a:uFillTx/>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679"/>
        <p:cNvGrpSpPr/>
        <p:nvPr/>
      </p:nvGrpSpPr>
      <p:grpSpPr>
        <a:xfrm>
          <a:off x="0" y="0"/>
          <a:ext cx="0" cy="0"/>
          <a:chOff x="0" y="0"/>
          <a:chExt cx="0" cy="0"/>
        </a:xfrm>
      </p:grpSpPr>
      <p:sp>
        <p:nvSpPr>
          <p:cNvPr id="680" name="Google Shape;680;p65"/>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681" name="Google Shape;681;p65"/>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82" name="Google Shape;682;p65"/>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83" name="Google Shape;683;p65"/>
          <p:cNvSpPr txBox="1">
            <a:spLocks noGrp="1"/>
          </p:cNvSpPr>
          <p:nvPr>
            <p:ph type="body" idx="1"/>
          </p:nvPr>
        </p:nvSpPr>
        <p:spPr>
          <a:xfrm>
            <a:off x="743748" y="1180605"/>
            <a:ext cx="7657500" cy="12084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p:txBody>
      </p:sp>
      <p:grpSp>
        <p:nvGrpSpPr>
          <p:cNvPr id="684" name="Google Shape;684;p65"/>
          <p:cNvGrpSpPr/>
          <p:nvPr/>
        </p:nvGrpSpPr>
        <p:grpSpPr>
          <a:xfrm>
            <a:off x="596075" y="3315299"/>
            <a:ext cx="1397635" cy="628650"/>
            <a:chOff x="596075" y="3315299"/>
            <a:chExt cx="1397635" cy="628650"/>
          </a:xfrm>
        </p:grpSpPr>
        <p:sp>
          <p:nvSpPr>
            <p:cNvPr id="685" name="Google Shape;685;p65"/>
            <p:cNvSpPr/>
            <p:nvPr/>
          </p:nvSpPr>
          <p:spPr>
            <a:xfrm>
              <a:off x="596075" y="3315299"/>
              <a:ext cx="1397635" cy="628650"/>
            </a:xfrm>
            <a:custGeom>
              <a:avLst/>
              <a:gdLst/>
              <a:ahLst/>
              <a:cxnLst/>
              <a:rect l="l" t="t" r="r" b="b"/>
              <a:pathLst>
                <a:path w="1397635" h="628650" extrusionOk="0">
                  <a:moveTo>
                    <a:pt x="1292697" y="628199"/>
                  </a:moveTo>
                  <a:lnTo>
                    <a:pt x="104702" y="628199"/>
                  </a:lnTo>
                  <a:lnTo>
                    <a:pt x="63947" y="619972"/>
                  </a:lnTo>
                  <a:lnTo>
                    <a:pt x="30666" y="597533"/>
                  </a:lnTo>
                  <a:lnTo>
                    <a:pt x="8228" y="564252"/>
                  </a:lnTo>
                  <a:lnTo>
                    <a:pt x="0" y="523497"/>
                  </a:lnTo>
                  <a:lnTo>
                    <a:pt x="0" y="104701"/>
                  </a:ln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86" name="Google Shape;686;p65"/>
            <p:cNvSpPr/>
            <p:nvPr/>
          </p:nvSpPr>
          <p:spPr>
            <a:xfrm>
              <a:off x="596075" y="3315299"/>
              <a:ext cx="1397635" cy="628650"/>
            </a:xfrm>
            <a:custGeom>
              <a:avLst/>
              <a:gdLst/>
              <a:ahLst/>
              <a:cxnLst/>
              <a:rect l="l" t="t" r="r" b="b"/>
              <a:pathLst>
                <a:path w="1397635" h="628650" extrusionOk="0">
                  <a:moveTo>
                    <a:pt x="0" y="104701"/>
                  </a:move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lnTo>
                    <a:pt x="104702" y="628199"/>
                  </a:lnTo>
                  <a:lnTo>
                    <a:pt x="63947" y="619972"/>
                  </a:lnTo>
                  <a:lnTo>
                    <a:pt x="30666" y="597533"/>
                  </a:lnTo>
                  <a:lnTo>
                    <a:pt x="8228" y="564252"/>
                  </a:lnTo>
                  <a:lnTo>
                    <a:pt x="0" y="523497"/>
                  </a:lnTo>
                  <a:lnTo>
                    <a:pt x="0" y="10470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687" name="Google Shape;687;p65"/>
          <p:cNvSpPr txBox="1"/>
          <p:nvPr/>
        </p:nvSpPr>
        <p:spPr>
          <a:xfrm>
            <a:off x="897886" y="3400038"/>
            <a:ext cx="795000" cy="492600"/>
          </a:xfrm>
          <a:prstGeom prst="rect">
            <a:avLst/>
          </a:prstGeom>
          <a:noFill/>
          <a:ln>
            <a:noFill/>
          </a:ln>
        </p:spPr>
        <p:txBody>
          <a:bodyPr spcFirstLastPara="1" wrap="square" lIns="0" tIns="22850" rIns="0" bIns="0" anchor="t" anchorCtr="0">
            <a:spAutoFit/>
          </a:bodyPr>
          <a:lstStyle/>
          <a:p>
            <a:pPr marL="147955" marR="5080" lvl="0" indent="-135890"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688" name="Google Shape;688;p65"/>
          <p:cNvGrpSpPr/>
          <p:nvPr/>
        </p:nvGrpSpPr>
        <p:grpSpPr>
          <a:xfrm>
            <a:off x="1267174" y="2228525"/>
            <a:ext cx="1235075" cy="1009650"/>
            <a:chOff x="1267174" y="2228525"/>
            <a:chExt cx="1235075" cy="1009650"/>
          </a:xfrm>
        </p:grpSpPr>
        <p:sp>
          <p:nvSpPr>
            <p:cNvPr id="689" name="Google Shape;689;p65"/>
            <p:cNvSpPr/>
            <p:nvPr/>
          </p:nvSpPr>
          <p:spPr>
            <a:xfrm>
              <a:off x="1267174" y="2228525"/>
              <a:ext cx="1235075" cy="1009650"/>
            </a:xfrm>
            <a:custGeom>
              <a:avLst/>
              <a:gdLst/>
              <a:ahLst/>
              <a:cxnLst/>
              <a:rect l="l" t="t" r="r" b="b"/>
              <a:pathLst>
                <a:path w="1235075" h="1009650" extrusionOk="0">
                  <a:moveTo>
                    <a:pt x="119449" y="900897"/>
                  </a:moveTo>
                  <a:lnTo>
                    <a:pt x="43585" y="900897"/>
                  </a:lnTo>
                  <a:lnTo>
                    <a:pt x="43585" y="406868"/>
                  </a:lnTo>
                  <a:lnTo>
                    <a:pt x="46322" y="359419"/>
                  </a:lnTo>
                  <a:lnTo>
                    <a:pt x="54330" y="313577"/>
                  </a:lnTo>
                  <a:lnTo>
                    <a:pt x="67305" y="269648"/>
                  </a:lnTo>
                  <a:lnTo>
                    <a:pt x="84939" y="227938"/>
                  </a:lnTo>
                  <a:lnTo>
                    <a:pt x="106929" y="188751"/>
                  </a:lnTo>
                  <a:lnTo>
                    <a:pt x="132969" y="152393"/>
                  </a:lnTo>
                  <a:lnTo>
                    <a:pt x="162754" y="119169"/>
                  </a:lnTo>
                  <a:lnTo>
                    <a:pt x="195978" y="89384"/>
                  </a:lnTo>
                  <a:lnTo>
                    <a:pt x="232336" y="63344"/>
                  </a:lnTo>
                  <a:lnTo>
                    <a:pt x="271523" y="41354"/>
                  </a:lnTo>
                  <a:lnTo>
                    <a:pt x="313233" y="23719"/>
                  </a:lnTo>
                  <a:lnTo>
                    <a:pt x="357162" y="10745"/>
                  </a:lnTo>
                  <a:lnTo>
                    <a:pt x="403004" y="2737"/>
                  </a:lnTo>
                  <a:lnTo>
                    <a:pt x="450454" y="0"/>
                  </a:lnTo>
                  <a:lnTo>
                    <a:pt x="1234799" y="0"/>
                  </a:lnTo>
                  <a:lnTo>
                    <a:pt x="1234799" y="75863"/>
                  </a:lnTo>
                  <a:lnTo>
                    <a:pt x="450454" y="75863"/>
                  </a:lnTo>
                  <a:lnTo>
                    <a:pt x="401540" y="79452"/>
                  </a:lnTo>
                  <a:lnTo>
                    <a:pt x="354855" y="89878"/>
                  </a:lnTo>
                  <a:lnTo>
                    <a:pt x="310910" y="106628"/>
                  </a:lnTo>
                  <a:lnTo>
                    <a:pt x="270218" y="129190"/>
                  </a:lnTo>
                  <a:lnTo>
                    <a:pt x="233290" y="157053"/>
                  </a:lnTo>
                  <a:lnTo>
                    <a:pt x="200639" y="189705"/>
                  </a:lnTo>
                  <a:lnTo>
                    <a:pt x="172776" y="226633"/>
                  </a:lnTo>
                  <a:lnTo>
                    <a:pt x="150213" y="267325"/>
                  </a:lnTo>
                  <a:lnTo>
                    <a:pt x="133463" y="311270"/>
                  </a:lnTo>
                  <a:lnTo>
                    <a:pt x="123038" y="357955"/>
                  </a:lnTo>
                  <a:lnTo>
                    <a:pt x="119449" y="406868"/>
                  </a:lnTo>
                  <a:lnTo>
                    <a:pt x="119449" y="900897"/>
                  </a:lnTo>
                  <a:close/>
                </a:path>
                <a:path w="1235075" h="1009650" extrusionOk="0">
                  <a:moveTo>
                    <a:pt x="81517" y="1009499"/>
                  </a:moveTo>
                  <a:lnTo>
                    <a:pt x="0" y="900897"/>
                  </a:lnTo>
                  <a:lnTo>
                    <a:pt x="163034" y="900897"/>
                  </a:lnTo>
                  <a:lnTo>
                    <a:pt x="81517" y="10094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90" name="Google Shape;690;p65"/>
            <p:cNvSpPr/>
            <p:nvPr/>
          </p:nvSpPr>
          <p:spPr>
            <a:xfrm>
              <a:off x="1267174" y="2228525"/>
              <a:ext cx="1235075" cy="1009650"/>
            </a:xfrm>
            <a:custGeom>
              <a:avLst/>
              <a:gdLst/>
              <a:ahLst/>
              <a:cxnLst/>
              <a:rect l="l" t="t" r="r" b="b"/>
              <a:pathLst>
                <a:path w="1235075" h="1009650" extrusionOk="0">
                  <a:moveTo>
                    <a:pt x="1234799" y="0"/>
                  </a:moveTo>
                  <a:lnTo>
                    <a:pt x="450454" y="0"/>
                  </a:lnTo>
                  <a:lnTo>
                    <a:pt x="403004" y="2737"/>
                  </a:lnTo>
                  <a:lnTo>
                    <a:pt x="357162" y="10745"/>
                  </a:lnTo>
                  <a:lnTo>
                    <a:pt x="313233" y="23719"/>
                  </a:lnTo>
                  <a:lnTo>
                    <a:pt x="271523" y="41354"/>
                  </a:lnTo>
                  <a:lnTo>
                    <a:pt x="232336" y="63344"/>
                  </a:lnTo>
                  <a:lnTo>
                    <a:pt x="195978" y="89384"/>
                  </a:lnTo>
                  <a:lnTo>
                    <a:pt x="162754" y="119169"/>
                  </a:lnTo>
                  <a:lnTo>
                    <a:pt x="132969" y="152393"/>
                  </a:lnTo>
                  <a:lnTo>
                    <a:pt x="106929" y="188751"/>
                  </a:lnTo>
                  <a:lnTo>
                    <a:pt x="84939" y="227938"/>
                  </a:lnTo>
                  <a:lnTo>
                    <a:pt x="67305" y="269648"/>
                  </a:lnTo>
                  <a:lnTo>
                    <a:pt x="54330" y="313577"/>
                  </a:lnTo>
                  <a:lnTo>
                    <a:pt x="46322" y="359419"/>
                  </a:lnTo>
                  <a:lnTo>
                    <a:pt x="43585" y="406868"/>
                  </a:lnTo>
                  <a:lnTo>
                    <a:pt x="43585" y="900897"/>
                  </a:lnTo>
                  <a:lnTo>
                    <a:pt x="0" y="900897"/>
                  </a:lnTo>
                  <a:lnTo>
                    <a:pt x="81517" y="1009499"/>
                  </a:lnTo>
                  <a:lnTo>
                    <a:pt x="163034" y="900897"/>
                  </a:lnTo>
                  <a:lnTo>
                    <a:pt x="119449" y="900897"/>
                  </a:lnTo>
                  <a:lnTo>
                    <a:pt x="119449" y="406868"/>
                  </a:lnTo>
                  <a:lnTo>
                    <a:pt x="123038" y="357955"/>
                  </a:lnTo>
                  <a:lnTo>
                    <a:pt x="133463" y="311270"/>
                  </a:lnTo>
                  <a:lnTo>
                    <a:pt x="150213" y="267325"/>
                  </a:lnTo>
                  <a:lnTo>
                    <a:pt x="172776" y="226633"/>
                  </a:lnTo>
                  <a:lnTo>
                    <a:pt x="200639" y="189705"/>
                  </a:lnTo>
                  <a:lnTo>
                    <a:pt x="233290" y="157053"/>
                  </a:lnTo>
                  <a:lnTo>
                    <a:pt x="270218" y="129190"/>
                  </a:lnTo>
                  <a:lnTo>
                    <a:pt x="310910" y="106628"/>
                  </a:lnTo>
                  <a:lnTo>
                    <a:pt x="354855" y="89878"/>
                  </a:lnTo>
                  <a:lnTo>
                    <a:pt x="401540" y="79452"/>
                  </a:lnTo>
                  <a:lnTo>
                    <a:pt x="450454" y="75863"/>
                  </a:lnTo>
                  <a:lnTo>
                    <a:pt x="1234799" y="75863"/>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691" name="Google Shape;691;p65"/>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30</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692" name="Google Shape;692;p65"/>
          <p:cNvSpPr txBox="1"/>
          <p:nvPr/>
        </p:nvSpPr>
        <p:spPr>
          <a:xfrm>
            <a:off x="73025" y="4870881"/>
            <a:ext cx="13272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zh-CN" altLang="en-US" sz="1100" b="0" i="0" u="none" strike="noStrike" kern="0" cap="none" spc="0" normalizeH="0" baseline="0" noProof="0">
                <a:ln>
                  <a:noFill/>
                </a:ln>
                <a:solidFill>
                  <a:srgbClr val="000000"/>
                </a:solidFill>
                <a:effectLst/>
                <a:uLnTx/>
                <a:uFillTx/>
                <a:latin typeface="Georgia"/>
                <a:ea typeface="Georgia"/>
                <a:cs typeface="Georgia"/>
                <a:sym typeface="Georgia"/>
              </a:rPr>
              <a:t>*</a:t>
            </a:r>
            <a:r>
              <a:rPr kumimoji="0" lang="en-US" altLang="zh-CN" sz="1100" b="0" i="0" u="none" strike="noStrike" kern="0" cap="none" spc="0" normalizeH="0" baseline="0" noProof="0">
                <a:ln>
                  <a:noFill/>
                </a:ln>
                <a:solidFill>
                  <a:srgbClr val="000000"/>
                </a:solidFill>
                <a:effectLst/>
                <a:uLnTx/>
                <a:uFillTx/>
                <a:latin typeface="Georgia"/>
                <a:ea typeface="Georgia"/>
                <a:cs typeface="Georgia"/>
                <a:sym typeface="Georgia"/>
              </a:rPr>
              <a:t>according to the LM</a:t>
            </a:r>
            <a:endParaRPr kumimoji="0" sz="1100" b="0" i="0" u="none" strike="noStrike" kern="0" cap="none" spc="0" normalizeH="0" baseline="0" noProof="0">
              <a:ln>
                <a:noFill/>
              </a:ln>
              <a:solidFill>
                <a:srgbClr val="000000"/>
              </a:solidFill>
              <a:effectLst/>
              <a:uLnTx/>
              <a:uFillTx/>
              <a:latin typeface="Georgia"/>
              <a:ea typeface="Georgia"/>
              <a:cs typeface="Georgia"/>
              <a:sym typeface="Georg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696"/>
        <p:cNvGrpSpPr/>
        <p:nvPr/>
      </p:nvGrpSpPr>
      <p:grpSpPr>
        <a:xfrm>
          <a:off x="0" y="0"/>
          <a:ext cx="0" cy="0"/>
          <a:chOff x="0" y="0"/>
          <a:chExt cx="0" cy="0"/>
        </a:xfrm>
      </p:grpSpPr>
      <p:sp>
        <p:nvSpPr>
          <p:cNvPr id="697" name="Google Shape;697;p66"/>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98" name="Google Shape;698;p66"/>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99" name="Google Shape;699;p66"/>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700" name="Google Shape;700;p66"/>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44</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01" name="Google Shape;701;p66"/>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02" name="Google Shape;702;p66"/>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703" name="Google Shape;703;p66"/>
          <p:cNvGrpSpPr/>
          <p:nvPr/>
        </p:nvGrpSpPr>
        <p:grpSpPr>
          <a:xfrm>
            <a:off x="596075" y="3315299"/>
            <a:ext cx="1397635" cy="628650"/>
            <a:chOff x="596075" y="3315299"/>
            <a:chExt cx="1397635" cy="628650"/>
          </a:xfrm>
        </p:grpSpPr>
        <p:sp>
          <p:nvSpPr>
            <p:cNvPr id="704" name="Google Shape;704;p66"/>
            <p:cNvSpPr/>
            <p:nvPr/>
          </p:nvSpPr>
          <p:spPr>
            <a:xfrm>
              <a:off x="596075" y="3315299"/>
              <a:ext cx="1397635" cy="628650"/>
            </a:xfrm>
            <a:custGeom>
              <a:avLst/>
              <a:gdLst/>
              <a:ahLst/>
              <a:cxnLst/>
              <a:rect l="l" t="t" r="r" b="b"/>
              <a:pathLst>
                <a:path w="1397635" h="628650" extrusionOk="0">
                  <a:moveTo>
                    <a:pt x="1292697" y="628199"/>
                  </a:moveTo>
                  <a:lnTo>
                    <a:pt x="104702" y="628199"/>
                  </a:lnTo>
                  <a:lnTo>
                    <a:pt x="63947" y="619972"/>
                  </a:lnTo>
                  <a:lnTo>
                    <a:pt x="30666" y="597533"/>
                  </a:lnTo>
                  <a:lnTo>
                    <a:pt x="8228" y="564252"/>
                  </a:lnTo>
                  <a:lnTo>
                    <a:pt x="0" y="523497"/>
                  </a:lnTo>
                  <a:lnTo>
                    <a:pt x="0" y="104701"/>
                  </a:ln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05" name="Google Shape;705;p66"/>
            <p:cNvSpPr/>
            <p:nvPr/>
          </p:nvSpPr>
          <p:spPr>
            <a:xfrm>
              <a:off x="596075" y="3315299"/>
              <a:ext cx="1397635" cy="628650"/>
            </a:xfrm>
            <a:custGeom>
              <a:avLst/>
              <a:gdLst/>
              <a:ahLst/>
              <a:cxnLst/>
              <a:rect l="l" t="t" r="r" b="b"/>
              <a:pathLst>
                <a:path w="1397635" h="628650" extrusionOk="0">
                  <a:moveTo>
                    <a:pt x="0" y="104701"/>
                  </a:move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lnTo>
                    <a:pt x="104702" y="628199"/>
                  </a:lnTo>
                  <a:lnTo>
                    <a:pt x="63947" y="619972"/>
                  </a:lnTo>
                  <a:lnTo>
                    <a:pt x="30666" y="597533"/>
                  </a:lnTo>
                  <a:lnTo>
                    <a:pt x="8228" y="564252"/>
                  </a:lnTo>
                  <a:lnTo>
                    <a:pt x="0" y="523497"/>
                  </a:lnTo>
                  <a:lnTo>
                    <a:pt x="0" y="10470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06" name="Google Shape;706;p66"/>
          <p:cNvSpPr txBox="1"/>
          <p:nvPr/>
        </p:nvSpPr>
        <p:spPr>
          <a:xfrm>
            <a:off x="897886" y="3400038"/>
            <a:ext cx="795000" cy="492600"/>
          </a:xfrm>
          <a:prstGeom prst="rect">
            <a:avLst/>
          </a:prstGeom>
          <a:noFill/>
          <a:ln>
            <a:noFill/>
          </a:ln>
        </p:spPr>
        <p:txBody>
          <a:bodyPr spcFirstLastPara="1" wrap="square" lIns="0" tIns="22850" rIns="0" bIns="0" anchor="t" anchorCtr="0">
            <a:spAutoFit/>
          </a:bodyPr>
          <a:lstStyle/>
          <a:p>
            <a:pPr marL="147955" marR="5080" lvl="0" indent="-135890"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707" name="Google Shape;707;p66"/>
          <p:cNvGrpSpPr/>
          <p:nvPr/>
        </p:nvGrpSpPr>
        <p:grpSpPr>
          <a:xfrm>
            <a:off x="1267174" y="2228525"/>
            <a:ext cx="1235075" cy="1009650"/>
            <a:chOff x="1267174" y="2228525"/>
            <a:chExt cx="1235075" cy="1009650"/>
          </a:xfrm>
        </p:grpSpPr>
        <p:sp>
          <p:nvSpPr>
            <p:cNvPr id="708" name="Google Shape;708;p66"/>
            <p:cNvSpPr/>
            <p:nvPr/>
          </p:nvSpPr>
          <p:spPr>
            <a:xfrm>
              <a:off x="1267174" y="2228525"/>
              <a:ext cx="1235075" cy="1009650"/>
            </a:xfrm>
            <a:custGeom>
              <a:avLst/>
              <a:gdLst/>
              <a:ahLst/>
              <a:cxnLst/>
              <a:rect l="l" t="t" r="r" b="b"/>
              <a:pathLst>
                <a:path w="1235075" h="1009650" extrusionOk="0">
                  <a:moveTo>
                    <a:pt x="119449" y="900897"/>
                  </a:moveTo>
                  <a:lnTo>
                    <a:pt x="43585" y="900897"/>
                  </a:lnTo>
                  <a:lnTo>
                    <a:pt x="43585" y="406868"/>
                  </a:lnTo>
                  <a:lnTo>
                    <a:pt x="46322" y="359419"/>
                  </a:lnTo>
                  <a:lnTo>
                    <a:pt x="54330" y="313577"/>
                  </a:lnTo>
                  <a:lnTo>
                    <a:pt x="67305" y="269648"/>
                  </a:lnTo>
                  <a:lnTo>
                    <a:pt x="84939" y="227938"/>
                  </a:lnTo>
                  <a:lnTo>
                    <a:pt x="106929" y="188751"/>
                  </a:lnTo>
                  <a:lnTo>
                    <a:pt x="132969" y="152393"/>
                  </a:lnTo>
                  <a:lnTo>
                    <a:pt x="162754" y="119169"/>
                  </a:lnTo>
                  <a:lnTo>
                    <a:pt x="195978" y="89384"/>
                  </a:lnTo>
                  <a:lnTo>
                    <a:pt x="232336" y="63344"/>
                  </a:lnTo>
                  <a:lnTo>
                    <a:pt x="271523" y="41354"/>
                  </a:lnTo>
                  <a:lnTo>
                    <a:pt x="313233" y="23719"/>
                  </a:lnTo>
                  <a:lnTo>
                    <a:pt x="357162" y="10745"/>
                  </a:lnTo>
                  <a:lnTo>
                    <a:pt x="403004" y="2737"/>
                  </a:lnTo>
                  <a:lnTo>
                    <a:pt x="450454" y="0"/>
                  </a:lnTo>
                  <a:lnTo>
                    <a:pt x="1234799" y="0"/>
                  </a:lnTo>
                  <a:lnTo>
                    <a:pt x="1234799" y="75863"/>
                  </a:lnTo>
                  <a:lnTo>
                    <a:pt x="450454" y="75863"/>
                  </a:lnTo>
                  <a:lnTo>
                    <a:pt x="401540" y="79452"/>
                  </a:lnTo>
                  <a:lnTo>
                    <a:pt x="354855" y="89878"/>
                  </a:lnTo>
                  <a:lnTo>
                    <a:pt x="310910" y="106628"/>
                  </a:lnTo>
                  <a:lnTo>
                    <a:pt x="270218" y="129190"/>
                  </a:lnTo>
                  <a:lnTo>
                    <a:pt x="233290" y="157053"/>
                  </a:lnTo>
                  <a:lnTo>
                    <a:pt x="200639" y="189705"/>
                  </a:lnTo>
                  <a:lnTo>
                    <a:pt x="172776" y="226633"/>
                  </a:lnTo>
                  <a:lnTo>
                    <a:pt x="150213" y="267325"/>
                  </a:lnTo>
                  <a:lnTo>
                    <a:pt x="133463" y="311270"/>
                  </a:lnTo>
                  <a:lnTo>
                    <a:pt x="123038" y="357955"/>
                  </a:lnTo>
                  <a:lnTo>
                    <a:pt x="119449" y="406868"/>
                  </a:lnTo>
                  <a:lnTo>
                    <a:pt x="119449" y="900897"/>
                  </a:lnTo>
                  <a:close/>
                </a:path>
                <a:path w="1235075" h="1009650" extrusionOk="0">
                  <a:moveTo>
                    <a:pt x="81517" y="1009499"/>
                  </a:moveTo>
                  <a:lnTo>
                    <a:pt x="0" y="900897"/>
                  </a:lnTo>
                  <a:lnTo>
                    <a:pt x="163034" y="900897"/>
                  </a:lnTo>
                  <a:lnTo>
                    <a:pt x="81517" y="10094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09" name="Google Shape;709;p66"/>
            <p:cNvSpPr/>
            <p:nvPr/>
          </p:nvSpPr>
          <p:spPr>
            <a:xfrm>
              <a:off x="1267174" y="2228525"/>
              <a:ext cx="1235075" cy="1009650"/>
            </a:xfrm>
            <a:custGeom>
              <a:avLst/>
              <a:gdLst/>
              <a:ahLst/>
              <a:cxnLst/>
              <a:rect l="l" t="t" r="r" b="b"/>
              <a:pathLst>
                <a:path w="1235075" h="1009650" extrusionOk="0">
                  <a:moveTo>
                    <a:pt x="1234799" y="0"/>
                  </a:moveTo>
                  <a:lnTo>
                    <a:pt x="450454" y="0"/>
                  </a:lnTo>
                  <a:lnTo>
                    <a:pt x="403004" y="2737"/>
                  </a:lnTo>
                  <a:lnTo>
                    <a:pt x="357162" y="10745"/>
                  </a:lnTo>
                  <a:lnTo>
                    <a:pt x="313233" y="23719"/>
                  </a:lnTo>
                  <a:lnTo>
                    <a:pt x="271523" y="41354"/>
                  </a:lnTo>
                  <a:lnTo>
                    <a:pt x="232336" y="63344"/>
                  </a:lnTo>
                  <a:lnTo>
                    <a:pt x="195978" y="89384"/>
                  </a:lnTo>
                  <a:lnTo>
                    <a:pt x="162754" y="119169"/>
                  </a:lnTo>
                  <a:lnTo>
                    <a:pt x="132969" y="152393"/>
                  </a:lnTo>
                  <a:lnTo>
                    <a:pt x="106929" y="188751"/>
                  </a:lnTo>
                  <a:lnTo>
                    <a:pt x="84939" y="227938"/>
                  </a:lnTo>
                  <a:lnTo>
                    <a:pt x="67305" y="269648"/>
                  </a:lnTo>
                  <a:lnTo>
                    <a:pt x="54330" y="313577"/>
                  </a:lnTo>
                  <a:lnTo>
                    <a:pt x="46322" y="359419"/>
                  </a:lnTo>
                  <a:lnTo>
                    <a:pt x="43585" y="406868"/>
                  </a:lnTo>
                  <a:lnTo>
                    <a:pt x="43585" y="900897"/>
                  </a:lnTo>
                  <a:lnTo>
                    <a:pt x="0" y="900897"/>
                  </a:lnTo>
                  <a:lnTo>
                    <a:pt x="81517" y="1009499"/>
                  </a:lnTo>
                  <a:lnTo>
                    <a:pt x="163034" y="900897"/>
                  </a:lnTo>
                  <a:lnTo>
                    <a:pt x="119449" y="900897"/>
                  </a:lnTo>
                  <a:lnTo>
                    <a:pt x="119449" y="406868"/>
                  </a:lnTo>
                  <a:lnTo>
                    <a:pt x="123038" y="357955"/>
                  </a:lnTo>
                  <a:lnTo>
                    <a:pt x="133463" y="311270"/>
                  </a:lnTo>
                  <a:lnTo>
                    <a:pt x="150213" y="267325"/>
                  </a:lnTo>
                  <a:lnTo>
                    <a:pt x="172776" y="226633"/>
                  </a:lnTo>
                  <a:lnTo>
                    <a:pt x="200639" y="189705"/>
                  </a:lnTo>
                  <a:lnTo>
                    <a:pt x="233290" y="157053"/>
                  </a:lnTo>
                  <a:lnTo>
                    <a:pt x="270218" y="129190"/>
                  </a:lnTo>
                  <a:lnTo>
                    <a:pt x="310910" y="106628"/>
                  </a:lnTo>
                  <a:lnTo>
                    <a:pt x="354855" y="89878"/>
                  </a:lnTo>
                  <a:lnTo>
                    <a:pt x="401540" y="79452"/>
                  </a:lnTo>
                  <a:lnTo>
                    <a:pt x="450454" y="75863"/>
                  </a:lnTo>
                  <a:lnTo>
                    <a:pt x="1234799" y="75863"/>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710" name="Google Shape;710;p66"/>
          <p:cNvGrpSpPr/>
          <p:nvPr/>
        </p:nvGrpSpPr>
        <p:grpSpPr>
          <a:xfrm>
            <a:off x="2234600" y="3526925"/>
            <a:ext cx="397510" cy="193675"/>
            <a:chOff x="2234600" y="3526925"/>
            <a:chExt cx="397510" cy="193675"/>
          </a:xfrm>
        </p:grpSpPr>
        <p:sp>
          <p:nvSpPr>
            <p:cNvPr id="711" name="Google Shape;711;p66"/>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12" name="Google Shape;712;p66"/>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13" name="Google Shape;713;p66"/>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14" name="Google Shape;714;p66"/>
          <p:cNvSpPr txBox="1">
            <a:spLocks noGrp="1"/>
          </p:cNvSpPr>
          <p:nvPr>
            <p:ph type="body" idx="1"/>
          </p:nvPr>
        </p:nvSpPr>
        <p:spPr>
          <a:xfrm>
            <a:off x="743748" y="1180605"/>
            <a:ext cx="7657500" cy="19860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a:p>
            <a:pPr marL="0" lvl="0" indent="0" algn="l" rtl="0">
              <a:lnSpc>
                <a:spcPct val="100000"/>
              </a:lnSpc>
              <a:spcBef>
                <a:spcPts val="40"/>
              </a:spcBef>
              <a:spcAft>
                <a:spcPts val="0"/>
              </a:spcAft>
              <a:buSzPts val="1400"/>
              <a:buNone/>
            </a:pPr>
            <a:endParaRPr sz="2200">
              <a:latin typeface="Cambria"/>
              <a:ea typeface="Cambria"/>
              <a:cs typeface="Cambria"/>
              <a:sym typeface="Cambria"/>
            </a:endParaRPr>
          </a:p>
          <a:p>
            <a:pPr marL="2359660" lvl="0" indent="0" algn="l" rtl="0">
              <a:lnSpc>
                <a:spcPct val="116923"/>
              </a:lnSpc>
              <a:spcBef>
                <a:spcPts val="0"/>
              </a:spcBef>
              <a:spcAft>
                <a:spcPts val="0"/>
              </a:spcAft>
              <a:buSzPts val="1400"/>
              <a:buNone/>
            </a:pPr>
            <a:r>
              <a:rPr lang="zh-CN" sz="1300"/>
              <a:t>Bob:</a:t>
            </a:r>
            <a:endParaRPr sz="1300"/>
          </a:p>
          <a:p>
            <a:pPr marL="2308860" lvl="0" indent="0" algn="l" rtl="0">
              <a:lnSpc>
                <a:spcPct val="116923"/>
              </a:lnSpc>
              <a:spcBef>
                <a:spcPts val="0"/>
              </a:spcBef>
              <a:spcAft>
                <a:spcPts val="0"/>
              </a:spcAft>
              <a:buSzPts val="1400"/>
              <a:buNone/>
            </a:pPr>
            <a:r>
              <a:rPr lang="zh-CN" sz="1300" b="1">
                <a:latin typeface="Cambria"/>
                <a:ea typeface="Cambria"/>
                <a:cs typeface="Cambria"/>
                <a:sym typeface="Cambria"/>
              </a:rPr>
              <a:t>blue:</a:t>
            </a:r>
            <a:endParaRPr sz="1300">
              <a:latin typeface="Cambria"/>
              <a:ea typeface="Cambria"/>
              <a:cs typeface="Cambria"/>
              <a:sym typeface="Cambria"/>
            </a:endParaRPr>
          </a:p>
        </p:txBody>
      </p:sp>
      <p:sp>
        <p:nvSpPr>
          <p:cNvPr id="715" name="Google Shape;715;p66"/>
          <p:cNvSpPr txBox="1"/>
          <p:nvPr/>
        </p:nvSpPr>
        <p:spPr>
          <a:xfrm>
            <a:off x="2998229" y="3056774"/>
            <a:ext cx="456000" cy="1583700"/>
          </a:xfrm>
          <a:prstGeom prst="rect">
            <a:avLst/>
          </a:prstGeom>
          <a:noFill/>
          <a:ln>
            <a:noFill/>
          </a:ln>
        </p:spPr>
        <p:txBody>
          <a:bodyPr spcFirstLastPara="1" wrap="square" lIns="0" tIns="27300" rIns="0" bIns="0" anchor="t" anchorCtr="0">
            <a:spAutoFit/>
          </a:bodyPr>
          <a:lstStyle/>
          <a:p>
            <a:pPr marL="12700" marR="5080" lvl="0" indent="134620" algn="just"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grass:  grey:</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5080" lvl="0" indent="0" algn="r" defTabSz="914400" rtl="0" eaLnBrk="1" fontAlgn="auto" latinLnBrk="0" hangingPunct="1">
              <a:lnSpc>
                <a:spcPct val="108461"/>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5080" lvl="0" indent="0" algn="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5080" lvl="0" indent="0" algn="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5080" lvl="0" indent="0" algn="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716" name="Google Shape;716;p66"/>
          <p:cNvGrpSpPr/>
          <p:nvPr/>
        </p:nvGrpSpPr>
        <p:grpSpPr>
          <a:xfrm>
            <a:off x="2972367" y="2693905"/>
            <a:ext cx="549275" cy="1756410"/>
            <a:chOff x="2978249" y="2693999"/>
            <a:chExt cx="549275" cy="1756410"/>
          </a:xfrm>
        </p:grpSpPr>
        <p:sp>
          <p:nvSpPr>
            <p:cNvPr id="717" name="Google Shape;717;p66"/>
            <p:cNvSpPr/>
            <p:nvPr/>
          </p:nvSpPr>
          <p:spPr>
            <a:xfrm>
              <a:off x="2978249" y="2693999"/>
              <a:ext cx="549275" cy="1756410"/>
            </a:xfrm>
            <a:custGeom>
              <a:avLst/>
              <a:gdLst/>
              <a:ahLst/>
              <a:cxnLst/>
              <a:rect l="l" t="t" r="r" b="b"/>
              <a:pathLst>
                <a:path w="549275" h="1756410" extrusionOk="0">
                  <a:moveTo>
                    <a:pt x="457247" y="1755899"/>
                  </a:moveTo>
                  <a:lnTo>
                    <a:pt x="91451" y="1755899"/>
                  </a:lnTo>
                  <a:lnTo>
                    <a:pt x="55854" y="1748713"/>
                  </a:lnTo>
                  <a:lnTo>
                    <a:pt x="26785" y="1729114"/>
                  </a:lnTo>
                  <a:lnTo>
                    <a:pt x="7186" y="1700045"/>
                  </a:lnTo>
                  <a:lnTo>
                    <a:pt x="0" y="1664447"/>
                  </a:lnTo>
                  <a:lnTo>
                    <a:pt x="0" y="91451"/>
                  </a:lnTo>
                  <a:lnTo>
                    <a:pt x="7186" y="55854"/>
                  </a:lnTo>
                  <a:lnTo>
                    <a:pt x="26785" y="26785"/>
                  </a:lnTo>
                  <a:lnTo>
                    <a:pt x="55854" y="7186"/>
                  </a:lnTo>
                  <a:lnTo>
                    <a:pt x="91451" y="0"/>
                  </a:lnTo>
                  <a:lnTo>
                    <a:pt x="457247" y="0"/>
                  </a:lnTo>
                  <a:lnTo>
                    <a:pt x="507985" y="15365"/>
                  </a:lnTo>
                  <a:lnTo>
                    <a:pt x="541738" y="56454"/>
                  </a:lnTo>
                  <a:lnTo>
                    <a:pt x="548699" y="91451"/>
                  </a:lnTo>
                  <a:lnTo>
                    <a:pt x="548699" y="1664447"/>
                  </a:lnTo>
                  <a:lnTo>
                    <a:pt x="541513" y="1700045"/>
                  </a:lnTo>
                  <a:lnTo>
                    <a:pt x="521914" y="1729114"/>
                  </a:lnTo>
                  <a:lnTo>
                    <a:pt x="492845" y="1748713"/>
                  </a:lnTo>
                  <a:lnTo>
                    <a:pt x="457247" y="17558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18" name="Google Shape;718;p66"/>
            <p:cNvSpPr/>
            <p:nvPr/>
          </p:nvSpPr>
          <p:spPr>
            <a:xfrm>
              <a:off x="2978249" y="2693999"/>
              <a:ext cx="549275" cy="1756410"/>
            </a:xfrm>
            <a:custGeom>
              <a:avLst/>
              <a:gdLst/>
              <a:ahLst/>
              <a:cxnLst/>
              <a:rect l="l" t="t" r="r" b="b"/>
              <a:pathLst>
                <a:path w="549275" h="1756410" extrusionOk="0">
                  <a:moveTo>
                    <a:pt x="0" y="91451"/>
                  </a:moveTo>
                  <a:lnTo>
                    <a:pt x="7186" y="55854"/>
                  </a:lnTo>
                  <a:lnTo>
                    <a:pt x="26785" y="26785"/>
                  </a:lnTo>
                  <a:lnTo>
                    <a:pt x="55854" y="7186"/>
                  </a:lnTo>
                  <a:lnTo>
                    <a:pt x="91451" y="0"/>
                  </a:lnTo>
                  <a:lnTo>
                    <a:pt x="457247" y="0"/>
                  </a:lnTo>
                  <a:lnTo>
                    <a:pt x="507985" y="15365"/>
                  </a:lnTo>
                  <a:lnTo>
                    <a:pt x="541738" y="56454"/>
                  </a:lnTo>
                  <a:lnTo>
                    <a:pt x="548699" y="91451"/>
                  </a:lnTo>
                  <a:lnTo>
                    <a:pt x="548699" y="1664447"/>
                  </a:lnTo>
                  <a:lnTo>
                    <a:pt x="541513" y="1700045"/>
                  </a:lnTo>
                  <a:lnTo>
                    <a:pt x="521914" y="1729114"/>
                  </a:lnTo>
                  <a:lnTo>
                    <a:pt x="492845" y="1748713"/>
                  </a:lnTo>
                  <a:lnTo>
                    <a:pt x="457247" y="1755899"/>
                  </a:lnTo>
                  <a:lnTo>
                    <a:pt x="91451" y="1755899"/>
                  </a:lnTo>
                  <a:lnTo>
                    <a:pt x="55854" y="1748713"/>
                  </a:lnTo>
                  <a:lnTo>
                    <a:pt x="26785" y="1729114"/>
                  </a:lnTo>
                  <a:lnTo>
                    <a:pt x="7186" y="1700045"/>
                  </a:lnTo>
                  <a:lnTo>
                    <a:pt x="0" y="1664447"/>
                  </a:lnTo>
                  <a:lnTo>
                    <a:pt x="0" y="91451"/>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19" name="Google Shape;719;p66"/>
          <p:cNvSpPr txBox="1"/>
          <p:nvPr/>
        </p:nvSpPr>
        <p:spPr>
          <a:xfrm>
            <a:off x="2591479" y="4639940"/>
            <a:ext cx="13239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3C78D8"/>
                </a:solidFill>
                <a:effectLst/>
                <a:uLnTx/>
                <a:uFillTx/>
                <a:latin typeface="Cambria"/>
                <a:ea typeface="Cambria"/>
                <a:cs typeface="Cambria"/>
                <a:sym typeface="Cambria"/>
              </a:rPr>
              <a:t>candidate vocab</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720" name="Google Shape;720;p66"/>
          <p:cNvSpPr txBox="1"/>
          <p:nvPr/>
        </p:nvSpPr>
        <p:spPr>
          <a:xfrm>
            <a:off x="73025" y="4870881"/>
            <a:ext cx="13272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zh-CN" altLang="en-US" sz="1100" b="0" i="0" u="none" strike="noStrike" kern="0" cap="none" spc="0" normalizeH="0" baseline="0" noProof="0">
                <a:ln>
                  <a:noFill/>
                </a:ln>
                <a:solidFill>
                  <a:srgbClr val="000000"/>
                </a:solidFill>
                <a:effectLst/>
                <a:uLnTx/>
                <a:uFillTx/>
                <a:latin typeface="Georgia"/>
                <a:ea typeface="Georgia"/>
                <a:cs typeface="Georgia"/>
                <a:sym typeface="Georgia"/>
              </a:rPr>
              <a:t>*</a:t>
            </a:r>
            <a:r>
              <a:rPr kumimoji="0" lang="en-US" altLang="zh-CN" sz="1100" b="0" i="0" u="none" strike="noStrike" kern="0" cap="none" spc="0" normalizeH="0" baseline="0" noProof="0">
                <a:ln>
                  <a:noFill/>
                </a:ln>
                <a:solidFill>
                  <a:srgbClr val="000000"/>
                </a:solidFill>
                <a:effectLst/>
                <a:uLnTx/>
                <a:uFillTx/>
                <a:latin typeface="Georgia"/>
                <a:ea typeface="Georgia"/>
                <a:cs typeface="Georgia"/>
                <a:sym typeface="Georgia"/>
              </a:rPr>
              <a:t>according to the LM</a:t>
            </a:r>
            <a:endParaRPr kumimoji="0" sz="1100" b="0" i="0" u="none" strike="noStrike" kern="0" cap="none" spc="0" normalizeH="0" baseline="0" noProof="0">
              <a:ln>
                <a:noFill/>
              </a:ln>
              <a:solidFill>
                <a:srgbClr val="000000"/>
              </a:solidFill>
              <a:effectLst/>
              <a:uLnTx/>
              <a:uFillTx/>
              <a:latin typeface="Georgia"/>
              <a:ea typeface="Georgia"/>
              <a:cs typeface="Georgia"/>
              <a:sym typeface="Georg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724"/>
        <p:cNvGrpSpPr/>
        <p:nvPr/>
      </p:nvGrpSpPr>
      <p:grpSpPr>
        <a:xfrm>
          <a:off x="0" y="0"/>
          <a:ext cx="0" cy="0"/>
          <a:chOff x="0" y="0"/>
          <a:chExt cx="0" cy="0"/>
        </a:xfrm>
      </p:grpSpPr>
      <p:sp>
        <p:nvSpPr>
          <p:cNvPr id="725" name="Google Shape;725;p67"/>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26" name="Google Shape;726;p67"/>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27" name="Google Shape;727;p67"/>
          <p:cNvSpPr txBox="1"/>
          <p:nvPr/>
        </p:nvSpPr>
        <p:spPr>
          <a:xfrm>
            <a:off x="3090986" y="2680346"/>
            <a:ext cx="9798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28" name="Google Shape;728;p67"/>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729" name="Google Shape;729;p67"/>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30" name="Google Shape;730;p67"/>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31" name="Google Shape;731;p67"/>
          <p:cNvSpPr txBox="1">
            <a:spLocks noGrp="1"/>
          </p:cNvSpPr>
          <p:nvPr>
            <p:ph type="body" idx="1"/>
          </p:nvPr>
        </p:nvSpPr>
        <p:spPr>
          <a:xfrm>
            <a:off x="743748" y="1180605"/>
            <a:ext cx="7657500" cy="12084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p:txBody>
      </p:sp>
      <p:grpSp>
        <p:nvGrpSpPr>
          <p:cNvPr id="732" name="Google Shape;732;p67"/>
          <p:cNvGrpSpPr/>
          <p:nvPr/>
        </p:nvGrpSpPr>
        <p:grpSpPr>
          <a:xfrm>
            <a:off x="596075" y="3315299"/>
            <a:ext cx="1397635" cy="628650"/>
            <a:chOff x="596075" y="3315299"/>
            <a:chExt cx="1397635" cy="628650"/>
          </a:xfrm>
        </p:grpSpPr>
        <p:sp>
          <p:nvSpPr>
            <p:cNvPr id="733" name="Google Shape;733;p67"/>
            <p:cNvSpPr/>
            <p:nvPr/>
          </p:nvSpPr>
          <p:spPr>
            <a:xfrm>
              <a:off x="596075" y="3315299"/>
              <a:ext cx="1397635" cy="628650"/>
            </a:xfrm>
            <a:custGeom>
              <a:avLst/>
              <a:gdLst/>
              <a:ahLst/>
              <a:cxnLst/>
              <a:rect l="l" t="t" r="r" b="b"/>
              <a:pathLst>
                <a:path w="1397635" h="628650" extrusionOk="0">
                  <a:moveTo>
                    <a:pt x="1292697" y="628199"/>
                  </a:moveTo>
                  <a:lnTo>
                    <a:pt x="104702" y="628199"/>
                  </a:lnTo>
                  <a:lnTo>
                    <a:pt x="63947" y="619972"/>
                  </a:lnTo>
                  <a:lnTo>
                    <a:pt x="30666" y="597533"/>
                  </a:lnTo>
                  <a:lnTo>
                    <a:pt x="8228" y="564252"/>
                  </a:lnTo>
                  <a:lnTo>
                    <a:pt x="0" y="523497"/>
                  </a:lnTo>
                  <a:lnTo>
                    <a:pt x="0" y="104701"/>
                  </a:ln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34" name="Google Shape;734;p67"/>
            <p:cNvSpPr/>
            <p:nvPr/>
          </p:nvSpPr>
          <p:spPr>
            <a:xfrm>
              <a:off x="596075" y="3315299"/>
              <a:ext cx="1397635" cy="628650"/>
            </a:xfrm>
            <a:custGeom>
              <a:avLst/>
              <a:gdLst/>
              <a:ahLst/>
              <a:cxnLst/>
              <a:rect l="l" t="t" r="r" b="b"/>
              <a:pathLst>
                <a:path w="1397635" h="628650" extrusionOk="0">
                  <a:moveTo>
                    <a:pt x="0" y="104701"/>
                  </a:move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lnTo>
                    <a:pt x="104702" y="628199"/>
                  </a:lnTo>
                  <a:lnTo>
                    <a:pt x="63947" y="619972"/>
                  </a:lnTo>
                  <a:lnTo>
                    <a:pt x="30666" y="597533"/>
                  </a:lnTo>
                  <a:lnTo>
                    <a:pt x="8228" y="564252"/>
                  </a:lnTo>
                  <a:lnTo>
                    <a:pt x="0" y="523497"/>
                  </a:lnTo>
                  <a:lnTo>
                    <a:pt x="0" y="10470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35" name="Google Shape;735;p67"/>
          <p:cNvSpPr txBox="1"/>
          <p:nvPr/>
        </p:nvSpPr>
        <p:spPr>
          <a:xfrm>
            <a:off x="897886" y="3400038"/>
            <a:ext cx="795000" cy="492600"/>
          </a:xfrm>
          <a:prstGeom prst="rect">
            <a:avLst/>
          </a:prstGeom>
          <a:noFill/>
          <a:ln>
            <a:noFill/>
          </a:ln>
        </p:spPr>
        <p:txBody>
          <a:bodyPr spcFirstLastPara="1" wrap="square" lIns="0" tIns="22850" rIns="0" bIns="0" anchor="t" anchorCtr="0">
            <a:spAutoFit/>
          </a:bodyPr>
          <a:lstStyle/>
          <a:p>
            <a:pPr marL="147955" marR="5080" lvl="0" indent="-135890"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736" name="Google Shape;736;p67"/>
          <p:cNvGrpSpPr/>
          <p:nvPr/>
        </p:nvGrpSpPr>
        <p:grpSpPr>
          <a:xfrm>
            <a:off x="1267174" y="2228525"/>
            <a:ext cx="1235075" cy="1009650"/>
            <a:chOff x="1267174" y="2228525"/>
            <a:chExt cx="1235075" cy="1009650"/>
          </a:xfrm>
        </p:grpSpPr>
        <p:sp>
          <p:nvSpPr>
            <p:cNvPr id="737" name="Google Shape;737;p67"/>
            <p:cNvSpPr/>
            <p:nvPr/>
          </p:nvSpPr>
          <p:spPr>
            <a:xfrm>
              <a:off x="1267174" y="2228525"/>
              <a:ext cx="1235075" cy="1009650"/>
            </a:xfrm>
            <a:custGeom>
              <a:avLst/>
              <a:gdLst/>
              <a:ahLst/>
              <a:cxnLst/>
              <a:rect l="l" t="t" r="r" b="b"/>
              <a:pathLst>
                <a:path w="1235075" h="1009650" extrusionOk="0">
                  <a:moveTo>
                    <a:pt x="119449" y="900897"/>
                  </a:moveTo>
                  <a:lnTo>
                    <a:pt x="43585" y="900897"/>
                  </a:lnTo>
                  <a:lnTo>
                    <a:pt x="43585" y="406868"/>
                  </a:lnTo>
                  <a:lnTo>
                    <a:pt x="46322" y="359419"/>
                  </a:lnTo>
                  <a:lnTo>
                    <a:pt x="54330" y="313577"/>
                  </a:lnTo>
                  <a:lnTo>
                    <a:pt x="67305" y="269648"/>
                  </a:lnTo>
                  <a:lnTo>
                    <a:pt x="84939" y="227938"/>
                  </a:lnTo>
                  <a:lnTo>
                    <a:pt x="106929" y="188751"/>
                  </a:lnTo>
                  <a:lnTo>
                    <a:pt x="132969" y="152393"/>
                  </a:lnTo>
                  <a:lnTo>
                    <a:pt x="162754" y="119169"/>
                  </a:lnTo>
                  <a:lnTo>
                    <a:pt x="195978" y="89384"/>
                  </a:lnTo>
                  <a:lnTo>
                    <a:pt x="232336" y="63344"/>
                  </a:lnTo>
                  <a:lnTo>
                    <a:pt x="271523" y="41354"/>
                  </a:lnTo>
                  <a:lnTo>
                    <a:pt x="313233" y="23719"/>
                  </a:lnTo>
                  <a:lnTo>
                    <a:pt x="357162" y="10745"/>
                  </a:lnTo>
                  <a:lnTo>
                    <a:pt x="403004" y="2737"/>
                  </a:lnTo>
                  <a:lnTo>
                    <a:pt x="450454" y="0"/>
                  </a:lnTo>
                  <a:lnTo>
                    <a:pt x="1234799" y="0"/>
                  </a:lnTo>
                  <a:lnTo>
                    <a:pt x="1234799" y="75863"/>
                  </a:lnTo>
                  <a:lnTo>
                    <a:pt x="450454" y="75863"/>
                  </a:lnTo>
                  <a:lnTo>
                    <a:pt x="401540" y="79452"/>
                  </a:lnTo>
                  <a:lnTo>
                    <a:pt x="354855" y="89878"/>
                  </a:lnTo>
                  <a:lnTo>
                    <a:pt x="310910" y="106628"/>
                  </a:lnTo>
                  <a:lnTo>
                    <a:pt x="270218" y="129190"/>
                  </a:lnTo>
                  <a:lnTo>
                    <a:pt x="233290" y="157053"/>
                  </a:lnTo>
                  <a:lnTo>
                    <a:pt x="200639" y="189705"/>
                  </a:lnTo>
                  <a:lnTo>
                    <a:pt x="172776" y="226633"/>
                  </a:lnTo>
                  <a:lnTo>
                    <a:pt x="150213" y="267325"/>
                  </a:lnTo>
                  <a:lnTo>
                    <a:pt x="133463" y="311270"/>
                  </a:lnTo>
                  <a:lnTo>
                    <a:pt x="123038" y="357955"/>
                  </a:lnTo>
                  <a:lnTo>
                    <a:pt x="119449" y="406868"/>
                  </a:lnTo>
                  <a:lnTo>
                    <a:pt x="119449" y="900897"/>
                  </a:lnTo>
                  <a:close/>
                </a:path>
                <a:path w="1235075" h="1009650" extrusionOk="0">
                  <a:moveTo>
                    <a:pt x="81517" y="1009499"/>
                  </a:moveTo>
                  <a:lnTo>
                    <a:pt x="0" y="900897"/>
                  </a:lnTo>
                  <a:lnTo>
                    <a:pt x="163034" y="900897"/>
                  </a:lnTo>
                  <a:lnTo>
                    <a:pt x="81517" y="10094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38" name="Google Shape;738;p67"/>
            <p:cNvSpPr/>
            <p:nvPr/>
          </p:nvSpPr>
          <p:spPr>
            <a:xfrm>
              <a:off x="1267174" y="2228525"/>
              <a:ext cx="1235075" cy="1009650"/>
            </a:xfrm>
            <a:custGeom>
              <a:avLst/>
              <a:gdLst/>
              <a:ahLst/>
              <a:cxnLst/>
              <a:rect l="l" t="t" r="r" b="b"/>
              <a:pathLst>
                <a:path w="1235075" h="1009650" extrusionOk="0">
                  <a:moveTo>
                    <a:pt x="1234799" y="0"/>
                  </a:moveTo>
                  <a:lnTo>
                    <a:pt x="450454" y="0"/>
                  </a:lnTo>
                  <a:lnTo>
                    <a:pt x="403004" y="2737"/>
                  </a:lnTo>
                  <a:lnTo>
                    <a:pt x="357162" y="10745"/>
                  </a:lnTo>
                  <a:lnTo>
                    <a:pt x="313233" y="23719"/>
                  </a:lnTo>
                  <a:lnTo>
                    <a:pt x="271523" y="41354"/>
                  </a:lnTo>
                  <a:lnTo>
                    <a:pt x="232336" y="63344"/>
                  </a:lnTo>
                  <a:lnTo>
                    <a:pt x="195978" y="89384"/>
                  </a:lnTo>
                  <a:lnTo>
                    <a:pt x="162754" y="119169"/>
                  </a:lnTo>
                  <a:lnTo>
                    <a:pt x="132969" y="152393"/>
                  </a:lnTo>
                  <a:lnTo>
                    <a:pt x="106929" y="188751"/>
                  </a:lnTo>
                  <a:lnTo>
                    <a:pt x="84939" y="227938"/>
                  </a:lnTo>
                  <a:lnTo>
                    <a:pt x="67305" y="269648"/>
                  </a:lnTo>
                  <a:lnTo>
                    <a:pt x="54330" y="313577"/>
                  </a:lnTo>
                  <a:lnTo>
                    <a:pt x="46322" y="359419"/>
                  </a:lnTo>
                  <a:lnTo>
                    <a:pt x="43585" y="406868"/>
                  </a:lnTo>
                  <a:lnTo>
                    <a:pt x="43585" y="900897"/>
                  </a:lnTo>
                  <a:lnTo>
                    <a:pt x="0" y="900897"/>
                  </a:lnTo>
                  <a:lnTo>
                    <a:pt x="81517" y="1009499"/>
                  </a:lnTo>
                  <a:lnTo>
                    <a:pt x="163034" y="900897"/>
                  </a:lnTo>
                  <a:lnTo>
                    <a:pt x="119449" y="900897"/>
                  </a:lnTo>
                  <a:lnTo>
                    <a:pt x="119449" y="406868"/>
                  </a:lnTo>
                  <a:lnTo>
                    <a:pt x="123038" y="357955"/>
                  </a:lnTo>
                  <a:lnTo>
                    <a:pt x="133463" y="311270"/>
                  </a:lnTo>
                  <a:lnTo>
                    <a:pt x="150213" y="267325"/>
                  </a:lnTo>
                  <a:lnTo>
                    <a:pt x="172776" y="226633"/>
                  </a:lnTo>
                  <a:lnTo>
                    <a:pt x="200639" y="189705"/>
                  </a:lnTo>
                  <a:lnTo>
                    <a:pt x="233290" y="157053"/>
                  </a:lnTo>
                  <a:lnTo>
                    <a:pt x="270218" y="129190"/>
                  </a:lnTo>
                  <a:lnTo>
                    <a:pt x="310910" y="106628"/>
                  </a:lnTo>
                  <a:lnTo>
                    <a:pt x="354855" y="89878"/>
                  </a:lnTo>
                  <a:lnTo>
                    <a:pt x="401540" y="79452"/>
                  </a:lnTo>
                  <a:lnTo>
                    <a:pt x="450454" y="75863"/>
                  </a:lnTo>
                  <a:lnTo>
                    <a:pt x="1234799" y="75863"/>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739" name="Google Shape;739;p67"/>
          <p:cNvGrpSpPr/>
          <p:nvPr/>
        </p:nvGrpSpPr>
        <p:grpSpPr>
          <a:xfrm>
            <a:off x="2234600" y="3526925"/>
            <a:ext cx="397510" cy="193675"/>
            <a:chOff x="2234600" y="3526925"/>
            <a:chExt cx="397510" cy="193675"/>
          </a:xfrm>
        </p:grpSpPr>
        <p:sp>
          <p:nvSpPr>
            <p:cNvPr id="740" name="Google Shape;740;p67"/>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41" name="Google Shape;741;p67"/>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42" name="Google Shape;742;p67"/>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43" name="Google Shape;743;p67"/>
          <p:cNvSpPr txBox="1"/>
          <p:nvPr/>
        </p:nvSpPr>
        <p:spPr>
          <a:xfrm>
            <a:off x="3040316" y="2868560"/>
            <a:ext cx="8154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49%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44" name="Google Shape;744;p67"/>
          <p:cNvSpPr txBox="1"/>
          <p:nvPr/>
        </p:nvSpPr>
        <p:spPr>
          <a:xfrm>
            <a:off x="2998229" y="3056774"/>
            <a:ext cx="990000" cy="1585800"/>
          </a:xfrm>
          <a:prstGeom prst="rect">
            <a:avLst/>
          </a:prstGeom>
          <a:noFill/>
          <a:ln>
            <a:noFill/>
          </a:ln>
        </p:spPr>
        <p:txBody>
          <a:bodyPr spcFirstLastPara="1" wrap="square" lIns="0" tIns="12700" rIns="0" bIns="0" anchor="t" anchorCtr="0">
            <a:spAutoFit/>
          </a:bodyPr>
          <a:lstStyle/>
          <a:p>
            <a:pPr marL="254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12%</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grey: 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45" name="Google Shape;745;p67"/>
          <p:cNvSpPr txBox="1"/>
          <p:nvPr/>
        </p:nvSpPr>
        <p:spPr>
          <a:xfrm>
            <a:off x="8795783" y="4776451"/>
            <a:ext cx="152400" cy="155700"/>
          </a:xfrm>
          <a:prstGeom prst="rect">
            <a:avLst/>
          </a:prstGeom>
          <a:noFill/>
          <a:ln>
            <a:noFill/>
          </a:ln>
        </p:spPr>
        <p:txBody>
          <a:bodyPr spcFirstLastPara="1" wrap="square" lIns="0" tIns="19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46</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46" name="Google Shape;746;p67"/>
          <p:cNvSpPr txBox="1"/>
          <p:nvPr/>
        </p:nvSpPr>
        <p:spPr>
          <a:xfrm>
            <a:off x="73025" y="4870881"/>
            <a:ext cx="13296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zh-CN" altLang="en-US" sz="11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100" b="0" i="0" u="none" strike="noStrike" kern="0" cap="none" spc="0" normalizeH="0" baseline="0" noProof="0">
                <a:ln>
                  <a:noFill/>
                </a:ln>
                <a:solidFill>
                  <a:srgbClr val="000000"/>
                </a:solidFill>
                <a:effectLst/>
                <a:uLnTx/>
                <a:uFillTx/>
                <a:latin typeface="Georgia"/>
                <a:ea typeface="Georgia"/>
                <a:cs typeface="Georgia"/>
                <a:sym typeface="Georgia"/>
              </a:rPr>
              <a:t>according to the LM</a:t>
            </a:r>
            <a:endParaRPr kumimoji="0" sz="1100" b="0" i="0" u="none" strike="noStrike" kern="0" cap="none" spc="0" normalizeH="0" baseline="0" noProof="0">
              <a:ln>
                <a:noFill/>
              </a:ln>
              <a:solidFill>
                <a:srgbClr val="000000"/>
              </a:solidFill>
              <a:effectLst/>
              <a:uLnTx/>
              <a:uFillTx/>
              <a:latin typeface="Georgia"/>
              <a:ea typeface="Georgia"/>
              <a:cs typeface="Georgia"/>
              <a:sym typeface="Georgia"/>
            </a:endParaRPr>
          </a:p>
        </p:txBody>
      </p:sp>
      <p:sp>
        <p:nvSpPr>
          <p:cNvPr id="747" name="Google Shape;747;p67"/>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748" name="Google Shape;748;p67"/>
          <p:cNvGrpSpPr/>
          <p:nvPr/>
        </p:nvGrpSpPr>
        <p:grpSpPr>
          <a:xfrm>
            <a:off x="3440823" y="2671622"/>
            <a:ext cx="604793" cy="1778693"/>
            <a:chOff x="3482499" y="2671716"/>
            <a:chExt cx="604793" cy="1778693"/>
          </a:xfrm>
        </p:grpSpPr>
        <p:sp>
          <p:nvSpPr>
            <p:cNvPr id="749" name="Google Shape;749;p67"/>
            <p:cNvSpPr/>
            <p:nvPr/>
          </p:nvSpPr>
          <p:spPr>
            <a:xfrm>
              <a:off x="3492932" y="2671716"/>
              <a:ext cx="594360" cy="1756410"/>
            </a:xfrm>
            <a:custGeom>
              <a:avLst/>
              <a:gdLst/>
              <a:ahLst/>
              <a:cxnLst/>
              <a:rect l="l" t="t" r="r" b="b"/>
              <a:pathLst>
                <a:path w="594360" h="1756410" extrusionOk="0">
                  <a:moveTo>
                    <a:pt x="495247" y="1755899"/>
                  </a:moveTo>
                  <a:lnTo>
                    <a:pt x="99051" y="1755899"/>
                  </a:lnTo>
                  <a:lnTo>
                    <a:pt x="60496" y="1748115"/>
                  </a:lnTo>
                  <a:lnTo>
                    <a:pt x="29011" y="1726888"/>
                  </a:lnTo>
                  <a:lnTo>
                    <a:pt x="7784" y="1695403"/>
                  </a:lnTo>
                  <a:lnTo>
                    <a:pt x="0" y="1656847"/>
                  </a:lnTo>
                  <a:lnTo>
                    <a:pt x="0" y="99051"/>
                  </a:lnTo>
                  <a:lnTo>
                    <a:pt x="7784" y="60496"/>
                  </a:lnTo>
                  <a:lnTo>
                    <a:pt x="29011" y="29011"/>
                  </a:lnTo>
                  <a:lnTo>
                    <a:pt x="60496" y="7783"/>
                  </a:lnTo>
                  <a:lnTo>
                    <a:pt x="99051" y="0"/>
                  </a:lnTo>
                  <a:lnTo>
                    <a:pt x="495247" y="0"/>
                  </a:lnTo>
                  <a:lnTo>
                    <a:pt x="533153" y="7539"/>
                  </a:lnTo>
                  <a:lnTo>
                    <a:pt x="565288" y="29011"/>
                  </a:lnTo>
                  <a:lnTo>
                    <a:pt x="586760" y="61146"/>
                  </a:lnTo>
                  <a:lnTo>
                    <a:pt x="594299" y="99051"/>
                  </a:lnTo>
                  <a:lnTo>
                    <a:pt x="594299" y="1656847"/>
                  </a:lnTo>
                  <a:lnTo>
                    <a:pt x="586515" y="1695403"/>
                  </a:lnTo>
                  <a:lnTo>
                    <a:pt x="565288" y="1726888"/>
                  </a:lnTo>
                  <a:lnTo>
                    <a:pt x="533803" y="1748115"/>
                  </a:lnTo>
                  <a:lnTo>
                    <a:pt x="495247" y="17558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50" name="Google Shape;750;p67"/>
            <p:cNvSpPr/>
            <p:nvPr/>
          </p:nvSpPr>
          <p:spPr>
            <a:xfrm>
              <a:off x="3482499" y="2693999"/>
              <a:ext cx="594360" cy="1756410"/>
            </a:xfrm>
            <a:custGeom>
              <a:avLst/>
              <a:gdLst/>
              <a:ahLst/>
              <a:cxnLst/>
              <a:rect l="l" t="t" r="r" b="b"/>
              <a:pathLst>
                <a:path w="594360" h="1756410" extrusionOk="0">
                  <a:moveTo>
                    <a:pt x="0" y="99051"/>
                  </a:moveTo>
                  <a:lnTo>
                    <a:pt x="7784" y="60496"/>
                  </a:lnTo>
                  <a:lnTo>
                    <a:pt x="29011" y="29011"/>
                  </a:lnTo>
                  <a:lnTo>
                    <a:pt x="60496" y="7783"/>
                  </a:lnTo>
                  <a:lnTo>
                    <a:pt x="99051" y="0"/>
                  </a:lnTo>
                  <a:lnTo>
                    <a:pt x="495247" y="0"/>
                  </a:lnTo>
                  <a:lnTo>
                    <a:pt x="533153" y="7539"/>
                  </a:lnTo>
                  <a:lnTo>
                    <a:pt x="565288" y="29011"/>
                  </a:lnTo>
                  <a:lnTo>
                    <a:pt x="586760" y="61146"/>
                  </a:lnTo>
                  <a:lnTo>
                    <a:pt x="594299" y="99051"/>
                  </a:lnTo>
                  <a:lnTo>
                    <a:pt x="594299" y="1656847"/>
                  </a:lnTo>
                  <a:lnTo>
                    <a:pt x="586515" y="1695403"/>
                  </a:lnTo>
                  <a:lnTo>
                    <a:pt x="565288" y="1726888"/>
                  </a:lnTo>
                  <a:lnTo>
                    <a:pt x="533803" y="1748115"/>
                  </a:lnTo>
                  <a:lnTo>
                    <a:pt x="495247" y="1755899"/>
                  </a:lnTo>
                  <a:lnTo>
                    <a:pt x="99051" y="1755899"/>
                  </a:lnTo>
                  <a:lnTo>
                    <a:pt x="60496" y="1748115"/>
                  </a:lnTo>
                  <a:lnTo>
                    <a:pt x="29011" y="1726888"/>
                  </a:lnTo>
                  <a:lnTo>
                    <a:pt x="7784" y="1695403"/>
                  </a:lnTo>
                  <a:lnTo>
                    <a:pt x="0" y="1656847"/>
                  </a:lnTo>
                  <a:lnTo>
                    <a:pt x="0" y="99051"/>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68"/>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56" name="Google Shape;756;p68"/>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57" name="Google Shape;757;p68"/>
          <p:cNvSpPr txBox="1"/>
          <p:nvPr/>
        </p:nvSpPr>
        <p:spPr>
          <a:xfrm>
            <a:off x="3090986" y="2680346"/>
            <a:ext cx="9798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58" name="Google Shape;758;p68"/>
          <p:cNvSpPr/>
          <p:nvPr/>
        </p:nvSpPr>
        <p:spPr>
          <a:xfrm>
            <a:off x="5163075" y="2660250"/>
            <a:ext cx="114300" cy="1823720"/>
          </a:xfrm>
          <a:custGeom>
            <a:avLst/>
            <a:gdLst/>
            <a:ahLst/>
            <a:cxnLst/>
            <a:rect l="l" t="t" r="r" b="b"/>
            <a:pathLst>
              <a:path w="114300"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759" name="Google Shape;759;p68"/>
          <p:cNvGrpSpPr/>
          <p:nvPr/>
        </p:nvGrpSpPr>
        <p:grpSpPr>
          <a:xfrm>
            <a:off x="5732572" y="2660250"/>
            <a:ext cx="595403" cy="1823720"/>
            <a:chOff x="5732572" y="2660250"/>
            <a:chExt cx="595403" cy="1823720"/>
          </a:xfrm>
        </p:grpSpPr>
        <p:sp>
          <p:nvSpPr>
            <p:cNvPr id="760" name="Google Shape;760;p68"/>
            <p:cNvSpPr/>
            <p:nvPr/>
          </p:nvSpPr>
          <p:spPr>
            <a:xfrm>
              <a:off x="5732572" y="2660250"/>
              <a:ext cx="114300" cy="1823720"/>
            </a:xfrm>
            <a:custGeom>
              <a:avLst/>
              <a:gdLst/>
              <a:ahLst/>
              <a:cxnLst/>
              <a:rect l="l" t="t" r="r" b="b"/>
              <a:pathLst>
                <a:path w="114300" h="1823720" extrusionOk="0">
                  <a:moveTo>
                    <a:pt x="0" y="0"/>
                  </a:moveTo>
                  <a:lnTo>
                    <a:pt x="22325" y="2208"/>
                  </a:lnTo>
                  <a:lnTo>
                    <a:pt x="43588" y="8670"/>
                  </a:lnTo>
                  <a:lnTo>
                    <a:pt x="80541" y="33361"/>
                  </a:lnTo>
                  <a:lnTo>
                    <a:pt x="105232" y="70313"/>
                  </a:lnTo>
                  <a:lnTo>
                    <a:pt x="113902" y="113902"/>
                  </a:lnTo>
                  <a:lnTo>
                    <a:pt x="113902" y="1709497"/>
                  </a:lnTo>
                  <a:lnTo>
                    <a:pt x="104951" y="1753833"/>
                  </a:lnTo>
                  <a:lnTo>
                    <a:pt x="80541" y="1790038"/>
                  </a:lnTo>
                  <a:lnTo>
                    <a:pt x="44336" y="1814448"/>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1" name="Google Shape;761;p68"/>
            <p:cNvSpPr/>
            <p:nvPr/>
          </p:nvSpPr>
          <p:spPr>
            <a:xfrm>
              <a:off x="5778700" y="2766300"/>
              <a:ext cx="549275" cy="99060"/>
            </a:xfrm>
            <a:custGeom>
              <a:avLst/>
              <a:gdLst/>
              <a:ahLst/>
              <a:cxnLst/>
              <a:rect l="l" t="t" r="r" b="b"/>
              <a:pathLst>
                <a:path w="549275" h="99060" extrusionOk="0">
                  <a:moveTo>
                    <a:pt x="49499" y="98999"/>
                  </a:moveTo>
                  <a:lnTo>
                    <a:pt x="0" y="49499"/>
                  </a:lnTo>
                  <a:lnTo>
                    <a:pt x="49499" y="0"/>
                  </a:lnTo>
                  <a:lnTo>
                    <a:pt x="49499" y="24749"/>
                  </a:lnTo>
                  <a:lnTo>
                    <a:pt x="548699" y="24749"/>
                  </a:lnTo>
                  <a:lnTo>
                    <a:pt x="548699" y="74249"/>
                  </a:lnTo>
                  <a:lnTo>
                    <a:pt x="49499" y="74249"/>
                  </a:lnTo>
                  <a:lnTo>
                    <a:pt x="49499" y="98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2" name="Google Shape;762;p68"/>
            <p:cNvSpPr/>
            <p:nvPr/>
          </p:nvSpPr>
          <p:spPr>
            <a:xfrm>
              <a:off x="5778700" y="2766300"/>
              <a:ext cx="549275" cy="99060"/>
            </a:xfrm>
            <a:custGeom>
              <a:avLst/>
              <a:gdLst/>
              <a:ahLst/>
              <a:cxnLst/>
              <a:rect l="l" t="t" r="r" b="b"/>
              <a:pathLst>
                <a:path w="549275" h="99060" extrusionOk="0">
                  <a:moveTo>
                    <a:pt x="548699" y="74249"/>
                  </a:moveTo>
                  <a:lnTo>
                    <a:pt x="49499" y="74249"/>
                  </a:lnTo>
                  <a:lnTo>
                    <a:pt x="49499" y="98999"/>
                  </a:lnTo>
                  <a:lnTo>
                    <a:pt x="0" y="49499"/>
                  </a:lnTo>
                  <a:lnTo>
                    <a:pt x="49499" y="0"/>
                  </a:lnTo>
                  <a:lnTo>
                    <a:pt x="49499" y="24749"/>
                  </a:lnTo>
                  <a:lnTo>
                    <a:pt x="548699" y="24749"/>
                  </a:lnTo>
                  <a:lnTo>
                    <a:pt x="548699" y="74249"/>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3" name="Google Shape;763;p68"/>
            <p:cNvSpPr/>
            <p:nvPr/>
          </p:nvSpPr>
          <p:spPr>
            <a:xfrm>
              <a:off x="5778700" y="4282300"/>
              <a:ext cx="549275" cy="99060"/>
            </a:xfrm>
            <a:custGeom>
              <a:avLst/>
              <a:gdLst/>
              <a:ahLst/>
              <a:cxnLst/>
              <a:rect l="l" t="t" r="r" b="b"/>
              <a:pathLst>
                <a:path w="549275" h="99060" extrusionOk="0">
                  <a:moveTo>
                    <a:pt x="49499" y="98999"/>
                  </a:moveTo>
                  <a:lnTo>
                    <a:pt x="0" y="49499"/>
                  </a:lnTo>
                  <a:lnTo>
                    <a:pt x="49499" y="0"/>
                  </a:lnTo>
                  <a:lnTo>
                    <a:pt x="49499" y="24749"/>
                  </a:lnTo>
                  <a:lnTo>
                    <a:pt x="548699" y="24749"/>
                  </a:lnTo>
                  <a:lnTo>
                    <a:pt x="548699" y="74249"/>
                  </a:lnTo>
                  <a:lnTo>
                    <a:pt x="49499" y="74249"/>
                  </a:lnTo>
                  <a:lnTo>
                    <a:pt x="49499" y="98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4" name="Google Shape;764;p68"/>
            <p:cNvSpPr/>
            <p:nvPr/>
          </p:nvSpPr>
          <p:spPr>
            <a:xfrm>
              <a:off x="5778700" y="4282300"/>
              <a:ext cx="549275" cy="99060"/>
            </a:xfrm>
            <a:custGeom>
              <a:avLst/>
              <a:gdLst/>
              <a:ahLst/>
              <a:cxnLst/>
              <a:rect l="l" t="t" r="r" b="b"/>
              <a:pathLst>
                <a:path w="549275" h="99060" extrusionOk="0">
                  <a:moveTo>
                    <a:pt x="548699" y="74249"/>
                  </a:moveTo>
                  <a:lnTo>
                    <a:pt x="49499" y="74249"/>
                  </a:lnTo>
                  <a:lnTo>
                    <a:pt x="49499" y="98999"/>
                  </a:lnTo>
                  <a:lnTo>
                    <a:pt x="0" y="49499"/>
                  </a:lnTo>
                  <a:lnTo>
                    <a:pt x="49499" y="0"/>
                  </a:lnTo>
                  <a:lnTo>
                    <a:pt x="49499" y="24749"/>
                  </a:lnTo>
                  <a:lnTo>
                    <a:pt x="548699" y="24749"/>
                  </a:lnTo>
                  <a:lnTo>
                    <a:pt x="548699" y="74249"/>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65" name="Google Shape;765;p68"/>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766" name="Google Shape;766;p68"/>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7" name="Google Shape;767;p68"/>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68" name="Google Shape;768;p68"/>
          <p:cNvSpPr txBox="1">
            <a:spLocks noGrp="1"/>
          </p:cNvSpPr>
          <p:nvPr>
            <p:ph type="body" idx="1"/>
          </p:nvPr>
        </p:nvSpPr>
        <p:spPr>
          <a:xfrm>
            <a:off x="743748" y="1180605"/>
            <a:ext cx="7657500" cy="12084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p:txBody>
      </p:sp>
      <p:sp>
        <p:nvSpPr>
          <p:cNvPr id="769" name="Google Shape;769;p68"/>
          <p:cNvSpPr txBox="1"/>
          <p:nvPr/>
        </p:nvSpPr>
        <p:spPr>
          <a:xfrm>
            <a:off x="5335434" y="2707575"/>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770" name="Google Shape;770;p68"/>
          <p:cNvSpPr txBox="1"/>
          <p:nvPr/>
        </p:nvSpPr>
        <p:spPr>
          <a:xfrm>
            <a:off x="5301690" y="2868560"/>
            <a:ext cx="406500" cy="1821300"/>
          </a:xfrm>
          <a:prstGeom prst="rect">
            <a:avLst/>
          </a:prstGeom>
          <a:noFill/>
          <a:ln>
            <a:noFill/>
          </a:ln>
        </p:spPr>
        <p:txBody>
          <a:bodyPr spcFirstLastPara="1" wrap="square" lIns="0" tIns="27300" rIns="0" bIns="0" anchor="t" anchorCtr="0">
            <a:spAutoFit/>
          </a:bodyPr>
          <a:lstStyle/>
          <a:p>
            <a:pPr marL="42545" marR="34925" lvl="0" indent="-633"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grey</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8461"/>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6830" marR="5080" lvl="0" indent="-2476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pear  Bob</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71" name="Google Shape;771;p68"/>
          <p:cNvSpPr txBox="1"/>
          <p:nvPr/>
        </p:nvSpPr>
        <p:spPr>
          <a:xfrm>
            <a:off x="6413664" y="2683332"/>
            <a:ext cx="815400" cy="1938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50"/>
              <a:buFont typeface="Arial"/>
              <a:buNone/>
              <a:tabLst/>
              <a:defRPr/>
            </a:pPr>
            <a:r>
              <a:rPr kumimoji="0" lang="en-US" altLang="zh-CN" sz="1150" b="0" i="0" u="none" strike="noStrike" kern="0" cap="none" spc="0" normalizeH="0" baseline="0" noProof="0">
                <a:ln>
                  <a:noFill/>
                </a:ln>
                <a:solidFill>
                  <a:srgbClr val="000000"/>
                </a:solidFill>
                <a:effectLst/>
                <a:uLnTx/>
                <a:uFillTx/>
                <a:latin typeface="Georgia"/>
                <a:ea typeface="Georgia"/>
                <a:cs typeface="Georgia"/>
                <a:sym typeface="Georgia"/>
              </a:rPr>
              <a:t>most likely</a:t>
            </a:r>
            <a:r>
              <a:rPr kumimoji="0" lang="zh-CN" altLang="en-US" sz="11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11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772" name="Google Shape;772;p68"/>
          <p:cNvSpPr txBox="1"/>
          <p:nvPr/>
        </p:nvSpPr>
        <p:spPr>
          <a:xfrm>
            <a:off x="6423845" y="4218107"/>
            <a:ext cx="795000" cy="1938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50"/>
              <a:buFont typeface="Arial"/>
              <a:buNone/>
              <a:tabLst/>
              <a:defRPr/>
            </a:pPr>
            <a:r>
              <a:rPr kumimoji="0" lang="en-US" altLang="zh-CN" sz="1150" b="0" i="0" u="none" strike="noStrike" kern="0" cap="none" spc="0" normalizeH="0" baseline="0" noProof="0">
                <a:ln>
                  <a:noFill/>
                </a:ln>
                <a:solidFill>
                  <a:srgbClr val="000000"/>
                </a:solidFill>
                <a:effectLst/>
                <a:uLnTx/>
                <a:uFillTx/>
                <a:latin typeface="Georgia"/>
                <a:ea typeface="Georgia"/>
                <a:cs typeface="Georgia"/>
                <a:sym typeface="Georgia"/>
              </a:rPr>
              <a:t>least likely</a:t>
            </a:r>
            <a:r>
              <a:rPr kumimoji="0" lang="zh-CN" altLang="en-US" sz="11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11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773" name="Google Shape;773;p68"/>
          <p:cNvGrpSpPr/>
          <p:nvPr/>
        </p:nvGrpSpPr>
        <p:grpSpPr>
          <a:xfrm>
            <a:off x="596075" y="3315299"/>
            <a:ext cx="1397635" cy="628650"/>
            <a:chOff x="596075" y="3315299"/>
            <a:chExt cx="1397635" cy="628650"/>
          </a:xfrm>
        </p:grpSpPr>
        <p:sp>
          <p:nvSpPr>
            <p:cNvPr id="774" name="Google Shape;774;p68"/>
            <p:cNvSpPr/>
            <p:nvPr/>
          </p:nvSpPr>
          <p:spPr>
            <a:xfrm>
              <a:off x="596075" y="3315299"/>
              <a:ext cx="1397635" cy="628650"/>
            </a:xfrm>
            <a:custGeom>
              <a:avLst/>
              <a:gdLst/>
              <a:ahLst/>
              <a:cxnLst/>
              <a:rect l="l" t="t" r="r" b="b"/>
              <a:pathLst>
                <a:path w="1397635" h="628650" extrusionOk="0">
                  <a:moveTo>
                    <a:pt x="1292697" y="628199"/>
                  </a:moveTo>
                  <a:lnTo>
                    <a:pt x="104702" y="628199"/>
                  </a:lnTo>
                  <a:lnTo>
                    <a:pt x="63947" y="619972"/>
                  </a:lnTo>
                  <a:lnTo>
                    <a:pt x="30666" y="597533"/>
                  </a:lnTo>
                  <a:lnTo>
                    <a:pt x="8228" y="564252"/>
                  </a:lnTo>
                  <a:lnTo>
                    <a:pt x="0" y="523497"/>
                  </a:lnTo>
                  <a:lnTo>
                    <a:pt x="0" y="104701"/>
                  </a:ln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75" name="Google Shape;775;p68"/>
            <p:cNvSpPr/>
            <p:nvPr/>
          </p:nvSpPr>
          <p:spPr>
            <a:xfrm>
              <a:off x="596075" y="3315299"/>
              <a:ext cx="1397635" cy="628650"/>
            </a:xfrm>
            <a:custGeom>
              <a:avLst/>
              <a:gdLst/>
              <a:ahLst/>
              <a:cxnLst/>
              <a:rect l="l" t="t" r="r" b="b"/>
              <a:pathLst>
                <a:path w="1397635" h="628650" extrusionOk="0">
                  <a:moveTo>
                    <a:pt x="0" y="104701"/>
                  </a:move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lnTo>
                    <a:pt x="104702" y="628199"/>
                  </a:lnTo>
                  <a:lnTo>
                    <a:pt x="63947" y="619972"/>
                  </a:lnTo>
                  <a:lnTo>
                    <a:pt x="30666" y="597533"/>
                  </a:lnTo>
                  <a:lnTo>
                    <a:pt x="8228" y="564252"/>
                  </a:lnTo>
                  <a:lnTo>
                    <a:pt x="0" y="523497"/>
                  </a:lnTo>
                  <a:lnTo>
                    <a:pt x="0" y="10470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76" name="Google Shape;776;p68"/>
          <p:cNvSpPr txBox="1"/>
          <p:nvPr/>
        </p:nvSpPr>
        <p:spPr>
          <a:xfrm>
            <a:off x="897886" y="3400038"/>
            <a:ext cx="795000" cy="492600"/>
          </a:xfrm>
          <a:prstGeom prst="rect">
            <a:avLst/>
          </a:prstGeom>
          <a:noFill/>
          <a:ln>
            <a:noFill/>
          </a:ln>
        </p:spPr>
        <p:txBody>
          <a:bodyPr spcFirstLastPara="1" wrap="square" lIns="0" tIns="22850" rIns="0" bIns="0" anchor="t" anchorCtr="0">
            <a:spAutoFit/>
          </a:bodyPr>
          <a:lstStyle/>
          <a:p>
            <a:pPr marL="147955" marR="5080" lvl="0" indent="-135890"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777" name="Google Shape;777;p68"/>
          <p:cNvGrpSpPr/>
          <p:nvPr/>
        </p:nvGrpSpPr>
        <p:grpSpPr>
          <a:xfrm>
            <a:off x="1267174" y="2228525"/>
            <a:ext cx="1235075" cy="1009650"/>
            <a:chOff x="1267174" y="2228525"/>
            <a:chExt cx="1235075" cy="1009650"/>
          </a:xfrm>
        </p:grpSpPr>
        <p:sp>
          <p:nvSpPr>
            <p:cNvPr id="778" name="Google Shape;778;p68"/>
            <p:cNvSpPr/>
            <p:nvPr/>
          </p:nvSpPr>
          <p:spPr>
            <a:xfrm>
              <a:off x="1267174" y="2228525"/>
              <a:ext cx="1235075" cy="1009650"/>
            </a:xfrm>
            <a:custGeom>
              <a:avLst/>
              <a:gdLst/>
              <a:ahLst/>
              <a:cxnLst/>
              <a:rect l="l" t="t" r="r" b="b"/>
              <a:pathLst>
                <a:path w="1235075" h="1009650" extrusionOk="0">
                  <a:moveTo>
                    <a:pt x="119449" y="900897"/>
                  </a:moveTo>
                  <a:lnTo>
                    <a:pt x="43585" y="900897"/>
                  </a:lnTo>
                  <a:lnTo>
                    <a:pt x="43585" y="406868"/>
                  </a:lnTo>
                  <a:lnTo>
                    <a:pt x="46322" y="359419"/>
                  </a:lnTo>
                  <a:lnTo>
                    <a:pt x="54330" y="313577"/>
                  </a:lnTo>
                  <a:lnTo>
                    <a:pt x="67305" y="269648"/>
                  </a:lnTo>
                  <a:lnTo>
                    <a:pt x="84939" y="227938"/>
                  </a:lnTo>
                  <a:lnTo>
                    <a:pt x="106929" y="188751"/>
                  </a:lnTo>
                  <a:lnTo>
                    <a:pt x="132969" y="152393"/>
                  </a:lnTo>
                  <a:lnTo>
                    <a:pt x="162754" y="119169"/>
                  </a:lnTo>
                  <a:lnTo>
                    <a:pt x="195978" y="89384"/>
                  </a:lnTo>
                  <a:lnTo>
                    <a:pt x="232336" y="63344"/>
                  </a:lnTo>
                  <a:lnTo>
                    <a:pt x="271523" y="41354"/>
                  </a:lnTo>
                  <a:lnTo>
                    <a:pt x="313233" y="23719"/>
                  </a:lnTo>
                  <a:lnTo>
                    <a:pt x="357162" y="10745"/>
                  </a:lnTo>
                  <a:lnTo>
                    <a:pt x="403004" y="2737"/>
                  </a:lnTo>
                  <a:lnTo>
                    <a:pt x="450454" y="0"/>
                  </a:lnTo>
                  <a:lnTo>
                    <a:pt x="1234799" y="0"/>
                  </a:lnTo>
                  <a:lnTo>
                    <a:pt x="1234799" y="75863"/>
                  </a:lnTo>
                  <a:lnTo>
                    <a:pt x="450454" y="75863"/>
                  </a:lnTo>
                  <a:lnTo>
                    <a:pt x="401540" y="79452"/>
                  </a:lnTo>
                  <a:lnTo>
                    <a:pt x="354855" y="89878"/>
                  </a:lnTo>
                  <a:lnTo>
                    <a:pt x="310910" y="106628"/>
                  </a:lnTo>
                  <a:lnTo>
                    <a:pt x="270218" y="129190"/>
                  </a:lnTo>
                  <a:lnTo>
                    <a:pt x="233290" y="157053"/>
                  </a:lnTo>
                  <a:lnTo>
                    <a:pt x="200639" y="189705"/>
                  </a:lnTo>
                  <a:lnTo>
                    <a:pt x="172776" y="226633"/>
                  </a:lnTo>
                  <a:lnTo>
                    <a:pt x="150213" y="267325"/>
                  </a:lnTo>
                  <a:lnTo>
                    <a:pt x="133463" y="311270"/>
                  </a:lnTo>
                  <a:lnTo>
                    <a:pt x="123038" y="357955"/>
                  </a:lnTo>
                  <a:lnTo>
                    <a:pt x="119449" y="406868"/>
                  </a:lnTo>
                  <a:lnTo>
                    <a:pt x="119449" y="900897"/>
                  </a:lnTo>
                  <a:close/>
                </a:path>
                <a:path w="1235075" h="1009650" extrusionOk="0">
                  <a:moveTo>
                    <a:pt x="81517" y="1009499"/>
                  </a:moveTo>
                  <a:lnTo>
                    <a:pt x="0" y="900897"/>
                  </a:lnTo>
                  <a:lnTo>
                    <a:pt x="163034" y="900897"/>
                  </a:lnTo>
                  <a:lnTo>
                    <a:pt x="81517" y="10094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79" name="Google Shape;779;p68"/>
            <p:cNvSpPr/>
            <p:nvPr/>
          </p:nvSpPr>
          <p:spPr>
            <a:xfrm>
              <a:off x="1267174" y="2228525"/>
              <a:ext cx="1235075" cy="1009650"/>
            </a:xfrm>
            <a:custGeom>
              <a:avLst/>
              <a:gdLst/>
              <a:ahLst/>
              <a:cxnLst/>
              <a:rect l="l" t="t" r="r" b="b"/>
              <a:pathLst>
                <a:path w="1235075" h="1009650" extrusionOk="0">
                  <a:moveTo>
                    <a:pt x="1234799" y="0"/>
                  </a:moveTo>
                  <a:lnTo>
                    <a:pt x="450454" y="0"/>
                  </a:lnTo>
                  <a:lnTo>
                    <a:pt x="403004" y="2737"/>
                  </a:lnTo>
                  <a:lnTo>
                    <a:pt x="357162" y="10745"/>
                  </a:lnTo>
                  <a:lnTo>
                    <a:pt x="313233" y="23719"/>
                  </a:lnTo>
                  <a:lnTo>
                    <a:pt x="271523" y="41354"/>
                  </a:lnTo>
                  <a:lnTo>
                    <a:pt x="232336" y="63344"/>
                  </a:lnTo>
                  <a:lnTo>
                    <a:pt x="195978" y="89384"/>
                  </a:lnTo>
                  <a:lnTo>
                    <a:pt x="162754" y="119169"/>
                  </a:lnTo>
                  <a:lnTo>
                    <a:pt x="132969" y="152393"/>
                  </a:lnTo>
                  <a:lnTo>
                    <a:pt x="106929" y="188751"/>
                  </a:lnTo>
                  <a:lnTo>
                    <a:pt x="84939" y="227938"/>
                  </a:lnTo>
                  <a:lnTo>
                    <a:pt x="67305" y="269648"/>
                  </a:lnTo>
                  <a:lnTo>
                    <a:pt x="54330" y="313577"/>
                  </a:lnTo>
                  <a:lnTo>
                    <a:pt x="46322" y="359419"/>
                  </a:lnTo>
                  <a:lnTo>
                    <a:pt x="43585" y="406868"/>
                  </a:lnTo>
                  <a:lnTo>
                    <a:pt x="43585" y="900897"/>
                  </a:lnTo>
                  <a:lnTo>
                    <a:pt x="0" y="900897"/>
                  </a:lnTo>
                  <a:lnTo>
                    <a:pt x="81517" y="1009499"/>
                  </a:lnTo>
                  <a:lnTo>
                    <a:pt x="163034" y="900897"/>
                  </a:lnTo>
                  <a:lnTo>
                    <a:pt x="119449" y="900897"/>
                  </a:lnTo>
                  <a:lnTo>
                    <a:pt x="119449" y="406868"/>
                  </a:lnTo>
                  <a:lnTo>
                    <a:pt x="123038" y="357955"/>
                  </a:lnTo>
                  <a:lnTo>
                    <a:pt x="133463" y="311270"/>
                  </a:lnTo>
                  <a:lnTo>
                    <a:pt x="150213" y="267325"/>
                  </a:lnTo>
                  <a:lnTo>
                    <a:pt x="172776" y="226633"/>
                  </a:lnTo>
                  <a:lnTo>
                    <a:pt x="200639" y="189705"/>
                  </a:lnTo>
                  <a:lnTo>
                    <a:pt x="233290" y="157053"/>
                  </a:lnTo>
                  <a:lnTo>
                    <a:pt x="270218" y="129190"/>
                  </a:lnTo>
                  <a:lnTo>
                    <a:pt x="310910" y="106628"/>
                  </a:lnTo>
                  <a:lnTo>
                    <a:pt x="354855" y="89878"/>
                  </a:lnTo>
                  <a:lnTo>
                    <a:pt x="401540" y="79452"/>
                  </a:lnTo>
                  <a:lnTo>
                    <a:pt x="450454" y="75863"/>
                  </a:lnTo>
                  <a:lnTo>
                    <a:pt x="1234799" y="75863"/>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780" name="Google Shape;780;p68"/>
          <p:cNvGrpSpPr/>
          <p:nvPr/>
        </p:nvGrpSpPr>
        <p:grpSpPr>
          <a:xfrm>
            <a:off x="2234600" y="3526925"/>
            <a:ext cx="397510" cy="193675"/>
            <a:chOff x="2234600" y="3526925"/>
            <a:chExt cx="397510" cy="193675"/>
          </a:xfrm>
        </p:grpSpPr>
        <p:sp>
          <p:nvSpPr>
            <p:cNvPr id="781" name="Google Shape;781;p68"/>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82" name="Google Shape;782;p68"/>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83" name="Google Shape;783;p68"/>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84" name="Google Shape;784;p68"/>
          <p:cNvSpPr txBox="1"/>
          <p:nvPr/>
        </p:nvSpPr>
        <p:spPr>
          <a:xfrm>
            <a:off x="3040316" y="2868560"/>
            <a:ext cx="8154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49%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85" name="Google Shape;785;p68"/>
          <p:cNvSpPr txBox="1"/>
          <p:nvPr/>
        </p:nvSpPr>
        <p:spPr>
          <a:xfrm>
            <a:off x="2998229" y="3056774"/>
            <a:ext cx="990000" cy="1585800"/>
          </a:xfrm>
          <a:prstGeom prst="rect">
            <a:avLst/>
          </a:prstGeom>
          <a:noFill/>
          <a:ln>
            <a:noFill/>
          </a:ln>
        </p:spPr>
        <p:txBody>
          <a:bodyPr spcFirstLastPara="1" wrap="square" lIns="0" tIns="12700" rIns="0" bIns="0" anchor="t" anchorCtr="0">
            <a:spAutoFit/>
          </a:bodyPr>
          <a:lstStyle/>
          <a:p>
            <a:pPr marL="254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12%</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grey: 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786" name="Google Shape;786;p68"/>
          <p:cNvGrpSpPr/>
          <p:nvPr/>
        </p:nvGrpSpPr>
        <p:grpSpPr>
          <a:xfrm>
            <a:off x="4467550" y="3526925"/>
            <a:ext cx="397510" cy="193675"/>
            <a:chOff x="4467550" y="3526925"/>
            <a:chExt cx="397510" cy="193675"/>
          </a:xfrm>
        </p:grpSpPr>
        <p:sp>
          <p:nvSpPr>
            <p:cNvPr id="787" name="Google Shape;787;p68"/>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88" name="Google Shape;788;p68"/>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789" name="Google Shape;789;p68"/>
          <p:cNvSpPr txBox="1"/>
          <p:nvPr/>
        </p:nvSpPr>
        <p:spPr>
          <a:xfrm>
            <a:off x="2705800" y="4663880"/>
            <a:ext cx="1479000" cy="4155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790" name="Google Shape;790;p68"/>
          <p:cNvSpPr txBox="1"/>
          <p:nvPr/>
        </p:nvSpPr>
        <p:spPr>
          <a:xfrm>
            <a:off x="5135556" y="4656630"/>
            <a:ext cx="739200" cy="2079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791" name="Google Shape;791;p68"/>
          <p:cNvSpPr txBox="1"/>
          <p:nvPr/>
        </p:nvSpPr>
        <p:spPr>
          <a:xfrm>
            <a:off x="8795783" y="4776451"/>
            <a:ext cx="152400" cy="155700"/>
          </a:xfrm>
          <a:prstGeom prst="rect">
            <a:avLst/>
          </a:prstGeom>
          <a:noFill/>
          <a:ln>
            <a:noFill/>
          </a:ln>
        </p:spPr>
        <p:txBody>
          <a:bodyPr spcFirstLastPara="1" wrap="square" lIns="0" tIns="19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46</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792" name="Google Shape;792;p68"/>
          <p:cNvSpPr txBox="1"/>
          <p:nvPr/>
        </p:nvSpPr>
        <p:spPr>
          <a:xfrm>
            <a:off x="73025" y="4870881"/>
            <a:ext cx="13296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zh-CN" altLang="en-US" sz="11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100" b="0" i="0" u="none" strike="noStrike" kern="0" cap="none" spc="0" normalizeH="0" baseline="0" noProof="0">
                <a:ln>
                  <a:noFill/>
                </a:ln>
                <a:solidFill>
                  <a:srgbClr val="000000"/>
                </a:solidFill>
                <a:effectLst/>
                <a:uLnTx/>
                <a:uFillTx/>
                <a:latin typeface="Georgia"/>
                <a:ea typeface="Georgia"/>
                <a:cs typeface="Georgia"/>
                <a:sym typeface="Georgia"/>
              </a:rPr>
              <a:t>according to the LM</a:t>
            </a:r>
            <a:endParaRPr kumimoji="0" sz="1100" b="0" i="0" u="none" strike="noStrike" kern="0" cap="none" spc="0" normalizeH="0" baseline="0" noProof="0">
              <a:ln>
                <a:noFill/>
              </a:ln>
              <a:solidFill>
                <a:srgbClr val="000000"/>
              </a:solidFill>
              <a:effectLst/>
              <a:uLnTx/>
              <a:uFillTx/>
              <a:latin typeface="Georgia"/>
              <a:ea typeface="Georgia"/>
              <a:cs typeface="Georgia"/>
              <a:sym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796"/>
        <p:cNvGrpSpPr/>
        <p:nvPr/>
      </p:nvGrpSpPr>
      <p:grpSpPr>
        <a:xfrm>
          <a:off x="0" y="0"/>
          <a:ext cx="0" cy="0"/>
          <a:chOff x="0" y="0"/>
          <a:chExt cx="0" cy="0"/>
        </a:xfrm>
      </p:grpSpPr>
      <p:sp>
        <p:nvSpPr>
          <p:cNvPr id="797" name="Google Shape;797;p69"/>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98" name="Google Shape;798;p69"/>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99" name="Google Shape;799;p69"/>
          <p:cNvSpPr txBox="1"/>
          <p:nvPr/>
        </p:nvSpPr>
        <p:spPr>
          <a:xfrm>
            <a:off x="3090986" y="2680346"/>
            <a:ext cx="9798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00" name="Google Shape;800;p69"/>
          <p:cNvSpPr/>
          <p:nvPr/>
        </p:nvSpPr>
        <p:spPr>
          <a:xfrm>
            <a:off x="5163075" y="2660250"/>
            <a:ext cx="114300" cy="1823720"/>
          </a:xfrm>
          <a:custGeom>
            <a:avLst/>
            <a:gdLst/>
            <a:ahLst/>
            <a:cxnLst/>
            <a:rect l="l" t="t" r="r" b="b"/>
            <a:pathLst>
              <a:path w="114300"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01" name="Google Shape;801;p69"/>
          <p:cNvSpPr/>
          <p:nvPr/>
        </p:nvSpPr>
        <p:spPr>
          <a:xfrm>
            <a:off x="5732572" y="2660250"/>
            <a:ext cx="114300" cy="1823720"/>
          </a:xfrm>
          <a:custGeom>
            <a:avLst/>
            <a:gdLst/>
            <a:ahLst/>
            <a:cxnLst/>
            <a:rect l="l" t="t" r="r" b="b"/>
            <a:pathLst>
              <a:path w="114300" h="1823720" extrusionOk="0">
                <a:moveTo>
                  <a:pt x="0" y="0"/>
                </a:moveTo>
                <a:lnTo>
                  <a:pt x="22325" y="2208"/>
                </a:lnTo>
                <a:lnTo>
                  <a:pt x="43588" y="8670"/>
                </a:lnTo>
                <a:lnTo>
                  <a:pt x="80541" y="33361"/>
                </a:lnTo>
                <a:lnTo>
                  <a:pt x="105232" y="70313"/>
                </a:lnTo>
                <a:lnTo>
                  <a:pt x="113902" y="113902"/>
                </a:lnTo>
                <a:lnTo>
                  <a:pt x="113902" y="1709497"/>
                </a:lnTo>
                <a:lnTo>
                  <a:pt x="104951" y="1753833"/>
                </a:lnTo>
                <a:lnTo>
                  <a:pt x="80541" y="1790038"/>
                </a:lnTo>
                <a:lnTo>
                  <a:pt x="44336" y="1814448"/>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02" name="Google Shape;802;p69"/>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803" name="Google Shape;803;p69"/>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47</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04" name="Google Shape;804;p69"/>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05" name="Google Shape;805;p69"/>
          <p:cNvSpPr txBox="1"/>
          <p:nvPr/>
        </p:nvSpPr>
        <p:spPr>
          <a:xfrm>
            <a:off x="743748" y="1180605"/>
            <a:ext cx="7657500" cy="568800"/>
          </a:xfrm>
          <a:prstGeom prst="rect">
            <a:avLst/>
          </a:prstGeom>
          <a:noFill/>
          <a:ln>
            <a:noFill/>
          </a:ln>
        </p:spPr>
        <p:txBody>
          <a:bodyPr spcFirstLastPara="1" wrap="square" lIns="0" tIns="12700" rIns="0" bIns="0" anchor="t" anchorCtr="0">
            <a:spAutoFit/>
          </a:bodyPr>
          <a:lstStyle/>
          <a:p>
            <a:pPr marL="63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06" name="Google Shape;806;p69"/>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07" name="Google Shape;807;p69"/>
          <p:cNvSpPr txBox="1"/>
          <p:nvPr/>
        </p:nvSpPr>
        <p:spPr>
          <a:xfrm>
            <a:off x="2735070" y="2118698"/>
            <a:ext cx="2850000" cy="474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zh-CN" altLang="en-US" sz="15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500" b="1" i="0" u="none" strike="noStrike" kern="0" cap="none" spc="0" normalizeH="0" baseline="0" noProof="0">
                <a:ln>
                  <a:noFill/>
                </a:ln>
                <a:solidFill>
                  <a:srgbClr val="000000"/>
                </a:solidFill>
                <a:effectLst/>
                <a:uLnTx/>
                <a:uFillTx/>
                <a:latin typeface="Cambria"/>
                <a:ea typeface="Cambria"/>
                <a:cs typeface="Cambria"/>
                <a:sym typeface="Cambria"/>
              </a:rPr>
              <a:t>The color of the sky is [MASK].”</a:t>
            </a:r>
            <a:endParaRPr kumimoji="0" sz="15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08" name="Google Shape;808;p69"/>
          <p:cNvSpPr txBox="1"/>
          <p:nvPr/>
        </p:nvSpPr>
        <p:spPr>
          <a:xfrm>
            <a:off x="5335434" y="2707575"/>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09" name="Google Shape;809;p69"/>
          <p:cNvSpPr txBox="1"/>
          <p:nvPr/>
        </p:nvSpPr>
        <p:spPr>
          <a:xfrm>
            <a:off x="5301690" y="2868560"/>
            <a:ext cx="406500" cy="1821300"/>
          </a:xfrm>
          <a:prstGeom prst="rect">
            <a:avLst/>
          </a:prstGeom>
          <a:noFill/>
          <a:ln>
            <a:noFill/>
          </a:ln>
        </p:spPr>
        <p:txBody>
          <a:bodyPr spcFirstLastPara="1" wrap="square" lIns="0" tIns="27300" rIns="0" bIns="0" anchor="t" anchorCtr="0">
            <a:spAutoFit/>
          </a:bodyPr>
          <a:lstStyle/>
          <a:p>
            <a:pPr marL="42545" marR="34925" lvl="0" indent="-633"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grey</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8461"/>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6830" marR="5080" lvl="0" indent="-2476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pear  Bob</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10" name="Google Shape;810;p69"/>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811" name="Google Shape;811;p69"/>
          <p:cNvGrpSpPr/>
          <p:nvPr/>
        </p:nvGrpSpPr>
        <p:grpSpPr>
          <a:xfrm>
            <a:off x="596075" y="3315299"/>
            <a:ext cx="1397635" cy="628650"/>
            <a:chOff x="596075" y="3315299"/>
            <a:chExt cx="1397635" cy="628650"/>
          </a:xfrm>
        </p:grpSpPr>
        <p:sp>
          <p:nvSpPr>
            <p:cNvPr id="812" name="Google Shape;812;p69"/>
            <p:cNvSpPr/>
            <p:nvPr/>
          </p:nvSpPr>
          <p:spPr>
            <a:xfrm>
              <a:off x="596075" y="3315299"/>
              <a:ext cx="1397635" cy="628650"/>
            </a:xfrm>
            <a:custGeom>
              <a:avLst/>
              <a:gdLst/>
              <a:ahLst/>
              <a:cxnLst/>
              <a:rect l="l" t="t" r="r" b="b"/>
              <a:pathLst>
                <a:path w="1397635" h="628650" extrusionOk="0">
                  <a:moveTo>
                    <a:pt x="1292697" y="628199"/>
                  </a:moveTo>
                  <a:lnTo>
                    <a:pt x="104702" y="628199"/>
                  </a:lnTo>
                  <a:lnTo>
                    <a:pt x="63947" y="619972"/>
                  </a:lnTo>
                  <a:lnTo>
                    <a:pt x="30666" y="597533"/>
                  </a:lnTo>
                  <a:lnTo>
                    <a:pt x="8228" y="564252"/>
                  </a:lnTo>
                  <a:lnTo>
                    <a:pt x="0" y="523497"/>
                  </a:lnTo>
                  <a:lnTo>
                    <a:pt x="0" y="104701"/>
                  </a:ln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13" name="Google Shape;813;p69"/>
            <p:cNvSpPr/>
            <p:nvPr/>
          </p:nvSpPr>
          <p:spPr>
            <a:xfrm>
              <a:off x="596075" y="3315299"/>
              <a:ext cx="1397635" cy="628650"/>
            </a:xfrm>
            <a:custGeom>
              <a:avLst/>
              <a:gdLst/>
              <a:ahLst/>
              <a:cxnLst/>
              <a:rect l="l" t="t" r="r" b="b"/>
              <a:pathLst>
                <a:path w="1397635" h="628650" extrusionOk="0">
                  <a:moveTo>
                    <a:pt x="0" y="104701"/>
                  </a:moveTo>
                  <a:lnTo>
                    <a:pt x="8228" y="63947"/>
                  </a:lnTo>
                  <a:lnTo>
                    <a:pt x="30666" y="30666"/>
                  </a:lnTo>
                  <a:lnTo>
                    <a:pt x="63947" y="8227"/>
                  </a:lnTo>
                  <a:lnTo>
                    <a:pt x="104702" y="0"/>
                  </a:lnTo>
                  <a:lnTo>
                    <a:pt x="1292697" y="0"/>
                  </a:lnTo>
                  <a:lnTo>
                    <a:pt x="1332765" y="7970"/>
                  </a:lnTo>
                  <a:lnTo>
                    <a:pt x="1366733" y="30666"/>
                  </a:lnTo>
                  <a:lnTo>
                    <a:pt x="1389430" y="64634"/>
                  </a:lnTo>
                  <a:lnTo>
                    <a:pt x="1397399" y="104701"/>
                  </a:lnTo>
                  <a:lnTo>
                    <a:pt x="1397399" y="523497"/>
                  </a:lnTo>
                  <a:lnTo>
                    <a:pt x="1389171" y="564252"/>
                  </a:lnTo>
                  <a:lnTo>
                    <a:pt x="1366733" y="597533"/>
                  </a:lnTo>
                  <a:lnTo>
                    <a:pt x="1333452" y="619972"/>
                  </a:lnTo>
                  <a:lnTo>
                    <a:pt x="1292697" y="628199"/>
                  </a:lnTo>
                  <a:lnTo>
                    <a:pt x="104702" y="628199"/>
                  </a:lnTo>
                  <a:lnTo>
                    <a:pt x="63947" y="619972"/>
                  </a:lnTo>
                  <a:lnTo>
                    <a:pt x="30666" y="597533"/>
                  </a:lnTo>
                  <a:lnTo>
                    <a:pt x="8228" y="564252"/>
                  </a:lnTo>
                  <a:lnTo>
                    <a:pt x="0" y="523497"/>
                  </a:lnTo>
                  <a:lnTo>
                    <a:pt x="0" y="10470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14" name="Google Shape;814;p69"/>
          <p:cNvSpPr txBox="1"/>
          <p:nvPr/>
        </p:nvSpPr>
        <p:spPr>
          <a:xfrm>
            <a:off x="897886" y="3400038"/>
            <a:ext cx="795000" cy="492600"/>
          </a:xfrm>
          <a:prstGeom prst="rect">
            <a:avLst/>
          </a:prstGeom>
          <a:noFill/>
          <a:ln>
            <a:noFill/>
          </a:ln>
        </p:spPr>
        <p:txBody>
          <a:bodyPr spcFirstLastPara="1" wrap="square" lIns="0" tIns="22850" rIns="0" bIns="0" anchor="t" anchorCtr="0">
            <a:spAutoFit/>
          </a:bodyPr>
          <a:lstStyle/>
          <a:p>
            <a:pPr marL="147955" marR="5080" lvl="0" indent="-135890"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815" name="Google Shape;815;p69"/>
          <p:cNvGrpSpPr/>
          <p:nvPr/>
        </p:nvGrpSpPr>
        <p:grpSpPr>
          <a:xfrm>
            <a:off x="1267174" y="2228525"/>
            <a:ext cx="1235075" cy="1009650"/>
            <a:chOff x="1267174" y="2228525"/>
            <a:chExt cx="1235075" cy="1009650"/>
          </a:xfrm>
        </p:grpSpPr>
        <p:sp>
          <p:nvSpPr>
            <p:cNvPr id="816" name="Google Shape;816;p69"/>
            <p:cNvSpPr/>
            <p:nvPr/>
          </p:nvSpPr>
          <p:spPr>
            <a:xfrm>
              <a:off x="1267174" y="2228525"/>
              <a:ext cx="1235075" cy="1009650"/>
            </a:xfrm>
            <a:custGeom>
              <a:avLst/>
              <a:gdLst/>
              <a:ahLst/>
              <a:cxnLst/>
              <a:rect l="l" t="t" r="r" b="b"/>
              <a:pathLst>
                <a:path w="1235075" h="1009650" extrusionOk="0">
                  <a:moveTo>
                    <a:pt x="119449" y="900897"/>
                  </a:moveTo>
                  <a:lnTo>
                    <a:pt x="43585" y="900897"/>
                  </a:lnTo>
                  <a:lnTo>
                    <a:pt x="43585" y="406868"/>
                  </a:lnTo>
                  <a:lnTo>
                    <a:pt x="46322" y="359419"/>
                  </a:lnTo>
                  <a:lnTo>
                    <a:pt x="54330" y="313577"/>
                  </a:lnTo>
                  <a:lnTo>
                    <a:pt x="67305" y="269648"/>
                  </a:lnTo>
                  <a:lnTo>
                    <a:pt x="84939" y="227938"/>
                  </a:lnTo>
                  <a:lnTo>
                    <a:pt x="106929" y="188751"/>
                  </a:lnTo>
                  <a:lnTo>
                    <a:pt x="132969" y="152393"/>
                  </a:lnTo>
                  <a:lnTo>
                    <a:pt x="162754" y="119169"/>
                  </a:lnTo>
                  <a:lnTo>
                    <a:pt x="195978" y="89384"/>
                  </a:lnTo>
                  <a:lnTo>
                    <a:pt x="232336" y="63344"/>
                  </a:lnTo>
                  <a:lnTo>
                    <a:pt x="271523" y="41354"/>
                  </a:lnTo>
                  <a:lnTo>
                    <a:pt x="313233" y="23719"/>
                  </a:lnTo>
                  <a:lnTo>
                    <a:pt x="357162" y="10745"/>
                  </a:lnTo>
                  <a:lnTo>
                    <a:pt x="403004" y="2737"/>
                  </a:lnTo>
                  <a:lnTo>
                    <a:pt x="450454" y="0"/>
                  </a:lnTo>
                  <a:lnTo>
                    <a:pt x="1234799" y="0"/>
                  </a:lnTo>
                  <a:lnTo>
                    <a:pt x="1234799" y="75863"/>
                  </a:lnTo>
                  <a:lnTo>
                    <a:pt x="450454" y="75863"/>
                  </a:lnTo>
                  <a:lnTo>
                    <a:pt x="401540" y="79452"/>
                  </a:lnTo>
                  <a:lnTo>
                    <a:pt x="354855" y="89878"/>
                  </a:lnTo>
                  <a:lnTo>
                    <a:pt x="310910" y="106628"/>
                  </a:lnTo>
                  <a:lnTo>
                    <a:pt x="270218" y="129190"/>
                  </a:lnTo>
                  <a:lnTo>
                    <a:pt x="233290" y="157053"/>
                  </a:lnTo>
                  <a:lnTo>
                    <a:pt x="200639" y="189705"/>
                  </a:lnTo>
                  <a:lnTo>
                    <a:pt x="172776" y="226633"/>
                  </a:lnTo>
                  <a:lnTo>
                    <a:pt x="150213" y="267325"/>
                  </a:lnTo>
                  <a:lnTo>
                    <a:pt x="133463" y="311270"/>
                  </a:lnTo>
                  <a:lnTo>
                    <a:pt x="123038" y="357955"/>
                  </a:lnTo>
                  <a:lnTo>
                    <a:pt x="119449" y="406868"/>
                  </a:lnTo>
                  <a:lnTo>
                    <a:pt x="119449" y="900897"/>
                  </a:lnTo>
                  <a:close/>
                </a:path>
                <a:path w="1235075" h="1009650" extrusionOk="0">
                  <a:moveTo>
                    <a:pt x="81517" y="1009499"/>
                  </a:moveTo>
                  <a:lnTo>
                    <a:pt x="0" y="900897"/>
                  </a:lnTo>
                  <a:lnTo>
                    <a:pt x="163034" y="900897"/>
                  </a:lnTo>
                  <a:lnTo>
                    <a:pt x="81517" y="10094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17" name="Google Shape;817;p69"/>
            <p:cNvSpPr/>
            <p:nvPr/>
          </p:nvSpPr>
          <p:spPr>
            <a:xfrm>
              <a:off x="1267174" y="2228525"/>
              <a:ext cx="1235075" cy="1009650"/>
            </a:xfrm>
            <a:custGeom>
              <a:avLst/>
              <a:gdLst/>
              <a:ahLst/>
              <a:cxnLst/>
              <a:rect l="l" t="t" r="r" b="b"/>
              <a:pathLst>
                <a:path w="1235075" h="1009650" extrusionOk="0">
                  <a:moveTo>
                    <a:pt x="1234799" y="0"/>
                  </a:moveTo>
                  <a:lnTo>
                    <a:pt x="450454" y="0"/>
                  </a:lnTo>
                  <a:lnTo>
                    <a:pt x="403004" y="2737"/>
                  </a:lnTo>
                  <a:lnTo>
                    <a:pt x="357162" y="10745"/>
                  </a:lnTo>
                  <a:lnTo>
                    <a:pt x="313233" y="23719"/>
                  </a:lnTo>
                  <a:lnTo>
                    <a:pt x="271523" y="41354"/>
                  </a:lnTo>
                  <a:lnTo>
                    <a:pt x="232336" y="63344"/>
                  </a:lnTo>
                  <a:lnTo>
                    <a:pt x="195978" y="89384"/>
                  </a:lnTo>
                  <a:lnTo>
                    <a:pt x="162754" y="119169"/>
                  </a:lnTo>
                  <a:lnTo>
                    <a:pt x="132969" y="152393"/>
                  </a:lnTo>
                  <a:lnTo>
                    <a:pt x="106929" y="188751"/>
                  </a:lnTo>
                  <a:lnTo>
                    <a:pt x="84939" y="227938"/>
                  </a:lnTo>
                  <a:lnTo>
                    <a:pt x="67305" y="269648"/>
                  </a:lnTo>
                  <a:lnTo>
                    <a:pt x="54330" y="313577"/>
                  </a:lnTo>
                  <a:lnTo>
                    <a:pt x="46322" y="359419"/>
                  </a:lnTo>
                  <a:lnTo>
                    <a:pt x="43585" y="406868"/>
                  </a:lnTo>
                  <a:lnTo>
                    <a:pt x="43585" y="900897"/>
                  </a:lnTo>
                  <a:lnTo>
                    <a:pt x="0" y="900897"/>
                  </a:lnTo>
                  <a:lnTo>
                    <a:pt x="81517" y="1009499"/>
                  </a:lnTo>
                  <a:lnTo>
                    <a:pt x="163034" y="900897"/>
                  </a:lnTo>
                  <a:lnTo>
                    <a:pt x="119449" y="900897"/>
                  </a:lnTo>
                  <a:lnTo>
                    <a:pt x="119449" y="406868"/>
                  </a:lnTo>
                  <a:lnTo>
                    <a:pt x="123038" y="357955"/>
                  </a:lnTo>
                  <a:lnTo>
                    <a:pt x="133463" y="311270"/>
                  </a:lnTo>
                  <a:lnTo>
                    <a:pt x="150213" y="267325"/>
                  </a:lnTo>
                  <a:lnTo>
                    <a:pt x="172776" y="226633"/>
                  </a:lnTo>
                  <a:lnTo>
                    <a:pt x="200639" y="189705"/>
                  </a:lnTo>
                  <a:lnTo>
                    <a:pt x="233290" y="157053"/>
                  </a:lnTo>
                  <a:lnTo>
                    <a:pt x="270218" y="129190"/>
                  </a:lnTo>
                  <a:lnTo>
                    <a:pt x="310910" y="106628"/>
                  </a:lnTo>
                  <a:lnTo>
                    <a:pt x="354855" y="89878"/>
                  </a:lnTo>
                  <a:lnTo>
                    <a:pt x="401540" y="79452"/>
                  </a:lnTo>
                  <a:lnTo>
                    <a:pt x="450454" y="75863"/>
                  </a:lnTo>
                  <a:lnTo>
                    <a:pt x="1234799" y="75863"/>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818" name="Google Shape;818;p69"/>
          <p:cNvGrpSpPr/>
          <p:nvPr/>
        </p:nvGrpSpPr>
        <p:grpSpPr>
          <a:xfrm>
            <a:off x="2234600" y="3526925"/>
            <a:ext cx="397510" cy="193675"/>
            <a:chOff x="2234600" y="3526925"/>
            <a:chExt cx="397510" cy="193675"/>
          </a:xfrm>
        </p:grpSpPr>
        <p:sp>
          <p:nvSpPr>
            <p:cNvPr id="819" name="Google Shape;819;p69"/>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20" name="Google Shape;820;p69"/>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21" name="Google Shape;821;p69"/>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22" name="Google Shape;822;p69"/>
          <p:cNvSpPr txBox="1"/>
          <p:nvPr/>
        </p:nvSpPr>
        <p:spPr>
          <a:xfrm>
            <a:off x="3040316" y="2868560"/>
            <a:ext cx="8154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49%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23" name="Google Shape;823;p69"/>
          <p:cNvSpPr txBox="1"/>
          <p:nvPr/>
        </p:nvSpPr>
        <p:spPr>
          <a:xfrm>
            <a:off x="2998229" y="3056774"/>
            <a:ext cx="990000" cy="1585800"/>
          </a:xfrm>
          <a:prstGeom prst="rect">
            <a:avLst/>
          </a:prstGeom>
          <a:noFill/>
          <a:ln>
            <a:noFill/>
          </a:ln>
        </p:spPr>
        <p:txBody>
          <a:bodyPr spcFirstLastPara="1" wrap="square" lIns="0" tIns="12700" rIns="0" bIns="0" anchor="t" anchorCtr="0">
            <a:spAutoFit/>
          </a:bodyPr>
          <a:lstStyle/>
          <a:p>
            <a:pPr marL="254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12%</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grey: 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27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0.09%</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824" name="Google Shape;824;p69"/>
          <p:cNvGrpSpPr/>
          <p:nvPr/>
        </p:nvGrpSpPr>
        <p:grpSpPr>
          <a:xfrm>
            <a:off x="4467550" y="3526925"/>
            <a:ext cx="397510" cy="193675"/>
            <a:chOff x="4467550" y="3526925"/>
            <a:chExt cx="397510" cy="193675"/>
          </a:xfrm>
        </p:grpSpPr>
        <p:sp>
          <p:nvSpPr>
            <p:cNvPr id="825" name="Google Shape;825;p69"/>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26" name="Google Shape;826;p69"/>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27" name="Google Shape;827;p69"/>
          <p:cNvSpPr txBox="1"/>
          <p:nvPr/>
        </p:nvSpPr>
        <p:spPr>
          <a:xfrm>
            <a:off x="5135556" y="4642415"/>
            <a:ext cx="739200" cy="2226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28" name="Google Shape;828;p69"/>
          <p:cNvSpPr/>
          <p:nvPr/>
        </p:nvSpPr>
        <p:spPr>
          <a:xfrm>
            <a:off x="6896856" y="2157300"/>
            <a:ext cx="360045" cy="208280"/>
          </a:xfrm>
          <a:custGeom>
            <a:avLst/>
            <a:gdLst/>
            <a:ahLst/>
            <a:cxnLst/>
            <a:rect l="l" t="t" r="r" b="b"/>
            <a:pathLst>
              <a:path w="360045" h="208280" extrusionOk="0">
                <a:moveTo>
                  <a:pt x="359808" y="208025"/>
                </a:moveTo>
                <a:lnTo>
                  <a:pt x="0" y="208025"/>
                </a:lnTo>
                <a:lnTo>
                  <a:pt x="0" y="0"/>
                </a:lnTo>
                <a:lnTo>
                  <a:pt x="359808" y="0"/>
                </a:lnTo>
                <a:lnTo>
                  <a:pt x="359808" y="208025"/>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29" name="Google Shape;829;p69"/>
          <p:cNvSpPr txBox="1"/>
          <p:nvPr/>
        </p:nvSpPr>
        <p:spPr>
          <a:xfrm>
            <a:off x="6884156" y="2137666"/>
            <a:ext cx="15621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P@k: precision at k</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30" name="Google Shape;830;p69"/>
          <p:cNvSpPr txBox="1"/>
          <p:nvPr/>
        </p:nvSpPr>
        <p:spPr>
          <a:xfrm>
            <a:off x="6953361" y="2639846"/>
            <a:ext cx="1438200" cy="613200"/>
          </a:xfrm>
          <a:prstGeom prst="rect">
            <a:avLst/>
          </a:prstGeom>
          <a:noFill/>
          <a:ln>
            <a:noFill/>
          </a:ln>
        </p:spPr>
        <p:txBody>
          <a:bodyPr spcFirstLastPara="1" wrap="square" lIns="0" tIns="12700" rIns="0" bIns="0" anchor="t" anchorCtr="0">
            <a:spAutoFit/>
          </a:bodyPr>
          <a:lstStyle/>
          <a:p>
            <a:pPr marL="12700" marR="508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zh-CN" altLang="en-US"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Does ground truth  exist in the top k  ranks?”</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834"/>
        <p:cNvGrpSpPr/>
        <p:nvPr/>
      </p:nvGrpSpPr>
      <p:grpSpPr>
        <a:xfrm>
          <a:off x="0" y="0"/>
          <a:ext cx="0" cy="0"/>
          <a:chOff x="0" y="0"/>
          <a:chExt cx="0" cy="0"/>
        </a:xfrm>
      </p:grpSpPr>
      <p:sp>
        <p:nvSpPr>
          <p:cNvPr id="835" name="Google Shape;835;p70"/>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836" name="Google Shape;836;p70"/>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48</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37" name="Google Shape;837;p70"/>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38" name="Google Shape;838;p70"/>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39" name="Google Shape;839;p70"/>
          <p:cNvSpPr txBox="1">
            <a:spLocks noGrp="1"/>
          </p:cNvSpPr>
          <p:nvPr>
            <p:ph type="body" idx="1"/>
          </p:nvPr>
        </p:nvSpPr>
        <p:spPr>
          <a:xfrm>
            <a:off x="743748" y="1180605"/>
            <a:ext cx="7657500" cy="12084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p:txBody>
      </p:sp>
      <p:grpSp>
        <p:nvGrpSpPr>
          <p:cNvPr id="840" name="Google Shape;840;p70"/>
          <p:cNvGrpSpPr/>
          <p:nvPr/>
        </p:nvGrpSpPr>
        <p:grpSpPr>
          <a:xfrm>
            <a:off x="596075" y="3253800"/>
            <a:ext cx="1397635" cy="751839"/>
            <a:chOff x="596075" y="3253800"/>
            <a:chExt cx="1397635" cy="751839"/>
          </a:xfrm>
        </p:grpSpPr>
        <p:sp>
          <p:nvSpPr>
            <p:cNvPr id="841" name="Google Shape;841;p70"/>
            <p:cNvSpPr/>
            <p:nvPr/>
          </p:nvSpPr>
          <p:spPr>
            <a:xfrm>
              <a:off x="596075" y="3253800"/>
              <a:ext cx="1397635" cy="751839"/>
            </a:xfrm>
            <a:custGeom>
              <a:avLst/>
              <a:gdLst/>
              <a:ahLst/>
              <a:cxnLst/>
              <a:rect l="l" t="t" r="r" b="b"/>
              <a:pathLst>
                <a:path w="1397635" h="751839" extrusionOk="0">
                  <a:moveTo>
                    <a:pt x="1272147" y="751499"/>
                  </a:moveTo>
                  <a:lnTo>
                    <a:pt x="125252" y="751499"/>
                  </a:lnTo>
                  <a:lnTo>
                    <a:pt x="76498" y="741657"/>
                  </a:lnTo>
                  <a:lnTo>
                    <a:pt x="36685" y="714814"/>
                  </a:lnTo>
                  <a:lnTo>
                    <a:pt x="9842" y="675001"/>
                  </a:lnTo>
                  <a:lnTo>
                    <a:pt x="0" y="626247"/>
                  </a:lnTo>
                  <a:lnTo>
                    <a:pt x="0" y="125252"/>
                  </a:ln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42" name="Google Shape;842;p70"/>
            <p:cNvSpPr/>
            <p:nvPr/>
          </p:nvSpPr>
          <p:spPr>
            <a:xfrm>
              <a:off x="596075" y="3253800"/>
              <a:ext cx="1397635" cy="751839"/>
            </a:xfrm>
            <a:custGeom>
              <a:avLst/>
              <a:gdLst/>
              <a:ahLst/>
              <a:cxnLst/>
              <a:rect l="l" t="t" r="r" b="b"/>
              <a:pathLst>
                <a:path w="1397635" h="751839" extrusionOk="0">
                  <a:moveTo>
                    <a:pt x="0" y="125252"/>
                  </a:move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lnTo>
                    <a:pt x="125252" y="751499"/>
                  </a:lnTo>
                  <a:lnTo>
                    <a:pt x="76498" y="741657"/>
                  </a:lnTo>
                  <a:lnTo>
                    <a:pt x="36685" y="714814"/>
                  </a:lnTo>
                  <a:lnTo>
                    <a:pt x="9842" y="675001"/>
                  </a:lnTo>
                  <a:lnTo>
                    <a:pt x="0" y="626247"/>
                  </a:lnTo>
                  <a:lnTo>
                    <a:pt x="0" y="125252"/>
                  </a:lnTo>
                  <a:close/>
                </a:path>
              </a:pathLst>
            </a:custGeom>
            <a:noFill/>
            <a:ln w="28550"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43" name="Google Shape;843;p70"/>
          <p:cNvSpPr txBox="1"/>
          <p:nvPr/>
        </p:nvSpPr>
        <p:spPr>
          <a:xfrm>
            <a:off x="897887" y="3400188"/>
            <a:ext cx="795000" cy="492600"/>
          </a:xfrm>
          <a:prstGeom prst="rect">
            <a:avLst/>
          </a:prstGeom>
          <a:noFill/>
          <a:ln>
            <a:noFill/>
          </a:ln>
        </p:spPr>
        <p:txBody>
          <a:bodyPr spcFirstLastPara="1" wrap="square" lIns="0" tIns="22850" rIns="0" bIns="0" anchor="t" anchorCtr="0">
            <a:spAutoFit/>
          </a:bodyPr>
          <a:lstStyle/>
          <a:p>
            <a:pPr marL="36195" marR="5080" lvl="0" indent="-24128"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 #2</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844" name="Google Shape;844;p70"/>
          <p:cNvGrpSpPr/>
          <p:nvPr/>
        </p:nvGrpSpPr>
        <p:grpSpPr>
          <a:xfrm>
            <a:off x="1267174" y="2228525"/>
            <a:ext cx="1235075" cy="930275"/>
            <a:chOff x="1267174" y="2228525"/>
            <a:chExt cx="1235075" cy="930275"/>
          </a:xfrm>
        </p:grpSpPr>
        <p:sp>
          <p:nvSpPr>
            <p:cNvPr id="845" name="Google Shape;845;p70"/>
            <p:cNvSpPr/>
            <p:nvPr/>
          </p:nvSpPr>
          <p:spPr>
            <a:xfrm>
              <a:off x="1267174" y="2228525"/>
              <a:ext cx="1235075" cy="930275"/>
            </a:xfrm>
            <a:custGeom>
              <a:avLst/>
              <a:gdLst/>
              <a:ahLst/>
              <a:cxnLst/>
              <a:rect l="l" t="t" r="r" b="b"/>
              <a:pathLst>
                <a:path w="1235075" h="930275" extrusionOk="0">
                  <a:moveTo>
                    <a:pt x="110042" y="829950"/>
                  </a:moveTo>
                  <a:lnTo>
                    <a:pt x="40152" y="829950"/>
                  </a:lnTo>
                  <a:lnTo>
                    <a:pt x="40152" y="374827"/>
                  </a:lnTo>
                  <a:lnTo>
                    <a:pt x="43073" y="327809"/>
                  </a:lnTo>
                  <a:lnTo>
                    <a:pt x="51600" y="282534"/>
                  </a:lnTo>
                  <a:lnTo>
                    <a:pt x="65382" y="239354"/>
                  </a:lnTo>
                  <a:lnTo>
                    <a:pt x="84069" y="198618"/>
                  </a:lnTo>
                  <a:lnTo>
                    <a:pt x="107309" y="160680"/>
                  </a:lnTo>
                  <a:lnTo>
                    <a:pt x="134750" y="125889"/>
                  </a:lnTo>
                  <a:lnTo>
                    <a:pt x="166042" y="94597"/>
                  </a:lnTo>
                  <a:lnTo>
                    <a:pt x="200833" y="67156"/>
                  </a:lnTo>
                  <a:lnTo>
                    <a:pt x="238771" y="43916"/>
                  </a:lnTo>
                  <a:lnTo>
                    <a:pt x="279507" y="25230"/>
                  </a:lnTo>
                  <a:lnTo>
                    <a:pt x="322687" y="11447"/>
                  </a:lnTo>
                  <a:lnTo>
                    <a:pt x="367962" y="2920"/>
                  </a:lnTo>
                  <a:lnTo>
                    <a:pt x="414979" y="0"/>
                  </a:lnTo>
                  <a:lnTo>
                    <a:pt x="1234799" y="0"/>
                  </a:lnTo>
                  <a:lnTo>
                    <a:pt x="1234799" y="69889"/>
                  </a:lnTo>
                  <a:lnTo>
                    <a:pt x="414979" y="69889"/>
                  </a:lnTo>
                  <a:lnTo>
                    <a:pt x="365517" y="73880"/>
                  </a:lnTo>
                  <a:lnTo>
                    <a:pt x="318596" y="85435"/>
                  </a:lnTo>
                  <a:lnTo>
                    <a:pt x="274843" y="103926"/>
                  </a:lnTo>
                  <a:lnTo>
                    <a:pt x="234887" y="128724"/>
                  </a:lnTo>
                  <a:lnTo>
                    <a:pt x="199356" y="159203"/>
                  </a:lnTo>
                  <a:lnTo>
                    <a:pt x="168877" y="194734"/>
                  </a:lnTo>
                  <a:lnTo>
                    <a:pt x="144078" y="234690"/>
                  </a:lnTo>
                  <a:lnTo>
                    <a:pt x="125588" y="278443"/>
                  </a:lnTo>
                  <a:lnTo>
                    <a:pt x="114033" y="325364"/>
                  </a:lnTo>
                  <a:lnTo>
                    <a:pt x="110042" y="374827"/>
                  </a:lnTo>
                  <a:lnTo>
                    <a:pt x="110042" y="829950"/>
                  </a:lnTo>
                  <a:close/>
                </a:path>
                <a:path w="1235075" h="930275" extrusionOk="0">
                  <a:moveTo>
                    <a:pt x="75097" y="929999"/>
                  </a:moveTo>
                  <a:lnTo>
                    <a:pt x="0" y="829950"/>
                  </a:lnTo>
                  <a:lnTo>
                    <a:pt x="150194" y="829950"/>
                  </a:lnTo>
                  <a:lnTo>
                    <a:pt x="75097" y="929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46" name="Google Shape;846;p70"/>
            <p:cNvSpPr/>
            <p:nvPr/>
          </p:nvSpPr>
          <p:spPr>
            <a:xfrm>
              <a:off x="1267174" y="2228525"/>
              <a:ext cx="1235075" cy="930275"/>
            </a:xfrm>
            <a:custGeom>
              <a:avLst/>
              <a:gdLst/>
              <a:ahLst/>
              <a:cxnLst/>
              <a:rect l="l" t="t" r="r" b="b"/>
              <a:pathLst>
                <a:path w="1235075" h="930275" extrusionOk="0">
                  <a:moveTo>
                    <a:pt x="1234799" y="0"/>
                  </a:moveTo>
                  <a:lnTo>
                    <a:pt x="414979" y="0"/>
                  </a:lnTo>
                  <a:lnTo>
                    <a:pt x="367962" y="2920"/>
                  </a:lnTo>
                  <a:lnTo>
                    <a:pt x="322687" y="11447"/>
                  </a:lnTo>
                  <a:lnTo>
                    <a:pt x="279507" y="25230"/>
                  </a:lnTo>
                  <a:lnTo>
                    <a:pt x="238771" y="43916"/>
                  </a:lnTo>
                  <a:lnTo>
                    <a:pt x="200833" y="67156"/>
                  </a:lnTo>
                  <a:lnTo>
                    <a:pt x="166042" y="94597"/>
                  </a:lnTo>
                  <a:lnTo>
                    <a:pt x="134750" y="125889"/>
                  </a:lnTo>
                  <a:lnTo>
                    <a:pt x="107309" y="160680"/>
                  </a:lnTo>
                  <a:lnTo>
                    <a:pt x="84069" y="198618"/>
                  </a:lnTo>
                  <a:lnTo>
                    <a:pt x="65382" y="239354"/>
                  </a:lnTo>
                  <a:lnTo>
                    <a:pt x="51600" y="282534"/>
                  </a:lnTo>
                  <a:lnTo>
                    <a:pt x="43073" y="327809"/>
                  </a:lnTo>
                  <a:lnTo>
                    <a:pt x="40152" y="374827"/>
                  </a:lnTo>
                  <a:lnTo>
                    <a:pt x="40152" y="829950"/>
                  </a:lnTo>
                  <a:lnTo>
                    <a:pt x="0" y="829950"/>
                  </a:lnTo>
                  <a:lnTo>
                    <a:pt x="75097" y="929999"/>
                  </a:lnTo>
                  <a:lnTo>
                    <a:pt x="150194" y="829950"/>
                  </a:lnTo>
                  <a:lnTo>
                    <a:pt x="110042" y="829950"/>
                  </a:lnTo>
                  <a:lnTo>
                    <a:pt x="110042" y="374827"/>
                  </a:lnTo>
                  <a:lnTo>
                    <a:pt x="114033" y="325364"/>
                  </a:lnTo>
                  <a:lnTo>
                    <a:pt x="125588" y="278443"/>
                  </a:lnTo>
                  <a:lnTo>
                    <a:pt x="144078" y="234690"/>
                  </a:lnTo>
                  <a:lnTo>
                    <a:pt x="168877" y="194734"/>
                  </a:lnTo>
                  <a:lnTo>
                    <a:pt x="199356" y="159203"/>
                  </a:lnTo>
                  <a:lnTo>
                    <a:pt x="234887" y="128724"/>
                  </a:lnTo>
                  <a:lnTo>
                    <a:pt x="274843" y="103926"/>
                  </a:lnTo>
                  <a:lnTo>
                    <a:pt x="318596" y="85435"/>
                  </a:lnTo>
                  <a:lnTo>
                    <a:pt x="365517" y="73880"/>
                  </a:lnTo>
                  <a:lnTo>
                    <a:pt x="414979" y="69889"/>
                  </a:lnTo>
                  <a:lnTo>
                    <a:pt x="1234799" y="69889"/>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850"/>
        <p:cNvGrpSpPr/>
        <p:nvPr/>
      </p:nvGrpSpPr>
      <p:grpSpPr>
        <a:xfrm>
          <a:off x="0" y="0"/>
          <a:ext cx="0" cy="0"/>
          <a:chOff x="0" y="0"/>
          <a:chExt cx="0" cy="0"/>
        </a:xfrm>
      </p:grpSpPr>
      <p:sp>
        <p:nvSpPr>
          <p:cNvPr id="851" name="Google Shape;851;p71"/>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52" name="Google Shape;852;p71"/>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53" name="Google Shape;853;p71"/>
          <p:cNvSpPr txBox="1"/>
          <p:nvPr/>
        </p:nvSpPr>
        <p:spPr>
          <a:xfrm>
            <a:off x="3090986" y="2680346"/>
            <a:ext cx="8127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54" name="Google Shape;854;p71"/>
          <p:cNvSpPr/>
          <p:nvPr/>
        </p:nvSpPr>
        <p:spPr>
          <a:xfrm>
            <a:off x="5163075" y="2660250"/>
            <a:ext cx="114300" cy="1823720"/>
          </a:xfrm>
          <a:custGeom>
            <a:avLst/>
            <a:gdLst/>
            <a:ahLst/>
            <a:cxnLst/>
            <a:rect l="l" t="t" r="r" b="b"/>
            <a:pathLst>
              <a:path w="114300"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55" name="Google Shape;855;p71"/>
          <p:cNvSpPr/>
          <p:nvPr/>
        </p:nvSpPr>
        <p:spPr>
          <a:xfrm>
            <a:off x="5732572" y="2660250"/>
            <a:ext cx="114300" cy="1823720"/>
          </a:xfrm>
          <a:custGeom>
            <a:avLst/>
            <a:gdLst/>
            <a:ahLst/>
            <a:cxnLst/>
            <a:rect l="l" t="t" r="r" b="b"/>
            <a:pathLst>
              <a:path w="114300" h="1823720" extrusionOk="0">
                <a:moveTo>
                  <a:pt x="0" y="0"/>
                </a:moveTo>
                <a:lnTo>
                  <a:pt x="22325" y="2208"/>
                </a:lnTo>
                <a:lnTo>
                  <a:pt x="43588" y="8670"/>
                </a:lnTo>
                <a:lnTo>
                  <a:pt x="80541" y="33361"/>
                </a:lnTo>
                <a:lnTo>
                  <a:pt x="105232" y="70313"/>
                </a:lnTo>
                <a:lnTo>
                  <a:pt x="113902" y="113902"/>
                </a:lnTo>
                <a:lnTo>
                  <a:pt x="113902" y="1709497"/>
                </a:lnTo>
                <a:lnTo>
                  <a:pt x="104951" y="1753833"/>
                </a:lnTo>
                <a:lnTo>
                  <a:pt x="80541" y="1790038"/>
                </a:lnTo>
                <a:lnTo>
                  <a:pt x="44336" y="1814448"/>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56" name="Google Shape;856;p71"/>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857" name="Google Shape;857;p71"/>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49</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58" name="Google Shape;858;p71"/>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59" name="Google Shape;859;p71"/>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60" name="Google Shape;860;p71"/>
          <p:cNvSpPr txBox="1">
            <a:spLocks noGrp="1"/>
          </p:cNvSpPr>
          <p:nvPr>
            <p:ph type="body" idx="1"/>
          </p:nvPr>
        </p:nvSpPr>
        <p:spPr>
          <a:xfrm>
            <a:off x="743748" y="1180605"/>
            <a:ext cx="7657500" cy="1208400"/>
          </a:xfrm>
          <a:prstGeom prst="rect">
            <a:avLst/>
          </a:prstGeom>
          <a:noFill/>
          <a:ln>
            <a:noFill/>
          </a:ln>
        </p:spPr>
        <p:txBody>
          <a:bodyPr spcFirstLastPara="1" wrap="square" lIns="0" tIns="12700" rIns="0" bIns="0" anchor="t" anchorCtr="0">
            <a:spAutoFit/>
          </a:bodyPr>
          <a:lstStyle/>
          <a:p>
            <a:pPr marL="635" lvl="0" indent="0" algn="ctr" rtl="0">
              <a:lnSpc>
                <a:spcPct val="100000"/>
              </a:lnSpc>
              <a:spcBef>
                <a:spcPts val="0"/>
              </a:spcBef>
              <a:spcAft>
                <a:spcPts val="0"/>
              </a:spcAft>
              <a:buSzPts val="1400"/>
              <a:buNone/>
            </a:pPr>
            <a:r>
              <a:rPr lang="zh-CN"/>
              <a:t>Given a cloze statement that queries the model for a missing token,</a:t>
            </a:r>
            <a:endParaRPr/>
          </a:p>
          <a:p>
            <a:pPr marL="0" lvl="0" indent="0" algn="ctr" rtl="0">
              <a:lnSpc>
                <a:spcPct val="100000"/>
              </a:lnSpc>
              <a:spcBef>
                <a:spcPts val="15"/>
              </a:spcBef>
              <a:spcAft>
                <a:spcPts val="0"/>
              </a:spcAft>
              <a:buSzPts val="1400"/>
              <a:buNone/>
            </a:pPr>
            <a:r>
              <a:rPr lang="zh-CN" b="1">
                <a:latin typeface="Times New Roman"/>
                <a:ea typeface="Times New Roman"/>
                <a:cs typeface="Times New Roman"/>
                <a:sym typeface="Times New Roman"/>
              </a:rPr>
              <a:t>knowledgeable LMs rank ground truth tokens high </a:t>
            </a:r>
            <a:r>
              <a:rPr lang="zh-CN"/>
              <a:t>and other tokens lower</a:t>
            </a:r>
            <a:endParaRPr/>
          </a:p>
          <a:p>
            <a:pPr marL="0" lvl="0" indent="0" algn="l" rtl="0">
              <a:lnSpc>
                <a:spcPct val="100000"/>
              </a:lnSpc>
              <a:spcBef>
                <a:spcPts val="0"/>
              </a:spcBef>
              <a:spcAft>
                <a:spcPts val="0"/>
              </a:spcAft>
              <a:buSzPts val="1400"/>
              <a:buNone/>
            </a:pPr>
            <a:endParaRPr sz="2650"/>
          </a:p>
          <a:p>
            <a:pPr marL="2003425" lvl="0" indent="0" algn="l" rtl="0">
              <a:lnSpc>
                <a:spcPct val="100000"/>
              </a:lnSpc>
              <a:spcBef>
                <a:spcPts val="5"/>
              </a:spcBef>
              <a:spcAft>
                <a:spcPts val="0"/>
              </a:spcAft>
              <a:buSzPts val="1400"/>
              <a:buNone/>
            </a:pPr>
            <a:r>
              <a:rPr lang="zh-CN" sz="1500" b="1">
                <a:latin typeface="Cambria"/>
                <a:ea typeface="Cambria"/>
                <a:cs typeface="Cambria"/>
                <a:sym typeface="Cambria"/>
              </a:rPr>
              <a:t>“The color of the sky is [MASK].”</a:t>
            </a:r>
            <a:endParaRPr sz="1500">
              <a:latin typeface="Cambria"/>
              <a:ea typeface="Cambria"/>
              <a:cs typeface="Cambria"/>
              <a:sym typeface="Cambria"/>
            </a:endParaRPr>
          </a:p>
        </p:txBody>
      </p:sp>
      <p:sp>
        <p:nvSpPr>
          <p:cNvPr id="861" name="Google Shape;861;p71"/>
          <p:cNvSpPr txBox="1"/>
          <p:nvPr/>
        </p:nvSpPr>
        <p:spPr>
          <a:xfrm>
            <a:off x="5331729" y="2680346"/>
            <a:ext cx="346800" cy="455400"/>
          </a:xfrm>
          <a:prstGeom prst="rect">
            <a:avLst/>
          </a:prstGeom>
          <a:noFill/>
          <a:ln>
            <a:noFill/>
          </a:ln>
        </p:spPr>
        <p:txBody>
          <a:bodyPr spcFirstLastPara="1" wrap="square" lIns="0" tIns="27300" rIns="0" bIns="0" anchor="t" anchorCtr="0">
            <a:spAutoFit/>
          </a:bodyPr>
          <a:lstStyle/>
          <a:p>
            <a:pPr marL="49530" marR="5080" lvl="0" indent="-37465" algn="l"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a:t>
            </a:r>
            <a:r>
              <a:rPr kumimoji="0" lang="zh-CN" altLang="en-US"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62" name="Google Shape;862;p71"/>
          <p:cNvSpPr txBox="1"/>
          <p:nvPr/>
        </p:nvSpPr>
        <p:spPr>
          <a:xfrm>
            <a:off x="5335434" y="3084003"/>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63" name="Google Shape;863;p71"/>
          <p:cNvSpPr txBox="1"/>
          <p:nvPr/>
        </p:nvSpPr>
        <p:spPr>
          <a:xfrm>
            <a:off x="5301690" y="3244988"/>
            <a:ext cx="406500" cy="1367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4635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grass  pear</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64" name="Google Shape;864;p71"/>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865" name="Google Shape;865;p71"/>
          <p:cNvGrpSpPr/>
          <p:nvPr/>
        </p:nvGrpSpPr>
        <p:grpSpPr>
          <a:xfrm>
            <a:off x="596075" y="3253800"/>
            <a:ext cx="1397635" cy="751839"/>
            <a:chOff x="596075" y="3253800"/>
            <a:chExt cx="1397635" cy="751839"/>
          </a:xfrm>
        </p:grpSpPr>
        <p:sp>
          <p:nvSpPr>
            <p:cNvPr id="866" name="Google Shape;866;p71"/>
            <p:cNvSpPr/>
            <p:nvPr/>
          </p:nvSpPr>
          <p:spPr>
            <a:xfrm>
              <a:off x="596075" y="3253800"/>
              <a:ext cx="1397635" cy="751839"/>
            </a:xfrm>
            <a:custGeom>
              <a:avLst/>
              <a:gdLst/>
              <a:ahLst/>
              <a:cxnLst/>
              <a:rect l="l" t="t" r="r" b="b"/>
              <a:pathLst>
                <a:path w="1397635" h="751839" extrusionOk="0">
                  <a:moveTo>
                    <a:pt x="1272147" y="751499"/>
                  </a:moveTo>
                  <a:lnTo>
                    <a:pt x="125252" y="751499"/>
                  </a:lnTo>
                  <a:lnTo>
                    <a:pt x="76498" y="741657"/>
                  </a:lnTo>
                  <a:lnTo>
                    <a:pt x="36685" y="714814"/>
                  </a:lnTo>
                  <a:lnTo>
                    <a:pt x="9842" y="675001"/>
                  </a:lnTo>
                  <a:lnTo>
                    <a:pt x="0" y="626247"/>
                  </a:lnTo>
                  <a:lnTo>
                    <a:pt x="0" y="125252"/>
                  </a:ln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67" name="Google Shape;867;p71"/>
            <p:cNvSpPr/>
            <p:nvPr/>
          </p:nvSpPr>
          <p:spPr>
            <a:xfrm>
              <a:off x="596075" y="3253800"/>
              <a:ext cx="1397635" cy="751839"/>
            </a:xfrm>
            <a:custGeom>
              <a:avLst/>
              <a:gdLst/>
              <a:ahLst/>
              <a:cxnLst/>
              <a:rect l="l" t="t" r="r" b="b"/>
              <a:pathLst>
                <a:path w="1397635" h="751839" extrusionOk="0">
                  <a:moveTo>
                    <a:pt x="0" y="125252"/>
                  </a:move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lnTo>
                    <a:pt x="125252" y="751499"/>
                  </a:lnTo>
                  <a:lnTo>
                    <a:pt x="76498" y="741657"/>
                  </a:lnTo>
                  <a:lnTo>
                    <a:pt x="36685" y="714814"/>
                  </a:lnTo>
                  <a:lnTo>
                    <a:pt x="9842" y="675001"/>
                  </a:lnTo>
                  <a:lnTo>
                    <a:pt x="0" y="626247"/>
                  </a:lnTo>
                  <a:lnTo>
                    <a:pt x="0" y="125252"/>
                  </a:lnTo>
                  <a:close/>
                </a:path>
              </a:pathLst>
            </a:custGeom>
            <a:noFill/>
            <a:ln w="28550"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68" name="Google Shape;868;p71"/>
          <p:cNvSpPr txBox="1"/>
          <p:nvPr/>
        </p:nvSpPr>
        <p:spPr>
          <a:xfrm>
            <a:off x="897887" y="3400188"/>
            <a:ext cx="795000" cy="492600"/>
          </a:xfrm>
          <a:prstGeom prst="rect">
            <a:avLst/>
          </a:prstGeom>
          <a:noFill/>
          <a:ln>
            <a:noFill/>
          </a:ln>
        </p:spPr>
        <p:txBody>
          <a:bodyPr spcFirstLastPara="1" wrap="square" lIns="0" tIns="22850" rIns="0" bIns="0" anchor="t" anchorCtr="0">
            <a:spAutoFit/>
          </a:bodyPr>
          <a:lstStyle/>
          <a:p>
            <a:pPr marL="36195" marR="5080" lvl="0" indent="-24128"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 #2</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869" name="Google Shape;869;p71"/>
          <p:cNvGrpSpPr/>
          <p:nvPr/>
        </p:nvGrpSpPr>
        <p:grpSpPr>
          <a:xfrm>
            <a:off x="1267174" y="2228525"/>
            <a:ext cx="1235075" cy="930275"/>
            <a:chOff x="1267174" y="2228525"/>
            <a:chExt cx="1235075" cy="930275"/>
          </a:xfrm>
        </p:grpSpPr>
        <p:sp>
          <p:nvSpPr>
            <p:cNvPr id="870" name="Google Shape;870;p71"/>
            <p:cNvSpPr/>
            <p:nvPr/>
          </p:nvSpPr>
          <p:spPr>
            <a:xfrm>
              <a:off x="1267174" y="2228525"/>
              <a:ext cx="1235075" cy="930275"/>
            </a:xfrm>
            <a:custGeom>
              <a:avLst/>
              <a:gdLst/>
              <a:ahLst/>
              <a:cxnLst/>
              <a:rect l="l" t="t" r="r" b="b"/>
              <a:pathLst>
                <a:path w="1235075" h="930275" extrusionOk="0">
                  <a:moveTo>
                    <a:pt x="110042" y="829950"/>
                  </a:moveTo>
                  <a:lnTo>
                    <a:pt x="40152" y="829950"/>
                  </a:lnTo>
                  <a:lnTo>
                    <a:pt x="40152" y="374827"/>
                  </a:lnTo>
                  <a:lnTo>
                    <a:pt x="43073" y="327809"/>
                  </a:lnTo>
                  <a:lnTo>
                    <a:pt x="51600" y="282534"/>
                  </a:lnTo>
                  <a:lnTo>
                    <a:pt x="65382" y="239354"/>
                  </a:lnTo>
                  <a:lnTo>
                    <a:pt x="84069" y="198618"/>
                  </a:lnTo>
                  <a:lnTo>
                    <a:pt x="107309" y="160680"/>
                  </a:lnTo>
                  <a:lnTo>
                    <a:pt x="134750" y="125889"/>
                  </a:lnTo>
                  <a:lnTo>
                    <a:pt x="166042" y="94597"/>
                  </a:lnTo>
                  <a:lnTo>
                    <a:pt x="200833" y="67156"/>
                  </a:lnTo>
                  <a:lnTo>
                    <a:pt x="238771" y="43916"/>
                  </a:lnTo>
                  <a:lnTo>
                    <a:pt x="279507" y="25230"/>
                  </a:lnTo>
                  <a:lnTo>
                    <a:pt x="322687" y="11447"/>
                  </a:lnTo>
                  <a:lnTo>
                    <a:pt x="367962" y="2920"/>
                  </a:lnTo>
                  <a:lnTo>
                    <a:pt x="414979" y="0"/>
                  </a:lnTo>
                  <a:lnTo>
                    <a:pt x="1234799" y="0"/>
                  </a:lnTo>
                  <a:lnTo>
                    <a:pt x="1234799" y="69889"/>
                  </a:lnTo>
                  <a:lnTo>
                    <a:pt x="414979" y="69889"/>
                  </a:lnTo>
                  <a:lnTo>
                    <a:pt x="365517" y="73880"/>
                  </a:lnTo>
                  <a:lnTo>
                    <a:pt x="318596" y="85435"/>
                  </a:lnTo>
                  <a:lnTo>
                    <a:pt x="274843" y="103926"/>
                  </a:lnTo>
                  <a:lnTo>
                    <a:pt x="234887" y="128724"/>
                  </a:lnTo>
                  <a:lnTo>
                    <a:pt x="199356" y="159203"/>
                  </a:lnTo>
                  <a:lnTo>
                    <a:pt x="168877" y="194734"/>
                  </a:lnTo>
                  <a:lnTo>
                    <a:pt x="144078" y="234690"/>
                  </a:lnTo>
                  <a:lnTo>
                    <a:pt x="125588" y="278443"/>
                  </a:lnTo>
                  <a:lnTo>
                    <a:pt x="114033" y="325364"/>
                  </a:lnTo>
                  <a:lnTo>
                    <a:pt x="110042" y="374827"/>
                  </a:lnTo>
                  <a:lnTo>
                    <a:pt x="110042" y="829950"/>
                  </a:lnTo>
                  <a:close/>
                </a:path>
                <a:path w="1235075" h="930275" extrusionOk="0">
                  <a:moveTo>
                    <a:pt x="75097" y="929999"/>
                  </a:moveTo>
                  <a:lnTo>
                    <a:pt x="0" y="829950"/>
                  </a:lnTo>
                  <a:lnTo>
                    <a:pt x="150194" y="829950"/>
                  </a:lnTo>
                  <a:lnTo>
                    <a:pt x="75097" y="929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71" name="Google Shape;871;p71"/>
            <p:cNvSpPr/>
            <p:nvPr/>
          </p:nvSpPr>
          <p:spPr>
            <a:xfrm>
              <a:off x="1267174" y="2228525"/>
              <a:ext cx="1235075" cy="930275"/>
            </a:xfrm>
            <a:custGeom>
              <a:avLst/>
              <a:gdLst/>
              <a:ahLst/>
              <a:cxnLst/>
              <a:rect l="l" t="t" r="r" b="b"/>
              <a:pathLst>
                <a:path w="1235075" h="930275" extrusionOk="0">
                  <a:moveTo>
                    <a:pt x="1234799" y="0"/>
                  </a:moveTo>
                  <a:lnTo>
                    <a:pt x="414979" y="0"/>
                  </a:lnTo>
                  <a:lnTo>
                    <a:pt x="367962" y="2920"/>
                  </a:lnTo>
                  <a:lnTo>
                    <a:pt x="322687" y="11447"/>
                  </a:lnTo>
                  <a:lnTo>
                    <a:pt x="279507" y="25230"/>
                  </a:lnTo>
                  <a:lnTo>
                    <a:pt x="238771" y="43916"/>
                  </a:lnTo>
                  <a:lnTo>
                    <a:pt x="200833" y="67156"/>
                  </a:lnTo>
                  <a:lnTo>
                    <a:pt x="166042" y="94597"/>
                  </a:lnTo>
                  <a:lnTo>
                    <a:pt x="134750" y="125889"/>
                  </a:lnTo>
                  <a:lnTo>
                    <a:pt x="107309" y="160680"/>
                  </a:lnTo>
                  <a:lnTo>
                    <a:pt x="84069" y="198618"/>
                  </a:lnTo>
                  <a:lnTo>
                    <a:pt x="65382" y="239354"/>
                  </a:lnTo>
                  <a:lnTo>
                    <a:pt x="51600" y="282534"/>
                  </a:lnTo>
                  <a:lnTo>
                    <a:pt x="43073" y="327809"/>
                  </a:lnTo>
                  <a:lnTo>
                    <a:pt x="40152" y="374827"/>
                  </a:lnTo>
                  <a:lnTo>
                    <a:pt x="40152" y="829950"/>
                  </a:lnTo>
                  <a:lnTo>
                    <a:pt x="0" y="829950"/>
                  </a:lnTo>
                  <a:lnTo>
                    <a:pt x="75097" y="929999"/>
                  </a:lnTo>
                  <a:lnTo>
                    <a:pt x="150194" y="829950"/>
                  </a:lnTo>
                  <a:lnTo>
                    <a:pt x="110042" y="829950"/>
                  </a:lnTo>
                  <a:lnTo>
                    <a:pt x="110042" y="374827"/>
                  </a:lnTo>
                  <a:lnTo>
                    <a:pt x="114033" y="325364"/>
                  </a:lnTo>
                  <a:lnTo>
                    <a:pt x="125588" y="278443"/>
                  </a:lnTo>
                  <a:lnTo>
                    <a:pt x="144078" y="234690"/>
                  </a:lnTo>
                  <a:lnTo>
                    <a:pt x="168877" y="194734"/>
                  </a:lnTo>
                  <a:lnTo>
                    <a:pt x="199356" y="159203"/>
                  </a:lnTo>
                  <a:lnTo>
                    <a:pt x="234887" y="128724"/>
                  </a:lnTo>
                  <a:lnTo>
                    <a:pt x="274843" y="103926"/>
                  </a:lnTo>
                  <a:lnTo>
                    <a:pt x="318596" y="85435"/>
                  </a:lnTo>
                  <a:lnTo>
                    <a:pt x="365517" y="73880"/>
                  </a:lnTo>
                  <a:lnTo>
                    <a:pt x="414979" y="69889"/>
                  </a:lnTo>
                  <a:lnTo>
                    <a:pt x="1234799" y="69889"/>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872" name="Google Shape;872;p71"/>
          <p:cNvGrpSpPr/>
          <p:nvPr/>
        </p:nvGrpSpPr>
        <p:grpSpPr>
          <a:xfrm>
            <a:off x="2234600" y="3526925"/>
            <a:ext cx="397510" cy="193675"/>
            <a:chOff x="2234600" y="3526925"/>
            <a:chExt cx="397510" cy="193675"/>
          </a:xfrm>
        </p:grpSpPr>
        <p:sp>
          <p:nvSpPr>
            <p:cNvPr id="873" name="Google Shape;873;p71"/>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74" name="Google Shape;874;p71"/>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75" name="Google Shape;875;p71"/>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76" name="Google Shape;876;p71"/>
          <p:cNvSpPr txBox="1"/>
          <p:nvPr/>
        </p:nvSpPr>
        <p:spPr>
          <a:xfrm>
            <a:off x="3040316" y="2868560"/>
            <a:ext cx="8142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15%</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77" name="Google Shape;877;p71"/>
          <p:cNvSpPr txBox="1"/>
          <p:nvPr/>
        </p:nvSpPr>
        <p:spPr>
          <a:xfrm>
            <a:off x="2998229" y="3056774"/>
            <a:ext cx="1070700" cy="1585800"/>
          </a:xfrm>
          <a:prstGeom prst="rect">
            <a:avLst/>
          </a:prstGeom>
          <a:noFill/>
          <a:ln>
            <a:noFill/>
          </a:ln>
        </p:spPr>
        <p:txBody>
          <a:bodyPr spcFirstLastPara="1" wrap="square" lIns="0" tIns="12700" rIns="0" bIns="0" anchor="t" anchorCtr="0">
            <a:spAutoFit/>
          </a:bodyPr>
          <a:lstStyle/>
          <a:p>
            <a:pPr marL="0" marR="71755"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18%</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7493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0.04%</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 30%</a:t>
            </a:r>
            <a:endParaRPr kumimoji="0"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878" name="Google Shape;878;p71"/>
          <p:cNvGrpSpPr/>
          <p:nvPr/>
        </p:nvGrpSpPr>
        <p:grpSpPr>
          <a:xfrm>
            <a:off x="4467550" y="3526925"/>
            <a:ext cx="397510" cy="193675"/>
            <a:chOff x="4467550" y="3526925"/>
            <a:chExt cx="397510" cy="193675"/>
          </a:xfrm>
        </p:grpSpPr>
        <p:sp>
          <p:nvSpPr>
            <p:cNvPr id="879" name="Google Shape;879;p71"/>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80" name="Google Shape;880;p71"/>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81" name="Google Shape;881;p71"/>
          <p:cNvSpPr txBox="1"/>
          <p:nvPr/>
        </p:nvSpPr>
        <p:spPr>
          <a:xfrm>
            <a:off x="5135556" y="4642415"/>
            <a:ext cx="739200" cy="2226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885"/>
        <p:cNvGrpSpPr/>
        <p:nvPr/>
      </p:nvGrpSpPr>
      <p:grpSpPr>
        <a:xfrm>
          <a:off x="0" y="0"/>
          <a:ext cx="0" cy="0"/>
          <a:chOff x="0" y="0"/>
          <a:chExt cx="0" cy="0"/>
        </a:xfrm>
      </p:grpSpPr>
      <p:sp>
        <p:nvSpPr>
          <p:cNvPr id="886" name="Google Shape;886;p72"/>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87" name="Google Shape;887;p72"/>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88" name="Google Shape;888;p72"/>
          <p:cNvSpPr txBox="1"/>
          <p:nvPr/>
        </p:nvSpPr>
        <p:spPr>
          <a:xfrm>
            <a:off x="3090986" y="2680346"/>
            <a:ext cx="8127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89" name="Google Shape;889;p72"/>
          <p:cNvSpPr/>
          <p:nvPr/>
        </p:nvSpPr>
        <p:spPr>
          <a:xfrm>
            <a:off x="5163075" y="2660250"/>
            <a:ext cx="114300" cy="1823720"/>
          </a:xfrm>
          <a:custGeom>
            <a:avLst/>
            <a:gdLst/>
            <a:ahLst/>
            <a:cxnLst/>
            <a:rect l="l" t="t" r="r" b="b"/>
            <a:pathLst>
              <a:path w="114300"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90" name="Google Shape;890;p72"/>
          <p:cNvSpPr/>
          <p:nvPr/>
        </p:nvSpPr>
        <p:spPr>
          <a:xfrm>
            <a:off x="5732572" y="2660250"/>
            <a:ext cx="114300" cy="1823720"/>
          </a:xfrm>
          <a:custGeom>
            <a:avLst/>
            <a:gdLst/>
            <a:ahLst/>
            <a:cxnLst/>
            <a:rect l="l" t="t" r="r" b="b"/>
            <a:pathLst>
              <a:path w="114300" h="1823720" extrusionOk="0">
                <a:moveTo>
                  <a:pt x="0" y="0"/>
                </a:moveTo>
                <a:lnTo>
                  <a:pt x="22325" y="2208"/>
                </a:lnTo>
                <a:lnTo>
                  <a:pt x="43588" y="8670"/>
                </a:lnTo>
                <a:lnTo>
                  <a:pt x="80541" y="33361"/>
                </a:lnTo>
                <a:lnTo>
                  <a:pt x="105232" y="70313"/>
                </a:lnTo>
                <a:lnTo>
                  <a:pt x="113902" y="113902"/>
                </a:lnTo>
                <a:lnTo>
                  <a:pt x="113902" y="1709497"/>
                </a:lnTo>
                <a:lnTo>
                  <a:pt x="104951" y="1753833"/>
                </a:lnTo>
                <a:lnTo>
                  <a:pt x="80541" y="1790038"/>
                </a:lnTo>
                <a:lnTo>
                  <a:pt x="44336" y="1814448"/>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91" name="Google Shape;891;p72"/>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892" name="Google Shape;892;p72"/>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50</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93" name="Google Shape;893;p72"/>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94" name="Google Shape;894;p72"/>
          <p:cNvSpPr txBox="1"/>
          <p:nvPr/>
        </p:nvSpPr>
        <p:spPr>
          <a:xfrm>
            <a:off x="743748" y="1180605"/>
            <a:ext cx="7657500" cy="568800"/>
          </a:xfrm>
          <a:prstGeom prst="rect">
            <a:avLst/>
          </a:prstGeom>
          <a:noFill/>
          <a:ln>
            <a:noFill/>
          </a:ln>
        </p:spPr>
        <p:txBody>
          <a:bodyPr spcFirstLastPara="1" wrap="square" lIns="0" tIns="12700" rIns="0" bIns="0" anchor="t" anchorCtr="0">
            <a:spAutoFit/>
          </a:bodyPr>
          <a:lstStyle/>
          <a:p>
            <a:pPr marL="63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95" name="Google Shape;895;p72"/>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96" name="Google Shape;896;p72"/>
          <p:cNvSpPr txBox="1"/>
          <p:nvPr/>
        </p:nvSpPr>
        <p:spPr>
          <a:xfrm>
            <a:off x="2735070" y="2118698"/>
            <a:ext cx="2850000" cy="474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zh-CN" altLang="en-US" sz="15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500" b="1" i="0" u="none" strike="noStrike" kern="0" cap="none" spc="0" normalizeH="0" baseline="0" noProof="0">
                <a:ln>
                  <a:noFill/>
                </a:ln>
                <a:solidFill>
                  <a:srgbClr val="000000"/>
                </a:solidFill>
                <a:effectLst/>
                <a:uLnTx/>
                <a:uFillTx/>
                <a:latin typeface="Cambria"/>
                <a:ea typeface="Cambria"/>
                <a:cs typeface="Cambria"/>
                <a:sym typeface="Cambria"/>
              </a:rPr>
              <a:t>The color of the sky is [MASK].”</a:t>
            </a:r>
            <a:endParaRPr kumimoji="0" sz="15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97" name="Google Shape;897;p72"/>
          <p:cNvSpPr txBox="1"/>
          <p:nvPr/>
        </p:nvSpPr>
        <p:spPr>
          <a:xfrm>
            <a:off x="5331729" y="2680346"/>
            <a:ext cx="346800" cy="455400"/>
          </a:xfrm>
          <a:prstGeom prst="rect">
            <a:avLst/>
          </a:prstGeom>
          <a:noFill/>
          <a:ln>
            <a:noFill/>
          </a:ln>
        </p:spPr>
        <p:txBody>
          <a:bodyPr spcFirstLastPara="1" wrap="square" lIns="0" tIns="27300" rIns="0" bIns="0" anchor="t" anchorCtr="0">
            <a:spAutoFit/>
          </a:bodyPr>
          <a:lstStyle/>
          <a:p>
            <a:pPr marL="49530" marR="5080" lvl="0" indent="-37465" algn="l"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 </a:t>
            </a:r>
            <a:r>
              <a:rPr kumimoji="0" lang="zh-CN" altLang="en-US"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898" name="Google Shape;898;p72"/>
          <p:cNvSpPr txBox="1"/>
          <p:nvPr/>
        </p:nvSpPr>
        <p:spPr>
          <a:xfrm>
            <a:off x="5335434" y="3084003"/>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899" name="Google Shape;899;p72"/>
          <p:cNvSpPr txBox="1"/>
          <p:nvPr/>
        </p:nvSpPr>
        <p:spPr>
          <a:xfrm>
            <a:off x="5301690" y="3244988"/>
            <a:ext cx="406500" cy="1367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4635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grass  pear</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00" name="Google Shape;900;p72"/>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901" name="Google Shape;901;p72"/>
          <p:cNvGrpSpPr/>
          <p:nvPr/>
        </p:nvGrpSpPr>
        <p:grpSpPr>
          <a:xfrm>
            <a:off x="596075" y="3253800"/>
            <a:ext cx="1397635" cy="751839"/>
            <a:chOff x="596075" y="3253800"/>
            <a:chExt cx="1397635" cy="751839"/>
          </a:xfrm>
        </p:grpSpPr>
        <p:sp>
          <p:nvSpPr>
            <p:cNvPr id="902" name="Google Shape;902;p72"/>
            <p:cNvSpPr/>
            <p:nvPr/>
          </p:nvSpPr>
          <p:spPr>
            <a:xfrm>
              <a:off x="596075" y="3253800"/>
              <a:ext cx="1397635" cy="751839"/>
            </a:xfrm>
            <a:custGeom>
              <a:avLst/>
              <a:gdLst/>
              <a:ahLst/>
              <a:cxnLst/>
              <a:rect l="l" t="t" r="r" b="b"/>
              <a:pathLst>
                <a:path w="1397635" h="751839" extrusionOk="0">
                  <a:moveTo>
                    <a:pt x="1272147" y="751499"/>
                  </a:moveTo>
                  <a:lnTo>
                    <a:pt x="125252" y="751499"/>
                  </a:lnTo>
                  <a:lnTo>
                    <a:pt x="76498" y="741657"/>
                  </a:lnTo>
                  <a:lnTo>
                    <a:pt x="36685" y="714814"/>
                  </a:lnTo>
                  <a:lnTo>
                    <a:pt x="9842" y="675001"/>
                  </a:lnTo>
                  <a:lnTo>
                    <a:pt x="0" y="626247"/>
                  </a:lnTo>
                  <a:lnTo>
                    <a:pt x="0" y="125252"/>
                  </a:ln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03" name="Google Shape;903;p72"/>
            <p:cNvSpPr/>
            <p:nvPr/>
          </p:nvSpPr>
          <p:spPr>
            <a:xfrm>
              <a:off x="596075" y="3253800"/>
              <a:ext cx="1397635" cy="751839"/>
            </a:xfrm>
            <a:custGeom>
              <a:avLst/>
              <a:gdLst/>
              <a:ahLst/>
              <a:cxnLst/>
              <a:rect l="l" t="t" r="r" b="b"/>
              <a:pathLst>
                <a:path w="1397635" h="751839" extrusionOk="0">
                  <a:moveTo>
                    <a:pt x="0" y="125252"/>
                  </a:move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lnTo>
                    <a:pt x="125252" y="751499"/>
                  </a:lnTo>
                  <a:lnTo>
                    <a:pt x="76498" y="741657"/>
                  </a:lnTo>
                  <a:lnTo>
                    <a:pt x="36685" y="714814"/>
                  </a:lnTo>
                  <a:lnTo>
                    <a:pt x="9842" y="675001"/>
                  </a:lnTo>
                  <a:lnTo>
                    <a:pt x="0" y="626247"/>
                  </a:lnTo>
                  <a:lnTo>
                    <a:pt x="0" y="125252"/>
                  </a:lnTo>
                  <a:close/>
                </a:path>
              </a:pathLst>
            </a:custGeom>
            <a:noFill/>
            <a:ln w="28550"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04" name="Google Shape;904;p72"/>
          <p:cNvSpPr txBox="1"/>
          <p:nvPr/>
        </p:nvSpPr>
        <p:spPr>
          <a:xfrm>
            <a:off x="897887" y="3400188"/>
            <a:ext cx="795000" cy="492600"/>
          </a:xfrm>
          <a:prstGeom prst="rect">
            <a:avLst/>
          </a:prstGeom>
          <a:noFill/>
          <a:ln>
            <a:noFill/>
          </a:ln>
        </p:spPr>
        <p:txBody>
          <a:bodyPr spcFirstLastPara="1" wrap="square" lIns="0" tIns="22850" rIns="0" bIns="0" anchor="t" anchorCtr="0">
            <a:spAutoFit/>
          </a:bodyPr>
          <a:lstStyle/>
          <a:p>
            <a:pPr marL="36195" marR="5080" lvl="0" indent="-24128"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 #2</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05" name="Google Shape;905;p72"/>
          <p:cNvGrpSpPr/>
          <p:nvPr/>
        </p:nvGrpSpPr>
        <p:grpSpPr>
          <a:xfrm>
            <a:off x="1267174" y="2228525"/>
            <a:ext cx="1235075" cy="930275"/>
            <a:chOff x="1267174" y="2228525"/>
            <a:chExt cx="1235075" cy="930275"/>
          </a:xfrm>
        </p:grpSpPr>
        <p:sp>
          <p:nvSpPr>
            <p:cNvPr id="906" name="Google Shape;906;p72"/>
            <p:cNvSpPr/>
            <p:nvPr/>
          </p:nvSpPr>
          <p:spPr>
            <a:xfrm>
              <a:off x="1267174" y="2228525"/>
              <a:ext cx="1235075" cy="930275"/>
            </a:xfrm>
            <a:custGeom>
              <a:avLst/>
              <a:gdLst/>
              <a:ahLst/>
              <a:cxnLst/>
              <a:rect l="l" t="t" r="r" b="b"/>
              <a:pathLst>
                <a:path w="1235075" h="930275" extrusionOk="0">
                  <a:moveTo>
                    <a:pt x="110042" y="829950"/>
                  </a:moveTo>
                  <a:lnTo>
                    <a:pt x="40152" y="829950"/>
                  </a:lnTo>
                  <a:lnTo>
                    <a:pt x="40152" y="374827"/>
                  </a:lnTo>
                  <a:lnTo>
                    <a:pt x="43073" y="327809"/>
                  </a:lnTo>
                  <a:lnTo>
                    <a:pt x="51600" y="282534"/>
                  </a:lnTo>
                  <a:lnTo>
                    <a:pt x="65382" y="239354"/>
                  </a:lnTo>
                  <a:lnTo>
                    <a:pt x="84069" y="198618"/>
                  </a:lnTo>
                  <a:lnTo>
                    <a:pt x="107309" y="160680"/>
                  </a:lnTo>
                  <a:lnTo>
                    <a:pt x="134750" y="125889"/>
                  </a:lnTo>
                  <a:lnTo>
                    <a:pt x="166042" y="94597"/>
                  </a:lnTo>
                  <a:lnTo>
                    <a:pt x="200833" y="67156"/>
                  </a:lnTo>
                  <a:lnTo>
                    <a:pt x="238771" y="43916"/>
                  </a:lnTo>
                  <a:lnTo>
                    <a:pt x="279507" y="25230"/>
                  </a:lnTo>
                  <a:lnTo>
                    <a:pt x="322687" y="11447"/>
                  </a:lnTo>
                  <a:lnTo>
                    <a:pt x="367962" y="2920"/>
                  </a:lnTo>
                  <a:lnTo>
                    <a:pt x="414979" y="0"/>
                  </a:lnTo>
                  <a:lnTo>
                    <a:pt x="1234799" y="0"/>
                  </a:lnTo>
                  <a:lnTo>
                    <a:pt x="1234799" y="69889"/>
                  </a:lnTo>
                  <a:lnTo>
                    <a:pt x="414979" y="69889"/>
                  </a:lnTo>
                  <a:lnTo>
                    <a:pt x="365517" y="73880"/>
                  </a:lnTo>
                  <a:lnTo>
                    <a:pt x="318596" y="85435"/>
                  </a:lnTo>
                  <a:lnTo>
                    <a:pt x="274843" y="103926"/>
                  </a:lnTo>
                  <a:lnTo>
                    <a:pt x="234887" y="128724"/>
                  </a:lnTo>
                  <a:lnTo>
                    <a:pt x="199356" y="159203"/>
                  </a:lnTo>
                  <a:lnTo>
                    <a:pt x="168877" y="194734"/>
                  </a:lnTo>
                  <a:lnTo>
                    <a:pt x="144078" y="234690"/>
                  </a:lnTo>
                  <a:lnTo>
                    <a:pt x="125588" y="278443"/>
                  </a:lnTo>
                  <a:lnTo>
                    <a:pt x="114033" y="325364"/>
                  </a:lnTo>
                  <a:lnTo>
                    <a:pt x="110042" y="374827"/>
                  </a:lnTo>
                  <a:lnTo>
                    <a:pt x="110042" y="829950"/>
                  </a:lnTo>
                  <a:close/>
                </a:path>
                <a:path w="1235075" h="930275" extrusionOk="0">
                  <a:moveTo>
                    <a:pt x="75097" y="929999"/>
                  </a:moveTo>
                  <a:lnTo>
                    <a:pt x="0" y="829950"/>
                  </a:lnTo>
                  <a:lnTo>
                    <a:pt x="150194" y="829950"/>
                  </a:lnTo>
                  <a:lnTo>
                    <a:pt x="75097" y="929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07" name="Google Shape;907;p72"/>
            <p:cNvSpPr/>
            <p:nvPr/>
          </p:nvSpPr>
          <p:spPr>
            <a:xfrm>
              <a:off x="1267174" y="2228525"/>
              <a:ext cx="1235075" cy="930275"/>
            </a:xfrm>
            <a:custGeom>
              <a:avLst/>
              <a:gdLst/>
              <a:ahLst/>
              <a:cxnLst/>
              <a:rect l="l" t="t" r="r" b="b"/>
              <a:pathLst>
                <a:path w="1235075" h="930275" extrusionOk="0">
                  <a:moveTo>
                    <a:pt x="1234799" y="0"/>
                  </a:moveTo>
                  <a:lnTo>
                    <a:pt x="414979" y="0"/>
                  </a:lnTo>
                  <a:lnTo>
                    <a:pt x="367962" y="2920"/>
                  </a:lnTo>
                  <a:lnTo>
                    <a:pt x="322687" y="11447"/>
                  </a:lnTo>
                  <a:lnTo>
                    <a:pt x="279507" y="25230"/>
                  </a:lnTo>
                  <a:lnTo>
                    <a:pt x="238771" y="43916"/>
                  </a:lnTo>
                  <a:lnTo>
                    <a:pt x="200833" y="67156"/>
                  </a:lnTo>
                  <a:lnTo>
                    <a:pt x="166042" y="94597"/>
                  </a:lnTo>
                  <a:lnTo>
                    <a:pt x="134750" y="125889"/>
                  </a:lnTo>
                  <a:lnTo>
                    <a:pt x="107309" y="160680"/>
                  </a:lnTo>
                  <a:lnTo>
                    <a:pt x="84069" y="198618"/>
                  </a:lnTo>
                  <a:lnTo>
                    <a:pt x="65382" y="239354"/>
                  </a:lnTo>
                  <a:lnTo>
                    <a:pt x="51600" y="282534"/>
                  </a:lnTo>
                  <a:lnTo>
                    <a:pt x="43073" y="327809"/>
                  </a:lnTo>
                  <a:lnTo>
                    <a:pt x="40152" y="374827"/>
                  </a:lnTo>
                  <a:lnTo>
                    <a:pt x="40152" y="829950"/>
                  </a:lnTo>
                  <a:lnTo>
                    <a:pt x="0" y="829950"/>
                  </a:lnTo>
                  <a:lnTo>
                    <a:pt x="75097" y="929999"/>
                  </a:lnTo>
                  <a:lnTo>
                    <a:pt x="150194" y="829950"/>
                  </a:lnTo>
                  <a:lnTo>
                    <a:pt x="110042" y="829950"/>
                  </a:lnTo>
                  <a:lnTo>
                    <a:pt x="110042" y="374827"/>
                  </a:lnTo>
                  <a:lnTo>
                    <a:pt x="114033" y="325364"/>
                  </a:lnTo>
                  <a:lnTo>
                    <a:pt x="125588" y="278443"/>
                  </a:lnTo>
                  <a:lnTo>
                    <a:pt x="144078" y="234690"/>
                  </a:lnTo>
                  <a:lnTo>
                    <a:pt x="168877" y="194734"/>
                  </a:lnTo>
                  <a:lnTo>
                    <a:pt x="199356" y="159203"/>
                  </a:lnTo>
                  <a:lnTo>
                    <a:pt x="234887" y="128724"/>
                  </a:lnTo>
                  <a:lnTo>
                    <a:pt x="274843" y="103926"/>
                  </a:lnTo>
                  <a:lnTo>
                    <a:pt x="318596" y="85435"/>
                  </a:lnTo>
                  <a:lnTo>
                    <a:pt x="365517" y="73880"/>
                  </a:lnTo>
                  <a:lnTo>
                    <a:pt x="414979" y="69889"/>
                  </a:lnTo>
                  <a:lnTo>
                    <a:pt x="1234799" y="69889"/>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908" name="Google Shape;908;p72"/>
          <p:cNvGrpSpPr/>
          <p:nvPr/>
        </p:nvGrpSpPr>
        <p:grpSpPr>
          <a:xfrm>
            <a:off x="2234600" y="3526925"/>
            <a:ext cx="397510" cy="193675"/>
            <a:chOff x="2234600" y="3526925"/>
            <a:chExt cx="397510" cy="193675"/>
          </a:xfrm>
        </p:grpSpPr>
        <p:sp>
          <p:nvSpPr>
            <p:cNvPr id="909" name="Google Shape;909;p72"/>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10" name="Google Shape;910;p72"/>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11" name="Google Shape;911;p72"/>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12" name="Google Shape;912;p72"/>
          <p:cNvSpPr txBox="1"/>
          <p:nvPr/>
        </p:nvSpPr>
        <p:spPr>
          <a:xfrm>
            <a:off x="3040316" y="2868560"/>
            <a:ext cx="8142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15%</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13" name="Google Shape;913;p72"/>
          <p:cNvSpPr txBox="1"/>
          <p:nvPr/>
        </p:nvSpPr>
        <p:spPr>
          <a:xfrm>
            <a:off x="2998229" y="3056774"/>
            <a:ext cx="1070700" cy="1585800"/>
          </a:xfrm>
          <a:prstGeom prst="rect">
            <a:avLst/>
          </a:prstGeom>
          <a:noFill/>
          <a:ln>
            <a:noFill/>
          </a:ln>
        </p:spPr>
        <p:txBody>
          <a:bodyPr spcFirstLastPara="1" wrap="square" lIns="0" tIns="12700" rIns="0" bIns="0" anchor="t" anchorCtr="0">
            <a:spAutoFit/>
          </a:bodyPr>
          <a:lstStyle/>
          <a:p>
            <a:pPr marL="0" marR="71755"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18%</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7493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0.04%</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 30%</a:t>
            </a:r>
            <a:endParaRPr kumimoji="0"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14" name="Google Shape;914;p72"/>
          <p:cNvGrpSpPr/>
          <p:nvPr/>
        </p:nvGrpSpPr>
        <p:grpSpPr>
          <a:xfrm>
            <a:off x="4467550" y="3526925"/>
            <a:ext cx="397510" cy="193675"/>
            <a:chOff x="4467550" y="3526925"/>
            <a:chExt cx="397510" cy="193675"/>
          </a:xfrm>
        </p:grpSpPr>
        <p:sp>
          <p:nvSpPr>
            <p:cNvPr id="915" name="Google Shape;915;p72"/>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16" name="Google Shape;916;p72"/>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17" name="Google Shape;917;p72"/>
          <p:cNvSpPr txBox="1"/>
          <p:nvPr/>
        </p:nvSpPr>
        <p:spPr>
          <a:xfrm>
            <a:off x="5135556" y="4642415"/>
            <a:ext cx="739200" cy="2226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18" name="Google Shape;918;p72"/>
          <p:cNvSpPr txBox="1"/>
          <p:nvPr/>
        </p:nvSpPr>
        <p:spPr>
          <a:xfrm>
            <a:off x="6692783" y="2137666"/>
            <a:ext cx="19596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P@</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1</a:t>
            </a: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 precision at </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rank 1</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922"/>
        <p:cNvGrpSpPr/>
        <p:nvPr/>
      </p:nvGrpSpPr>
      <p:grpSpPr>
        <a:xfrm>
          <a:off x="0" y="0"/>
          <a:ext cx="0" cy="0"/>
          <a:chOff x="0" y="0"/>
          <a:chExt cx="0" cy="0"/>
        </a:xfrm>
      </p:grpSpPr>
      <p:sp>
        <p:nvSpPr>
          <p:cNvPr id="923" name="Google Shape;923;p73"/>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24" name="Google Shape;924;p73"/>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25" name="Google Shape;925;p73"/>
          <p:cNvSpPr txBox="1"/>
          <p:nvPr/>
        </p:nvSpPr>
        <p:spPr>
          <a:xfrm>
            <a:off x="3090986" y="2680346"/>
            <a:ext cx="8127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26" name="Google Shape;926;p73"/>
          <p:cNvSpPr/>
          <p:nvPr/>
        </p:nvSpPr>
        <p:spPr>
          <a:xfrm>
            <a:off x="5163075" y="2660250"/>
            <a:ext cx="683895" cy="1823720"/>
          </a:xfrm>
          <a:custGeom>
            <a:avLst/>
            <a:gdLst/>
            <a:ahLst/>
            <a:cxnLst/>
            <a:rect l="l" t="t" r="r" b="b"/>
            <a:pathLst>
              <a:path w="683895"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 w="683895" h="1823720" extrusionOk="0">
                <a:moveTo>
                  <a:pt x="569497" y="0"/>
                </a:moveTo>
                <a:lnTo>
                  <a:pt x="591822" y="2208"/>
                </a:lnTo>
                <a:lnTo>
                  <a:pt x="613086" y="8670"/>
                </a:lnTo>
                <a:lnTo>
                  <a:pt x="650038" y="33361"/>
                </a:lnTo>
                <a:lnTo>
                  <a:pt x="674729" y="70313"/>
                </a:lnTo>
                <a:lnTo>
                  <a:pt x="683399" y="113902"/>
                </a:lnTo>
                <a:lnTo>
                  <a:pt x="683399" y="1709497"/>
                </a:lnTo>
                <a:lnTo>
                  <a:pt x="674448" y="1753833"/>
                </a:lnTo>
                <a:lnTo>
                  <a:pt x="650038" y="1790038"/>
                </a:lnTo>
                <a:lnTo>
                  <a:pt x="613833" y="1814448"/>
                </a:lnTo>
                <a:lnTo>
                  <a:pt x="569497"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27" name="Google Shape;927;p73"/>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928" name="Google Shape;928;p73"/>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51</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29" name="Google Shape;929;p73"/>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30" name="Google Shape;930;p73"/>
          <p:cNvSpPr txBox="1"/>
          <p:nvPr/>
        </p:nvSpPr>
        <p:spPr>
          <a:xfrm>
            <a:off x="743748" y="1180605"/>
            <a:ext cx="7657500" cy="568800"/>
          </a:xfrm>
          <a:prstGeom prst="rect">
            <a:avLst/>
          </a:prstGeom>
          <a:noFill/>
          <a:ln>
            <a:noFill/>
          </a:ln>
        </p:spPr>
        <p:txBody>
          <a:bodyPr spcFirstLastPara="1" wrap="square" lIns="0" tIns="12700" rIns="0" bIns="0" anchor="t" anchorCtr="0">
            <a:spAutoFit/>
          </a:bodyPr>
          <a:lstStyle/>
          <a:p>
            <a:pPr marL="63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31" name="Google Shape;931;p73"/>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32" name="Google Shape;932;p73"/>
          <p:cNvSpPr txBox="1"/>
          <p:nvPr/>
        </p:nvSpPr>
        <p:spPr>
          <a:xfrm>
            <a:off x="2735070" y="2118698"/>
            <a:ext cx="2850000" cy="474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zh-CN" altLang="en-US" sz="15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500" b="1" i="0" u="none" strike="noStrike" kern="0" cap="none" spc="0" normalizeH="0" baseline="0" noProof="0">
                <a:ln>
                  <a:noFill/>
                </a:ln>
                <a:solidFill>
                  <a:srgbClr val="000000"/>
                </a:solidFill>
                <a:effectLst/>
                <a:uLnTx/>
                <a:uFillTx/>
                <a:latin typeface="Cambria"/>
                <a:ea typeface="Cambria"/>
                <a:cs typeface="Cambria"/>
                <a:sym typeface="Cambria"/>
              </a:rPr>
              <a:t>The color of the sky is [MASK].”</a:t>
            </a:r>
            <a:endParaRPr kumimoji="0" sz="15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33" name="Google Shape;933;p73"/>
          <p:cNvSpPr txBox="1"/>
          <p:nvPr/>
        </p:nvSpPr>
        <p:spPr>
          <a:xfrm>
            <a:off x="5331729" y="2680346"/>
            <a:ext cx="346800" cy="455400"/>
          </a:xfrm>
          <a:prstGeom prst="rect">
            <a:avLst/>
          </a:prstGeom>
          <a:noFill/>
          <a:ln>
            <a:noFill/>
          </a:ln>
        </p:spPr>
        <p:txBody>
          <a:bodyPr spcFirstLastPara="1" wrap="square" lIns="0" tIns="27300" rIns="0" bIns="0" anchor="t" anchorCtr="0">
            <a:spAutoFit/>
          </a:bodyPr>
          <a:lstStyle/>
          <a:p>
            <a:pPr marL="49530" marR="5080" lvl="0" indent="-37465" algn="l"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grey  red</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34" name="Google Shape;934;p73"/>
          <p:cNvSpPr txBox="1"/>
          <p:nvPr/>
        </p:nvSpPr>
        <p:spPr>
          <a:xfrm>
            <a:off x="5335434" y="3084003"/>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35" name="Google Shape;935;p73"/>
          <p:cNvSpPr txBox="1"/>
          <p:nvPr/>
        </p:nvSpPr>
        <p:spPr>
          <a:xfrm>
            <a:off x="5301690" y="3244988"/>
            <a:ext cx="406500" cy="1367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4635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grass  pear</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36" name="Google Shape;936;p73"/>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937" name="Google Shape;937;p73"/>
          <p:cNvGrpSpPr/>
          <p:nvPr/>
        </p:nvGrpSpPr>
        <p:grpSpPr>
          <a:xfrm>
            <a:off x="596075" y="3253800"/>
            <a:ext cx="1397635" cy="751839"/>
            <a:chOff x="596075" y="3253800"/>
            <a:chExt cx="1397635" cy="751839"/>
          </a:xfrm>
        </p:grpSpPr>
        <p:sp>
          <p:nvSpPr>
            <p:cNvPr id="938" name="Google Shape;938;p73"/>
            <p:cNvSpPr/>
            <p:nvPr/>
          </p:nvSpPr>
          <p:spPr>
            <a:xfrm>
              <a:off x="596075" y="3253800"/>
              <a:ext cx="1397635" cy="751839"/>
            </a:xfrm>
            <a:custGeom>
              <a:avLst/>
              <a:gdLst/>
              <a:ahLst/>
              <a:cxnLst/>
              <a:rect l="l" t="t" r="r" b="b"/>
              <a:pathLst>
                <a:path w="1397635" h="751839" extrusionOk="0">
                  <a:moveTo>
                    <a:pt x="1272147" y="751499"/>
                  </a:moveTo>
                  <a:lnTo>
                    <a:pt x="125252" y="751499"/>
                  </a:lnTo>
                  <a:lnTo>
                    <a:pt x="76498" y="741657"/>
                  </a:lnTo>
                  <a:lnTo>
                    <a:pt x="36685" y="714814"/>
                  </a:lnTo>
                  <a:lnTo>
                    <a:pt x="9842" y="675001"/>
                  </a:lnTo>
                  <a:lnTo>
                    <a:pt x="0" y="626247"/>
                  </a:lnTo>
                  <a:lnTo>
                    <a:pt x="0" y="125252"/>
                  </a:ln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39" name="Google Shape;939;p73"/>
            <p:cNvSpPr/>
            <p:nvPr/>
          </p:nvSpPr>
          <p:spPr>
            <a:xfrm>
              <a:off x="596075" y="3253800"/>
              <a:ext cx="1397635" cy="751839"/>
            </a:xfrm>
            <a:custGeom>
              <a:avLst/>
              <a:gdLst/>
              <a:ahLst/>
              <a:cxnLst/>
              <a:rect l="l" t="t" r="r" b="b"/>
              <a:pathLst>
                <a:path w="1397635" h="751839" extrusionOk="0">
                  <a:moveTo>
                    <a:pt x="0" y="125252"/>
                  </a:move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lnTo>
                    <a:pt x="125252" y="751499"/>
                  </a:lnTo>
                  <a:lnTo>
                    <a:pt x="76498" y="741657"/>
                  </a:lnTo>
                  <a:lnTo>
                    <a:pt x="36685" y="714814"/>
                  </a:lnTo>
                  <a:lnTo>
                    <a:pt x="9842" y="675001"/>
                  </a:lnTo>
                  <a:lnTo>
                    <a:pt x="0" y="626247"/>
                  </a:lnTo>
                  <a:lnTo>
                    <a:pt x="0" y="125252"/>
                  </a:lnTo>
                  <a:close/>
                </a:path>
              </a:pathLst>
            </a:custGeom>
            <a:noFill/>
            <a:ln w="28550"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40" name="Google Shape;940;p73"/>
          <p:cNvSpPr txBox="1"/>
          <p:nvPr/>
        </p:nvSpPr>
        <p:spPr>
          <a:xfrm>
            <a:off x="897887" y="3400188"/>
            <a:ext cx="795000" cy="492600"/>
          </a:xfrm>
          <a:prstGeom prst="rect">
            <a:avLst/>
          </a:prstGeom>
          <a:noFill/>
          <a:ln>
            <a:noFill/>
          </a:ln>
        </p:spPr>
        <p:txBody>
          <a:bodyPr spcFirstLastPara="1" wrap="square" lIns="0" tIns="22850" rIns="0" bIns="0" anchor="t" anchorCtr="0">
            <a:spAutoFit/>
          </a:bodyPr>
          <a:lstStyle/>
          <a:p>
            <a:pPr marL="36195" marR="5080" lvl="0" indent="-24128"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 #2</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41" name="Google Shape;941;p73"/>
          <p:cNvGrpSpPr/>
          <p:nvPr/>
        </p:nvGrpSpPr>
        <p:grpSpPr>
          <a:xfrm>
            <a:off x="1267174" y="2228525"/>
            <a:ext cx="1235075" cy="930275"/>
            <a:chOff x="1267174" y="2228525"/>
            <a:chExt cx="1235075" cy="930275"/>
          </a:xfrm>
        </p:grpSpPr>
        <p:sp>
          <p:nvSpPr>
            <p:cNvPr id="942" name="Google Shape;942;p73"/>
            <p:cNvSpPr/>
            <p:nvPr/>
          </p:nvSpPr>
          <p:spPr>
            <a:xfrm>
              <a:off x="1267174" y="2228525"/>
              <a:ext cx="1235075" cy="930275"/>
            </a:xfrm>
            <a:custGeom>
              <a:avLst/>
              <a:gdLst/>
              <a:ahLst/>
              <a:cxnLst/>
              <a:rect l="l" t="t" r="r" b="b"/>
              <a:pathLst>
                <a:path w="1235075" h="930275" extrusionOk="0">
                  <a:moveTo>
                    <a:pt x="110042" y="829950"/>
                  </a:moveTo>
                  <a:lnTo>
                    <a:pt x="40152" y="829950"/>
                  </a:lnTo>
                  <a:lnTo>
                    <a:pt x="40152" y="374827"/>
                  </a:lnTo>
                  <a:lnTo>
                    <a:pt x="43073" y="327809"/>
                  </a:lnTo>
                  <a:lnTo>
                    <a:pt x="51600" y="282534"/>
                  </a:lnTo>
                  <a:lnTo>
                    <a:pt x="65382" y="239354"/>
                  </a:lnTo>
                  <a:lnTo>
                    <a:pt x="84069" y="198618"/>
                  </a:lnTo>
                  <a:lnTo>
                    <a:pt x="107309" y="160680"/>
                  </a:lnTo>
                  <a:lnTo>
                    <a:pt x="134750" y="125889"/>
                  </a:lnTo>
                  <a:lnTo>
                    <a:pt x="166042" y="94597"/>
                  </a:lnTo>
                  <a:lnTo>
                    <a:pt x="200833" y="67156"/>
                  </a:lnTo>
                  <a:lnTo>
                    <a:pt x="238771" y="43916"/>
                  </a:lnTo>
                  <a:lnTo>
                    <a:pt x="279507" y="25230"/>
                  </a:lnTo>
                  <a:lnTo>
                    <a:pt x="322687" y="11447"/>
                  </a:lnTo>
                  <a:lnTo>
                    <a:pt x="367962" y="2920"/>
                  </a:lnTo>
                  <a:lnTo>
                    <a:pt x="414979" y="0"/>
                  </a:lnTo>
                  <a:lnTo>
                    <a:pt x="1234799" y="0"/>
                  </a:lnTo>
                  <a:lnTo>
                    <a:pt x="1234799" y="69889"/>
                  </a:lnTo>
                  <a:lnTo>
                    <a:pt x="414979" y="69889"/>
                  </a:lnTo>
                  <a:lnTo>
                    <a:pt x="365517" y="73880"/>
                  </a:lnTo>
                  <a:lnTo>
                    <a:pt x="318596" y="85435"/>
                  </a:lnTo>
                  <a:lnTo>
                    <a:pt x="274843" y="103926"/>
                  </a:lnTo>
                  <a:lnTo>
                    <a:pt x="234887" y="128724"/>
                  </a:lnTo>
                  <a:lnTo>
                    <a:pt x="199356" y="159203"/>
                  </a:lnTo>
                  <a:lnTo>
                    <a:pt x="168877" y="194734"/>
                  </a:lnTo>
                  <a:lnTo>
                    <a:pt x="144078" y="234690"/>
                  </a:lnTo>
                  <a:lnTo>
                    <a:pt x="125588" y="278443"/>
                  </a:lnTo>
                  <a:lnTo>
                    <a:pt x="114033" y="325364"/>
                  </a:lnTo>
                  <a:lnTo>
                    <a:pt x="110042" y="374827"/>
                  </a:lnTo>
                  <a:lnTo>
                    <a:pt x="110042" y="829950"/>
                  </a:lnTo>
                  <a:close/>
                </a:path>
                <a:path w="1235075" h="930275" extrusionOk="0">
                  <a:moveTo>
                    <a:pt x="75097" y="929999"/>
                  </a:moveTo>
                  <a:lnTo>
                    <a:pt x="0" y="829950"/>
                  </a:lnTo>
                  <a:lnTo>
                    <a:pt x="150194" y="829950"/>
                  </a:lnTo>
                  <a:lnTo>
                    <a:pt x="75097" y="929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43" name="Google Shape;943;p73"/>
            <p:cNvSpPr/>
            <p:nvPr/>
          </p:nvSpPr>
          <p:spPr>
            <a:xfrm>
              <a:off x="1267174" y="2228525"/>
              <a:ext cx="1235075" cy="930275"/>
            </a:xfrm>
            <a:custGeom>
              <a:avLst/>
              <a:gdLst/>
              <a:ahLst/>
              <a:cxnLst/>
              <a:rect l="l" t="t" r="r" b="b"/>
              <a:pathLst>
                <a:path w="1235075" h="930275" extrusionOk="0">
                  <a:moveTo>
                    <a:pt x="1234799" y="0"/>
                  </a:moveTo>
                  <a:lnTo>
                    <a:pt x="414979" y="0"/>
                  </a:lnTo>
                  <a:lnTo>
                    <a:pt x="367962" y="2920"/>
                  </a:lnTo>
                  <a:lnTo>
                    <a:pt x="322687" y="11447"/>
                  </a:lnTo>
                  <a:lnTo>
                    <a:pt x="279507" y="25230"/>
                  </a:lnTo>
                  <a:lnTo>
                    <a:pt x="238771" y="43916"/>
                  </a:lnTo>
                  <a:lnTo>
                    <a:pt x="200833" y="67156"/>
                  </a:lnTo>
                  <a:lnTo>
                    <a:pt x="166042" y="94597"/>
                  </a:lnTo>
                  <a:lnTo>
                    <a:pt x="134750" y="125889"/>
                  </a:lnTo>
                  <a:lnTo>
                    <a:pt x="107309" y="160680"/>
                  </a:lnTo>
                  <a:lnTo>
                    <a:pt x="84069" y="198618"/>
                  </a:lnTo>
                  <a:lnTo>
                    <a:pt x="65382" y="239354"/>
                  </a:lnTo>
                  <a:lnTo>
                    <a:pt x="51600" y="282534"/>
                  </a:lnTo>
                  <a:lnTo>
                    <a:pt x="43073" y="327809"/>
                  </a:lnTo>
                  <a:lnTo>
                    <a:pt x="40152" y="374827"/>
                  </a:lnTo>
                  <a:lnTo>
                    <a:pt x="40152" y="829950"/>
                  </a:lnTo>
                  <a:lnTo>
                    <a:pt x="0" y="829950"/>
                  </a:lnTo>
                  <a:lnTo>
                    <a:pt x="75097" y="929999"/>
                  </a:lnTo>
                  <a:lnTo>
                    <a:pt x="150194" y="829950"/>
                  </a:lnTo>
                  <a:lnTo>
                    <a:pt x="110042" y="829950"/>
                  </a:lnTo>
                  <a:lnTo>
                    <a:pt x="110042" y="374827"/>
                  </a:lnTo>
                  <a:lnTo>
                    <a:pt x="114033" y="325364"/>
                  </a:lnTo>
                  <a:lnTo>
                    <a:pt x="125588" y="278443"/>
                  </a:lnTo>
                  <a:lnTo>
                    <a:pt x="144078" y="234690"/>
                  </a:lnTo>
                  <a:lnTo>
                    <a:pt x="168877" y="194734"/>
                  </a:lnTo>
                  <a:lnTo>
                    <a:pt x="199356" y="159203"/>
                  </a:lnTo>
                  <a:lnTo>
                    <a:pt x="234887" y="128724"/>
                  </a:lnTo>
                  <a:lnTo>
                    <a:pt x="274843" y="103926"/>
                  </a:lnTo>
                  <a:lnTo>
                    <a:pt x="318596" y="85435"/>
                  </a:lnTo>
                  <a:lnTo>
                    <a:pt x="365517" y="73880"/>
                  </a:lnTo>
                  <a:lnTo>
                    <a:pt x="414979" y="69889"/>
                  </a:lnTo>
                  <a:lnTo>
                    <a:pt x="1234799" y="69889"/>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944" name="Google Shape;944;p73"/>
          <p:cNvGrpSpPr/>
          <p:nvPr/>
        </p:nvGrpSpPr>
        <p:grpSpPr>
          <a:xfrm>
            <a:off x="2234600" y="3526925"/>
            <a:ext cx="397510" cy="193675"/>
            <a:chOff x="2234600" y="3526925"/>
            <a:chExt cx="397510" cy="193675"/>
          </a:xfrm>
        </p:grpSpPr>
        <p:sp>
          <p:nvSpPr>
            <p:cNvPr id="945" name="Google Shape;945;p73"/>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46" name="Google Shape;946;p73"/>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47" name="Google Shape;947;p73"/>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48" name="Google Shape;948;p73"/>
          <p:cNvSpPr txBox="1"/>
          <p:nvPr/>
        </p:nvSpPr>
        <p:spPr>
          <a:xfrm>
            <a:off x="3040316" y="2868560"/>
            <a:ext cx="8142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15%</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49" name="Google Shape;949;p73"/>
          <p:cNvSpPr txBox="1"/>
          <p:nvPr/>
        </p:nvSpPr>
        <p:spPr>
          <a:xfrm>
            <a:off x="2998229" y="3056774"/>
            <a:ext cx="1070700" cy="1585800"/>
          </a:xfrm>
          <a:prstGeom prst="rect">
            <a:avLst/>
          </a:prstGeom>
          <a:noFill/>
          <a:ln>
            <a:noFill/>
          </a:ln>
        </p:spPr>
        <p:txBody>
          <a:bodyPr spcFirstLastPara="1" wrap="square" lIns="0" tIns="12700" rIns="0" bIns="0" anchor="t" anchorCtr="0">
            <a:spAutoFit/>
          </a:bodyPr>
          <a:lstStyle/>
          <a:p>
            <a:pPr marL="0" marR="71755"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18%</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7493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0.04%</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 30%</a:t>
            </a:r>
            <a:endParaRPr kumimoji="0"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50" name="Google Shape;950;p73"/>
          <p:cNvGrpSpPr/>
          <p:nvPr/>
        </p:nvGrpSpPr>
        <p:grpSpPr>
          <a:xfrm>
            <a:off x="4467550" y="3526925"/>
            <a:ext cx="397510" cy="193675"/>
            <a:chOff x="4467550" y="3526925"/>
            <a:chExt cx="397510" cy="193675"/>
          </a:xfrm>
        </p:grpSpPr>
        <p:sp>
          <p:nvSpPr>
            <p:cNvPr id="951" name="Google Shape;951;p73"/>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52" name="Google Shape;952;p73"/>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53" name="Google Shape;953;p73"/>
          <p:cNvSpPr txBox="1"/>
          <p:nvPr/>
        </p:nvSpPr>
        <p:spPr>
          <a:xfrm>
            <a:off x="5135556" y="4642415"/>
            <a:ext cx="739200" cy="2226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54" name="Google Shape;954;p73"/>
          <p:cNvSpPr txBox="1"/>
          <p:nvPr/>
        </p:nvSpPr>
        <p:spPr>
          <a:xfrm>
            <a:off x="6692783" y="2137666"/>
            <a:ext cx="19596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P@</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1</a:t>
            </a: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 precision at </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rank 1</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955" name="Google Shape;955;p73"/>
          <p:cNvGrpSpPr/>
          <p:nvPr/>
        </p:nvGrpSpPr>
        <p:grpSpPr>
          <a:xfrm>
            <a:off x="5230424" y="2731049"/>
            <a:ext cx="1367379" cy="193675"/>
            <a:chOff x="5230424" y="2731049"/>
            <a:chExt cx="1367379" cy="193675"/>
          </a:xfrm>
        </p:grpSpPr>
        <p:sp>
          <p:nvSpPr>
            <p:cNvPr id="956" name="Google Shape;956;p73"/>
            <p:cNvSpPr/>
            <p:nvPr/>
          </p:nvSpPr>
          <p:spPr>
            <a:xfrm>
              <a:off x="5230424" y="2731049"/>
              <a:ext cx="549275" cy="193675"/>
            </a:xfrm>
            <a:custGeom>
              <a:avLst/>
              <a:gdLst/>
              <a:ahLst/>
              <a:cxnLst/>
              <a:rect l="l" t="t" r="r" b="b"/>
              <a:pathLst>
                <a:path w="549275" h="193675" extrusionOk="0">
                  <a:moveTo>
                    <a:pt x="516499" y="193199"/>
                  </a:moveTo>
                  <a:lnTo>
                    <a:pt x="32200" y="193199"/>
                  </a:lnTo>
                  <a:lnTo>
                    <a:pt x="19666" y="190669"/>
                  </a:lnTo>
                  <a:lnTo>
                    <a:pt x="9431" y="183768"/>
                  </a:lnTo>
                  <a:lnTo>
                    <a:pt x="2530" y="173533"/>
                  </a:lnTo>
                  <a:lnTo>
                    <a:pt x="0" y="160999"/>
                  </a:lnTo>
                  <a:lnTo>
                    <a:pt x="0" y="32200"/>
                  </a:lnTo>
                  <a:lnTo>
                    <a:pt x="2530" y="19666"/>
                  </a:lnTo>
                  <a:lnTo>
                    <a:pt x="9431" y="9431"/>
                  </a:lnTo>
                  <a:lnTo>
                    <a:pt x="19666" y="2530"/>
                  </a:lnTo>
                  <a:lnTo>
                    <a:pt x="32200" y="0"/>
                  </a:lnTo>
                  <a:lnTo>
                    <a:pt x="525039" y="0"/>
                  </a:lnTo>
                  <a:lnTo>
                    <a:pt x="533229" y="3392"/>
                  </a:lnTo>
                  <a:lnTo>
                    <a:pt x="545307" y="15470"/>
                  </a:lnTo>
                  <a:lnTo>
                    <a:pt x="548699" y="23660"/>
                  </a:lnTo>
                  <a:lnTo>
                    <a:pt x="548699" y="160999"/>
                  </a:lnTo>
                  <a:lnTo>
                    <a:pt x="546169" y="173533"/>
                  </a:lnTo>
                  <a:lnTo>
                    <a:pt x="539268" y="183768"/>
                  </a:lnTo>
                  <a:lnTo>
                    <a:pt x="529033" y="190669"/>
                  </a:lnTo>
                  <a:lnTo>
                    <a:pt x="516499" y="1931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57" name="Google Shape;957;p73"/>
            <p:cNvSpPr/>
            <p:nvPr/>
          </p:nvSpPr>
          <p:spPr>
            <a:xfrm>
              <a:off x="5230424" y="2731049"/>
              <a:ext cx="549275" cy="193675"/>
            </a:xfrm>
            <a:custGeom>
              <a:avLst/>
              <a:gdLst/>
              <a:ahLst/>
              <a:cxnLst/>
              <a:rect l="l" t="t" r="r" b="b"/>
              <a:pathLst>
                <a:path w="549275" h="193675" extrusionOk="0">
                  <a:moveTo>
                    <a:pt x="0" y="32200"/>
                  </a:moveTo>
                  <a:lnTo>
                    <a:pt x="2530" y="19666"/>
                  </a:lnTo>
                  <a:lnTo>
                    <a:pt x="9431" y="9431"/>
                  </a:lnTo>
                  <a:lnTo>
                    <a:pt x="19666" y="2530"/>
                  </a:lnTo>
                  <a:lnTo>
                    <a:pt x="32200" y="0"/>
                  </a:lnTo>
                  <a:lnTo>
                    <a:pt x="516499" y="0"/>
                  </a:lnTo>
                  <a:lnTo>
                    <a:pt x="525039" y="0"/>
                  </a:lnTo>
                  <a:lnTo>
                    <a:pt x="533229" y="3392"/>
                  </a:lnTo>
                  <a:lnTo>
                    <a:pt x="539268" y="9431"/>
                  </a:lnTo>
                  <a:lnTo>
                    <a:pt x="545307" y="15470"/>
                  </a:lnTo>
                  <a:lnTo>
                    <a:pt x="548699" y="23660"/>
                  </a:lnTo>
                  <a:lnTo>
                    <a:pt x="548699" y="32200"/>
                  </a:lnTo>
                  <a:lnTo>
                    <a:pt x="548699" y="160999"/>
                  </a:lnTo>
                  <a:lnTo>
                    <a:pt x="546169" y="173533"/>
                  </a:lnTo>
                  <a:lnTo>
                    <a:pt x="539268" y="183768"/>
                  </a:lnTo>
                  <a:lnTo>
                    <a:pt x="529033" y="190669"/>
                  </a:lnTo>
                  <a:lnTo>
                    <a:pt x="516499" y="193199"/>
                  </a:lnTo>
                  <a:lnTo>
                    <a:pt x="32200" y="193199"/>
                  </a:lnTo>
                  <a:lnTo>
                    <a:pt x="19666" y="190669"/>
                  </a:lnTo>
                  <a:lnTo>
                    <a:pt x="9431" y="183768"/>
                  </a:lnTo>
                  <a:lnTo>
                    <a:pt x="2530" y="173533"/>
                  </a:lnTo>
                  <a:lnTo>
                    <a:pt x="0" y="160999"/>
                  </a:lnTo>
                  <a:lnTo>
                    <a:pt x="0" y="32200"/>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58" name="Google Shape;958;p73"/>
            <p:cNvSpPr/>
            <p:nvPr/>
          </p:nvSpPr>
          <p:spPr>
            <a:xfrm>
              <a:off x="5846599" y="2777999"/>
              <a:ext cx="751204" cy="99694"/>
            </a:xfrm>
            <a:custGeom>
              <a:avLst/>
              <a:gdLst/>
              <a:ahLst/>
              <a:cxnLst/>
              <a:rect l="l" t="t" r="r" b="b"/>
              <a:pathLst>
                <a:path w="751204" h="99694" extrusionOk="0">
                  <a:moveTo>
                    <a:pt x="49649" y="99299"/>
                  </a:moveTo>
                  <a:lnTo>
                    <a:pt x="0" y="49649"/>
                  </a:lnTo>
                  <a:lnTo>
                    <a:pt x="49649" y="0"/>
                  </a:lnTo>
                  <a:lnTo>
                    <a:pt x="49649" y="24824"/>
                  </a:lnTo>
                  <a:lnTo>
                    <a:pt x="750899" y="24824"/>
                  </a:lnTo>
                  <a:lnTo>
                    <a:pt x="750899" y="74474"/>
                  </a:lnTo>
                  <a:lnTo>
                    <a:pt x="49649" y="74474"/>
                  </a:lnTo>
                  <a:lnTo>
                    <a:pt x="49649" y="992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59" name="Google Shape;959;p73"/>
            <p:cNvSpPr/>
            <p:nvPr/>
          </p:nvSpPr>
          <p:spPr>
            <a:xfrm>
              <a:off x="5846599" y="2777999"/>
              <a:ext cx="751204" cy="99694"/>
            </a:xfrm>
            <a:custGeom>
              <a:avLst/>
              <a:gdLst/>
              <a:ahLst/>
              <a:cxnLst/>
              <a:rect l="l" t="t" r="r" b="b"/>
              <a:pathLst>
                <a:path w="751204" h="99694" extrusionOk="0">
                  <a:moveTo>
                    <a:pt x="750899" y="74474"/>
                  </a:moveTo>
                  <a:lnTo>
                    <a:pt x="49649" y="74474"/>
                  </a:lnTo>
                  <a:lnTo>
                    <a:pt x="49649" y="99299"/>
                  </a:lnTo>
                  <a:lnTo>
                    <a:pt x="0" y="49649"/>
                  </a:lnTo>
                  <a:lnTo>
                    <a:pt x="49649" y="0"/>
                  </a:lnTo>
                  <a:lnTo>
                    <a:pt x="49649" y="24824"/>
                  </a:lnTo>
                  <a:lnTo>
                    <a:pt x="750899" y="24824"/>
                  </a:lnTo>
                  <a:lnTo>
                    <a:pt x="750899" y="74474"/>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60" name="Google Shape;960;p73"/>
          <p:cNvSpPr txBox="1"/>
          <p:nvPr/>
        </p:nvSpPr>
        <p:spPr>
          <a:xfrm>
            <a:off x="7006882" y="2639846"/>
            <a:ext cx="1267500" cy="4131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No ground truth.</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P@1 = 0</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965"/>
        <p:cNvGrpSpPr/>
        <p:nvPr/>
      </p:nvGrpSpPr>
      <p:grpSpPr>
        <a:xfrm>
          <a:off x="0" y="0"/>
          <a:ext cx="0" cy="0"/>
          <a:chOff x="0" y="0"/>
          <a:chExt cx="0" cy="0"/>
        </a:xfrm>
      </p:grpSpPr>
      <p:sp>
        <p:nvSpPr>
          <p:cNvPr id="966" name="Google Shape;966;p74"/>
          <p:cNvSpPr/>
          <p:nvPr/>
        </p:nvSpPr>
        <p:spPr>
          <a:xfrm>
            <a:off x="2873225" y="2660250"/>
            <a:ext cx="216535" cy="1823720"/>
          </a:xfrm>
          <a:custGeom>
            <a:avLst/>
            <a:gdLst/>
            <a:ahLst/>
            <a:cxnLst/>
            <a:rect l="l" t="t" r="r" b="b"/>
            <a:pathLst>
              <a:path w="216535" h="1823720" extrusionOk="0">
                <a:moveTo>
                  <a:pt x="216054" y="1823399"/>
                </a:moveTo>
                <a:lnTo>
                  <a:pt x="166515" y="1817693"/>
                </a:lnTo>
                <a:lnTo>
                  <a:pt x="121039" y="1801439"/>
                </a:lnTo>
                <a:lnTo>
                  <a:pt x="80923" y="1775935"/>
                </a:lnTo>
                <a:lnTo>
                  <a:pt x="47464" y="1742476"/>
                </a:lnTo>
                <a:lnTo>
                  <a:pt x="21960" y="1702360"/>
                </a:lnTo>
                <a:lnTo>
                  <a:pt x="5706" y="1656885"/>
                </a:lnTo>
                <a:lnTo>
                  <a:pt x="0" y="1607345"/>
                </a:lnTo>
                <a:lnTo>
                  <a:pt x="0" y="216054"/>
                </a:lnTo>
                <a:lnTo>
                  <a:pt x="5706" y="166515"/>
                </a:lnTo>
                <a:lnTo>
                  <a:pt x="21960" y="121039"/>
                </a:lnTo>
                <a:lnTo>
                  <a:pt x="47464" y="80923"/>
                </a:lnTo>
                <a:lnTo>
                  <a:pt x="80923" y="47464"/>
                </a:lnTo>
                <a:lnTo>
                  <a:pt x="121039" y="21960"/>
                </a:lnTo>
                <a:lnTo>
                  <a:pt x="166515" y="5706"/>
                </a:lnTo>
                <a:lnTo>
                  <a:pt x="216054"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67" name="Google Shape;967;p74"/>
          <p:cNvSpPr/>
          <p:nvPr/>
        </p:nvSpPr>
        <p:spPr>
          <a:xfrm>
            <a:off x="3953470" y="2660250"/>
            <a:ext cx="216535" cy="1823720"/>
          </a:xfrm>
          <a:custGeom>
            <a:avLst/>
            <a:gdLst/>
            <a:ahLst/>
            <a:cxnLst/>
            <a:rect l="l" t="t" r="r" b="b"/>
            <a:pathLst>
              <a:path w="216535" h="1823720" extrusionOk="0">
                <a:moveTo>
                  <a:pt x="0" y="0"/>
                </a:moveTo>
                <a:lnTo>
                  <a:pt x="42346" y="4189"/>
                </a:lnTo>
                <a:lnTo>
                  <a:pt x="82680" y="16446"/>
                </a:lnTo>
                <a:lnTo>
                  <a:pt x="119867" y="36299"/>
                </a:lnTo>
                <a:lnTo>
                  <a:pt x="152773" y="63280"/>
                </a:lnTo>
                <a:lnTo>
                  <a:pt x="179754" y="96187"/>
                </a:lnTo>
                <a:lnTo>
                  <a:pt x="199608" y="133373"/>
                </a:lnTo>
                <a:lnTo>
                  <a:pt x="211864" y="173707"/>
                </a:lnTo>
                <a:lnTo>
                  <a:pt x="216054" y="216054"/>
                </a:lnTo>
                <a:lnTo>
                  <a:pt x="216054" y="1607345"/>
                </a:lnTo>
                <a:lnTo>
                  <a:pt x="210348" y="1656885"/>
                </a:lnTo>
                <a:lnTo>
                  <a:pt x="194094" y="1702360"/>
                </a:lnTo>
                <a:lnTo>
                  <a:pt x="168589" y="1742476"/>
                </a:lnTo>
                <a:lnTo>
                  <a:pt x="135130" y="1775935"/>
                </a:lnTo>
                <a:lnTo>
                  <a:pt x="95015" y="1801439"/>
                </a:lnTo>
                <a:lnTo>
                  <a:pt x="49539" y="1817693"/>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68" name="Google Shape;968;p74"/>
          <p:cNvSpPr/>
          <p:nvPr/>
        </p:nvSpPr>
        <p:spPr>
          <a:xfrm>
            <a:off x="5163075" y="2660250"/>
            <a:ext cx="114300" cy="1823720"/>
          </a:xfrm>
          <a:custGeom>
            <a:avLst/>
            <a:gdLst/>
            <a:ahLst/>
            <a:cxnLst/>
            <a:rect l="l" t="t" r="r" b="b"/>
            <a:pathLst>
              <a:path w="114300" h="1823720" extrusionOk="0">
                <a:moveTo>
                  <a:pt x="113902" y="1823399"/>
                </a:moveTo>
                <a:lnTo>
                  <a:pt x="69566" y="1814448"/>
                </a:lnTo>
                <a:lnTo>
                  <a:pt x="33361" y="1790038"/>
                </a:lnTo>
                <a:lnTo>
                  <a:pt x="8951" y="1753833"/>
                </a:lnTo>
                <a:lnTo>
                  <a:pt x="0" y="1709497"/>
                </a:lnTo>
                <a:lnTo>
                  <a:pt x="0" y="113902"/>
                </a:lnTo>
                <a:lnTo>
                  <a:pt x="8951" y="69566"/>
                </a:lnTo>
                <a:lnTo>
                  <a:pt x="33361" y="33361"/>
                </a:lnTo>
                <a:lnTo>
                  <a:pt x="69566" y="8950"/>
                </a:lnTo>
                <a:lnTo>
                  <a:pt x="113902" y="0"/>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69" name="Google Shape;969;p74"/>
          <p:cNvSpPr/>
          <p:nvPr/>
        </p:nvSpPr>
        <p:spPr>
          <a:xfrm>
            <a:off x="5732572" y="2660250"/>
            <a:ext cx="114300" cy="1823720"/>
          </a:xfrm>
          <a:custGeom>
            <a:avLst/>
            <a:gdLst/>
            <a:ahLst/>
            <a:cxnLst/>
            <a:rect l="l" t="t" r="r" b="b"/>
            <a:pathLst>
              <a:path w="114300" h="1823720" extrusionOk="0">
                <a:moveTo>
                  <a:pt x="0" y="0"/>
                </a:moveTo>
                <a:lnTo>
                  <a:pt x="22325" y="2208"/>
                </a:lnTo>
                <a:lnTo>
                  <a:pt x="43588" y="8670"/>
                </a:lnTo>
                <a:lnTo>
                  <a:pt x="80541" y="33361"/>
                </a:lnTo>
                <a:lnTo>
                  <a:pt x="105232" y="70313"/>
                </a:lnTo>
                <a:lnTo>
                  <a:pt x="113902" y="113902"/>
                </a:lnTo>
                <a:lnTo>
                  <a:pt x="113902" y="1709497"/>
                </a:lnTo>
                <a:lnTo>
                  <a:pt x="104951" y="1753833"/>
                </a:lnTo>
                <a:lnTo>
                  <a:pt x="80541" y="1790038"/>
                </a:lnTo>
                <a:lnTo>
                  <a:pt x="44336" y="1814448"/>
                </a:lnTo>
                <a:lnTo>
                  <a:pt x="0" y="1823399"/>
                </a:lnTo>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70" name="Google Shape;970;p74"/>
          <p:cNvSpPr txBox="1">
            <a:spLocks noGrp="1"/>
          </p:cNvSpPr>
          <p:nvPr>
            <p:ph type="title"/>
          </p:nvPr>
        </p:nvSpPr>
        <p:spPr>
          <a:xfrm>
            <a:off x="2624604" y="505350"/>
            <a:ext cx="38970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Evaluation of LM via LAMA</a:t>
            </a:r>
            <a:endParaRPr/>
          </a:p>
        </p:txBody>
      </p:sp>
      <p:sp>
        <p:nvSpPr>
          <p:cNvPr id="971" name="Google Shape;971;p74"/>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52</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72" name="Google Shape;972;p74"/>
          <p:cNvSpPr/>
          <p:nvPr/>
        </p:nvSpPr>
        <p:spPr>
          <a:xfrm>
            <a:off x="268200" y="1017724"/>
            <a:ext cx="8608060" cy="922019"/>
          </a:xfrm>
          <a:custGeom>
            <a:avLst/>
            <a:gdLst/>
            <a:ahLst/>
            <a:cxnLst/>
            <a:rect l="l" t="t" r="r" b="b"/>
            <a:pathLst>
              <a:path w="8608060" h="922019" extrusionOk="0">
                <a:moveTo>
                  <a:pt x="0" y="153652"/>
                </a:moveTo>
                <a:lnTo>
                  <a:pt x="7833" y="105086"/>
                </a:lnTo>
                <a:lnTo>
                  <a:pt x="29646" y="62907"/>
                </a:lnTo>
                <a:lnTo>
                  <a:pt x="62907" y="29646"/>
                </a:lnTo>
                <a:lnTo>
                  <a:pt x="105086" y="7833"/>
                </a:lnTo>
                <a:lnTo>
                  <a:pt x="153653" y="0"/>
                </a:lnTo>
                <a:lnTo>
                  <a:pt x="8453946" y="0"/>
                </a:lnTo>
                <a:lnTo>
                  <a:pt x="8512747" y="11696"/>
                </a:lnTo>
                <a:lnTo>
                  <a:pt x="8562595" y="45003"/>
                </a:lnTo>
                <a:lnTo>
                  <a:pt x="8595903" y="94852"/>
                </a:lnTo>
                <a:lnTo>
                  <a:pt x="8607599" y="153652"/>
                </a:lnTo>
                <a:lnTo>
                  <a:pt x="8607599" y="768246"/>
                </a:lnTo>
                <a:lnTo>
                  <a:pt x="8599766" y="816813"/>
                </a:lnTo>
                <a:lnTo>
                  <a:pt x="8577953" y="858992"/>
                </a:lnTo>
                <a:lnTo>
                  <a:pt x="8544692" y="892253"/>
                </a:lnTo>
                <a:lnTo>
                  <a:pt x="8502513" y="914066"/>
                </a:lnTo>
                <a:lnTo>
                  <a:pt x="8453946" y="921899"/>
                </a:lnTo>
                <a:lnTo>
                  <a:pt x="153653" y="921899"/>
                </a:lnTo>
                <a:lnTo>
                  <a:pt x="105086" y="914066"/>
                </a:lnTo>
                <a:lnTo>
                  <a:pt x="62907" y="892253"/>
                </a:lnTo>
                <a:lnTo>
                  <a:pt x="29646" y="858992"/>
                </a:lnTo>
                <a:lnTo>
                  <a:pt x="7833" y="816813"/>
                </a:lnTo>
                <a:lnTo>
                  <a:pt x="0" y="768246"/>
                </a:lnTo>
                <a:lnTo>
                  <a:pt x="0" y="153652"/>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73" name="Google Shape;973;p74"/>
          <p:cNvSpPr txBox="1"/>
          <p:nvPr/>
        </p:nvSpPr>
        <p:spPr>
          <a:xfrm>
            <a:off x="743748" y="1180605"/>
            <a:ext cx="7657500" cy="568800"/>
          </a:xfrm>
          <a:prstGeom prst="rect">
            <a:avLst/>
          </a:prstGeom>
          <a:noFill/>
          <a:ln>
            <a:noFill/>
          </a:ln>
        </p:spPr>
        <p:txBody>
          <a:bodyPr spcFirstLastPara="1" wrap="square" lIns="0" tIns="12700" rIns="0" bIns="0" anchor="t" anchorCtr="0">
            <a:spAutoFit/>
          </a:bodyPr>
          <a:lstStyle/>
          <a:p>
            <a:pPr marL="635"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Given a cloze statement that queries the model for a missing token,</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5"/>
              </a:spcBef>
              <a:spcAft>
                <a:spcPts val="0"/>
              </a:spcAft>
              <a:buClr>
                <a:srgbClr val="000000"/>
              </a:buClr>
              <a:buSzPts val="1800"/>
              <a:buFont typeface="Arial"/>
              <a:buNone/>
              <a:tabLst/>
              <a:defRPr/>
            </a:pPr>
            <a:r>
              <a:rPr kumimoji="0" lang="en-US" altLang="zh-CN" sz="18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knowledgeable LMs rank ground truth tokens high </a:t>
            </a:r>
            <a:r>
              <a:rPr kumimoji="0" lang="en-US" altLang="zh-CN"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and other tokens lower</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74" name="Google Shape;974;p74"/>
          <p:cNvSpPr/>
          <p:nvPr/>
        </p:nvSpPr>
        <p:spPr>
          <a:xfrm>
            <a:off x="4786308" y="2157306"/>
            <a:ext cx="666114" cy="205739"/>
          </a:xfrm>
          <a:custGeom>
            <a:avLst/>
            <a:gdLst/>
            <a:ahLst/>
            <a:cxnLst/>
            <a:rect l="l" t="t" r="r" b="b"/>
            <a:pathLst>
              <a:path w="666114" h="205739" extrusionOk="0">
                <a:moveTo>
                  <a:pt x="665606" y="205739"/>
                </a:moveTo>
                <a:lnTo>
                  <a:pt x="0" y="205739"/>
                </a:lnTo>
                <a:lnTo>
                  <a:pt x="0" y="0"/>
                </a:lnTo>
                <a:lnTo>
                  <a:pt x="665606" y="0"/>
                </a:lnTo>
                <a:lnTo>
                  <a:pt x="665606" y="20573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75" name="Google Shape;975;p74"/>
          <p:cNvSpPr txBox="1"/>
          <p:nvPr/>
        </p:nvSpPr>
        <p:spPr>
          <a:xfrm>
            <a:off x="2735070" y="2118698"/>
            <a:ext cx="2850000" cy="474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zh-CN" altLang="en-US" sz="15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500" b="1" i="0" u="none" strike="noStrike" kern="0" cap="none" spc="0" normalizeH="0" baseline="0" noProof="0">
                <a:ln>
                  <a:noFill/>
                </a:ln>
                <a:solidFill>
                  <a:srgbClr val="000000"/>
                </a:solidFill>
                <a:effectLst/>
                <a:uLnTx/>
                <a:uFillTx/>
                <a:latin typeface="Cambria"/>
                <a:ea typeface="Cambria"/>
                <a:cs typeface="Cambria"/>
                <a:sym typeface="Cambria"/>
              </a:rPr>
              <a:t>The color of the sky is [MASK].”</a:t>
            </a:r>
            <a:endParaRPr kumimoji="0" sz="15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76" name="Google Shape;976;p74"/>
          <p:cNvSpPr txBox="1"/>
          <p:nvPr/>
        </p:nvSpPr>
        <p:spPr>
          <a:xfrm>
            <a:off x="5331729" y="2680346"/>
            <a:ext cx="346800" cy="455400"/>
          </a:xfrm>
          <a:prstGeom prst="rect">
            <a:avLst/>
          </a:prstGeom>
          <a:noFill/>
          <a:ln>
            <a:noFill/>
          </a:ln>
        </p:spPr>
        <p:txBody>
          <a:bodyPr spcFirstLastPara="1" wrap="square" lIns="0" tIns="27300" rIns="0" bIns="0" anchor="t" anchorCtr="0">
            <a:spAutoFit/>
          </a:bodyPr>
          <a:lstStyle/>
          <a:p>
            <a:pPr marL="49530" marR="5080" lvl="0" indent="-37465" algn="l"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grey  red</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77" name="Google Shape;977;p74"/>
          <p:cNvSpPr txBox="1"/>
          <p:nvPr/>
        </p:nvSpPr>
        <p:spPr>
          <a:xfrm>
            <a:off x="5335434" y="3084003"/>
            <a:ext cx="351900" cy="200100"/>
          </a:xfrm>
          <a:prstGeom prst="rect">
            <a:avLst/>
          </a:prstGeom>
          <a:solidFill>
            <a:srgbClr val="B6D7A8"/>
          </a:solidFill>
          <a:ln>
            <a:noFill/>
          </a:ln>
        </p:spPr>
        <p:txBody>
          <a:bodyPr spcFirstLastPara="1" wrap="square" lIns="0" tIns="0" rIns="0" bIns="0" anchor="t" anchorCtr="0">
            <a:spAutoFit/>
          </a:bodyPr>
          <a:lstStyle/>
          <a:p>
            <a:pPr marL="0" marR="0" lvl="0" indent="0" algn="l" defTabSz="914400" rtl="0" eaLnBrk="1" fontAlgn="auto" latinLnBrk="0" hangingPunct="1">
              <a:lnSpc>
                <a:spcPct val="111153"/>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78" name="Google Shape;978;p74"/>
          <p:cNvSpPr txBox="1"/>
          <p:nvPr/>
        </p:nvSpPr>
        <p:spPr>
          <a:xfrm>
            <a:off x="5301690" y="3244988"/>
            <a:ext cx="406500" cy="1367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5080" lvl="0" indent="46355" algn="just" defTabSz="914400" rtl="0" eaLnBrk="1" fontAlgn="auto" latinLnBrk="0" hangingPunct="1">
              <a:lnSpc>
                <a:spcPct val="113846"/>
              </a:lnSpc>
              <a:spcBef>
                <a:spcPts val="75"/>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grass  pear</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79" name="Google Shape;979;p74"/>
          <p:cNvSpPr txBox="1"/>
          <p:nvPr/>
        </p:nvSpPr>
        <p:spPr>
          <a:xfrm>
            <a:off x="2705800" y="4649665"/>
            <a:ext cx="14790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probability scores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980" name="Google Shape;980;p74"/>
          <p:cNvGrpSpPr/>
          <p:nvPr/>
        </p:nvGrpSpPr>
        <p:grpSpPr>
          <a:xfrm>
            <a:off x="596075" y="3253800"/>
            <a:ext cx="1397635" cy="751839"/>
            <a:chOff x="596075" y="3253800"/>
            <a:chExt cx="1397635" cy="751839"/>
          </a:xfrm>
        </p:grpSpPr>
        <p:sp>
          <p:nvSpPr>
            <p:cNvPr id="981" name="Google Shape;981;p74"/>
            <p:cNvSpPr/>
            <p:nvPr/>
          </p:nvSpPr>
          <p:spPr>
            <a:xfrm>
              <a:off x="596075" y="3253800"/>
              <a:ext cx="1397635" cy="751839"/>
            </a:xfrm>
            <a:custGeom>
              <a:avLst/>
              <a:gdLst/>
              <a:ahLst/>
              <a:cxnLst/>
              <a:rect l="l" t="t" r="r" b="b"/>
              <a:pathLst>
                <a:path w="1397635" h="751839" extrusionOk="0">
                  <a:moveTo>
                    <a:pt x="1272147" y="751499"/>
                  </a:moveTo>
                  <a:lnTo>
                    <a:pt x="125252" y="751499"/>
                  </a:lnTo>
                  <a:lnTo>
                    <a:pt x="76498" y="741657"/>
                  </a:lnTo>
                  <a:lnTo>
                    <a:pt x="36685" y="714814"/>
                  </a:lnTo>
                  <a:lnTo>
                    <a:pt x="9842" y="675001"/>
                  </a:lnTo>
                  <a:lnTo>
                    <a:pt x="0" y="626247"/>
                  </a:lnTo>
                  <a:lnTo>
                    <a:pt x="0" y="125252"/>
                  </a:ln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82" name="Google Shape;982;p74"/>
            <p:cNvSpPr/>
            <p:nvPr/>
          </p:nvSpPr>
          <p:spPr>
            <a:xfrm>
              <a:off x="596075" y="3253800"/>
              <a:ext cx="1397635" cy="751839"/>
            </a:xfrm>
            <a:custGeom>
              <a:avLst/>
              <a:gdLst/>
              <a:ahLst/>
              <a:cxnLst/>
              <a:rect l="l" t="t" r="r" b="b"/>
              <a:pathLst>
                <a:path w="1397635" h="751839" extrusionOk="0">
                  <a:moveTo>
                    <a:pt x="0" y="125252"/>
                  </a:moveTo>
                  <a:lnTo>
                    <a:pt x="9842" y="76498"/>
                  </a:lnTo>
                  <a:lnTo>
                    <a:pt x="36685" y="36685"/>
                  </a:lnTo>
                  <a:lnTo>
                    <a:pt x="76498" y="9842"/>
                  </a:lnTo>
                  <a:lnTo>
                    <a:pt x="125252" y="0"/>
                  </a:lnTo>
                  <a:lnTo>
                    <a:pt x="1272147" y="0"/>
                  </a:lnTo>
                  <a:lnTo>
                    <a:pt x="1320079" y="9534"/>
                  </a:lnTo>
                  <a:lnTo>
                    <a:pt x="1360714" y="36685"/>
                  </a:lnTo>
                  <a:lnTo>
                    <a:pt x="1387865" y="77320"/>
                  </a:lnTo>
                  <a:lnTo>
                    <a:pt x="1397399" y="125252"/>
                  </a:lnTo>
                  <a:lnTo>
                    <a:pt x="1397399" y="626247"/>
                  </a:lnTo>
                  <a:lnTo>
                    <a:pt x="1387557" y="675001"/>
                  </a:lnTo>
                  <a:lnTo>
                    <a:pt x="1360714" y="714814"/>
                  </a:lnTo>
                  <a:lnTo>
                    <a:pt x="1320901" y="741657"/>
                  </a:lnTo>
                  <a:lnTo>
                    <a:pt x="1272147" y="751499"/>
                  </a:lnTo>
                  <a:lnTo>
                    <a:pt x="125252" y="751499"/>
                  </a:lnTo>
                  <a:lnTo>
                    <a:pt x="76498" y="741657"/>
                  </a:lnTo>
                  <a:lnTo>
                    <a:pt x="36685" y="714814"/>
                  </a:lnTo>
                  <a:lnTo>
                    <a:pt x="9842" y="675001"/>
                  </a:lnTo>
                  <a:lnTo>
                    <a:pt x="0" y="626247"/>
                  </a:lnTo>
                  <a:lnTo>
                    <a:pt x="0" y="125252"/>
                  </a:lnTo>
                  <a:close/>
                </a:path>
              </a:pathLst>
            </a:custGeom>
            <a:noFill/>
            <a:ln w="28550"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83" name="Google Shape;983;p74"/>
          <p:cNvSpPr txBox="1"/>
          <p:nvPr/>
        </p:nvSpPr>
        <p:spPr>
          <a:xfrm>
            <a:off x="897887" y="3400188"/>
            <a:ext cx="795000" cy="492600"/>
          </a:xfrm>
          <a:prstGeom prst="rect">
            <a:avLst/>
          </a:prstGeom>
          <a:noFill/>
          <a:ln>
            <a:noFill/>
          </a:ln>
        </p:spPr>
        <p:txBody>
          <a:bodyPr spcFirstLastPara="1" wrap="square" lIns="0" tIns="22850" rIns="0" bIns="0" anchor="t" anchorCtr="0">
            <a:spAutoFit/>
          </a:bodyPr>
          <a:lstStyle/>
          <a:p>
            <a:pPr marL="36195" marR="5080" lvl="0" indent="-24128" algn="l" defTabSz="914400" rtl="0" eaLnBrk="1" fontAlgn="auto" latinLnBrk="0" hangingPunct="1">
              <a:lnSpc>
                <a:spcPct val="117857"/>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Language  Model #2</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84" name="Google Shape;984;p74"/>
          <p:cNvGrpSpPr/>
          <p:nvPr/>
        </p:nvGrpSpPr>
        <p:grpSpPr>
          <a:xfrm>
            <a:off x="1267174" y="2228525"/>
            <a:ext cx="1235075" cy="930275"/>
            <a:chOff x="1267174" y="2228525"/>
            <a:chExt cx="1235075" cy="930275"/>
          </a:xfrm>
        </p:grpSpPr>
        <p:sp>
          <p:nvSpPr>
            <p:cNvPr id="985" name="Google Shape;985;p74"/>
            <p:cNvSpPr/>
            <p:nvPr/>
          </p:nvSpPr>
          <p:spPr>
            <a:xfrm>
              <a:off x="1267174" y="2228525"/>
              <a:ext cx="1235075" cy="930275"/>
            </a:xfrm>
            <a:custGeom>
              <a:avLst/>
              <a:gdLst/>
              <a:ahLst/>
              <a:cxnLst/>
              <a:rect l="l" t="t" r="r" b="b"/>
              <a:pathLst>
                <a:path w="1235075" h="930275" extrusionOk="0">
                  <a:moveTo>
                    <a:pt x="110042" y="829950"/>
                  </a:moveTo>
                  <a:lnTo>
                    <a:pt x="40152" y="829950"/>
                  </a:lnTo>
                  <a:lnTo>
                    <a:pt x="40152" y="374827"/>
                  </a:lnTo>
                  <a:lnTo>
                    <a:pt x="43073" y="327809"/>
                  </a:lnTo>
                  <a:lnTo>
                    <a:pt x="51600" y="282534"/>
                  </a:lnTo>
                  <a:lnTo>
                    <a:pt x="65382" y="239354"/>
                  </a:lnTo>
                  <a:lnTo>
                    <a:pt x="84069" y="198618"/>
                  </a:lnTo>
                  <a:lnTo>
                    <a:pt x="107309" y="160680"/>
                  </a:lnTo>
                  <a:lnTo>
                    <a:pt x="134750" y="125889"/>
                  </a:lnTo>
                  <a:lnTo>
                    <a:pt x="166042" y="94597"/>
                  </a:lnTo>
                  <a:lnTo>
                    <a:pt x="200833" y="67156"/>
                  </a:lnTo>
                  <a:lnTo>
                    <a:pt x="238771" y="43916"/>
                  </a:lnTo>
                  <a:lnTo>
                    <a:pt x="279507" y="25230"/>
                  </a:lnTo>
                  <a:lnTo>
                    <a:pt x="322687" y="11447"/>
                  </a:lnTo>
                  <a:lnTo>
                    <a:pt x="367962" y="2920"/>
                  </a:lnTo>
                  <a:lnTo>
                    <a:pt x="414979" y="0"/>
                  </a:lnTo>
                  <a:lnTo>
                    <a:pt x="1234799" y="0"/>
                  </a:lnTo>
                  <a:lnTo>
                    <a:pt x="1234799" y="69889"/>
                  </a:lnTo>
                  <a:lnTo>
                    <a:pt x="414979" y="69889"/>
                  </a:lnTo>
                  <a:lnTo>
                    <a:pt x="365517" y="73880"/>
                  </a:lnTo>
                  <a:lnTo>
                    <a:pt x="318596" y="85435"/>
                  </a:lnTo>
                  <a:lnTo>
                    <a:pt x="274843" y="103926"/>
                  </a:lnTo>
                  <a:lnTo>
                    <a:pt x="234887" y="128724"/>
                  </a:lnTo>
                  <a:lnTo>
                    <a:pt x="199356" y="159203"/>
                  </a:lnTo>
                  <a:lnTo>
                    <a:pt x="168877" y="194734"/>
                  </a:lnTo>
                  <a:lnTo>
                    <a:pt x="144078" y="234690"/>
                  </a:lnTo>
                  <a:lnTo>
                    <a:pt x="125588" y="278443"/>
                  </a:lnTo>
                  <a:lnTo>
                    <a:pt x="114033" y="325364"/>
                  </a:lnTo>
                  <a:lnTo>
                    <a:pt x="110042" y="374827"/>
                  </a:lnTo>
                  <a:lnTo>
                    <a:pt x="110042" y="829950"/>
                  </a:lnTo>
                  <a:close/>
                </a:path>
                <a:path w="1235075" h="930275" extrusionOk="0">
                  <a:moveTo>
                    <a:pt x="75097" y="929999"/>
                  </a:moveTo>
                  <a:lnTo>
                    <a:pt x="0" y="829950"/>
                  </a:lnTo>
                  <a:lnTo>
                    <a:pt x="150194" y="829950"/>
                  </a:lnTo>
                  <a:lnTo>
                    <a:pt x="75097" y="929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86" name="Google Shape;986;p74"/>
            <p:cNvSpPr/>
            <p:nvPr/>
          </p:nvSpPr>
          <p:spPr>
            <a:xfrm>
              <a:off x="1267174" y="2228525"/>
              <a:ext cx="1235075" cy="930275"/>
            </a:xfrm>
            <a:custGeom>
              <a:avLst/>
              <a:gdLst/>
              <a:ahLst/>
              <a:cxnLst/>
              <a:rect l="l" t="t" r="r" b="b"/>
              <a:pathLst>
                <a:path w="1235075" h="930275" extrusionOk="0">
                  <a:moveTo>
                    <a:pt x="1234799" y="0"/>
                  </a:moveTo>
                  <a:lnTo>
                    <a:pt x="414979" y="0"/>
                  </a:lnTo>
                  <a:lnTo>
                    <a:pt x="367962" y="2920"/>
                  </a:lnTo>
                  <a:lnTo>
                    <a:pt x="322687" y="11447"/>
                  </a:lnTo>
                  <a:lnTo>
                    <a:pt x="279507" y="25230"/>
                  </a:lnTo>
                  <a:lnTo>
                    <a:pt x="238771" y="43916"/>
                  </a:lnTo>
                  <a:lnTo>
                    <a:pt x="200833" y="67156"/>
                  </a:lnTo>
                  <a:lnTo>
                    <a:pt x="166042" y="94597"/>
                  </a:lnTo>
                  <a:lnTo>
                    <a:pt x="134750" y="125889"/>
                  </a:lnTo>
                  <a:lnTo>
                    <a:pt x="107309" y="160680"/>
                  </a:lnTo>
                  <a:lnTo>
                    <a:pt x="84069" y="198618"/>
                  </a:lnTo>
                  <a:lnTo>
                    <a:pt x="65382" y="239354"/>
                  </a:lnTo>
                  <a:lnTo>
                    <a:pt x="51600" y="282534"/>
                  </a:lnTo>
                  <a:lnTo>
                    <a:pt x="43073" y="327809"/>
                  </a:lnTo>
                  <a:lnTo>
                    <a:pt x="40152" y="374827"/>
                  </a:lnTo>
                  <a:lnTo>
                    <a:pt x="40152" y="829950"/>
                  </a:lnTo>
                  <a:lnTo>
                    <a:pt x="0" y="829950"/>
                  </a:lnTo>
                  <a:lnTo>
                    <a:pt x="75097" y="929999"/>
                  </a:lnTo>
                  <a:lnTo>
                    <a:pt x="150194" y="829950"/>
                  </a:lnTo>
                  <a:lnTo>
                    <a:pt x="110042" y="829950"/>
                  </a:lnTo>
                  <a:lnTo>
                    <a:pt x="110042" y="374827"/>
                  </a:lnTo>
                  <a:lnTo>
                    <a:pt x="114033" y="325364"/>
                  </a:lnTo>
                  <a:lnTo>
                    <a:pt x="125588" y="278443"/>
                  </a:lnTo>
                  <a:lnTo>
                    <a:pt x="144078" y="234690"/>
                  </a:lnTo>
                  <a:lnTo>
                    <a:pt x="168877" y="194734"/>
                  </a:lnTo>
                  <a:lnTo>
                    <a:pt x="199356" y="159203"/>
                  </a:lnTo>
                  <a:lnTo>
                    <a:pt x="234887" y="128724"/>
                  </a:lnTo>
                  <a:lnTo>
                    <a:pt x="274843" y="103926"/>
                  </a:lnTo>
                  <a:lnTo>
                    <a:pt x="318596" y="85435"/>
                  </a:lnTo>
                  <a:lnTo>
                    <a:pt x="365517" y="73880"/>
                  </a:lnTo>
                  <a:lnTo>
                    <a:pt x="414979" y="69889"/>
                  </a:lnTo>
                  <a:lnTo>
                    <a:pt x="1234799" y="69889"/>
                  </a:lnTo>
                  <a:lnTo>
                    <a:pt x="1234799" y="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987" name="Google Shape;987;p74"/>
          <p:cNvGrpSpPr/>
          <p:nvPr/>
        </p:nvGrpSpPr>
        <p:grpSpPr>
          <a:xfrm>
            <a:off x="2234600" y="3526925"/>
            <a:ext cx="397510" cy="193675"/>
            <a:chOff x="2234600" y="3526925"/>
            <a:chExt cx="397510" cy="193675"/>
          </a:xfrm>
        </p:grpSpPr>
        <p:sp>
          <p:nvSpPr>
            <p:cNvPr id="988" name="Google Shape;988;p74"/>
            <p:cNvSpPr/>
            <p:nvPr/>
          </p:nvSpPr>
          <p:spPr>
            <a:xfrm>
              <a:off x="223460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89" name="Google Shape;989;p74"/>
            <p:cNvSpPr/>
            <p:nvPr/>
          </p:nvSpPr>
          <p:spPr>
            <a:xfrm>
              <a:off x="223460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90" name="Google Shape;990;p74"/>
          <p:cNvSpPr/>
          <p:nvPr/>
        </p:nvSpPr>
        <p:spPr>
          <a:xfrm>
            <a:off x="3053016" y="2895789"/>
            <a:ext cx="339089" cy="188594"/>
          </a:xfrm>
          <a:custGeom>
            <a:avLst/>
            <a:gdLst/>
            <a:ahLst/>
            <a:cxnLst/>
            <a:rect l="l" t="t" r="r" b="b"/>
            <a:pathLst>
              <a:path w="339089" h="188594" extrusionOk="0">
                <a:moveTo>
                  <a:pt x="338680" y="188213"/>
                </a:moveTo>
                <a:lnTo>
                  <a:pt x="0" y="188213"/>
                </a:lnTo>
                <a:lnTo>
                  <a:pt x="0" y="0"/>
                </a:lnTo>
                <a:lnTo>
                  <a:pt x="338680" y="0"/>
                </a:lnTo>
                <a:lnTo>
                  <a:pt x="338680" y="188213"/>
                </a:lnTo>
                <a:close/>
              </a:path>
            </a:pathLst>
          </a:custGeom>
          <a:solidFill>
            <a:srgbClr val="B6D7A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91" name="Google Shape;991;p74"/>
          <p:cNvSpPr txBox="1"/>
          <p:nvPr/>
        </p:nvSpPr>
        <p:spPr>
          <a:xfrm>
            <a:off x="3090986" y="2680346"/>
            <a:ext cx="8127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Bob: 0.1%</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92" name="Google Shape;992;p74"/>
          <p:cNvSpPr txBox="1"/>
          <p:nvPr/>
        </p:nvSpPr>
        <p:spPr>
          <a:xfrm>
            <a:off x="3040316" y="2868560"/>
            <a:ext cx="8142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blue:  </a:t>
            </a: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15%</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993" name="Google Shape;993;p74"/>
          <p:cNvSpPr txBox="1"/>
          <p:nvPr/>
        </p:nvSpPr>
        <p:spPr>
          <a:xfrm>
            <a:off x="2998229" y="3056774"/>
            <a:ext cx="1070700" cy="1585800"/>
          </a:xfrm>
          <a:prstGeom prst="rect">
            <a:avLst/>
          </a:prstGeom>
          <a:noFill/>
          <a:ln>
            <a:noFill/>
          </a:ln>
        </p:spPr>
        <p:txBody>
          <a:bodyPr spcFirstLastPara="1" wrap="square" lIns="0" tIns="12700" rIns="0" bIns="0" anchor="t" anchorCtr="0">
            <a:spAutoFit/>
          </a:bodyPr>
          <a:lstStyle/>
          <a:p>
            <a:pPr marL="0" marR="71755"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red: 18%</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7493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grass: 0.04%</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685"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grey: 30%</a:t>
            </a:r>
            <a:endParaRPr kumimoji="0" sz="13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83820" lvl="0" indent="0" algn="ctr" defTabSz="914400" rtl="0" eaLnBrk="1" fontAlgn="auto" latinLnBrk="0" hangingPunct="1">
              <a:lnSpc>
                <a:spcPct val="113846"/>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50165" marR="0" lvl="0" indent="0" algn="ctr" defTabSz="914400" rtl="0" eaLnBrk="1" fontAlgn="auto" latinLnBrk="0" hangingPunct="1">
              <a:lnSpc>
                <a:spcPct val="116923"/>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pear: 0.003%</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994" name="Google Shape;994;p74"/>
          <p:cNvGrpSpPr/>
          <p:nvPr/>
        </p:nvGrpSpPr>
        <p:grpSpPr>
          <a:xfrm>
            <a:off x="4467550" y="3526925"/>
            <a:ext cx="397510" cy="193675"/>
            <a:chOff x="4467550" y="3526925"/>
            <a:chExt cx="397510" cy="193675"/>
          </a:xfrm>
        </p:grpSpPr>
        <p:sp>
          <p:nvSpPr>
            <p:cNvPr id="995" name="Google Shape;995;p74"/>
            <p:cNvSpPr/>
            <p:nvPr/>
          </p:nvSpPr>
          <p:spPr>
            <a:xfrm>
              <a:off x="4467550" y="3526925"/>
              <a:ext cx="397510" cy="193675"/>
            </a:xfrm>
            <a:custGeom>
              <a:avLst/>
              <a:gdLst/>
              <a:ahLst/>
              <a:cxnLst/>
              <a:rect l="l" t="t" r="r" b="b"/>
              <a:pathLst>
                <a:path w="397510" h="193675" extrusionOk="0">
                  <a:moveTo>
                    <a:pt x="300899" y="193199"/>
                  </a:moveTo>
                  <a:lnTo>
                    <a:pt x="300899" y="144899"/>
                  </a:lnTo>
                  <a:lnTo>
                    <a:pt x="0" y="144899"/>
                  </a:lnTo>
                  <a:lnTo>
                    <a:pt x="0" y="48299"/>
                  </a:lnTo>
                  <a:lnTo>
                    <a:pt x="300899" y="48299"/>
                  </a:lnTo>
                  <a:lnTo>
                    <a:pt x="300899" y="0"/>
                  </a:lnTo>
                  <a:lnTo>
                    <a:pt x="397499" y="96599"/>
                  </a:lnTo>
                  <a:lnTo>
                    <a:pt x="300899" y="1931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96" name="Google Shape;996;p74"/>
            <p:cNvSpPr/>
            <p:nvPr/>
          </p:nvSpPr>
          <p:spPr>
            <a:xfrm>
              <a:off x="4467550" y="3526925"/>
              <a:ext cx="397510" cy="193675"/>
            </a:xfrm>
            <a:custGeom>
              <a:avLst/>
              <a:gdLst/>
              <a:ahLst/>
              <a:cxnLst/>
              <a:rect l="l" t="t" r="r" b="b"/>
              <a:pathLst>
                <a:path w="397510" h="193675" extrusionOk="0">
                  <a:moveTo>
                    <a:pt x="0" y="48299"/>
                  </a:moveTo>
                  <a:lnTo>
                    <a:pt x="300899" y="48299"/>
                  </a:lnTo>
                  <a:lnTo>
                    <a:pt x="300899" y="0"/>
                  </a:lnTo>
                  <a:lnTo>
                    <a:pt x="397499" y="96599"/>
                  </a:lnTo>
                  <a:lnTo>
                    <a:pt x="300899" y="193199"/>
                  </a:lnTo>
                  <a:lnTo>
                    <a:pt x="300899" y="144899"/>
                  </a:lnTo>
                  <a:lnTo>
                    <a:pt x="0" y="144899"/>
                  </a:lnTo>
                  <a:lnTo>
                    <a:pt x="0" y="482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997" name="Google Shape;997;p74"/>
          <p:cNvSpPr txBox="1"/>
          <p:nvPr/>
        </p:nvSpPr>
        <p:spPr>
          <a:xfrm>
            <a:off x="5135556" y="4642415"/>
            <a:ext cx="739200" cy="2226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595959"/>
                </a:solidFill>
                <a:effectLst/>
                <a:uLnTx/>
                <a:uFillTx/>
                <a:latin typeface="Cambria"/>
                <a:ea typeface="Cambria"/>
                <a:cs typeface="Cambria"/>
                <a:sym typeface="Cambria"/>
              </a:rPr>
              <a:t>rankings</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998" name="Google Shape;998;p74"/>
          <p:cNvSpPr txBox="1"/>
          <p:nvPr/>
        </p:nvSpPr>
        <p:spPr>
          <a:xfrm>
            <a:off x="6692783" y="2137666"/>
            <a:ext cx="1959600" cy="430200"/>
          </a:xfrm>
          <a:prstGeom prst="rect">
            <a:avLst/>
          </a:prstGeom>
          <a:noFill/>
          <a:ln>
            <a:noFill/>
          </a:ln>
        </p:spPr>
        <p:txBody>
          <a:bodyPr spcFirstLastPara="1" wrap="square" lIns="0" tIns="146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50"/>
              <a:buFont typeface="Arial"/>
              <a:buNone/>
              <a:tabLst/>
              <a:defRPr/>
            </a:pP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P@</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3</a:t>
            </a:r>
            <a:r>
              <a:rPr kumimoji="0" lang="en-US" altLang="zh-CN" sz="1350" b="1" i="0" u="none" strike="noStrike" kern="0" cap="none" spc="0" normalizeH="0" baseline="0" noProof="0">
                <a:ln>
                  <a:noFill/>
                </a:ln>
                <a:solidFill>
                  <a:srgbClr val="000000"/>
                </a:solidFill>
                <a:effectLst/>
                <a:uLnTx/>
                <a:uFillTx/>
                <a:latin typeface="Cambria"/>
                <a:ea typeface="Cambria"/>
                <a:cs typeface="Cambria"/>
                <a:sym typeface="Cambria"/>
              </a:rPr>
              <a:t>: precision at </a:t>
            </a:r>
            <a:r>
              <a:rPr kumimoji="0" lang="en-US" altLang="zh-CN" sz="1350" b="1" i="0" u="none" strike="noStrike" kern="0" cap="none" spc="0" normalizeH="0" baseline="0" noProof="0">
                <a:ln>
                  <a:noFill/>
                </a:ln>
                <a:solidFill>
                  <a:srgbClr val="E69137"/>
                </a:solidFill>
                <a:effectLst/>
                <a:uLnTx/>
                <a:uFillTx/>
                <a:latin typeface="Cambria"/>
                <a:ea typeface="Cambria"/>
                <a:cs typeface="Cambria"/>
                <a:sym typeface="Cambria"/>
              </a:rPr>
              <a:t>rank 3</a:t>
            </a:r>
            <a:endParaRPr kumimoji="0" sz="135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999" name="Google Shape;999;p74"/>
          <p:cNvGrpSpPr/>
          <p:nvPr/>
        </p:nvGrpSpPr>
        <p:grpSpPr>
          <a:xfrm>
            <a:off x="5230424" y="2731049"/>
            <a:ext cx="1367379" cy="572770"/>
            <a:chOff x="5230424" y="2731049"/>
            <a:chExt cx="1367379" cy="572770"/>
          </a:xfrm>
        </p:grpSpPr>
        <p:sp>
          <p:nvSpPr>
            <p:cNvPr id="1000" name="Google Shape;1000;p74"/>
            <p:cNvSpPr/>
            <p:nvPr/>
          </p:nvSpPr>
          <p:spPr>
            <a:xfrm>
              <a:off x="5230424" y="2731049"/>
              <a:ext cx="549275" cy="572770"/>
            </a:xfrm>
            <a:custGeom>
              <a:avLst/>
              <a:gdLst/>
              <a:ahLst/>
              <a:cxnLst/>
              <a:rect l="l" t="t" r="r" b="b"/>
              <a:pathLst>
                <a:path w="549275" h="572770" extrusionOk="0">
                  <a:moveTo>
                    <a:pt x="457247" y="572699"/>
                  </a:moveTo>
                  <a:lnTo>
                    <a:pt x="91451" y="572699"/>
                  </a:lnTo>
                  <a:lnTo>
                    <a:pt x="55854" y="565513"/>
                  </a:lnTo>
                  <a:lnTo>
                    <a:pt x="26785" y="545914"/>
                  </a:lnTo>
                  <a:lnTo>
                    <a:pt x="7186" y="516845"/>
                  </a:lnTo>
                  <a:lnTo>
                    <a:pt x="0" y="481248"/>
                  </a:lnTo>
                  <a:lnTo>
                    <a:pt x="0" y="91451"/>
                  </a:lnTo>
                  <a:lnTo>
                    <a:pt x="7186" y="55854"/>
                  </a:lnTo>
                  <a:lnTo>
                    <a:pt x="26785" y="26785"/>
                  </a:lnTo>
                  <a:lnTo>
                    <a:pt x="55854" y="7186"/>
                  </a:lnTo>
                  <a:lnTo>
                    <a:pt x="91451" y="0"/>
                  </a:lnTo>
                  <a:lnTo>
                    <a:pt x="457247" y="0"/>
                  </a:lnTo>
                  <a:lnTo>
                    <a:pt x="507985" y="15365"/>
                  </a:lnTo>
                  <a:lnTo>
                    <a:pt x="541738" y="56454"/>
                  </a:lnTo>
                  <a:lnTo>
                    <a:pt x="548699" y="91451"/>
                  </a:lnTo>
                  <a:lnTo>
                    <a:pt x="548699" y="481248"/>
                  </a:lnTo>
                  <a:lnTo>
                    <a:pt x="541513" y="516845"/>
                  </a:lnTo>
                  <a:lnTo>
                    <a:pt x="521914" y="545914"/>
                  </a:lnTo>
                  <a:lnTo>
                    <a:pt x="492845" y="565513"/>
                  </a:lnTo>
                  <a:lnTo>
                    <a:pt x="457247" y="5726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01" name="Google Shape;1001;p74"/>
            <p:cNvSpPr/>
            <p:nvPr/>
          </p:nvSpPr>
          <p:spPr>
            <a:xfrm>
              <a:off x="5230424" y="2731049"/>
              <a:ext cx="549275" cy="572770"/>
            </a:xfrm>
            <a:custGeom>
              <a:avLst/>
              <a:gdLst/>
              <a:ahLst/>
              <a:cxnLst/>
              <a:rect l="l" t="t" r="r" b="b"/>
              <a:pathLst>
                <a:path w="549275" h="572770" extrusionOk="0">
                  <a:moveTo>
                    <a:pt x="0" y="91451"/>
                  </a:moveTo>
                  <a:lnTo>
                    <a:pt x="7186" y="55854"/>
                  </a:lnTo>
                  <a:lnTo>
                    <a:pt x="26785" y="26785"/>
                  </a:lnTo>
                  <a:lnTo>
                    <a:pt x="55854" y="7186"/>
                  </a:lnTo>
                  <a:lnTo>
                    <a:pt x="91451" y="0"/>
                  </a:lnTo>
                  <a:lnTo>
                    <a:pt x="457247" y="0"/>
                  </a:lnTo>
                  <a:lnTo>
                    <a:pt x="507985" y="15365"/>
                  </a:lnTo>
                  <a:lnTo>
                    <a:pt x="541738" y="56454"/>
                  </a:lnTo>
                  <a:lnTo>
                    <a:pt x="548699" y="91451"/>
                  </a:lnTo>
                  <a:lnTo>
                    <a:pt x="548699" y="481248"/>
                  </a:lnTo>
                  <a:lnTo>
                    <a:pt x="541513" y="516845"/>
                  </a:lnTo>
                  <a:lnTo>
                    <a:pt x="521914" y="545914"/>
                  </a:lnTo>
                  <a:lnTo>
                    <a:pt x="492845" y="565513"/>
                  </a:lnTo>
                  <a:lnTo>
                    <a:pt x="457247" y="572699"/>
                  </a:lnTo>
                  <a:lnTo>
                    <a:pt x="91451" y="572699"/>
                  </a:lnTo>
                  <a:lnTo>
                    <a:pt x="55854" y="565513"/>
                  </a:lnTo>
                  <a:lnTo>
                    <a:pt x="26785" y="545914"/>
                  </a:lnTo>
                  <a:lnTo>
                    <a:pt x="7186" y="516845"/>
                  </a:lnTo>
                  <a:lnTo>
                    <a:pt x="0" y="481248"/>
                  </a:lnTo>
                  <a:lnTo>
                    <a:pt x="0" y="91451"/>
                  </a:lnTo>
                  <a:close/>
                </a:path>
              </a:pathLst>
            </a:custGeom>
            <a:noFill/>
            <a:ln w="28550"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02" name="Google Shape;1002;p74"/>
            <p:cNvSpPr/>
            <p:nvPr/>
          </p:nvSpPr>
          <p:spPr>
            <a:xfrm>
              <a:off x="5846599" y="2777999"/>
              <a:ext cx="751204" cy="99694"/>
            </a:xfrm>
            <a:custGeom>
              <a:avLst/>
              <a:gdLst/>
              <a:ahLst/>
              <a:cxnLst/>
              <a:rect l="l" t="t" r="r" b="b"/>
              <a:pathLst>
                <a:path w="751204" h="99694" extrusionOk="0">
                  <a:moveTo>
                    <a:pt x="49649" y="99299"/>
                  </a:moveTo>
                  <a:lnTo>
                    <a:pt x="0" y="49649"/>
                  </a:lnTo>
                  <a:lnTo>
                    <a:pt x="49649" y="0"/>
                  </a:lnTo>
                  <a:lnTo>
                    <a:pt x="49649" y="24824"/>
                  </a:lnTo>
                  <a:lnTo>
                    <a:pt x="750899" y="24824"/>
                  </a:lnTo>
                  <a:lnTo>
                    <a:pt x="750899" y="74474"/>
                  </a:lnTo>
                  <a:lnTo>
                    <a:pt x="49649" y="74474"/>
                  </a:lnTo>
                  <a:lnTo>
                    <a:pt x="49649" y="992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03" name="Google Shape;1003;p74"/>
            <p:cNvSpPr/>
            <p:nvPr/>
          </p:nvSpPr>
          <p:spPr>
            <a:xfrm>
              <a:off x="5846599" y="2777999"/>
              <a:ext cx="751204" cy="99694"/>
            </a:xfrm>
            <a:custGeom>
              <a:avLst/>
              <a:gdLst/>
              <a:ahLst/>
              <a:cxnLst/>
              <a:rect l="l" t="t" r="r" b="b"/>
              <a:pathLst>
                <a:path w="751204" h="99694" extrusionOk="0">
                  <a:moveTo>
                    <a:pt x="750899" y="74474"/>
                  </a:moveTo>
                  <a:lnTo>
                    <a:pt x="49649" y="74474"/>
                  </a:lnTo>
                  <a:lnTo>
                    <a:pt x="49649" y="99299"/>
                  </a:lnTo>
                  <a:lnTo>
                    <a:pt x="0" y="49649"/>
                  </a:lnTo>
                  <a:lnTo>
                    <a:pt x="49649" y="0"/>
                  </a:lnTo>
                  <a:lnTo>
                    <a:pt x="49649" y="24824"/>
                  </a:lnTo>
                  <a:lnTo>
                    <a:pt x="750899" y="24824"/>
                  </a:lnTo>
                  <a:lnTo>
                    <a:pt x="750899" y="74474"/>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04" name="Google Shape;1004;p74"/>
          <p:cNvSpPr txBox="1"/>
          <p:nvPr/>
        </p:nvSpPr>
        <p:spPr>
          <a:xfrm>
            <a:off x="6927841" y="2685671"/>
            <a:ext cx="1708200" cy="4131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Contains ground truth!</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000000"/>
                </a:solidFill>
                <a:effectLst/>
                <a:uLnTx/>
                <a:uFillTx/>
                <a:latin typeface="Cambria"/>
                <a:ea typeface="Cambria"/>
                <a:cs typeface="Cambria"/>
                <a:sym typeface="Cambria"/>
              </a:rPr>
              <a:t>P@3 = 1</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75"/>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FF0000"/>
              </a:buClr>
              <a:buSzPts val="2800"/>
              <a:buFont typeface="Times New Roman"/>
              <a:buNone/>
            </a:pPr>
            <a:r>
              <a:rPr lang="zh-CN" sz="3600">
                <a:solidFill>
                  <a:srgbClr val="FF0000"/>
                </a:solidFill>
              </a:rPr>
              <a:t>Architecture of the LAMA probe</a:t>
            </a:r>
            <a:br>
              <a:rPr lang="zh-CN" sz="3600">
                <a:solidFill>
                  <a:srgbClr val="FF0000"/>
                </a:solidFill>
              </a:rPr>
            </a:br>
            <a:endParaRPr sz="3400">
              <a:solidFill>
                <a:srgbClr val="FF0000"/>
              </a:solidFill>
            </a:endParaRPr>
          </a:p>
        </p:txBody>
      </p:sp>
      <p:sp>
        <p:nvSpPr>
          <p:cNvPr id="1010" name="Google Shape;1010;p75"/>
          <p:cNvSpPr/>
          <p:nvPr/>
        </p:nvSpPr>
        <p:spPr>
          <a:xfrm>
            <a:off x="4454820" y="2417863"/>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1014"/>
        <p:cNvGrpSpPr/>
        <p:nvPr/>
      </p:nvGrpSpPr>
      <p:grpSpPr>
        <a:xfrm>
          <a:off x="0" y="0"/>
          <a:ext cx="0" cy="0"/>
          <a:chOff x="0" y="0"/>
          <a:chExt cx="0" cy="0"/>
        </a:xfrm>
      </p:grpSpPr>
      <p:sp>
        <p:nvSpPr>
          <p:cNvPr id="1015" name="Google Shape;1015;p76"/>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sp>
        <p:nvSpPr>
          <p:cNvPr id="1016" name="Google Shape;1016;p76"/>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54</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017" name="Google Shape;1017;p76"/>
          <p:cNvGrpSpPr/>
          <p:nvPr/>
        </p:nvGrpSpPr>
        <p:grpSpPr>
          <a:xfrm>
            <a:off x="660749" y="1749012"/>
            <a:ext cx="1823085" cy="1363345"/>
            <a:chOff x="660749" y="1749012"/>
            <a:chExt cx="1823085" cy="1363345"/>
          </a:xfrm>
        </p:grpSpPr>
        <p:sp>
          <p:nvSpPr>
            <p:cNvPr id="1018" name="Google Shape;1018;p76"/>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19" name="Google Shape;1019;p76"/>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0" name="Google Shape;1020;p76"/>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1" name="Google Shape;1021;p76"/>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2" name="Google Shape;1022;p76"/>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3" name="Google Shape;1023;p76"/>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4" name="Google Shape;1024;p76"/>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5" name="Google Shape;1025;p76"/>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026" name="Google Shape;1026;p76"/>
          <p:cNvGrpSpPr/>
          <p:nvPr/>
        </p:nvGrpSpPr>
        <p:grpSpPr>
          <a:xfrm>
            <a:off x="660749" y="3276156"/>
            <a:ext cx="1823085" cy="1363345"/>
            <a:chOff x="660749" y="3276156"/>
            <a:chExt cx="1823085" cy="1363345"/>
          </a:xfrm>
        </p:grpSpPr>
        <p:sp>
          <p:nvSpPr>
            <p:cNvPr id="1027" name="Google Shape;1027;p76"/>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8" name="Google Shape;1028;p76"/>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9" name="Google Shape;1029;p76"/>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0" name="Google Shape;1030;p76"/>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1" name="Google Shape;1031;p76"/>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2" name="Google Shape;1032;p76"/>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3" name="Google Shape;1033;p76"/>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4" name="Google Shape;1034;p76"/>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35" name="Google Shape;1035;p76"/>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36" name="Google Shape;1036;p76"/>
          <p:cNvSpPr txBox="1"/>
          <p:nvPr/>
        </p:nvSpPr>
        <p:spPr>
          <a:xfrm>
            <a:off x="1338068" y="3444334"/>
            <a:ext cx="468600" cy="1169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37" name="Google Shape;1037;p76"/>
          <p:cNvSpPr txBox="1"/>
          <p:nvPr/>
        </p:nvSpPr>
        <p:spPr>
          <a:xfrm>
            <a:off x="789424" y="4711744"/>
            <a:ext cx="16206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38" name="Google Shape;1038;p76"/>
          <p:cNvSpPr txBox="1"/>
          <p:nvPr/>
        </p:nvSpPr>
        <p:spPr>
          <a:xfrm>
            <a:off x="3168005" y="1217372"/>
            <a:ext cx="32511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1: Compile knowledge sources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1042"/>
        <p:cNvGrpSpPr/>
        <p:nvPr/>
      </p:nvGrpSpPr>
      <p:grpSpPr>
        <a:xfrm>
          <a:off x="0" y="0"/>
          <a:ext cx="0" cy="0"/>
          <a:chOff x="0" y="0"/>
          <a:chExt cx="0" cy="0"/>
        </a:xfrm>
      </p:grpSpPr>
      <p:grpSp>
        <p:nvGrpSpPr>
          <p:cNvPr id="1043" name="Google Shape;1043;p77"/>
          <p:cNvGrpSpPr/>
          <p:nvPr/>
        </p:nvGrpSpPr>
        <p:grpSpPr>
          <a:xfrm>
            <a:off x="3004024" y="3988129"/>
            <a:ext cx="2164715" cy="363220"/>
            <a:chOff x="3004024" y="3988129"/>
            <a:chExt cx="2164715" cy="363220"/>
          </a:xfrm>
        </p:grpSpPr>
        <p:sp>
          <p:nvSpPr>
            <p:cNvPr id="1044" name="Google Shape;1044;p77"/>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5" name="Google Shape;1045;p77"/>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19025" cap="flat" cmpd="sng">
              <a:solidFill>
                <a:srgbClr val="FF99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046" name="Google Shape;1046;p77"/>
          <p:cNvGrpSpPr/>
          <p:nvPr/>
        </p:nvGrpSpPr>
        <p:grpSpPr>
          <a:xfrm>
            <a:off x="3005875" y="1816199"/>
            <a:ext cx="2164715" cy="363219"/>
            <a:chOff x="3005875" y="1816199"/>
            <a:chExt cx="2164715" cy="363219"/>
          </a:xfrm>
        </p:grpSpPr>
        <p:sp>
          <p:nvSpPr>
            <p:cNvPr id="1047" name="Google Shape;1047;p77"/>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8" name="Google Shape;1048;p77"/>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49" name="Google Shape;1049;p77"/>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050" name="Google Shape;1050;p77"/>
          <p:cNvGrpSpPr/>
          <p:nvPr/>
        </p:nvGrpSpPr>
        <p:grpSpPr>
          <a:xfrm>
            <a:off x="660749" y="1749012"/>
            <a:ext cx="2218180" cy="1363345"/>
            <a:chOff x="660749" y="1749012"/>
            <a:chExt cx="2218180" cy="1363345"/>
          </a:xfrm>
        </p:grpSpPr>
        <p:sp>
          <p:nvSpPr>
            <p:cNvPr id="1051" name="Google Shape;1051;p77"/>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2" name="Google Shape;1052;p77"/>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3" name="Google Shape;1053;p77"/>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4" name="Google Shape;1054;p77"/>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5" name="Google Shape;1055;p77"/>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6" name="Google Shape;1056;p77"/>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7" name="Google Shape;1057;p77"/>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8" name="Google Shape;1058;p77"/>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9" name="Google Shape;1059;p77"/>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0" name="Google Shape;1060;p77"/>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061" name="Google Shape;1061;p77"/>
          <p:cNvGrpSpPr/>
          <p:nvPr/>
        </p:nvGrpSpPr>
        <p:grpSpPr>
          <a:xfrm>
            <a:off x="660749" y="3276156"/>
            <a:ext cx="1823085" cy="1363345"/>
            <a:chOff x="660749" y="3276156"/>
            <a:chExt cx="1823085" cy="1363345"/>
          </a:xfrm>
        </p:grpSpPr>
        <p:sp>
          <p:nvSpPr>
            <p:cNvPr id="1062" name="Google Shape;1062;p77"/>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3" name="Google Shape;1063;p77"/>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4" name="Google Shape;1064;p77"/>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5" name="Google Shape;1065;p77"/>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6" name="Google Shape;1066;p77"/>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7" name="Google Shape;1067;p77"/>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8" name="Google Shape;1068;p77"/>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69" name="Google Shape;1069;p77"/>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70" name="Google Shape;1070;p77"/>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71" name="Google Shape;1071;p77"/>
          <p:cNvSpPr txBox="1"/>
          <p:nvPr/>
        </p:nvSpPr>
        <p:spPr>
          <a:xfrm>
            <a:off x="1338068" y="3444334"/>
            <a:ext cx="468600" cy="803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072" name="Google Shape;1072;p77"/>
          <p:cNvSpPr txBox="1"/>
          <p:nvPr/>
        </p:nvSpPr>
        <p:spPr>
          <a:xfrm>
            <a:off x="3157586" y="1863326"/>
            <a:ext cx="18618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(subject, relation, object)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073" name="Google Shape;1073;p77"/>
          <p:cNvGrpSpPr/>
          <p:nvPr/>
        </p:nvGrpSpPr>
        <p:grpSpPr>
          <a:xfrm>
            <a:off x="2134074" y="4072535"/>
            <a:ext cx="744855" cy="135889"/>
            <a:chOff x="2134074" y="4072535"/>
            <a:chExt cx="744855" cy="135889"/>
          </a:xfrm>
        </p:grpSpPr>
        <p:sp>
          <p:nvSpPr>
            <p:cNvPr id="1074" name="Google Shape;1074;p77"/>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75" name="Google Shape;1075;p77"/>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76" name="Google Shape;1076;p77"/>
          <p:cNvSpPr txBox="1"/>
          <p:nvPr/>
        </p:nvSpPr>
        <p:spPr>
          <a:xfrm>
            <a:off x="3498910" y="4038701"/>
            <a:ext cx="11760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(question, answer)</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077" name="Google Shape;1077;p77"/>
          <p:cNvSpPr txBox="1"/>
          <p:nvPr/>
        </p:nvSpPr>
        <p:spPr>
          <a:xfrm>
            <a:off x="1537659" y="4250771"/>
            <a:ext cx="54600" cy="355200"/>
          </a:xfrm>
          <a:prstGeom prst="rect">
            <a:avLst/>
          </a:prstGeom>
          <a:noFill/>
          <a:ln>
            <a:noFill/>
          </a:ln>
        </p:spPr>
        <p:txBody>
          <a:bodyPr spcFirstLastPara="1" wrap="square" lIns="0" tIns="5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78" name="Google Shape;1078;p77"/>
          <p:cNvSpPr txBox="1"/>
          <p:nvPr/>
        </p:nvSpPr>
        <p:spPr>
          <a:xfrm>
            <a:off x="789424" y="4726323"/>
            <a:ext cx="16206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79" name="Google Shape;1079;p77"/>
          <p:cNvSpPr txBox="1"/>
          <p:nvPr/>
        </p:nvSpPr>
        <p:spPr>
          <a:xfrm>
            <a:off x="3896372" y="4726648"/>
            <a:ext cx="4497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080" name="Google Shape;1080;p77"/>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42</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081" name="Google Shape;1081;p77"/>
          <p:cNvSpPr txBox="1"/>
          <p:nvPr/>
        </p:nvSpPr>
        <p:spPr>
          <a:xfrm>
            <a:off x="1999683" y="1217372"/>
            <a:ext cx="55881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2: Formulate facts into triplets or question-answer pairs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1085"/>
        <p:cNvGrpSpPr/>
        <p:nvPr/>
      </p:nvGrpSpPr>
      <p:grpSpPr>
        <a:xfrm>
          <a:off x="0" y="0"/>
          <a:ext cx="0" cy="0"/>
          <a:chOff x="0" y="0"/>
          <a:chExt cx="0" cy="0"/>
        </a:xfrm>
      </p:grpSpPr>
      <p:grpSp>
        <p:nvGrpSpPr>
          <p:cNvPr id="1086" name="Google Shape;1086;p78"/>
          <p:cNvGrpSpPr/>
          <p:nvPr/>
        </p:nvGrpSpPr>
        <p:grpSpPr>
          <a:xfrm>
            <a:off x="3004024" y="3988129"/>
            <a:ext cx="2164715" cy="363220"/>
            <a:chOff x="3004024" y="3988129"/>
            <a:chExt cx="2164715" cy="363220"/>
          </a:xfrm>
        </p:grpSpPr>
        <p:sp>
          <p:nvSpPr>
            <p:cNvPr id="1087" name="Google Shape;1087;p78"/>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88" name="Google Shape;1088;p78"/>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19025" cap="flat" cmpd="sng">
              <a:solidFill>
                <a:srgbClr val="FF990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089" name="Google Shape;1089;p78"/>
          <p:cNvGrpSpPr/>
          <p:nvPr/>
        </p:nvGrpSpPr>
        <p:grpSpPr>
          <a:xfrm>
            <a:off x="3005875" y="1816199"/>
            <a:ext cx="2164715" cy="363219"/>
            <a:chOff x="3005875" y="1816199"/>
            <a:chExt cx="2164715" cy="363219"/>
          </a:xfrm>
        </p:grpSpPr>
        <p:sp>
          <p:nvSpPr>
            <p:cNvPr id="1090" name="Google Shape;1090;p78"/>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1" name="Google Shape;1091;p78"/>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092" name="Google Shape;1092;p78"/>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093" name="Google Shape;1093;p78"/>
          <p:cNvGrpSpPr/>
          <p:nvPr/>
        </p:nvGrpSpPr>
        <p:grpSpPr>
          <a:xfrm>
            <a:off x="660749" y="1749012"/>
            <a:ext cx="2218180" cy="1363345"/>
            <a:chOff x="660749" y="1749012"/>
            <a:chExt cx="2218180" cy="1363345"/>
          </a:xfrm>
        </p:grpSpPr>
        <p:sp>
          <p:nvSpPr>
            <p:cNvPr id="1094" name="Google Shape;1094;p78"/>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5" name="Google Shape;1095;p78"/>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6" name="Google Shape;1096;p78"/>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7" name="Google Shape;1097;p78"/>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8" name="Google Shape;1098;p78"/>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99" name="Google Shape;1099;p78"/>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0" name="Google Shape;1100;p78"/>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1" name="Google Shape;1101;p78"/>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2" name="Google Shape;1102;p78"/>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3" name="Google Shape;1103;p78"/>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104" name="Google Shape;1104;p78"/>
          <p:cNvGrpSpPr/>
          <p:nvPr/>
        </p:nvGrpSpPr>
        <p:grpSpPr>
          <a:xfrm>
            <a:off x="660749" y="3276156"/>
            <a:ext cx="1823085" cy="1363345"/>
            <a:chOff x="660749" y="3276156"/>
            <a:chExt cx="1823085" cy="1363345"/>
          </a:xfrm>
        </p:grpSpPr>
        <p:sp>
          <p:nvSpPr>
            <p:cNvPr id="1105" name="Google Shape;1105;p78"/>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6" name="Google Shape;1106;p78"/>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7" name="Google Shape;1107;p78"/>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8" name="Google Shape;1108;p78"/>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09" name="Google Shape;1109;p78"/>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10" name="Google Shape;1110;p78"/>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11" name="Google Shape;1111;p78"/>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12" name="Google Shape;1112;p78"/>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13" name="Google Shape;1113;p78"/>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14" name="Google Shape;1114;p78"/>
          <p:cNvSpPr txBox="1"/>
          <p:nvPr/>
        </p:nvSpPr>
        <p:spPr>
          <a:xfrm>
            <a:off x="1338068" y="3444334"/>
            <a:ext cx="468600" cy="803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115" name="Google Shape;1115;p78"/>
          <p:cNvSpPr txBox="1"/>
          <p:nvPr/>
        </p:nvSpPr>
        <p:spPr>
          <a:xfrm>
            <a:off x="3134984" y="1865010"/>
            <a:ext cx="1906800" cy="1974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(Mozart, </a:t>
            </a:r>
            <a:r>
              <a:rPr kumimoji="0" lang="en-US" altLang="zh-CN" sz="12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Austria)</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116" name="Google Shape;1116;p78"/>
          <p:cNvGrpSpPr/>
          <p:nvPr/>
        </p:nvGrpSpPr>
        <p:grpSpPr>
          <a:xfrm>
            <a:off x="2134074" y="4072535"/>
            <a:ext cx="744855" cy="135889"/>
            <a:chOff x="2134074" y="4072535"/>
            <a:chExt cx="744855" cy="135889"/>
          </a:xfrm>
        </p:grpSpPr>
        <p:sp>
          <p:nvSpPr>
            <p:cNvPr id="1117" name="Google Shape;1117;p78"/>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18" name="Google Shape;1118;p78"/>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19" name="Google Shape;1119;p78"/>
          <p:cNvSpPr txBox="1"/>
          <p:nvPr/>
        </p:nvSpPr>
        <p:spPr>
          <a:xfrm>
            <a:off x="3011913" y="4038701"/>
            <a:ext cx="21507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(Who wrote Hamlet, Shakespeare)</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120" name="Google Shape;1120;p78"/>
          <p:cNvSpPr txBox="1"/>
          <p:nvPr/>
        </p:nvSpPr>
        <p:spPr>
          <a:xfrm>
            <a:off x="1537659" y="4250771"/>
            <a:ext cx="54600" cy="355200"/>
          </a:xfrm>
          <a:prstGeom prst="rect">
            <a:avLst/>
          </a:prstGeom>
          <a:noFill/>
          <a:ln>
            <a:noFill/>
          </a:ln>
        </p:spPr>
        <p:txBody>
          <a:bodyPr spcFirstLastPara="1" wrap="square" lIns="0" tIns="5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FFFFFF"/>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21" name="Google Shape;1121;p78"/>
          <p:cNvSpPr txBox="1"/>
          <p:nvPr/>
        </p:nvSpPr>
        <p:spPr>
          <a:xfrm>
            <a:off x="789424" y="4726323"/>
            <a:ext cx="16206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22" name="Google Shape;1122;p78"/>
          <p:cNvSpPr txBox="1"/>
          <p:nvPr/>
        </p:nvSpPr>
        <p:spPr>
          <a:xfrm>
            <a:off x="3896372" y="4726648"/>
            <a:ext cx="4497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23" name="Google Shape;1123;p78"/>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43</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124" name="Google Shape;1124;p78"/>
          <p:cNvSpPr txBox="1"/>
          <p:nvPr/>
        </p:nvSpPr>
        <p:spPr>
          <a:xfrm>
            <a:off x="1999683" y="1217372"/>
            <a:ext cx="55881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2: Formulate facts into triplets or question-answer pairs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1128"/>
        <p:cNvGrpSpPr/>
        <p:nvPr/>
      </p:nvGrpSpPr>
      <p:grpSpPr>
        <a:xfrm>
          <a:off x="0" y="0"/>
          <a:ext cx="0" cy="0"/>
          <a:chOff x="0" y="0"/>
          <a:chExt cx="0" cy="0"/>
        </a:xfrm>
      </p:grpSpPr>
      <p:grpSp>
        <p:nvGrpSpPr>
          <p:cNvPr id="1129" name="Google Shape;1129;p79"/>
          <p:cNvGrpSpPr/>
          <p:nvPr/>
        </p:nvGrpSpPr>
        <p:grpSpPr>
          <a:xfrm>
            <a:off x="3004024" y="3988129"/>
            <a:ext cx="2164715" cy="363220"/>
            <a:chOff x="3004024" y="3988129"/>
            <a:chExt cx="2164715" cy="363220"/>
          </a:xfrm>
        </p:grpSpPr>
        <p:sp>
          <p:nvSpPr>
            <p:cNvPr id="1130" name="Google Shape;1130;p79"/>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31" name="Google Shape;1131;p79"/>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132" name="Google Shape;1132;p79"/>
          <p:cNvGrpSpPr/>
          <p:nvPr/>
        </p:nvGrpSpPr>
        <p:grpSpPr>
          <a:xfrm>
            <a:off x="3005875" y="1816199"/>
            <a:ext cx="2164715" cy="363219"/>
            <a:chOff x="3005875" y="1816199"/>
            <a:chExt cx="2164715" cy="363219"/>
          </a:xfrm>
        </p:grpSpPr>
        <p:sp>
          <p:nvSpPr>
            <p:cNvPr id="1133" name="Google Shape;1133;p79"/>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34" name="Google Shape;1134;p79"/>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35" name="Google Shape;1135;p79"/>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136" name="Google Shape;1136;p79"/>
          <p:cNvGrpSpPr/>
          <p:nvPr/>
        </p:nvGrpSpPr>
        <p:grpSpPr>
          <a:xfrm>
            <a:off x="660749" y="1749012"/>
            <a:ext cx="2218180" cy="1363345"/>
            <a:chOff x="660749" y="1749012"/>
            <a:chExt cx="2218180" cy="1363345"/>
          </a:xfrm>
        </p:grpSpPr>
        <p:sp>
          <p:nvSpPr>
            <p:cNvPr id="1137" name="Google Shape;1137;p79"/>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38" name="Google Shape;1138;p79"/>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39" name="Google Shape;1139;p79"/>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0" name="Google Shape;1140;p79"/>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1" name="Google Shape;1141;p79"/>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2" name="Google Shape;1142;p79"/>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3" name="Google Shape;1143;p79"/>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4" name="Google Shape;1144;p79"/>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5" name="Google Shape;1145;p79"/>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6" name="Google Shape;1146;p79"/>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147" name="Google Shape;1147;p79"/>
          <p:cNvGrpSpPr/>
          <p:nvPr/>
        </p:nvGrpSpPr>
        <p:grpSpPr>
          <a:xfrm>
            <a:off x="660749" y="3276156"/>
            <a:ext cx="1823085" cy="1363345"/>
            <a:chOff x="660749" y="3276156"/>
            <a:chExt cx="1823085" cy="1363345"/>
          </a:xfrm>
        </p:grpSpPr>
        <p:sp>
          <p:nvSpPr>
            <p:cNvPr id="1148" name="Google Shape;1148;p79"/>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9" name="Google Shape;1149;p79"/>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0" name="Google Shape;1150;p79"/>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1" name="Google Shape;1151;p79"/>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2" name="Google Shape;1152;p79"/>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3" name="Google Shape;1153;p79"/>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54" name="Google Shape;1154;p79"/>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55" name="Google Shape;1155;p79"/>
          <p:cNvSpPr txBox="1"/>
          <p:nvPr/>
        </p:nvSpPr>
        <p:spPr>
          <a:xfrm>
            <a:off x="1338068" y="3444334"/>
            <a:ext cx="461700" cy="492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156" name="Google Shape;1156;p79"/>
          <p:cNvGrpSpPr/>
          <p:nvPr/>
        </p:nvGrpSpPr>
        <p:grpSpPr>
          <a:xfrm>
            <a:off x="884899" y="4063138"/>
            <a:ext cx="1994030" cy="200025"/>
            <a:chOff x="884899" y="4063138"/>
            <a:chExt cx="1994030" cy="200025"/>
          </a:xfrm>
        </p:grpSpPr>
        <p:sp>
          <p:nvSpPr>
            <p:cNvPr id="1157" name="Google Shape;1157;p79"/>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8" name="Google Shape;1158;p79"/>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59" name="Google Shape;1159;p79"/>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60" name="Google Shape;1160;p79"/>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61" name="Google Shape;1161;p79"/>
          <p:cNvSpPr txBox="1"/>
          <p:nvPr/>
        </p:nvSpPr>
        <p:spPr>
          <a:xfrm>
            <a:off x="3155736" y="1863376"/>
            <a:ext cx="1861800" cy="2130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(subject, relation, object)</a:t>
            </a:r>
            <a:endParaRPr kumimoji="0" sz="13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162" name="Google Shape;1162;p79"/>
          <p:cNvGrpSpPr/>
          <p:nvPr/>
        </p:nvGrpSpPr>
        <p:grpSpPr>
          <a:xfrm>
            <a:off x="3005873" y="2763044"/>
            <a:ext cx="2184400" cy="645160"/>
            <a:chOff x="3005873" y="2763044"/>
            <a:chExt cx="2184400" cy="645160"/>
          </a:xfrm>
        </p:grpSpPr>
        <p:sp>
          <p:nvSpPr>
            <p:cNvPr id="1163" name="Google Shape;1163;p79"/>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64" name="Google Shape;1164;p79"/>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65" name="Google Shape;1165;p79"/>
          <p:cNvSpPr txBox="1"/>
          <p:nvPr/>
        </p:nvSpPr>
        <p:spPr>
          <a:xfrm>
            <a:off x="3211718" y="2966078"/>
            <a:ext cx="1773600" cy="413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Maker</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66" name="Google Shape;1166;p79"/>
          <p:cNvSpPr txBox="1"/>
          <p:nvPr/>
        </p:nvSpPr>
        <p:spPr>
          <a:xfrm>
            <a:off x="3498910" y="4053581"/>
            <a:ext cx="1176000" cy="170700"/>
          </a:xfrm>
          <a:prstGeom prst="rect">
            <a:avLst/>
          </a:prstGeom>
          <a:noFill/>
          <a:ln>
            <a:noFill/>
          </a:ln>
        </p:spPr>
        <p:txBody>
          <a:bodyPr spcFirstLastPara="1" wrap="square" lIns="0" tIns="125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(question, answer)</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167" name="Google Shape;1167;p79"/>
          <p:cNvSpPr txBox="1"/>
          <p:nvPr/>
        </p:nvSpPr>
        <p:spPr>
          <a:xfrm>
            <a:off x="1345393" y="4070481"/>
            <a:ext cx="461700" cy="537300"/>
          </a:xfrm>
          <a:prstGeom prst="rect">
            <a:avLst/>
          </a:prstGeom>
          <a:noFill/>
          <a:ln>
            <a:noFill/>
          </a:ln>
        </p:spPr>
        <p:txBody>
          <a:bodyPr spcFirstLastPara="1" wrap="square" lIns="0" tIns="125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14603"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14603"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14603"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68" name="Google Shape;1168;p79"/>
          <p:cNvSpPr txBox="1"/>
          <p:nvPr/>
        </p:nvSpPr>
        <p:spPr>
          <a:xfrm>
            <a:off x="789424" y="4726323"/>
            <a:ext cx="16206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69" name="Google Shape;1169;p79"/>
          <p:cNvSpPr txBox="1"/>
          <p:nvPr/>
        </p:nvSpPr>
        <p:spPr>
          <a:xfrm>
            <a:off x="3896372" y="4726648"/>
            <a:ext cx="4497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70" name="Google Shape;1170;p79"/>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44</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171" name="Google Shape;1171;p79"/>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1175"/>
        <p:cNvGrpSpPr/>
        <p:nvPr/>
      </p:nvGrpSpPr>
      <p:grpSpPr>
        <a:xfrm>
          <a:off x="0" y="0"/>
          <a:ext cx="0" cy="0"/>
          <a:chOff x="0" y="0"/>
          <a:chExt cx="0" cy="0"/>
        </a:xfrm>
      </p:grpSpPr>
      <p:grpSp>
        <p:nvGrpSpPr>
          <p:cNvPr id="1176" name="Google Shape;1176;p80"/>
          <p:cNvGrpSpPr/>
          <p:nvPr/>
        </p:nvGrpSpPr>
        <p:grpSpPr>
          <a:xfrm>
            <a:off x="3005875" y="1816199"/>
            <a:ext cx="2164715" cy="363219"/>
            <a:chOff x="3005875" y="1816199"/>
            <a:chExt cx="2164715" cy="363219"/>
          </a:xfrm>
        </p:grpSpPr>
        <p:sp>
          <p:nvSpPr>
            <p:cNvPr id="1177" name="Google Shape;1177;p80"/>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78" name="Google Shape;1178;p80"/>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79" name="Google Shape;1179;p80"/>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180" name="Google Shape;1180;p80"/>
          <p:cNvGrpSpPr/>
          <p:nvPr/>
        </p:nvGrpSpPr>
        <p:grpSpPr>
          <a:xfrm>
            <a:off x="660749" y="1749012"/>
            <a:ext cx="2218180" cy="1363345"/>
            <a:chOff x="660749" y="1749012"/>
            <a:chExt cx="2218180" cy="1363345"/>
          </a:xfrm>
        </p:grpSpPr>
        <p:sp>
          <p:nvSpPr>
            <p:cNvPr id="1181" name="Google Shape;1181;p80"/>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2" name="Google Shape;1182;p80"/>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3" name="Google Shape;1183;p80"/>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4" name="Google Shape;1184;p80"/>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5" name="Google Shape;1185;p80"/>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6" name="Google Shape;1186;p80"/>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7" name="Google Shape;1187;p80"/>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8" name="Google Shape;1188;p80"/>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89" name="Google Shape;1189;p80"/>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90" name="Google Shape;1190;p80"/>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191" name="Google Shape;1191;p80"/>
          <p:cNvGrpSpPr/>
          <p:nvPr/>
        </p:nvGrpSpPr>
        <p:grpSpPr>
          <a:xfrm>
            <a:off x="660749" y="3276156"/>
            <a:ext cx="1823085" cy="1363345"/>
            <a:chOff x="660749" y="3276156"/>
            <a:chExt cx="1823085" cy="1363345"/>
          </a:xfrm>
        </p:grpSpPr>
        <p:sp>
          <p:nvSpPr>
            <p:cNvPr id="1192" name="Google Shape;1192;p80"/>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93" name="Google Shape;1193;p80"/>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94" name="Google Shape;1194;p80"/>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95" name="Google Shape;1195;p80"/>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196" name="Google Shape;1196;p80"/>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197" name="Google Shape;1197;p80"/>
          <p:cNvSpPr txBox="1"/>
          <p:nvPr/>
        </p:nvSpPr>
        <p:spPr>
          <a:xfrm>
            <a:off x="1338068" y="3444334"/>
            <a:ext cx="4617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198" name="Google Shape;1198;p80"/>
          <p:cNvGrpSpPr/>
          <p:nvPr/>
        </p:nvGrpSpPr>
        <p:grpSpPr>
          <a:xfrm>
            <a:off x="877575" y="3755792"/>
            <a:ext cx="1389720" cy="507371"/>
            <a:chOff x="877575" y="3755792"/>
            <a:chExt cx="1389720" cy="507371"/>
          </a:xfrm>
        </p:grpSpPr>
        <p:sp>
          <p:nvSpPr>
            <p:cNvPr id="1199" name="Google Shape;1199;p80"/>
            <p:cNvSpPr/>
            <p:nvPr/>
          </p:nvSpPr>
          <p:spPr>
            <a:xfrm>
              <a:off x="877575"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00" name="Google Shape;1200;p80"/>
            <p:cNvSpPr/>
            <p:nvPr/>
          </p:nvSpPr>
          <p:spPr>
            <a:xfrm>
              <a:off x="877575"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01" name="Google Shape;1201;p80"/>
            <p:cNvSpPr/>
            <p:nvPr/>
          </p:nvSpPr>
          <p:spPr>
            <a:xfrm>
              <a:off x="884900"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02" name="Google Shape;1202;p80"/>
            <p:cNvSpPr/>
            <p:nvPr/>
          </p:nvSpPr>
          <p:spPr>
            <a:xfrm>
              <a:off x="884900"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03" name="Google Shape;1203;p80"/>
          <p:cNvSpPr txBox="1"/>
          <p:nvPr/>
        </p:nvSpPr>
        <p:spPr>
          <a:xfrm>
            <a:off x="3144884" y="1865048"/>
            <a:ext cx="1906800" cy="1974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(Mozart, </a:t>
            </a:r>
            <a:r>
              <a:rPr kumimoji="0" lang="en-US" altLang="zh-CN" sz="1200" b="0" i="0" u="none" strike="noStrike" kern="0" cap="none" spc="0" normalizeH="0" baseline="0" noProof="0">
                <a:ln>
                  <a:noFill/>
                </a:ln>
                <a:solidFill>
                  <a:srgbClr val="000000"/>
                </a:solidFill>
                <a:effectLst/>
                <a:uLnTx/>
                <a:uFillTx/>
                <a:latin typeface="Courier New"/>
                <a:ea typeface="Courier New"/>
                <a:cs typeface="Courier New"/>
                <a:sym typeface="Courier New"/>
              </a:rPr>
              <a:t>BORN-IN</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Austria</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204" name="Google Shape;1204;p80"/>
          <p:cNvGrpSpPr/>
          <p:nvPr/>
        </p:nvGrpSpPr>
        <p:grpSpPr>
          <a:xfrm>
            <a:off x="3005873" y="2763044"/>
            <a:ext cx="2184400" cy="645160"/>
            <a:chOff x="3005873" y="2763044"/>
            <a:chExt cx="2184400" cy="645160"/>
          </a:xfrm>
        </p:grpSpPr>
        <p:sp>
          <p:nvSpPr>
            <p:cNvPr id="1205" name="Google Shape;1205;p80"/>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06" name="Google Shape;1206;p80"/>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07" name="Google Shape;1207;p80"/>
          <p:cNvSpPr txBox="1"/>
          <p:nvPr/>
        </p:nvSpPr>
        <p:spPr>
          <a:xfrm>
            <a:off x="3211718" y="2866065"/>
            <a:ext cx="1773600" cy="615300"/>
          </a:xfrm>
          <a:prstGeom prst="rect">
            <a:avLst/>
          </a:prstGeom>
          <a:noFill/>
          <a:ln>
            <a:noFill/>
          </a:ln>
        </p:spPr>
        <p:txBody>
          <a:bodyPr spcFirstLastPara="1" wrap="square" lIns="0" tIns="10775" rIns="0" bIns="0" anchor="t" anchorCtr="0">
            <a:spAutoFit/>
          </a:bodyPr>
          <a:lstStyle/>
          <a:p>
            <a:pPr marL="471168" marR="5080" lvl="0" indent="-459103"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Maker  (Template)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208" name="Google Shape;1208;p80"/>
          <p:cNvGrpSpPr/>
          <p:nvPr/>
        </p:nvGrpSpPr>
        <p:grpSpPr>
          <a:xfrm>
            <a:off x="4014125" y="2146974"/>
            <a:ext cx="144779" cy="530860"/>
            <a:chOff x="4014125" y="2146974"/>
            <a:chExt cx="144779" cy="530860"/>
          </a:xfrm>
        </p:grpSpPr>
        <p:sp>
          <p:nvSpPr>
            <p:cNvPr id="1209" name="Google Shape;1209;p80"/>
            <p:cNvSpPr/>
            <p:nvPr/>
          </p:nvSpPr>
          <p:spPr>
            <a:xfrm>
              <a:off x="4014125" y="2146974"/>
              <a:ext cx="144779" cy="530860"/>
            </a:xfrm>
            <a:custGeom>
              <a:avLst/>
              <a:gdLst/>
              <a:ahLst/>
              <a:cxnLst/>
              <a:rect l="l" t="t" r="r" b="b"/>
              <a:pathLst>
                <a:path w="144779" h="530860" extrusionOk="0">
                  <a:moveTo>
                    <a:pt x="72149" y="530699"/>
                  </a:moveTo>
                  <a:lnTo>
                    <a:pt x="0" y="458549"/>
                  </a:lnTo>
                  <a:lnTo>
                    <a:pt x="36074" y="458549"/>
                  </a:lnTo>
                  <a:lnTo>
                    <a:pt x="36074" y="0"/>
                  </a:lnTo>
                  <a:lnTo>
                    <a:pt x="108224" y="0"/>
                  </a:lnTo>
                  <a:lnTo>
                    <a:pt x="108224" y="458549"/>
                  </a:lnTo>
                  <a:lnTo>
                    <a:pt x="144299" y="458549"/>
                  </a:lnTo>
                  <a:lnTo>
                    <a:pt x="72149" y="530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10" name="Google Shape;1210;p80"/>
            <p:cNvSpPr/>
            <p:nvPr/>
          </p:nvSpPr>
          <p:spPr>
            <a:xfrm>
              <a:off x="4014125" y="2146974"/>
              <a:ext cx="144779" cy="530860"/>
            </a:xfrm>
            <a:custGeom>
              <a:avLst/>
              <a:gdLst/>
              <a:ahLst/>
              <a:cxnLst/>
              <a:rect l="l" t="t" r="r" b="b"/>
              <a:pathLst>
                <a:path w="144779" h="530860" extrusionOk="0">
                  <a:moveTo>
                    <a:pt x="108224" y="0"/>
                  </a:moveTo>
                  <a:lnTo>
                    <a:pt x="108224" y="458549"/>
                  </a:lnTo>
                  <a:lnTo>
                    <a:pt x="144299" y="458549"/>
                  </a:lnTo>
                  <a:lnTo>
                    <a:pt x="72149" y="530699"/>
                  </a:lnTo>
                  <a:lnTo>
                    <a:pt x="0" y="458549"/>
                  </a:lnTo>
                  <a:lnTo>
                    <a:pt x="36074" y="458549"/>
                  </a:lnTo>
                  <a:lnTo>
                    <a:pt x="36074" y="0"/>
                  </a:lnTo>
                  <a:lnTo>
                    <a:pt x="108224" y="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11" name="Google Shape;1211;p80"/>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212" name="Google Shape;1212;p80"/>
          <p:cNvSpPr txBox="1"/>
          <p:nvPr/>
        </p:nvSpPr>
        <p:spPr>
          <a:xfrm>
            <a:off x="1338068" y="3763135"/>
            <a:ext cx="468600" cy="847800"/>
          </a:xfrm>
          <a:prstGeom prst="rect">
            <a:avLst/>
          </a:prstGeom>
          <a:noFill/>
          <a:ln>
            <a:noFill/>
          </a:ln>
        </p:spPr>
        <p:txBody>
          <a:bodyPr spcFirstLastPara="1" wrap="square" lIns="0" tIns="125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6985" marR="0" lvl="0" indent="0" algn="ctr"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13" name="Google Shape;1213;p80"/>
          <p:cNvSpPr txBox="1"/>
          <p:nvPr/>
        </p:nvSpPr>
        <p:spPr>
          <a:xfrm>
            <a:off x="6678069" y="4685173"/>
            <a:ext cx="14238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14" name="Google Shape;1214;p80"/>
          <p:cNvSpPr txBox="1"/>
          <p:nvPr/>
        </p:nvSpPr>
        <p:spPr>
          <a:xfrm>
            <a:off x="789424" y="4726323"/>
            <a:ext cx="16206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15" name="Google Shape;1215;p80"/>
          <p:cNvSpPr txBox="1"/>
          <p:nvPr/>
        </p:nvSpPr>
        <p:spPr>
          <a:xfrm>
            <a:off x="3896372" y="4726648"/>
            <a:ext cx="4497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16" name="Google Shape;1216;p80"/>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45</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1220"/>
        <p:cNvGrpSpPr/>
        <p:nvPr/>
      </p:nvGrpSpPr>
      <p:grpSpPr>
        <a:xfrm>
          <a:off x="0" y="0"/>
          <a:ext cx="0" cy="0"/>
          <a:chOff x="0" y="0"/>
          <a:chExt cx="0" cy="0"/>
        </a:xfrm>
      </p:grpSpPr>
      <p:sp>
        <p:nvSpPr>
          <p:cNvPr id="1221" name="Google Shape;1221;p81"/>
          <p:cNvSpPr/>
          <p:nvPr/>
        </p:nvSpPr>
        <p:spPr>
          <a:xfrm>
            <a:off x="5934124" y="2820049"/>
            <a:ext cx="2812415" cy="530860"/>
          </a:xfrm>
          <a:custGeom>
            <a:avLst/>
            <a:gdLst/>
            <a:ahLst/>
            <a:cxnLst/>
            <a:rect l="l" t="t" r="r" b="b"/>
            <a:pathLst>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1222" name="Google Shape;1222;p81"/>
          <p:cNvGrpSpPr/>
          <p:nvPr/>
        </p:nvGrpSpPr>
        <p:grpSpPr>
          <a:xfrm>
            <a:off x="3005875" y="1816199"/>
            <a:ext cx="2164715" cy="363219"/>
            <a:chOff x="3005875" y="1816199"/>
            <a:chExt cx="2164715" cy="363219"/>
          </a:xfrm>
        </p:grpSpPr>
        <p:sp>
          <p:nvSpPr>
            <p:cNvPr id="1223" name="Google Shape;1223;p81"/>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24" name="Google Shape;1224;p81"/>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25" name="Google Shape;1225;p81"/>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226" name="Google Shape;1226;p81"/>
          <p:cNvGrpSpPr/>
          <p:nvPr/>
        </p:nvGrpSpPr>
        <p:grpSpPr>
          <a:xfrm>
            <a:off x="660749" y="1749012"/>
            <a:ext cx="2218180" cy="1363345"/>
            <a:chOff x="660749" y="1749012"/>
            <a:chExt cx="2218180" cy="1363345"/>
          </a:xfrm>
        </p:grpSpPr>
        <p:sp>
          <p:nvSpPr>
            <p:cNvPr id="1227" name="Google Shape;1227;p81"/>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28" name="Google Shape;1228;p81"/>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29" name="Google Shape;1229;p81"/>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0" name="Google Shape;1230;p81"/>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1" name="Google Shape;1231;p81"/>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2" name="Google Shape;1232;p81"/>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3" name="Google Shape;1233;p81"/>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4" name="Google Shape;1234;p81"/>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5" name="Google Shape;1235;p81"/>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6" name="Google Shape;1236;p81"/>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237" name="Google Shape;1237;p81"/>
          <p:cNvGrpSpPr/>
          <p:nvPr/>
        </p:nvGrpSpPr>
        <p:grpSpPr>
          <a:xfrm>
            <a:off x="660749" y="3276156"/>
            <a:ext cx="1823085" cy="1363345"/>
            <a:chOff x="660749" y="3276156"/>
            <a:chExt cx="1823085" cy="1363345"/>
          </a:xfrm>
        </p:grpSpPr>
        <p:sp>
          <p:nvSpPr>
            <p:cNvPr id="1238" name="Google Shape;1238;p81"/>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39" name="Google Shape;1239;p81"/>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40" name="Google Shape;1240;p81"/>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41" name="Google Shape;1241;p81"/>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42" name="Google Shape;1242;p81"/>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43" name="Google Shape;1243;p81"/>
          <p:cNvSpPr txBox="1"/>
          <p:nvPr/>
        </p:nvSpPr>
        <p:spPr>
          <a:xfrm>
            <a:off x="1338068" y="3444334"/>
            <a:ext cx="4617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244" name="Google Shape;1244;p81"/>
          <p:cNvGrpSpPr/>
          <p:nvPr/>
        </p:nvGrpSpPr>
        <p:grpSpPr>
          <a:xfrm>
            <a:off x="877575" y="3755792"/>
            <a:ext cx="1389720" cy="507371"/>
            <a:chOff x="877575" y="3755792"/>
            <a:chExt cx="1389720" cy="507371"/>
          </a:xfrm>
        </p:grpSpPr>
        <p:sp>
          <p:nvSpPr>
            <p:cNvPr id="1245" name="Google Shape;1245;p81"/>
            <p:cNvSpPr/>
            <p:nvPr/>
          </p:nvSpPr>
          <p:spPr>
            <a:xfrm>
              <a:off x="877575"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46" name="Google Shape;1246;p81"/>
            <p:cNvSpPr/>
            <p:nvPr/>
          </p:nvSpPr>
          <p:spPr>
            <a:xfrm>
              <a:off x="877575"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47" name="Google Shape;1247;p81"/>
            <p:cNvSpPr/>
            <p:nvPr/>
          </p:nvSpPr>
          <p:spPr>
            <a:xfrm>
              <a:off x="884900"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48" name="Google Shape;1248;p81"/>
            <p:cNvSpPr/>
            <p:nvPr/>
          </p:nvSpPr>
          <p:spPr>
            <a:xfrm>
              <a:off x="884900"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49" name="Google Shape;1249;p81"/>
          <p:cNvSpPr txBox="1"/>
          <p:nvPr/>
        </p:nvSpPr>
        <p:spPr>
          <a:xfrm>
            <a:off x="3137249" y="1865048"/>
            <a:ext cx="1922100" cy="1974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200" b="1" i="0" u="none" strike="noStrike" kern="0" cap="none" spc="0" normalizeH="0" baseline="0" noProof="0">
                <a:ln>
                  <a:noFill/>
                </a:ln>
                <a:solidFill>
                  <a:srgbClr val="674EA7"/>
                </a:solidFill>
                <a:effectLst/>
                <a:uLnTx/>
                <a:uFillTx/>
                <a:latin typeface="Cambria"/>
                <a:ea typeface="Cambria"/>
                <a:cs typeface="Cambria"/>
                <a:sym typeface="Cambria"/>
              </a:rPr>
              <a:t>Mozart</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1"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Austria</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250" name="Google Shape;1250;p81"/>
          <p:cNvGrpSpPr/>
          <p:nvPr/>
        </p:nvGrpSpPr>
        <p:grpSpPr>
          <a:xfrm>
            <a:off x="3005873" y="2763044"/>
            <a:ext cx="2184400" cy="645160"/>
            <a:chOff x="3005873" y="2763044"/>
            <a:chExt cx="2184400" cy="645160"/>
          </a:xfrm>
        </p:grpSpPr>
        <p:sp>
          <p:nvSpPr>
            <p:cNvPr id="1251" name="Google Shape;1251;p81"/>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52" name="Google Shape;1252;p81"/>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53" name="Google Shape;1253;p81"/>
          <p:cNvSpPr txBox="1"/>
          <p:nvPr/>
        </p:nvSpPr>
        <p:spPr>
          <a:xfrm>
            <a:off x="3211718" y="2866065"/>
            <a:ext cx="1773600" cy="615300"/>
          </a:xfrm>
          <a:prstGeom prst="rect">
            <a:avLst/>
          </a:prstGeom>
          <a:noFill/>
          <a:ln>
            <a:noFill/>
          </a:ln>
        </p:spPr>
        <p:txBody>
          <a:bodyPr spcFirstLastPara="1" wrap="square" lIns="0" tIns="10775" rIns="0" bIns="0" anchor="t" anchorCtr="0">
            <a:spAutoFit/>
          </a:bodyPr>
          <a:lstStyle/>
          <a:p>
            <a:pPr marL="471168" marR="5080" lvl="0" indent="-459103"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Maker  (Template)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254" name="Google Shape;1254;p81"/>
          <p:cNvGrpSpPr/>
          <p:nvPr/>
        </p:nvGrpSpPr>
        <p:grpSpPr>
          <a:xfrm>
            <a:off x="3752824" y="1859925"/>
            <a:ext cx="683260" cy="817910"/>
            <a:chOff x="3752824" y="1859925"/>
            <a:chExt cx="683260" cy="817910"/>
          </a:xfrm>
        </p:grpSpPr>
        <p:sp>
          <p:nvSpPr>
            <p:cNvPr id="1255" name="Google Shape;1255;p81"/>
            <p:cNvSpPr/>
            <p:nvPr/>
          </p:nvSpPr>
          <p:spPr>
            <a:xfrm>
              <a:off x="4014124" y="2146975"/>
              <a:ext cx="144779" cy="530860"/>
            </a:xfrm>
            <a:custGeom>
              <a:avLst/>
              <a:gdLst/>
              <a:ahLst/>
              <a:cxnLst/>
              <a:rect l="l" t="t" r="r" b="b"/>
              <a:pathLst>
                <a:path w="144779" h="530860" extrusionOk="0">
                  <a:moveTo>
                    <a:pt x="72149" y="530699"/>
                  </a:moveTo>
                  <a:lnTo>
                    <a:pt x="0" y="458549"/>
                  </a:lnTo>
                  <a:lnTo>
                    <a:pt x="36074" y="458549"/>
                  </a:lnTo>
                  <a:lnTo>
                    <a:pt x="36074" y="0"/>
                  </a:lnTo>
                  <a:lnTo>
                    <a:pt x="108224" y="0"/>
                  </a:lnTo>
                  <a:lnTo>
                    <a:pt x="108224" y="458549"/>
                  </a:lnTo>
                  <a:lnTo>
                    <a:pt x="144299" y="458549"/>
                  </a:lnTo>
                  <a:lnTo>
                    <a:pt x="72149" y="5306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56" name="Google Shape;1256;p81"/>
            <p:cNvSpPr/>
            <p:nvPr/>
          </p:nvSpPr>
          <p:spPr>
            <a:xfrm>
              <a:off x="4014124" y="2146975"/>
              <a:ext cx="144779" cy="530860"/>
            </a:xfrm>
            <a:custGeom>
              <a:avLst/>
              <a:gdLst/>
              <a:ahLst/>
              <a:cxnLst/>
              <a:rect l="l" t="t" r="r" b="b"/>
              <a:pathLst>
                <a:path w="144779" h="530860" extrusionOk="0">
                  <a:moveTo>
                    <a:pt x="108224" y="0"/>
                  </a:moveTo>
                  <a:lnTo>
                    <a:pt x="108224" y="458549"/>
                  </a:lnTo>
                  <a:lnTo>
                    <a:pt x="144299" y="458549"/>
                  </a:lnTo>
                  <a:lnTo>
                    <a:pt x="72149" y="530699"/>
                  </a:lnTo>
                  <a:lnTo>
                    <a:pt x="0" y="458549"/>
                  </a:lnTo>
                  <a:lnTo>
                    <a:pt x="36074" y="458549"/>
                  </a:lnTo>
                  <a:lnTo>
                    <a:pt x="36074" y="0"/>
                  </a:lnTo>
                  <a:lnTo>
                    <a:pt x="108224" y="0"/>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57" name="Google Shape;1257;p81"/>
            <p:cNvSpPr/>
            <p:nvPr/>
          </p:nvSpPr>
          <p:spPr>
            <a:xfrm>
              <a:off x="3752824" y="1859925"/>
              <a:ext cx="683260" cy="250189"/>
            </a:xfrm>
            <a:custGeom>
              <a:avLst/>
              <a:gdLst/>
              <a:ahLst/>
              <a:cxnLst/>
              <a:rect l="l" t="t" r="r" b="b"/>
              <a:pathLst>
                <a:path w="683260" h="250189" extrusionOk="0">
                  <a:moveTo>
                    <a:pt x="0" y="41650"/>
                  </a:moveTo>
                  <a:lnTo>
                    <a:pt x="3273" y="25438"/>
                  </a:lnTo>
                  <a:lnTo>
                    <a:pt x="12199" y="12199"/>
                  </a:lnTo>
                  <a:lnTo>
                    <a:pt x="25438" y="3273"/>
                  </a:lnTo>
                  <a:lnTo>
                    <a:pt x="41650" y="0"/>
                  </a:lnTo>
                  <a:lnTo>
                    <a:pt x="641449" y="0"/>
                  </a:lnTo>
                  <a:lnTo>
                    <a:pt x="676102" y="18542"/>
                  </a:lnTo>
                  <a:lnTo>
                    <a:pt x="683099" y="41650"/>
                  </a:lnTo>
                  <a:lnTo>
                    <a:pt x="683099" y="208249"/>
                  </a:lnTo>
                  <a:lnTo>
                    <a:pt x="679826" y="224461"/>
                  </a:lnTo>
                  <a:lnTo>
                    <a:pt x="670900" y="237700"/>
                  </a:lnTo>
                  <a:lnTo>
                    <a:pt x="657661" y="246626"/>
                  </a:lnTo>
                  <a:lnTo>
                    <a:pt x="6414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58" name="Google Shape;1258;p81"/>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259" name="Google Shape;1259;p81"/>
          <p:cNvSpPr/>
          <p:nvPr/>
        </p:nvSpPr>
        <p:spPr>
          <a:xfrm>
            <a:off x="8017236" y="2989377"/>
            <a:ext cx="621029" cy="192405"/>
          </a:xfrm>
          <a:custGeom>
            <a:avLst/>
            <a:gdLst/>
            <a:ahLst/>
            <a:cxnLst/>
            <a:rect l="l" t="t" r="r" b="b"/>
            <a:pathLst>
              <a:path w="621029" h="192405" extrusionOk="0">
                <a:moveTo>
                  <a:pt x="620885" y="192023"/>
                </a:moveTo>
                <a:lnTo>
                  <a:pt x="0" y="192023"/>
                </a:lnTo>
                <a:lnTo>
                  <a:pt x="0" y="0"/>
                </a:lnTo>
                <a:lnTo>
                  <a:pt x="620885" y="0"/>
                </a:lnTo>
                <a:lnTo>
                  <a:pt x="620885" y="192023"/>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60" name="Google Shape;1260;p81"/>
          <p:cNvSpPr txBox="1"/>
          <p:nvPr/>
        </p:nvSpPr>
        <p:spPr>
          <a:xfrm>
            <a:off x="5953218" y="2952496"/>
            <a:ext cx="27744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CN" altLang="en-US" sz="14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 </a:t>
            </a:r>
            <a:r>
              <a:rPr kumimoji="0" lang="en-US" altLang="zh-CN" sz="1400" b="1" i="0" u="none" strike="noStrike" kern="0" cap="none" spc="0" normalizeH="0" baseline="0" noProof="0">
                <a:ln>
                  <a:noFill/>
                </a:ln>
                <a:solidFill>
                  <a:srgbClr val="674EA7"/>
                </a:solidFill>
                <a:effectLst/>
                <a:uLnTx/>
                <a:uFillTx/>
                <a:latin typeface="Courier New"/>
                <a:ea typeface="Courier New"/>
                <a:cs typeface="Courier New"/>
                <a:sym typeface="Courier New"/>
              </a:rPr>
              <a:t>SUBJECT </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 </a:t>
            </a:r>
            <a:r>
              <a:rPr kumimoji="0" lang="en-US" altLang="zh-CN" sz="1400" b="1" i="0" u="none" strike="noStrike" kern="0" cap="none" spc="0" normalizeH="0" baseline="0" noProof="0">
                <a:ln>
                  <a:noFill/>
                </a:ln>
                <a:solidFill>
                  <a:srgbClr val="3C78D8"/>
                </a:solidFill>
                <a:effectLst/>
                <a:uLnTx/>
                <a:uFillTx/>
                <a:latin typeface="Cambria"/>
                <a:ea typeface="Cambria"/>
                <a:cs typeface="Cambria"/>
                <a:sym typeface="Cambria"/>
              </a:rPr>
              <a:t>was born in </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[MASK]”</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261" name="Google Shape;1261;p81"/>
          <p:cNvGrpSpPr/>
          <p:nvPr/>
        </p:nvGrpSpPr>
        <p:grpSpPr>
          <a:xfrm>
            <a:off x="5125575" y="3015850"/>
            <a:ext cx="744854" cy="135889"/>
            <a:chOff x="5125575" y="3015850"/>
            <a:chExt cx="744854" cy="135889"/>
          </a:xfrm>
        </p:grpSpPr>
        <p:sp>
          <p:nvSpPr>
            <p:cNvPr id="1262" name="Google Shape;1262;p81"/>
            <p:cNvSpPr/>
            <p:nvPr/>
          </p:nvSpPr>
          <p:spPr>
            <a:xfrm>
              <a:off x="5125575" y="3015850"/>
              <a:ext cx="744854" cy="135889"/>
            </a:xfrm>
            <a:custGeom>
              <a:avLst/>
              <a:gdLst/>
              <a:ahLst/>
              <a:cxnLst/>
              <a:rect l="l" t="t" r="r" b="b"/>
              <a:pathLst>
                <a:path w="744854"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63" name="Google Shape;1263;p81"/>
            <p:cNvSpPr/>
            <p:nvPr/>
          </p:nvSpPr>
          <p:spPr>
            <a:xfrm>
              <a:off x="5125575" y="3015850"/>
              <a:ext cx="744854" cy="135889"/>
            </a:xfrm>
            <a:custGeom>
              <a:avLst/>
              <a:gdLst/>
              <a:ahLst/>
              <a:cxnLst/>
              <a:rect l="l" t="t" r="r" b="b"/>
              <a:pathLst>
                <a:path w="744854"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64" name="Google Shape;1264;p81"/>
          <p:cNvSpPr txBox="1"/>
          <p:nvPr/>
        </p:nvSpPr>
        <p:spPr>
          <a:xfrm>
            <a:off x="6316451" y="3386688"/>
            <a:ext cx="2148300" cy="443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manually crafted template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for “</a:t>
            </a:r>
            <a:r>
              <a:rPr kumimoji="0" lang="en-US" altLang="zh-CN" sz="1400" b="0"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zh-CN" altLang="en-US"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 </a:t>
            </a: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relation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265" name="Google Shape;1265;p81"/>
          <p:cNvSpPr txBox="1"/>
          <p:nvPr/>
        </p:nvSpPr>
        <p:spPr>
          <a:xfrm>
            <a:off x="1338068" y="3763135"/>
            <a:ext cx="468600" cy="847800"/>
          </a:xfrm>
          <a:prstGeom prst="rect">
            <a:avLst/>
          </a:prstGeom>
          <a:noFill/>
          <a:ln>
            <a:noFill/>
          </a:ln>
        </p:spPr>
        <p:txBody>
          <a:bodyPr spcFirstLastPara="1" wrap="square" lIns="0" tIns="125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6985" marR="0" lvl="0" indent="0" algn="ctr"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66" name="Google Shape;1266;p81"/>
          <p:cNvSpPr txBox="1"/>
          <p:nvPr/>
        </p:nvSpPr>
        <p:spPr>
          <a:xfrm>
            <a:off x="6678069" y="4685173"/>
            <a:ext cx="14238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67" name="Google Shape;1267;p81"/>
          <p:cNvSpPr txBox="1"/>
          <p:nvPr/>
        </p:nvSpPr>
        <p:spPr>
          <a:xfrm>
            <a:off x="789424" y="4726323"/>
            <a:ext cx="16206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68" name="Google Shape;1268;p81"/>
          <p:cNvSpPr txBox="1"/>
          <p:nvPr/>
        </p:nvSpPr>
        <p:spPr>
          <a:xfrm>
            <a:off x="3896372" y="4726648"/>
            <a:ext cx="449700" cy="4716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269" name="Google Shape;1269;p81"/>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46</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1273"/>
        <p:cNvGrpSpPr/>
        <p:nvPr/>
      </p:nvGrpSpPr>
      <p:grpSpPr>
        <a:xfrm>
          <a:off x="0" y="0"/>
          <a:ext cx="0" cy="0"/>
          <a:chOff x="0" y="0"/>
          <a:chExt cx="0" cy="0"/>
        </a:xfrm>
      </p:grpSpPr>
      <p:sp>
        <p:nvSpPr>
          <p:cNvPr id="1274" name="Google Shape;1274;p82"/>
          <p:cNvSpPr/>
          <p:nvPr/>
        </p:nvSpPr>
        <p:spPr>
          <a:xfrm>
            <a:off x="5934124" y="2820049"/>
            <a:ext cx="2812415" cy="530860"/>
          </a:xfrm>
          <a:custGeom>
            <a:avLst/>
            <a:gdLst/>
            <a:ahLst/>
            <a:cxnLst/>
            <a:rect l="l" t="t" r="r" b="b"/>
            <a:pathLst>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1275" name="Google Shape;1275;p82"/>
          <p:cNvGrpSpPr/>
          <p:nvPr/>
        </p:nvGrpSpPr>
        <p:grpSpPr>
          <a:xfrm>
            <a:off x="3005875" y="1816199"/>
            <a:ext cx="2164715" cy="363219"/>
            <a:chOff x="3005875" y="1816199"/>
            <a:chExt cx="2164715" cy="363219"/>
          </a:xfrm>
        </p:grpSpPr>
        <p:sp>
          <p:nvSpPr>
            <p:cNvPr id="1276" name="Google Shape;1276;p82"/>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7" name="Google Shape;1277;p82"/>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278" name="Google Shape;1278;p82"/>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sp>
        <p:nvSpPr>
          <p:cNvPr id="1279" name="Google Shape;1279;p82"/>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60</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280" name="Google Shape;1280;p82"/>
          <p:cNvGrpSpPr/>
          <p:nvPr/>
        </p:nvGrpSpPr>
        <p:grpSpPr>
          <a:xfrm>
            <a:off x="660749" y="1749012"/>
            <a:ext cx="2218180" cy="1363345"/>
            <a:chOff x="660749" y="1749012"/>
            <a:chExt cx="2218180" cy="1363345"/>
          </a:xfrm>
        </p:grpSpPr>
        <p:sp>
          <p:nvSpPr>
            <p:cNvPr id="1281" name="Google Shape;1281;p82"/>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2" name="Google Shape;1282;p82"/>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3" name="Google Shape;1283;p82"/>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4" name="Google Shape;1284;p82"/>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5" name="Google Shape;1285;p82"/>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6" name="Google Shape;1286;p82"/>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7" name="Google Shape;1287;p82"/>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8" name="Google Shape;1288;p82"/>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9" name="Google Shape;1289;p82"/>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0" name="Google Shape;1290;p82"/>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291" name="Google Shape;1291;p82"/>
          <p:cNvGrpSpPr/>
          <p:nvPr/>
        </p:nvGrpSpPr>
        <p:grpSpPr>
          <a:xfrm>
            <a:off x="660749" y="3276156"/>
            <a:ext cx="1823085" cy="1363345"/>
            <a:chOff x="660749" y="3276156"/>
            <a:chExt cx="1823085" cy="1363345"/>
          </a:xfrm>
        </p:grpSpPr>
        <p:sp>
          <p:nvSpPr>
            <p:cNvPr id="1292" name="Google Shape;1292;p82"/>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3" name="Google Shape;1293;p82"/>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4" name="Google Shape;1294;p82"/>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5" name="Google Shape;1295;p82"/>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6" name="Google Shape;1296;p82"/>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7" name="Google Shape;1297;p82"/>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8" name="Google Shape;1298;p82"/>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9" name="Google Shape;1299;p82"/>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00" name="Google Shape;1300;p82"/>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01" name="Google Shape;1301;p82"/>
          <p:cNvSpPr txBox="1"/>
          <p:nvPr/>
        </p:nvSpPr>
        <p:spPr>
          <a:xfrm>
            <a:off x="1338068" y="3444334"/>
            <a:ext cx="468600" cy="1169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02" name="Google Shape;1302;p82"/>
          <p:cNvSpPr txBox="1"/>
          <p:nvPr/>
        </p:nvSpPr>
        <p:spPr>
          <a:xfrm>
            <a:off x="3137249" y="1865048"/>
            <a:ext cx="1922100" cy="1974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200" b="1" i="0" u="none" strike="noStrike" kern="0" cap="none" spc="0" normalizeH="0" baseline="0" noProof="0">
                <a:ln>
                  <a:noFill/>
                </a:ln>
                <a:solidFill>
                  <a:srgbClr val="674EA7"/>
                </a:solidFill>
                <a:effectLst/>
                <a:uLnTx/>
                <a:uFillTx/>
                <a:latin typeface="Cambria"/>
                <a:ea typeface="Cambria"/>
                <a:cs typeface="Cambria"/>
                <a:sym typeface="Cambria"/>
              </a:rPr>
              <a:t>Mozart</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1"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Austria</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303" name="Google Shape;1303;p82"/>
          <p:cNvSpPr txBox="1"/>
          <p:nvPr/>
        </p:nvSpPr>
        <p:spPr>
          <a:xfrm>
            <a:off x="789424" y="4711744"/>
            <a:ext cx="16206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04" name="Google Shape;1304;p82"/>
          <p:cNvSpPr txBox="1"/>
          <p:nvPr/>
        </p:nvSpPr>
        <p:spPr>
          <a:xfrm>
            <a:off x="6678069" y="4670594"/>
            <a:ext cx="14238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305" name="Google Shape;1305;p82"/>
          <p:cNvGrpSpPr/>
          <p:nvPr/>
        </p:nvGrpSpPr>
        <p:grpSpPr>
          <a:xfrm>
            <a:off x="3005873" y="2763044"/>
            <a:ext cx="2184400" cy="645160"/>
            <a:chOff x="3005873" y="2763044"/>
            <a:chExt cx="2184400" cy="645160"/>
          </a:xfrm>
        </p:grpSpPr>
        <p:sp>
          <p:nvSpPr>
            <p:cNvPr id="1306" name="Google Shape;1306;p82"/>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07" name="Google Shape;1307;p82"/>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08" name="Google Shape;1308;p82"/>
          <p:cNvSpPr txBox="1"/>
          <p:nvPr/>
        </p:nvSpPr>
        <p:spPr>
          <a:xfrm>
            <a:off x="3211718" y="2866065"/>
            <a:ext cx="1773600" cy="615300"/>
          </a:xfrm>
          <a:prstGeom prst="rect">
            <a:avLst/>
          </a:prstGeom>
          <a:noFill/>
          <a:ln>
            <a:noFill/>
          </a:ln>
        </p:spPr>
        <p:txBody>
          <a:bodyPr spcFirstLastPara="1" wrap="square" lIns="0" tIns="10775" rIns="0" bIns="0" anchor="t" anchorCtr="0">
            <a:spAutoFit/>
          </a:bodyPr>
          <a:lstStyle/>
          <a:p>
            <a:pPr marL="471168" marR="5080" lvl="0" indent="-459103"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Maker  (Template)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309" name="Google Shape;1309;p82"/>
          <p:cNvGrpSpPr/>
          <p:nvPr/>
        </p:nvGrpSpPr>
        <p:grpSpPr>
          <a:xfrm>
            <a:off x="3752824" y="1859925"/>
            <a:ext cx="683260" cy="817910"/>
            <a:chOff x="3752824" y="1859925"/>
            <a:chExt cx="683260" cy="817910"/>
          </a:xfrm>
        </p:grpSpPr>
        <p:sp>
          <p:nvSpPr>
            <p:cNvPr id="1310" name="Google Shape;1310;p82"/>
            <p:cNvSpPr/>
            <p:nvPr/>
          </p:nvSpPr>
          <p:spPr>
            <a:xfrm>
              <a:off x="4014124" y="2146975"/>
              <a:ext cx="144779" cy="530860"/>
            </a:xfrm>
            <a:custGeom>
              <a:avLst/>
              <a:gdLst/>
              <a:ahLst/>
              <a:cxnLst/>
              <a:rect l="l" t="t" r="r" b="b"/>
              <a:pathLst>
                <a:path w="144779" h="530860" extrusionOk="0">
                  <a:moveTo>
                    <a:pt x="72149" y="530699"/>
                  </a:moveTo>
                  <a:lnTo>
                    <a:pt x="0" y="458549"/>
                  </a:lnTo>
                  <a:lnTo>
                    <a:pt x="36074" y="458549"/>
                  </a:lnTo>
                  <a:lnTo>
                    <a:pt x="36074" y="0"/>
                  </a:lnTo>
                  <a:lnTo>
                    <a:pt x="108224" y="0"/>
                  </a:lnTo>
                  <a:lnTo>
                    <a:pt x="108224" y="458549"/>
                  </a:lnTo>
                  <a:lnTo>
                    <a:pt x="144299" y="458549"/>
                  </a:lnTo>
                  <a:lnTo>
                    <a:pt x="72149" y="5306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1" name="Google Shape;1311;p82"/>
            <p:cNvSpPr/>
            <p:nvPr/>
          </p:nvSpPr>
          <p:spPr>
            <a:xfrm>
              <a:off x="4014124" y="2146975"/>
              <a:ext cx="144779" cy="530860"/>
            </a:xfrm>
            <a:custGeom>
              <a:avLst/>
              <a:gdLst/>
              <a:ahLst/>
              <a:cxnLst/>
              <a:rect l="l" t="t" r="r" b="b"/>
              <a:pathLst>
                <a:path w="144779" h="530860" extrusionOk="0">
                  <a:moveTo>
                    <a:pt x="108224" y="0"/>
                  </a:moveTo>
                  <a:lnTo>
                    <a:pt x="108224" y="458549"/>
                  </a:lnTo>
                  <a:lnTo>
                    <a:pt x="144299" y="458549"/>
                  </a:lnTo>
                  <a:lnTo>
                    <a:pt x="72149" y="530699"/>
                  </a:lnTo>
                  <a:lnTo>
                    <a:pt x="0" y="458549"/>
                  </a:lnTo>
                  <a:lnTo>
                    <a:pt x="36074" y="458549"/>
                  </a:lnTo>
                  <a:lnTo>
                    <a:pt x="36074" y="0"/>
                  </a:lnTo>
                  <a:lnTo>
                    <a:pt x="108224" y="0"/>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2" name="Google Shape;1312;p82"/>
            <p:cNvSpPr/>
            <p:nvPr/>
          </p:nvSpPr>
          <p:spPr>
            <a:xfrm>
              <a:off x="3752824" y="1859925"/>
              <a:ext cx="683260" cy="250189"/>
            </a:xfrm>
            <a:custGeom>
              <a:avLst/>
              <a:gdLst/>
              <a:ahLst/>
              <a:cxnLst/>
              <a:rect l="l" t="t" r="r" b="b"/>
              <a:pathLst>
                <a:path w="683260" h="250189" extrusionOk="0">
                  <a:moveTo>
                    <a:pt x="0" y="41650"/>
                  </a:moveTo>
                  <a:lnTo>
                    <a:pt x="3273" y="25438"/>
                  </a:lnTo>
                  <a:lnTo>
                    <a:pt x="12199" y="12199"/>
                  </a:lnTo>
                  <a:lnTo>
                    <a:pt x="25438" y="3273"/>
                  </a:lnTo>
                  <a:lnTo>
                    <a:pt x="41650" y="0"/>
                  </a:lnTo>
                  <a:lnTo>
                    <a:pt x="641449" y="0"/>
                  </a:lnTo>
                  <a:lnTo>
                    <a:pt x="676102" y="18542"/>
                  </a:lnTo>
                  <a:lnTo>
                    <a:pt x="683099" y="41650"/>
                  </a:lnTo>
                  <a:lnTo>
                    <a:pt x="683099" y="208249"/>
                  </a:lnTo>
                  <a:lnTo>
                    <a:pt x="679826" y="224461"/>
                  </a:lnTo>
                  <a:lnTo>
                    <a:pt x="670900" y="237700"/>
                  </a:lnTo>
                  <a:lnTo>
                    <a:pt x="657661" y="246626"/>
                  </a:lnTo>
                  <a:lnTo>
                    <a:pt x="6414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13" name="Google Shape;1313;p82"/>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314" name="Google Shape;1314;p82"/>
          <p:cNvSpPr/>
          <p:nvPr/>
        </p:nvSpPr>
        <p:spPr>
          <a:xfrm>
            <a:off x="8017236" y="2989377"/>
            <a:ext cx="621029" cy="192405"/>
          </a:xfrm>
          <a:custGeom>
            <a:avLst/>
            <a:gdLst/>
            <a:ahLst/>
            <a:cxnLst/>
            <a:rect l="l" t="t" r="r" b="b"/>
            <a:pathLst>
              <a:path w="621029" h="192405" extrusionOk="0">
                <a:moveTo>
                  <a:pt x="620885" y="192023"/>
                </a:moveTo>
                <a:lnTo>
                  <a:pt x="0" y="192023"/>
                </a:lnTo>
                <a:lnTo>
                  <a:pt x="0" y="0"/>
                </a:lnTo>
                <a:lnTo>
                  <a:pt x="620885" y="0"/>
                </a:lnTo>
                <a:lnTo>
                  <a:pt x="620885" y="192023"/>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5" name="Google Shape;1315;p82"/>
          <p:cNvSpPr txBox="1"/>
          <p:nvPr/>
        </p:nvSpPr>
        <p:spPr>
          <a:xfrm>
            <a:off x="5953218" y="2952496"/>
            <a:ext cx="27744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CN" altLang="en-US" sz="14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 </a:t>
            </a:r>
            <a:r>
              <a:rPr kumimoji="0" lang="en-US" altLang="zh-CN" sz="1400" b="1" i="0" u="none" strike="noStrike" kern="0" cap="none" spc="0" normalizeH="0" baseline="0" noProof="0">
                <a:ln>
                  <a:noFill/>
                </a:ln>
                <a:solidFill>
                  <a:srgbClr val="674EA7"/>
                </a:solidFill>
                <a:effectLst/>
                <a:uLnTx/>
                <a:uFillTx/>
                <a:latin typeface="Courier New"/>
                <a:ea typeface="Courier New"/>
                <a:cs typeface="Courier New"/>
                <a:sym typeface="Courier New"/>
              </a:rPr>
              <a:t>SUBJECT </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 </a:t>
            </a:r>
            <a:r>
              <a:rPr kumimoji="0" lang="en-US" altLang="zh-CN" sz="1400" b="1" i="0" u="none" strike="noStrike" kern="0" cap="none" spc="0" normalizeH="0" baseline="0" noProof="0">
                <a:ln>
                  <a:noFill/>
                </a:ln>
                <a:solidFill>
                  <a:srgbClr val="3C78D8"/>
                </a:solidFill>
                <a:effectLst/>
                <a:uLnTx/>
                <a:uFillTx/>
                <a:latin typeface="Cambria"/>
                <a:ea typeface="Cambria"/>
                <a:cs typeface="Cambria"/>
                <a:sym typeface="Cambria"/>
              </a:rPr>
              <a:t>was born in </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[MASK]”</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316" name="Google Shape;1316;p82"/>
          <p:cNvGrpSpPr/>
          <p:nvPr/>
        </p:nvGrpSpPr>
        <p:grpSpPr>
          <a:xfrm>
            <a:off x="3174050" y="1621804"/>
            <a:ext cx="3741634" cy="1587085"/>
            <a:chOff x="3174050" y="1621804"/>
            <a:chExt cx="3741634" cy="1587085"/>
          </a:xfrm>
        </p:grpSpPr>
        <p:sp>
          <p:nvSpPr>
            <p:cNvPr id="1317" name="Google Shape;1317;p82"/>
            <p:cNvSpPr/>
            <p:nvPr/>
          </p:nvSpPr>
          <p:spPr>
            <a:xfrm>
              <a:off x="3174050" y="1859924"/>
              <a:ext cx="549275" cy="250189"/>
            </a:xfrm>
            <a:custGeom>
              <a:avLst/>
              <a:gdLst/>
              <a:ahLst/>
              <a:cxnLst/>
              <a:rect l="l" t="t" r="r" b="b"/>
              <a:pathLst>
                <a:path w="549275" h="250189" extrusionOk="0">
                  <a:moveTo>
                    <a:pt x="0" y="41650"/>
                  </a:moveTo>
                  <a:lnTo>
                    <a:pt x="3273" y="25438"/>
                  </a:lnTo>
                  <a:lnTo>
                    <a:pt x="12199" y="12199"/>
                  </a:lnTo>
                  <a:lnTo>
                    <a:pt x="25438" y="3273"/>
                  </a:lnTo>
                  <a:lnTo>
                    <a:pt x="41650" y="0"/>
                  </a:lnTo>
                  <a:lnTo>
                    <a:pt x="507049" y="0"/>
                  </a:lnTo>
                  <a:lnTo>
                    <a:pt x="541702" y="18542"/>
                  </a:lnTo>
                  <a:lnTo>
                    <a:pt x="548699" y="41650"/>
                  </a:lnTo>
                  <a:lnTo>
                    <a:pt x="548699" y="208249"/>
                  </a:lnTo>
                  <a:lnTo>
                    <a:pt x="545426" y="224461"/>
                  </a:lnTo>
                  <a:lnTo>
                    <a:pt x="536500" y="237700"/>
                  </a:lnTo>
                  <a:lnTo>
                    <a:pt x="523261" y="246626"/>
                  </a:lnTo>
                  <a:lnTo>
                    <a:pt x="5070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8" name="Google Shape;1318;p82"/>
            <p:cNvSpPr/>
            <p:nvPr/>
          </p:nvSpPr>
          <p:spPr>
            <a:xfrm>
              <a:off x="5125575" y="3015850"/>
              <a:ext cx="744854" cy="135889"/>
            </a:xfrm>
            <a:custGeom>
              <a:avLst/>
              <a:gdLst/>
              <a:ahLst/>
              <a:cxnLst/>
              <a:rect l="l" t="t" r="r" b="b"/>
              <a:pathLst>
                <a:path w="744854"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9" name="Google Shape;1319;p82"/>
            <p:cNvSpPr/>
            <p:nvPr/>
          </p:nvSpPr>
          <p:spPr>
            <a:xfrm>
              <a:off x="5125575" y="3015850"/>
              <a:ext cx="744854" cy="135889"/>
            </a:xfrm>
            <a:custGeom>
              <a:avLst/>
              <a:gdLst/>
              <a:ahLst/>
              <a:cxnLst/>
              <a:rect l="l" t="t" r="r" b="b"/>
              <a:pathLst>
                <a:path w="744854"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20" name="Google Shape;1320;p82"/>
            <p:cNvSpPr/>
            <p:nvPr/>
          </p:nvSpPr>
          <p:spPr>
            <a:xfrm>
              <a:off x="3448400" y="1621804"/>
              <a:ext cx="3071495" cy="1239520"/>
            </a:xfrm>
            <a:custGeom>
              <a:avLst/>
              <a:gdLst/>
              <a:ahLst/>
              <a:cxnLst/>
              <a:rect l="l" t="t" r="r" b="b"/>
              <a:pathLst>
                <a:path w="3071495" h="1239520" extrusionOk="0">
                  <a:moveTo>
                    <a:pt x="0" y="238120"/>
                  </a:moveTo>
                  <a:lnTo>
                    <a:pt x="0" y="0"/>
                  </a:lnTo>
                  <a:lnTo>
                    <a:pt x="3071399" y="0"/>
                  </a:lnTo>
                  <a:lnTo>
                    <a:pt x="3071399" y="1239091"/>
                  </a:lnTo>
                </a:path>
              </a:pathLst>
            </a:custGeom>
            <a:noFill/>
            <a:ln w="28550"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21" name="Google Shape;1321;p82"/>
            <p:cNvSpPr/>
            <p:nvPr/>
          </p:nvSpPr>
          <p:spPr>
            <a:xfrm>
              <a:off x="6124475" y="2958700"/>
              <a:ext cx="791209" cy="250189"/>
            </a:xfrm>
            <a:custGeom>
              <a:avLst/>
              <a:gdLst/>
              <a:ahLst/>
              <a:cxnLst/>
              <a:rect l="l" t="t" r="r" b="b"/>
              <a:pathLst>
                <a:path w="791209" h="250189" extrusionOk="0">
                  <a:moveTo>
                    <a:pt x="749149" y="249899"/>
                  </a:moveTo>
                  <a:lnTo>
                    <a:pt x="41650" y="249899"/>
                  </a:lnTo>
                  <a:lnTo>
                    <a:pt x="25438" y="246626"/>
                  </a:lnTo>
                  <a:lnTo>
                    <a:pt x="12199" y="237700"/>
                  </a:lnTo>
                  <a:lnTo>
                    <a:pt x="3273" y="224461"/>
                  </a:lnTo>
                  <a:lnTo>
                    <a:pt x="0" y="208249"/>
                  </a:lnTo>
                  <a:lnTo>
                    <a:pt x="0" y="41650"/>
                  </a:lnTo>
                  <a:lnTo>
                    <a:pt x="3273" y="25438"/>
                  </a:lnTo>
                  <a:lnTo>
                    <a:pt x="12199" y="12199"/>
                  </a:lnTo>
                  <a:lnTo>
                    <a:pt x="25438" y="3273"/>
                  </a:lnTo>
                  <a:lnTo>
                    <a:pt x="41650" y="0"/>
                  </a:lnTo>
                  <a:lnTo>
                    <a:pt x="749149" y="0"/>
                  </a:lnTo>
                  <a:lnTo>
                    <a:pt x="783802" y="18542"/>
                  </a:lnTo>
                  <a:lnTo>
                    <a:pt x="790799" y="41650"/>
                  </a:lnTo>
                  <a:lnTo>
                    <a:pt x="790799" y="208249"/>
                  </a:lnTo>
                  <a:lnTo>
                    <a:pt x="787526" y="224461"/>
                  </a:lnTo>
                  <a:lnTo>
                    <a:pt x="778600" y="237700"/>
                  </a:lnTo>
                  <a:lnTo>
                    <a:pt x="765361" y="246626"/>
                  </a:lnTo>
                  <a:lnTo>
                    <a:pt x="749149" y="249899"/>
                  </a:lnTo>
                  <a:close/>
                </a:path>
              </a:pathLst>
            </a:custGeom>
            <a:solidFill>
              <a:srgbClr val="674EA7">
                <a:alpha val="2549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22" name="Google Shape;1322;p82"/>
            <p:cNvSpPr/>
            <p:nvPr/>
          </p:nvSpPr>
          <p:spPr>
            <a:xfrm>
              <a:off x="6124475" y="2958700"/>
              <a:ext cx="791209" cy="250189"/>
            </a:xfrm>
            <a:custGeom>
              <a:avLst/>
              <a:gdLst/>
              <a:ahLst/>
              <a:cxnLst/>
              <a:rect l="l" t="t" r="r" b="b"/>
              <a:pathLst>
                <a:path w="791209" h="250189" extrusionOk="0">
                  <a:moveTo>
                    <a:pt x="0" y="41650"/>
                  </a:moveTo>
                  <a:lnTo>
                    <a:pt x="3273" y="25438"/>
                  </a:lnTo>
                  <a:lnTo>
                    <a:pt x="12199" y="12199"/>
                  </a:lnTo>
                  <a:lnTo>
                    <a:pt x="25438" y="3273"/>
                  </a:lnTo>
                  <a:lnTo>
                    <a:pt x="41650" y="0"/>
                  </a:lnTo>
                  <a:lnTo>
                    <a:pt x="749149" y="0"/>
                  </a:lnTo>
                  <a:lnTo>
                    <a:pt x="783802" y="18542"/>
                  </a:lnTo>
                  <a:lnTo>
                    <a:pt x="790799" y="41650"/>
                  </a:lnTo>
                  <a:lnTo>
                    <a:pt x="790799" y="208249"/>
                  </a:lnTo>
                  <a:lnTo>
                    <a:pt x="787526" y="224461"/>
                  </a:lnTo>
                  <a:lnTo>
                    <a:pt x="778600" y="237700"/>
                  </a:lnTo>
                  <a:lnTo>
                    <a:pt x="765361" y="246626"/>
                  </a:lnTo>
                  <a:lnTo>
                    <a:pt x="7491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323" name="Google Shape;1323;p82"/>
            <p:cNvPicPr preferRelativeResize="0"/>
            <p:nvPr/>
          </p:nvPicPr>
          <p:blipFill rotWithShape="1">
            <a:blip r:embed="rId3">
              <a:alphaModFix/>
            </a:blip>
            <a:srcRect/>
            <a:stretch/>
          </p:blipFill>
          <p:spPr>
            <a:xfrm>
              <a:off x="6473377" y="2814473"/>
              <a:ext cx="92844" cy="116865"/>
            </a:xfrm>
            <a:prstGeom prst="rect">
              <a:avLst/>
            </a:prstGeom>
            <a:noFill/>
            <a:ln>
              <a:noFill/>
            </a:ln>
          </p:spPr>
        </p:pic>
      </p:grpSp>
      <p:sp>
        <p:nvSpPr>
          <p:cNvPr id="1324" name="Google Shape;1324;p82"/>
          <p:cNvSpPr txBox="1"/>
          <p:nvPr/>
        </p:nvSpPr>
        <p:spPr>
          <a:xfrm>
            <a:off x="3896372" y="4712069"/>
            <a:ext cx="449700" cy="443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25" name="Google Shape;1325;p82"/>
          <p:cNvSpPr txBox="1"/>
          <p:nvPr/>
        </p:nvSpPr>
        <p:spPr>
          <a:xfrm>
            <a:off x="6316451" y="3386688"/>
            <a:ext cx="2148300" cy="443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manually crafted template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for “</a:t>
            </a:r>
            <a:r>
              <a:rPr kumimoji="0" lang="en-US" altLang="zh-CN" sz="1400" b="0"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zh-CN" altLang="en-US"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 </a:t>
            </a: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relation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1329"/>
        <p:cNvGrpSpPr/>
        <p:nvPr/>
      </p:nvGrpSpPr>
      <p:grpSpPr>
        <a:xfrm>
          <a:off x="0" y="0"/>
          <a:ext cx="0" cy="0"/>
          <a:chOff x="0" y="0"/>
          <a:chExt cx="0" cy="0"/>
        </a:xfrm>
      </p:grpSpPr>
      <p:sp>
        <p:nvSpPr>
          <p:cNvPr id="1330" name="Google Shape;1330;p83"/>
          <p:cNvSpPr/>
          <p:nvPr/>
        </p:nvSpPr>
        <p:spPr>
          <a:xfrm>
            <a:off x="7853601" y="2989377"/>
            <a:ext cx="621029" cy="192405"/>
          </a:xfrm>
          <a:custGeom>
            <a:avLst/>
            <a:gdLst/>
            <a:ahLst/>
            <a:cxnLst/>
            <a:rect l="l" t="t" r="r" b="b"/>
            <a:pathLst>
              <a:path w="621029" h="192405" extrusionOk="0">
                <a:moveTo>
                  <a:pt x="620885" y="192023"/>
                </a:moveTo>
                <a:lnTo>
                  <a:pt x="0" y="192023"/>
                </a:lnTo>
                <a:lnTo>
                  <a:pt x="0" y="0"/>
                </a:lnTo>
                <a:lnTo>
                  <a:pt x="620885" y="0"/>
                </a:lnTo>
                <a:lnTo>
                  <a:pt x="620885" y="192023"/>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1" name="Google Shape;1331;p83"/>
          <p:cNvSpPr txBox="1"/>
          <p:nvPr/>
        </p:nvSpPr>
        <p:spPr>
          <a:xfrm>
            <a:off x="6116852" y="2952496"/>
            <a:ext cx="24474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CN" altLang="en-US" sz="1400" b="1" i="0" u="none" strike="noStrike" kern="0" cap="none" spc="0" normalizeH="0" baseline="0" noProof="0">
                <a:ln>
                  <a:noFill/>
                </a:ln>
                <a:solidFill>
                  <a:srgbClr val="000000"/>
                </a:solidFill>
                <a:effectLst/>
                <a:uLnTx/>
                <a:uFillTx/>
                <a:latin typeface="Cambria"/>
                <a:ea typeface="Cambria"/>
                <a:cs typeface="Cambria"/>
                <a:sym typeface="Cambria"/>
              </a:rPr>
              <a:t>“ </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Mozart was born in [MASK]”</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332" name="Google Shape;1332;p83"/>
          <p:cNvGrpSpPr/>
          <p:nvPr/>
        </p:nvGrpSpPr>
        <p:grpSpPr>
          <a:xfrm>
            <a:off x="3005875" y="1816199"/>
            <a:ext cx="5740664" cy="1534710"/>
            <a:chOff x="3005875" y="1816199"/>
            <a:chExt cx="5740664" cy="1534710"/>
          </a:xfrm>
        </p:grpSpPr>
        <p:sp>
          <p:nvSpPr>
            <p:cNvPr id="1333" name="Google Shape;1333;p83"/>
            <p:cNvSpPr/>
            <p:nvPr/>
          </p:nvSpPr>
          <p:spPr>
            <a:xfrm>
              <a:off x="5934124" y="2820049"/>
              <a:ext cx="2812415" cy="530860"/>
            </a:xfrm>
            <a:custGeom>
              <a:avLst/>
              <a:gdLst/>
              <a:ahLst/>
              <a:cxnLst/>
              <a:rect l="l" t="t" r="r" b="b"/>
              <a:pathLst>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4" name="Google Shape;1334;p83"/>
            <p:cNvSpPr/>
            <p:nvPr/>
          </p:nvSpPr>
          <p:spPr>
            <a:xfrm>
              <a:off x="6220424" y="2958700"/>
              <a:ext cx="618490" cy="250189"/>
            </a:xfrm>
            <a:custGeom>
              <a:avLst/>
              <a:gdLst/>
              <a:ahLst/>
              <a:cxnLst/>
              <a:rect l="l" t="t" r="r" b="b"/>
              <a:pathLst>
                <a:path w="618490" h="250189" extrusionOk="0">
                  <a:moveTo>
                    <a:pt x="576649" y="249899"/>
                  </a:moveTo>
                  <a:lnTo>
                    <a:pt x="41650" y="249899"/>
                  </a:lnTo>
                  <a:lnTo>
                    <a:pt x="25438" y="246626"/>
                  </a:lnTo>
                  <a:lnTo>
                    <a:pt x="12199" y="237700"/>
                  </a:lnTo>
                  <a:lnTo>
                    <a:pt x="3273" y="224461"/>
                  </a:lnTo>
                  <a:lnTo>
                    <a:pt x="0" y="208249"/>
                  </a:lnTo>
                  <a:lnTo>
                    <a:pt x="0" y="41650"/>
                  </a:lnTo>
                  <a:lnTo>
                    <a:pt x="3273" y="25438"/>
                  </a:lnTo>
                  <a:lnTo>
                    <a:pt x="12199" y="12199"/>
                  </a:lnTo>
                  <a:lnTo>
                    <a:pt x="25438" y="3273"/>
                  </a:lnTo>
                  <a:lnTo>
                    <a:pt x="41650" y="0"/>
                  </a:lnTo>
                  <a:lnTo>
                    <a:pt x="576649" y="0"/>
                  </a:lnTo>
                  <a:lnTo>
                    <a:pt x="611302" y="18542"/>
                  </a:lnTo>
                  <a:lnTo>
                    <a:pt x="618299" y="41650"/>
                  </a:lnTo>
                  <a:lnTo>
                    <a:pt x="618299" y="208249"/>
                  </a:lnTo>
                  <a:lnTo>
                    <a:pt x="615026" y="224461"/>
                  </a:lnTo>
                  <a:lnTo>
                    <a:pt x="606100" y="237700"/>
                  </a:lnTo>
                  <a:lnTo>
                    <a:pt x="592861" y="246626"/>
                  </a:lnTo>
                  <a:lnTo>
                    <a:pt x="576649" y="249899"/>
                  </a:lnTo>
                  <a:close/>
                </a:path>
              </a:pathLst>
            </a:custGeom>
            <a:solidFill>
              <a:srgbClr val="674EA7">
                <a:alpha val="2549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5" name="Google Shape;1335;p83"/>
            <p:cNvSpPr/>
            <p:nvPr/>
          </p:nvSpPr>
          <p:spPr>
            <a:xfrm>
              <a:off x="6220424" y="2958700"/>
              <a:ext cx="618490" cy="250189"/>
            </a:xfrm>
            <a:custGeom>
              <a:avLst/>
              <a:gdLst/>
              <a:ahLst/>
              <a:cxnLst/>
              <a:rect l="l" t="t" r="r" b="b"/>
              <a:pathLst>
                <a:path w="618490" h="250189" extrusionOk="0">
                  <a:moveTo>
                    <a:pt x="0" y="41650"/>
                  </a:moveTo>
                  <a:lnTo>
                    <a:pt x="3273" y="25438"/>
                  </a:lnTo>
                  <a:lnTo>
                    <a:pt x="12199" y="12199"/>
                  </a:lnTo>
                  <a:lnTo>
                    <a:pt x="25438" y="3273"/>
                  </a:lnTo>
                  <a:lnTo>
                    <a:pt x="41650" y="0"/>
                  </a:lnTo>
                  <a:lnTo>
                    <a:pt x="576649" y="0"/>
                  </a:lnTo>
                  <a:lnTo>
                    <a:pt x="611302" y="18542"/>
                  </a:lnTo>
                  <a:lnTo>
                    <a:pt x="618299" y="41650"/>
                  </a:lnTo>
                  <a:lnTo>
                    <a:pt x="618299" y="208249"/>
                  </a:lnTo>
                  <a:lnTo>
                    <a:pt x="615026" y="224461"/>
                  </a:lnTo>
                  <a:lnTo>
                    <a:pt x="606100" y="237700"/>
                  </a:lnTo>
                  <a:lnTo>
                    <a:pt x="592861" y="246626"/>
                  </a:lnTo>
                  <a:lnTo>
                    <a:pt x="5766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6" name="Google Shape;1336;p83"/>
            <p:cNvSpPr/>
            <p:nvPr/>
          </p:nvSpPr>
          <p:spPr>
            <a:xfrm>
              <a:off x="3005875" y="1816199"/>
              <a:ext cx="2164715" cy="363219"/>
            </a:xfrm>
            <a:custGeom>
              <a:avLst/>
              <a:gdLst/>
              <a:ahLst/>
              <a:cxnLst/>
              <a:rect l="l" t="t" r="r" b="b"/>
              <a:pathLst>
                <a:path w="2164715" h="363219" extrusionOk="0">
                  <a:moveTo>
                    <a:pt x="2103998" y="362999"/>
                  </a:moveTo>
                  <a:lnTo>
                    <a:pt x="60501" y="362999"/>
                  </a:lnTo>
                  <a:lnTo>
                    <a:pt x="36951" y="358245"/>
                  </a:lnTo>
                  <a:lnTo>
                    <a:pt x="17720" y="345279"/>
                  </a:lnTo>
                  <a:lnTo>
                    <a:pt x="4754" y="326048"/>
                  </a:lnTo>
                  <a:lnTo>
                    <a:pt x="0" y="302498"/>
                  </a:lnTo>
                  <a:lnTo>
                    <a:pt x="0" y="60501"/>
                  </a:ln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7" name="Google Shape;1337;p83"/>
            <p:cNvSpPr/>
            <p:nvPr/>
          </p:nvSpPr>
          <p:spPr>
            <a:xfrm>
              <a:off x="3005875" y="1816199"/>
              <a:ext cx="2164715" cy="363219"/>
            </a:xfrm>
            <a:custGeom>
              <a:avLst/>
              <a:gdLst/>
              <a:ahLst/>
              <a:cxnLst/>
              <a:rect l="l" t="t" r="r" b="b"/>
              <a:pathLst>
                <a:path w="2164715" h="363219" extrusionOk="0">
                  <a:moveTo>
                    <a:pt x="0" y="60501"/>
                  </a:moveTo>
                  <a:lnTo>
                    <a:pt x="4754" y="36951"/>
                  </a:lnTo>
                  <a:lnTo>
                    <a:pt x="17720" y="17720"/>
                  </a:lnTo>
                  <a:lnTo>
                    <a:pt x="36951" y="4754"/>
                  </a:lnTo>
                  <a:lnTo>
                    <a:pt x="60501" y="0"/>
                  </a:lnTo>
                  <a:lnTo>
                    <a:pt x="2103998" y="0"/>
                  </a:lnTo>
                  <a:lnTo>
                    <a:pt x="2146779" y="17720"/>
                  </a:lnTo>
                  <a:lnTo>
                    <a:pt x="2164499" y="60501"/>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1"/>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38" name="Google Shape;1338;p83"/>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339" name="Google Shape;1339;p83"/>
          <p:cNvGrpSpPr/>
          <p:nvPr/>
        </p:nvGrpSpPr>
        <p:grpSpPr>
          <a:xfrm>
            <a:off x="660749" y="1749012"/>
            <a:ext cx="2218180" cy="1363345"/>
            <a:chOff x="660749" y="1749012"/>
            <a:chExt cx="2218180" cy="1363345"/>
          </a:xfrm>
        </p:grpSpPr>
        <p:sp>
          <p:nvSpPr>
            <p:cNvPr id="1340" name="Google Shape;1340;p83"/>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1" name="Google Shape;1341;p83"/>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2" name="Google Shape;1342;p83"/>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3" name="Google Shape;1343;p83"/>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4" name="Google Shape;1344;p83"/>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5" name="Google Shape;1345;p83"/>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6" name="Google Shape;1346;p83"/>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7" name="Google Shape;1347;p83"/>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8" name="Google Shape;1348;p83"/>
            <p:cNvSpPr/>
            <p:nvPr/>
          </p:nvSpPr>
          <p:spPr>
            <a:xfrm>
              <a:off x="2134074" y="1900312"/>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9" name="Google Shape;1349;p83"/>
            <p:cNvSpPr/>
            <p:nvPr/>
          </p:nvSpPr>
          <p:spPr>
            <a:xfrm>
              <a:off x="2134074" y="1900312"/>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350" name="Google Shape;1350;p83"/>
          <p:cNvGrpSpPr/>
          <p:nvPr/>
        </p:nvGrpSpPr>
        <p:grpSpPr>
          <a:xfrm>
            <a:off x="660749" y="3276156"/>
            <a:ext cx="1823085" cy="1363345"/>
            <a:chOff x="660749" y="3276156"/>
            <a:chExt cx="1823085" cy="1363345"/>
          </a:xfrm>
        </p:grpSpPr>
        <p:sp>
          <p:nvSpPr>
            <p:cNvPr id="1351" name="Google Shape;1351;p83"/>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2" name="Google Shape;1352;p83"/>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3" name="Google Shape;1353;p83"/>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4" name="Google Shape;1354;p83"/>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5" name="Google Shape;1355;p83"/>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6" name="Google Shape;1356;p83"/>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7" name="Google Shape;1357;p83"/>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8" name="Google Shape;1358;p83"/>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59" name="Google Shape;1359;p83"/>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60" name="Google Shape;1360;p83"/>
          <p:cNvSpPr txBox="1"/>
          <p:nvPr/>
        </p:nvSpPr>
        <p:spPr>
          <a:xfrm>
            <a:off x="1338068" y="3444334"/>
            <a:ext cx="468600" cy="803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361" name="Google Shape;1361;p83"/>
          <p:cNvSpPr txBox="1"/>
          <p:nvPr/>
        </p:nvSpPr>
        <p:spPr>
          <a:xfrm>
            <a:off x="3137249" y="1865048"/>
            <a:ext cx="1922100" cy="1974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200" b="1" i="0" u="none" strike="noStrike" kern="0" cap="none" spc="0" normalizeH="0" baseline="0" noProof="0">
                <a:ln>
                  <a:noFill/>
                </a:ln>
                <a:solidFill>
                  <a:srgbClr val="674EA7"/>
                </a:solidFill>
                <a:effectLst/>
                <a:uLnTx/>
                <a:uFillTx/>
                <a:latin typeface="Cambria"/>
                <a:ea typeface="Cambria"/>
                <a:cs typeface="Cambria"/>
                <a:sym typeface="Cambria"/>
              </a:rPr>
              <a:t>Mozart</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1"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altLang="zh-CN" sz="12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Austria</a:t>
            </a:r>
            <a:r>
              <a:rPr kumimoji="0" lang="en-US" altLang="zh-CN"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362" name="Google Shape;1362;p83"/>
          <p:cNvGrpSpPr/>
          <p:nvPr/>
        </p:nvGrpSpPr>
        <p:grpSpPr>
          <a:xfrm>
            <a:off x="3005873" y="2763044"/>
            <a:ext cx="2184400" cy="645160"/>
            <a:chOff x="3005873" y="2763044"/>
            <a:chExt cx="2184400" cy="645160"/>
          </a:xfrm>
        </p:grpSpPr>
        <p:sp>
          <p:nvSpPr>
            <p:cNvPr id="1363" name="Google Shape;1363;p83"/>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64" name="Google Shape;1364;p83"/>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65" name="Google Shape;1365;p83"/>
          <p:cNvSpPr txBox="1"/>
          <p:nvPr/>
        </p:nvSpPr>
        <p:spPr>
          <a:xfrm>
            <a:off x="3211718" y="2866065"/>
            <a:ext cx="1773600" cy="413100"/>
          </a:xfrm>
          <a:prstGeom prst="rect">
            <a:avLst/>
          </a:prstGeom>
          <a:noFill/>
          <a:ln>
            <a:noFill/>
          </a:ln>
        </p:spPr>
        <p:txBody>
          <a:bodyPr spcFirstLastPara="1" wrap="square" lIns="0" tIns="10775" rIns="0" bIns="0" anchor="t" anchorCtr="0">
            <a:spAutoFit/>
          </a:bodyPr>
          <a:lstStyle/>
          <a:p>
            <a:pPr marL="471168" marR="5080" lvl="0" indent="-459103"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Maker  (Template)</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366" name="Google Shape;1366;p83"/>
          <p:cNvGrpSpPr/>
          <p:nvPr/>
        </p:nvGrpSpPr>
        <p:grpSpPr>
          <a:xfrm>
            <a:off x="3174050" y="1621804"/>
            <a:ext cx="3402071" cy="1529935"/>
            <a:chOff x="3174050" y="1621804"/>
            <a:chExt cx="3402071" cy="1529935"/>
          </a:xfrm>
        </p:grpSpPr>
        <p:sp>
          <p:nvSpPr>
            <p:cNvPr id="1367" name="Google Shape;1367;p83"/>
            <p:cNvSpPr/>
            <p:nvPr/>
          </p:nvSpPr>
          <p:spPr>
            <a:xfrm>
              <a:off x="4014125" y="2146975"/>
              <a:ext cx="144779" cy="530860"/>
            </a:xfrm>
            <a:custGeom>
              <a:avLst/>
              <a:gdLst/>
              <a:ahLst/>
              <a:cxnLst/>
              <a:rect l="l" t="t" r="r" b="b"/>
              <a:pathLst>
                <a:path w="144779" h="530860" extrusionOk="0">
                  <a:moveTo>
                    <a:pt x="72149" y="530699"/>
                  </a:moveTo>
                  <a:lnTo>
                    <a:pt x="0" y="458549"/>
                  </a:lnTo>
                  <a:lnTo>
                    <a:pt x="36074" y="458549"/>
                  </a:lnTo>
                  <a:lnTo>
                    <a:pt x="36074" y="0"/>
                  </a:lnTo>
                  <a:lnTo>
                    <a:pt x="108224" y="0"/>
                  </a:lnTo>
                  <a:lnTo>
                    <a:pt x="108224" y="458549"/>
                  </a:lnTo>
                  <a:lnTo>
                    <a:pt x="144299" y="458549"/>
                  </a:lnTo>
                  <a:lnTo>
                    <a:pt x="72149" y="5306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68" name="Google Shape;1368;p83"/>
            <p:cNvSpPr/>
            <p:nvPr/>
          </p:nvSpPr>
          <p:spPr>
            <a:xfrm>
              <a:off x="4014125" y="2146975"/>
              <a:ext cx="144779" cy="530860"/>
            </a:xfrm>
            <a:custGeom>
              <a:avLst/>
              <a:gdLst/>
              <a:ahLst/>
              <a:cxnLst/>
              <a:rect l="l" t="t" r="r" b="b"/>
              <a:pathLst>
                <a:path w="144779" h="530860" extrusionOk="0">
                  <a:moveTo>
                    <a:pt x="108224" y="0"/>
                  </a:moveTo>
                  <a:lnTo>
                    <a:pt x="108224" y="458549"/>
                  </a:lnTo>
                  <a:lnTo>
                    <a:pt x="144299" y="458549"/>
                  </a:lnTo>
                  <a:lnTo>
                    <a:pt x="72149" y="530699"/>
                  </a:lnTo>
                  <a:lnTo>
                    <a:pt x="0" y="458549"/>
                  </a:lnTo>
                  <a:lnTo>
                    <a:pt x="36074" y="458549"/>
                  </a:lnTo>
                  <a:lnTo>
                    <a:pt x="36074" y="0"/>
                  </a:lnTo>
                  <a:lnTo>
                    <a:pt x="108224" y="0"/>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69" name="Google Shape;1369;p83"/>
            <p:cNvSpPr/>
            <p:nvPr/>
          </p:nvSpPr>
          <p:spPr>
            <a:xfrm>
              <a:off x="3752825" y="1859924"/>
              <a:ext cx="683260" cy="250189"/>
            </a:xfrm>
            <a:custGeom>
              <a:avLst/>
              <a:gdLst/>
              <a:ahLst/>
              <a:cxnLst/>
              <a:rect l="l" t="t" r="r" b="b"/>
              <a:pathLst>
                <a:path w="683260" h="250189" extrusionOk="0">
                  <a:moveTo>
                    <a:pt x="0" y="41650"/>
                  </a:moveTo>
                  <a:lnTo>
                    <a:pt x="3273" y="25438"/>
                  </a:lnTo>
                  <a:lnTo>
                    <a:pt x="12199" y="12199"/>
                  </a:lnTo>
                  <a:lnTo>
                    <a:pt x="25438" y="3273"/>
                  </a:lnTo>
                  <a:lnTo>
                    <a:pt x="41650" y="0"/>
                  </a:lnTo>
                  <a:lnTo>
                    <a:pt x="641449" y="0"/>
                  </a:lnTo>
                  <a:lnTo>
                    <a:pt x="676102" y="18542"/>
                  </a:lnTo>
                  <a:lnTo>
                    <a:pt x="683099" y="41650"/>
                  </a:lnTo>
                  <a:lnTo>
                    <a:pt x="683099" y="208249"/>
                  </a:lnTo>
                  <a:lnTo>
                    <a:pt x="679826" y="224461"/>
                  </a:lnTo>
                  <a:lnTo>
                    <a:pt x="670900" y="237700"/>
                  </a:lnTo>
                  <a:lnTo>
                    <a:pt x="657661" y="246626"/>
                  </a:lnTo>
                  <a:lnTo>
                    <a:pt x="6414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70" name="Google Shape;1370;p83"/>
            <p:cNvSpPr/>
            <p:nvPr/>
          </p:nvSpPr>
          <p:spPr>
            <a:xfrm>
              <a:off x="3174050" y="1859924"/>
              <a:ext cx="549275" cy="250189"/>
            </a:xfrm>
            <a:custGeom>
              <a:avLst/>
              <a:gdLst/>
              <a:ahLst/>
              <a:cxnLst/>
              <a:rect l="l" t="t" r="r" b="b"/>
              <a:pathLst>
                <a:path w="549275" h="250189" extrusionOk="0">
                  <a:moveTo>
                    <a:pt x="0" y="41650"/>
                  </a:moveTo>
                  <a:lnTo>
                    <a:pt x="3273" y="25438"/>
                  </a:lnTo>
                  <a:lnTo>
                    <a:pt x="12199" y="12199"/>
                  </a:lnTo>
                  <a:lnTo>
                    <a:pt x="25438" y="3273"/>
                  </a:lnTo>
                  <a:lnTo>
                    <a:pt x="41650" y="0"/>
                  </a:lnTo>
                  <a:lnTo>
                    <a:pt x="507049" y="0"/>
                  </a:lnTo>
                  <a:lnTo>
                    <a:pt x="541702" y="18542"/>
                  </a:lnTo>
                  <a:lnTo>
                    <a:pt x="548699" y="41650"/>
                  </a:lnTo>
                  <a:lnTo>
                    <a:pt x="548699" y="208249"/>
                  </a:lnTo>
                  <a:lnTo>
                    <a:pt x="545426" y="224461"/>
                  </a:lnTo>
                  <a:lnTo>
                    <a:pt x="536500" y="237700"/>
                  </a:lnTo>
                  <a:lnTo>
                    <a:pt x="523261" y="246626"/>
                  </a:lnTo>
                  <a:lnTo>
                    <a:pt x="507049" y="249899"/>
                  </a:lnTo>
                  <a:lnTo>
                    <a:pt x="41650" y="249899"/>
                  </a:lnTo>
                  <a:lnTo>
                    <a:pt x="25438" y="246626"/>
                  </a:lnTo>
                  <a:lnTo>
                    <a:pt x="12199" y="237700"/>
                  </a:lnTo>
                  <a:lnTo>
                    <a:pt x="3273" y="224461"/>
                  </a:lnTo>
                  <a:lnTo>
                    <a:pt x="0" y="208249"/>
                  </a:lnTo>
                  <a:lnTo>
                    <a:pt x="0" y="41650"/>
                  </a:lnTo>
                  <a:close/>
                </a:path>
              </a:pathLst>
            </a:custGeom>
            <a:noFill/>
            <a:ln w="19025"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71" name="Google Shape;1371;p83"/>
            <p:cNvSpPr/>
            <p:nvPr/>
          </p:nvSpPr>
          <p:spPr>
            <a:xfrm>
              <a:off x="5125575" y="3015850"/>
              <a:ext cx="744854" cy="135889"/>
            </a:xfrm>
            <a:custGeom>
              <a:avLst/>
              <a:gdLst/>
              <a:ahLst/>
              <a:cxnLst/>
              <a:rect l="l" t="t" r="r" b="b"/>
              <a:pathLst>
                <a:path w="744854"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72" name="Google Shape;1372;p83"/>
            <p:cNvSpPr/>
            <p:nvPr/>
          </p:nvSpPr>
          <p:spPr>
            <a:xfrm>
              <a:off x="5125575" y="3015850"/>
              <a:ext cx="744854" cy="135889"/>
            </a:xfrm>
            <a:custGeom>
              <a:avLst/>
              <a:gdLst/>
              <a:ahLst/>
              <a:cxnLst/>
              <a:rect l="l" t="t" r="r" b="b"/>
              <a:pathLst>
                <a:path w="744854"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73" name="Google Shape;1373;p83"/>
            <p:cNvSpPr/>
            <p:nvPr/>
          </p:nvSpPr>
          <p:spPr>
            <a:xfrm>
              <a:off x="3448400" y="1621804"/>
              <a:ext cx="3081654" cy="1239520"/>
            </a:xfrm>
            <a:custGeom>
              <a:avLst/>
              <a:gdLst/>
              <a:ahLst/>
              <a:cxnLst/>
              <a:rect l="l" t="t" r="r" b="b"/>
              <a:pathLst>
                <a:path w="3081654" h="1239520" extrusionOk="0">
                  <a:moveTo>
                    <a:pt x="0" y="238120"/>
                  </a:moveTo>
                  <a:lnTo>
                    <a:pt x="0" y="0"/>
                  </a:lnTo>
                  <a:lnTo>
                    <a:pt x="3081299" y="0"/>
                  </a:lnTo>
                  <a:lnTo>
                    <a:pt x="3081299" y="1239091"/>
                  </a:lnTo>
                </a:path>
              </a:pathLst>
            </a:custGeom>
            <a:noFill/>
            <a:ln w="28550" cap="flat" cmpd="sng">
              <a:solidFill>
                <a:srgbClr val="674EA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374" name="Google Shape;1374;p83"/>
            <p:cNvPicPr preferRelativeResize="0"/>
            <p:nvPr/>
          </p:nvPicPr>
          <p:blipFill rotWithShape="1">
            <a:blip r:embed="rId3">
              <a:alphaModFix/>
            </a:blip>
            <a:srcRect/>
            <a:stretch/>
          </p:blipFill>
          <p:spPr>
            <a:xfrm>
              <a:off x="6483277" y="2814473"/>
              <a:ext cx="92844" cy="116865"/>
            </a:xfrm>
            <a:prstGeom prst="rect">
              <a:avLst/>
            </a:prstGeom>
            <a:noFill/>
            <a:ln>
              <a:noFill/>
            </a:ln>
          </p:spPr>
        </p:pic>
      </p:grpSp>
      <p:sp>
        <p:nvSpPr>
          <p:cNvPr id="1375" name="Google Shape;1375;p83"/>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376" name="Google Shape;1376;p83"/>
          <p:cNvSpPr txBox="1"/>
          <p:nvPr/>
        </p:nvSpPr>
        <p:spPr>
          <a:xfrm>
            <a:off x="1537659" y="4250771"/>
            <a:ext cx="54600" cy="355200"/>
          </a:xfrm>
          <a:prstGeom prst="rect">
            <a:avLst/>
          </a:prstGeom>
          <a:noFill/>
          <a:ln>
            <a:noFill/>
          </a:ln>
        </p:spPr>
        <p:txBody>
          <a:bodyPr spcFirstLastPara="1" wrap="square" lIns="0" tIns="5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77" name="Google Shape;1377;p83"/>
          <p:cNvSpPr txBox="1"/>
          <p:nvPr/>
        </p:nvSpPr>
        <p:spPr>
          <a:xfrm>
            <a:off x="6678069" y="4685173"/>
            <a:ext cx="14238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78" name="Google Shape;1378;p83"/>
          <p:cNvSpPr txBox="1"/>
          <p:nvPr/>
        </p:nvSpPr>
        <p:spPr>
          <a:xfrm>
            <a:off x="789424" y="4726323"/>
            <a:ext cx="16206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79" name="Google Shape;1379;p83"/>
          <p:cNvSpPr txBox="1"/>
          <p:nvPr/>
        </p:nvSpPr>
        <p:spPr>
          <a:xfrm>
            <a:off x="3896372" y="4726648"/>
            <a:ext cx="4497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380" name="Google Shape;1380;p83"/>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48</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381" name="Google Shape;1381;p83"/>
          <p:cNvSpPr txBox="1"/>
          <p:nvPr/>
        </p:nvSpPr>
        <p:spPr>
          <a:xfrm>
            <a:off x="6316451" y="3386688"/>
            <a:ext cx="2148300" cy="443700"/>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manually crafted template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for “</a:t>
            </a:r>
            <a:r>
              <a:rPr kumimoji="0" lang="en-US" altLang="zh-CN" sz="1400" b="0" i="0" u="none" strike="noStrike" kern="0" cap="none" spc="0" normalizeH="0" baseline="0" noProof="0">
                <a:ln>
                  <a:noFill/>
                </a:ln>
                <a:solidFill>
                  <a:srgbClr val="3C78D8"/>
                </a:solidFill>
                <a:effectLst/>
                <a:uLnTx/>
                <a:uFillTx/>
                <a:latin typeface="Courier New"/>
                <a:ea typeface="Courier New"/>
                <a:cs typeface="Courier New"/>
                <a:sym typeface="Courier New"/>
              </a:rPr>
              <a:t>BORN-IN</a:t>
            </a:r>
            <a:r>
              <a:rPr kumimoji="0" lang="zh-CN" altLang="en-US"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 </a:t>
            </a:r>
            <a:r>
              <a:rPr kumimoji="0" lang="en-US" altLang="zh-CN" sz="1400" b="0"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relation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1385"/>
        <p:cNvGrpSpPr/>
        <p:nvPr/>
      </p:nvGrpSpPr>
      <p:grpSpPr>
        <a:xfrm>
          <a:off x="0" y="0"/>
          <a:ext cx="0" cy="0"/>
          <a:chOff x="0" y="0"/>
          <a:chExt cx="0" cy="0"/>
        </a:xfrm>
      </p:grpSpPr>
      <p:grpSp>
        <p:nvGrpSpPr>
          <p:cNvPr id="1386" name="Google Shape;1386;p84"/>
          <p:cNvGrpSpPr/>
          <p:nvPr/>
        </p:nvGrpSpPr>
        <p:grpSpPr>
          <a:xfrm>
            <a:off x="3004024" y="3988129"/>
            <a:ext cx="2164715" cy="363220"/>
            <a:chOff x="3004024" y="3988129"/>
            <a:chExt cx="2164715" cy="363220"/>
          </a:xfrm>
        </p:grpSpPr>
        <p:sp>
          <p:nvSpPr>
            <p:cNvPr id="1387" name="Google Shape;1387;p84"/>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88" name="Google Shape;1388;p84"/>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389" name="Google Shape;1389;p84"/>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grpSp>
        <p:nvGrpSpPr>
          <p:cNvPr id="1390" name="Google Shape;1390;p84"/>
          <p:cNvGrpSpPr/>
          <p:nvPr/>
        </p:nvGrpSpPr>
        <p:grpSpPr>
          <a:xfrm>
            <a:off x="660749" y="1749012"/>
            <a:ext cx="1823085" cy="1363345"/>
            <a:chOff x="660749" y="1749012"/>
            <a:chExt cx="1823085" cy="1363345"/>
          </a:xfrm>
        </p:grpSpPr>
        <p:sp>
          <p:nvSpPr>
            <p:cNvPr id="1391" name="Google Shape;1391;p84"/>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2" name="Google Shape;1392;p84"/>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3" name="Google Shape;1393;p84"/>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4" name="Google Shape;1394;p84"/>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5" name="Google Shape;1395;p84"/>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6" name="Google Shape;1396;p84"/>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7" name="Google Shape;1397;p84"/>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8" name="Google Shape;1398;p84"/>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399" name="Google Shape;1399;p84"/>
          <p:cNvGrpSpPr/>
          <p:nvPr/>
        </p:nvGrpSpPr>
        <p:grpSpPr>
          <a:xfrm>
            <a:off x="660749" y="3276156"/>
            <a:ext cx="1823085" cy="1363345"/>
            <a:chOff x="660749" y="3276156"/>
            <a:chExt cx="1823085" cy="1363345"/>
          </a:xfrm>
        </p:grpSpPr>
        <p:sp>
          <p:nvSpPr>
            <p:cNvPr id="1400" name="Google Shape;1400;p84"/>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1" name="Google Shape;1401;p84"/>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2" name="Google Shape;1402;p84"/>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3" name="Google Shape;1403;p84"/>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4" name="Google Shape;1404;p84"/>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5" name="Google Shape;1405;p84"/>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6" name="Google Shape;1406;p84"/>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7" name="Google Shape;1407;p84"/>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08" name="Google Shape;1408;p84"/>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09" name="Google Shape;1409;p84"/>
          <p:cNvSpPr txBox="1"/>
          <p:nvPr/>
        </p:nvSpPr>
        <p:spPr>
          <a:xfrm>
            <a:off x="1338068" y="3444334"/>
            <a:ext cx="468600" cy="803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410" name="Google Shape;1410;p84"/>
          <p:cNvGrpSpPr/>
          <p:nvPr/>
        </p:nvGrpSpPr>
        <p:grpSpPr>
          <a:xfrm>
            <a:off x="2134074" y="4072535"/>
            <a:ext cx="744855" cy="135889"/>
            <a:chOff x="2134074" y="4072535"/>
            <a:chExt cx="744855" cy="135889"/>
          </a:xfrm>
        </p:grpSpPr>
        <p:sp>
          <p:nvSpPr>
            <p:cNvPr id="1411" name="Google Shape;1411;p84"/>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2" name="Google Shape;1412;p84"/>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13" name="Google Shape;1413;p84"/>
          <p:cNvSpPr txBox="1"/>
          <p:nvPr/>
        </p:nvSpPr>
        <p:spPr>
          <a:xfrm>
            <a:off x="3045041" y="4042125"/>
            <a:ext cx="21519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(Who wrote Hamlet, </a:t>
            </a:r>
            <a:r>
              <a:rPr kumimoji="0" lang="en-US" altLang="zh-CN" sz="11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Shakespeare</a:t>
            </a: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414" name="Google Shape;1414;p84"/>
          <p:cNvGrpSpPr/>
          <p:nvPr/>
        </p:nvGrpSpPr>
        <p:grpSpPr>
          <a:xfrm>
            <a:off x="3005873" y="2763044"/>
            <a:ext cx="2184400" cy="645160"/>
            <a:chOff x="3005873" y="2763044"/>
            <a:chExt cx="2184400" cy="645160"/>
          </a:xfrm>
        </p:grpSpPr>
        <p:sp>
          <p:nvSpPr>
            <p:cNvPr id="1415" name="Google Shape;1415;p84"/>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6" name="Google Shape;1416;p84"/>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17" name="Google Shape;1417;p84"/>
          <p:cNvSpPr txBox="1"/>
          <p:nvPr/>
        </p:nvSpPr>
        <p:spPr>
          <a:xfrm>
            <a:off x="3474558" y="2866065"/>
            <a:ext cx="1247700" cy="413100"/>
          </a:xfrm>
          <a:prstGeom prst="rect">
            <a:avLst/>
          </a:prstGeom>
          <a:noFill/>
          <a:ln>
            <a:noFill/>
          </a:ln>
        </p:spPr>
        <p:txBody>
          <a:bodyPr spcFirstLastPara="1" wrap="square" lIns="0" tIns="10775" rIns="0" bIns="0" anchor="t" anchorCtr="0">
            <a:spAutoFit/>
          </a:bodyPr>
          <a:lstStyle/>
          <a:p>
            <a:pPr marL="274320" marR="5080" lvl="0" indent="-262255"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(Manual)</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418" name="Google Shape;1418;p84"/>
          <p:cNvGrpSpPr/>
          <p:nvPr/>
        </p:nvGrpSpPr>
        <p:grpSpPr>
          <a:xfrm>
            <a:off x="4015975" y="3498999"/>
            <a:ext cx="144779" cy="530860"/>
            <a:chOff x="4015975" y="3498999"/>
            <a:chExt cx="144779" cy="530860"/>
          </a:xfrm>
        </p:grpSpPr>
        <p:sp>
          <p:nvSpPr>
            <p:cNvPr id="1419" name="Google Shape;1419;p84"/>
            <p:cNvSpPr/>
            <p:nvPr/>
          </p:nvSpPr>
          <p:spPr>
            <a:xfrm>
              <a:off x="4015975" y="3498999"/>
              <a:ext cx="144779" cy="530860"/>
            </a:xfrm>
            <a:custGeom>
              <a:avLst/>
              <a:gdLst/>
              <a:ahLst/>
              <a:cxnLst/>
              <a:rect l="l" t="t" r="r" b="b"/>
              <a:pathLst>
                <a:path w="144779" h="530860" extrusionOk="0">
                  <a:moveTo>
                    <a:pt x="108224" y="530699"/>
                  </a:moveTo>
                  <a:lnTo>
                    <a:pt x="36074" y="530699"/>
                  </a:lnTo>
                  <a:lnTo>
                    <a:pt x="36074" y="72149"/>
                  </a:lnTo>
                  <a:lnTo>
                    <a:pt x="0" y="72149"/>
                  </a:lnTo>
                  <a:lnTo>
                    <a:pt x="72149" y="0"/>
                  </a:lnTo>
                  <a:lnTo>
                    <a:pt x="144299" y="72149"/>
                  </a:lnTo>
                  <a:lnTo>
                    <a:pt x="108224" y="72149"/>
                  </a:lnTo>
                  <a:lnTo>
                    <a:pt x="108224" y="530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0" name="Google Shape;1420;p84"/>
            <p:cNvSpPr/>
            <p:nvPr/>
          </p:nvSpPr>
          <p:spPr>
            <a:xfrm>
              <a:off x="4015975" y="3498999"/>
              <a:ext cx="144779" cy="530860"/>
            </a:xfrm>
            <a:custGeom>
              <a:avLst/>
              <a:gdLst/>
              <a:ahLst/>
              <a:cxnLst/>
              <a:rect l="l" t="t" r="r" b="b"/>
              <a:pathLst>
                <a:path w="144779" h="530860" extrusionOk="0">
                  <a:moveTo>
                    <a:pt x="36074" y="530699"/>
                  </a:moveTo>
                  <a:lnTo>
                    <a:pt x="36074" y="72149"/>
                  </a:lnTo>
                  <a:lnTo>
                    <a:pt x="0" y="72149"/>
                  </a:lnTo>
                  <a:lnTo>
                    <a:pt x="72149" y="0"/>
                  </a:lnTo>
                  <a:lnTo>
                    <a:pt x="144299" y="72149"/>
                  </a:lnTo>
                  <a:lnTo>
                    <a:pt x="108224" y="72149"/>
                  </a:lnTo>
                  <a:lnTo>
                    <a:pt x="108224" y="530699"/>
                  </a:lnTo>
                  <a:lnTo>
                    <a:pt x="36074" y="5306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21" name="Google Shape;1421;p84"/>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422" name="Google Shape;1422;p84"/>
          <p:cNvSpPr txBox="1"/>
          <p:nvPr/>
        </p:nvSpPr>
        <p:spPr>
          <a:xfrm>
            <a:off x="1537659" y="4250771"/>
            <a:ext cx="54600" cy="355200"/>
          </a:xfrm>
          <a:prstGeom prst="rect">
            <a:avLst/>
          </a:prstGeom>
          <a:noFill/>
          <a:ln>
            <a:noFill/>
          </a:ln>
        </p:spPr>
        <p:txBody>
          <a:bodyPr spcFirstLastPara="1" wrap="square" lIns="0" tIns="5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12700" marR="0" lvl="0" indent="0" algn="l"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23" name="Google Shape;1423;p84"/>
          <p:cNvSpPr txBox="1"/>
          <p:nvPr/>
        </p:nvSpPr>
        <p:spPr>
          <a:xfrm>
            <a:off x="6678069" y="4685173"/>
            <a:ext cx="14238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24" name="Google Shape;1424;p84"/>
          <p:cNvSpPr txBox="1"/>
          <p:nvPr/>
        </p:nvSpPr>
        <p:spPr>
          <a:xfrm>
            <a:off x="789424" y="4726323"/>
            <a:ext cx="16206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25" name="Google Shape;1425;p84"/>
          <p:cNvSpPr txBox="1"/>
          <p:nvPr/>
        </p:nvSpPr>
        <p:spPr>
          <a:xfrm>
            <a:off x="3896372" y="4726648"/>
            <a:ext cx="4497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26" name="Google Shape;1426;p84"/>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100965"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49</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1430"/>
        <p:cNvGrpSpPr/>
        <p:nvPr/>
      </p:nvGrpSpPr>
      <p:grpSpPr>
        <a:xfrm>
          <a:off x="0" y="0"/>
          <a:ext cx="0" cy="0"/>
          <a:chOff x="0" y="0"/>
          <a:chExt cx="0" cy="0"/>
        </a:xfrm>
      </p:grpSpPr>
      <p:grpSp>
        <p:nvGrpSpPr>
          <p:cNvPr id="1431" name="Google Shape;1431;p85"/>
          <p:cNvGrpSpPr/>
          <p:nvPr/>
        </p:nvGrpSpPr>
        <p:grpSpPr>
          <a:xfrm>
            <a:off x="3004024" y="3988129"/>
            <a:ext cx="2164715" cy="363220"/>
            <a:chOff x="3004024" y="3988129"/>
            <a:chExt cx="2164715" cy="363220"/>
          </a:xfrm>
        </p:grpSpPr>
        <p:sp>
          <p:nvSpPr>
            <p:cNvPr id="1432" name="Google Shape;1432;p85"/>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33" name="Google Shape;1433;p85"/>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34" name="Google Shape;1434;p85"/>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sp>
        <p:nvSpPr>
          <p:cNvPr id="1435" name="Google Shape;1435;p85"/>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63</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436" name="Google Shape;1436;p85"/>
          <p:cNvGrpSpPr/>
          <p:nvPr/>
        </p:nvGrpSpPr>
        <p:grpSpPr>
          <a:xfrm>
            <a:off x="660749" y="1749012"/>
            <a:ext cx="1823085" cy="1363345"/>
            <a:chOff x="660749" y="1749012"/>
            <a:chExt cx="1823085" cy="1363345"/>
          </a:xfrm>
        </p:grpSpPr>
        <p:sp>
          <p:nvSpPr>
            <p:cNvPr id="1437" name="Google Shape;1437;p85"/>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38" name="Google Shape;1438;p85"/>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39" name="Google Shape;1439;p85"/>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0" name="Google Shape;1440;p85"/>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1" name="Google Shape;1441;p85"/>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2" name="Google Shape;1442;p85"/>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3" name="Google Shape;1443;p85"/>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4" name="Google Shape;1444;p85"/>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445" name="Google Shape;1445;p85"/>
          <p:cNvGrpSpPr/>
          <p:nvPr/>
        </p:nvGrpSpPr>
        <p:grpSpPr>
          <a:xfrm>
            <a:off x="660749" y="3276156"/>
            <a:ext cx="2218180" cy="1363345"/>
            <a:chOff x="660749" y="3276156"/>
            <a:chExt cx="2218180" cy="1363345"/>
          </a:xfrm>
        </p:grpSpPr>
        <p:sp>
          <p:nvSpPr>
            <p:cNvPr id="1446" name="Google Shape;1446;p85"/>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7" name="Google Shape;1447;p85"/>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8" name="Google Shape;1448;p85"/>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49" name="Google Shape;1449;p85"/>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0" name="Google Shape;1450;p85"/>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1" name="Google Shape;1451;p85"/>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2" name="Google Shape;1452;p85"/>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3" name="Google Shape;1453;p85"/>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4" name="Google Shape;1454;p85"/>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55" name="Google Shape;1455;p85"/>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56" name="Google Shape;1456;p85"/>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57" name="Google Shape;1457;p85"/>
          <p:cNvSpPr txBox="1"/>
          <p:nvPr/>
        </p:nvSpPr>
        <p:spPr>
          <a:xfrm>
            <a:off x="1338068" y="3444334"/>
            <a:ext cx="468600" cy="1169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58" name="Google Shape;1458;p85"/>
          <p:cNvSpPr txBox="1"/>
          <p:nvPr/>
        </p:nvSpPr>
        <p:spPr>
          <a:xfrm>
            <a:off x="3045041" y="4042125"/>
            <a:ext cx="21519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(Who wrote Hamlet, </a:t>
            </a:r>
            <a:r>
              <a:rPr kumimoji="0" lang="en-US" altLang="zh-CN" sz="11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Shakespeare</a:t>
            </a: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459" name="Google Shape;1459;p85"/>
          <p:cNvSpPr txBox="1"/>
          <p:nvPr/>
        </p:nvSpPr>
        <p:spPr>
          <a:xfrm>
            <a:off x="789424" y="4711744"/>
            <a:ext cx="16206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60" name="Google Shape;1460;p85"/>
          <p:cNvSpPr txBox="1"/>
          <p:nvPr/>
        </p:nvSpPr>
        <p:spPr>
          <a:xfrm>
            <a:off x="3896372" y="4712069"/>
            <a:ext cx="4497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461" name="Google Shape;1461;p85"/>
          <p:cNvSpPr txBox="1"/>
          <p:nvPr/>
        </p:nvSpPr>
        <p:spPr>
          <a:xfrm>
            <a:off x="6678069" y="4670594"/>
            <a:ext cx="14238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462" name="Google Shape;1462;p85"/>
          <p:cNvGrpSpPr/>
          <p:nvPr/>
        </p:nvGrpSpPr>
        <p:grpSpPr>
          <a:xfrm>
            <a:off x="3005873" y="2763044"/>
            <a:ext cx="2184400" cy="645160"/>
            <a:chOff x="3005873" y="2763044"/>
            <a:chExt cx="2184400" cy="645160"/>
          </a:xfrm>
        </p:grpSpPr>
        <p:sp>
          <p:nvSpPr>
            <p:cNvPr id="1463" name="Google Shape;1463;p85"/>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64" name="Google Shape;1464;p85"/>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65" name="Google Shape;1465;p85"/>
          <p:cNvSpPr txBox="1"/>
          <p:nvPr/>
        </p:nvSpPr>
        <p:spPr>
          <a:xfrm>
            <a:off x="3474558" y="2866065"/>
            <a:ext cx="1247700" cy="413100"/>
          </a:xfrm>
          <a:prstGeom prst="rect">
            <a:avLst/>
          </a:prstGeom>
          <a:noFill/>
          <a:ln>
            <a:noFill/>
          </a:ln>
        </p:spPr>
        <p:txBody>
          <a:bodyPr spcFirstLastPara="1" wrap="square" lIns="0" tIns="10775" rIns="0" bIns="0" anchor="t" anchorCtr="0">
            <a:spAutoFit/>
          </a:bodyPr>
          <a:lstStyle/>
          <a:p>
            <a:pPr marL="274320" marR="5080" lvl="0" indent="-262255"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(Manual)</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466" name="Google Shape;1466;p85"/>
          <p:cNvGrpSpPr/>
          <p:nvPr/>
        </p:nvGrpSpPr>
        <p:grpSpPr>
          <a:xfrm>
            <a:off x="4015975" y="3498999"/>
            <a:ext cx="144779" cy="530860"/>
            <a:chOff x="4015975" y="3498999"/>
            <a:chExt cx="144779" cy="530860"/>
          </a:xfrm>
        </p:grpSpPr>
        <p:sp>
          <p:nvSpPr>
            <p:cNvPr id="1467" name="Google Shape;1467;p85"/>
            <p:cNvSpPr/>
            <p:nvPr/>
          </p:nvSpPr>
          <p:spPr>
            <a:xfrm>
              <a:off x="4015975" y="3498999"/>
              <a:ext cx="144779" cy="530860"/>
            </a:xfrm>
            <a:custGeom>
              <a:avLst/>
              <a:gdLst/>
              <a:ahLst/>
              <a:cxnLst/>
              <a:rect l="l" t="t" r="r" b="b"/>
              <a:pathLst>
                <a:path w="144779" h="530860" extrusionOk="0">
                  <a:moveTo>
                    <a:pt x="108224" y="530699"/>
                  </a:moveTo>
                  <a:lnTo>
                    <a:pt x="36074" y="530699"/>
                  </a:lnTo>
                  <a:lnTo>
                    <a:pt x="36074" y="72149"/>
                  </a:lnTo>
                  <a:lnTo>
                    <a:pt x="0" y="72149"/>
                  </a:lnTo>
                  <a:lnTo>
                    <a:pt x="72149" y="0"/>
                  </a:lnTo>
                  <a:lnTo>
                    <a:pt x="144299" y="72149"/>
                  </a:lnTo>
                  <a:lnTo>
                    <a:pt x="108224" y="72149"/>
                  </a:lnTo>
                  <a:lnTo>
                    <a:pt x="108224" y="530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68" name="Google Shape;1468;p85"/>
            <p:cNvSpPr/>
            <p:nvPr/>
          </p:nvSpPr>
          <p:spPr>
            <a:xfrm>
              <a:off x="4015975" y="3498999"/>
              <a:ext cx="144779" cy="530860"/>
            </a:xfrm>
            <a:custGeom>
              <a:avLst/>
              <a:gdLst/>
              <a:ahLst/>
              <a:cxnLst/>
              <a:rect l="l" t="t" r="r" b="b"/>
              <a:pathLst>
                <a:path w="144779" h="530860" extrusionOk="0">
                  <a:moveTo>
                    <a:pt x="36074" y="530699"/>
                  </a:moveTo>
                  <a:lnTo>
                    <a:pt x="36074" y="72149"/>
                  </a:lnTo>
                  <a:lnTo>
                    <a:pt x="0" y="72149"/>
                  </a:lnTo>
                  <a:lnTo>
                    <a:pt x="72149" y="0"/>
                  </a:lnTo>
                  <a:lnTo>
                    <a:pt x="144299" y="72149"/>
                  </a:lnTo>
                  <a:lnTo>
                    <a:pt x="108224" y="72149"/>
                  </a:lnTo>
                  <a:lnTo>
                    <a:pt x="108224" y="530699"/>
                  </a:lnTo>
                  <a:lnTo>
                    <a:pt x="36074" y="5306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69" name="Google Shape;1469;p85"/>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470" name="Google Shape;1470;p85"/>
          <p:cNvPicPr preferRelativeResize="0"/>
          <p:nvPr/>
        </p:nvPicPr>
        <p:blipFill rotWithShape="1">
          <a:blip r:embed="rId3">
            <a:alphaModFix/>
          </a:blip>
          <a:srcRect/>
          <a:stretch/>
        </p:blipFill>
        <p:spPr>
          <a:xfrm>
            <a:off x="3742384" y="1763407"/>
            <a:ext cx="689726" cy="689600"/>
          </a:xfrm>
          <a:prstGeom prst="rect">
            <a:avLst/>
          </a:prstGeom>
          <a:noFill/>
          <a:ln>
            <a:noFill/>
          </a:ln>
        </p:spPr>
      </p:pic>
      <p:grpSp>
        <p:nvGrpSpPr>
          <p:cNvPr id="1471" name="Google Shape;1471;p85"/>
          <p:cNvGrpSpPr/>
          <p:nvPr/>
        </p:nvGrpSpPr>
        <p:grpSpPr>
          <a:xfrm>
            <a:off x="4014125" y="2549518"/>
            <a:ext cx="144779" cy="253364"/>
            <a:chOff x="4014125" y="2549518"/>
            <a:chExt cx="144779" cy="253364"/>
          </a:xfrm>
        </p:grpSpPr>
        <p:pic>
          <p:nvPicPr>
            <p:cNvPr id="1472" name="Google Shape;1472;p85"/>
            <p:cNvPicPr preferRelativeResize="0"/>
            <p:nvPr/>
          </p:nvPicPr>
          <p:blipFill rotWithShape="1">
            <a:blip r:embed="rId4">
              <a:alphaModFix/>
            </a:blip>
            <a:srcRect/>
            <a:stretch/>
          </p:blipFill>
          <p:spPr>
            <a:xfrm>
              <a:off x="4014125" y="2549518"/>
              <a:ext cx="144299" cy="253199"/>
            </a:xfrm>
            <a:prstGeom prst="rect">
              <a:avLst/>
            </a:prstGeom>
            <a:noFill/>
            <a:ln>
              <a:noFill/>
            </a:ln>
          </p:spPr>
        </p:pic>
        <p:sp>
          <p:nvSpPr>
            <p:cNvPr id="1473" name="Google Shape;1473;p85"/>
            <p:cNvSpPr/>
            <p:nvPr/>
          </p:nvSpPr>
          <p:spPr>
            <a:xfrm>
              <a:off x="4014125" y="2549518"/>
              <a:ext cx="144779" cy="253364"/>
            </a:xfrm>
            <a:custGeom>
              <a:avLst/>
              <a:gdLst/>
              <a:ahLst/>
              <a:cxnLst/>
              <a:rect l="l" t="t" r="r" b="b"/>
              <a:pathLst>
                <a:path w="144779" h="253364" extrusionOk="0">
                  <a:moveTo>
                    <a:pt x="36074" y="253199"/>
                  </a:moveTo>
                  <a:lnTo>
                    <a:pt x="36074" y="72149"/>
                  </a:lnTo>
                  <a:lnTo>
                    <a:pt x="0" y="72149"/>
                  </a:lnTo>
                  <a:lnTo>
                    <a:pt x="72149" y="0"/>
                  </a:lnTo>
                  <a:lnTo>
                    <a:pt x="144299" y="72149"/>
                  </a:lnTo>
                  <a:lnTo>
                    <a:pt x="108224" y="72149"/>
                  </a:lnTo>
                  <a:lnTo>
                    <a:pt x="108224" y="253199"/>
                  </a:lnTo>
                  <a:lnTo>
                    <a:pt x="36074" y="253199"/>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1477"/>
        <p:cNvGrpSpPr/>
        <p:nvPr/>
      </p:nvGrpSpPr>
      <p:grpSpPr>
        <a:xfrm>
          <a:off x="0" y="0"/>
          <a:ext cx="0" cy="0"/>
          <a:chOff x="0" y="0"/>
          <a:chExt cx="0" cy="0"/>
        </a:xfrm>
      </p:grpSpPr>
      <p:grpSp>
        <p:nvGrpSpPr>
          <p:cNvPr id="1478" name="Google Shape;1478;p86"/>
          <p:cNvGrpSpPr/>
          <p:nvPr/>
        </p:nvGrpSpPr>
        <p:grpSpPr>
          <a:xfrm>
            <a:off x="3004024" y="3988129"/>
            <a:ext cx="2164715" cy="363220"/>
            <a:chOff x="3004024" y="3988129"/>
            <a:chExt cx="2164715" cy="363220"/>
          </a:xfrm>
        </p:grpSpPr>
        <p:sp>
          <p:nvSpPr>
            <p:cNvPr id="1479" name="Google Shape;1479;p86"/>
            <p:cNvSpPr/>
            <p:nvPr/>
          </p:nvSpPr>
          <p:spPr>
            <a:xfrm>
              <a:off x="3004024" y="3988129"/>
              <a:ext cx="2164715" cy="363220"/>
            </a:xfrm>
            <a:custGeom>
              <a:avLst/>
              <a:gdLst/>
              <a:ahLst/>
              <a:cxnLst/>
              <a:rect l="l" t="t" r="r" b="b"/>
              <a:pathLst>
                <a:path w="2164715" h="363220" extrusionOk="0">
                  <a:moveTo>
                    <a:pt x="2103998" y="362999"/>
                  </a:moveTo>
                  <a:lnTo>
                    <a:pt x="60501" y="362999"/>
                  </a:lnTo>
                  <a:lnTo>
                    <a:pt x="36951" y="358245"/>
                  </a:lnTo>
                  <a:lnTo>
                    <a:pt x="17720" y="345279"/>
                  </a:lnTo>
                  <a:lnTo>
                    <a:pt x="4754" y="326048"/>
                  </a:lnTo>
                  <a:lnTo>
                    <a:pt x="0" y="302498"/>
                  </a:lnTo>
                  <a:lnTo>
                    <a:pt x="0" y="60500"/>
                  </a:ln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0" name="Google Shape;1480;p86"/>
            <p:cNvSpPr/>
            <p:nvPr/>
          </p:nvSpPr>
          <p:spPr>
            <a:xfrm>
              <a:off x="3004024" y="3988129"/>
              <a:ext cx="2164715" cy="363220"/>
            </a:xfrm>
            <a:custGeom>
              <a:avLst/>
              <a:gdLst/>
              <a:ahLst/>
              <a:cxnLst/>
              <a:rect l="l" t="t" r="r" b="b"/>
              <a:pathLst>
                <a:path w="2164715" h="363220" extrusionOk="0">
                  <a:moveTo>
                    <a:pt x="0" y="60500"/>
                  </a:moveTo>
                  <a:lnTo>
                    <a:pt x="4754" y="36951"/>
                  </a:lnTo>
                  <a:lnTo>
                    <a:pt x="17720" y="17720"/>
                  </a:lnTo>
                  <a:lnTo>
                    <a:pt x="36951" y="4754"/>
                  </a:lnTo>
                  <a:lnTo>
                    <a:pt x="60501" y="0"/>
                  </a:lnTo>
                  <a:lnTo>
                    <a:pt x="2103998" y="0"/>
                  </a:lnTo>
                  <a:lnTo>
                    <a:pt x="2146779" y="17720"/>
                  </a:lnTo>
                  <a:lnTo>
                    <a:pt x="2164499" y="60500"/>
                  </a:lnTo>
                  <a:lnTo>
                    <a:pt x="2164499" y="302498"/>
                  </a:lnTo>
                  <a:lnTo>
                    <a:pt x="2159745" y="326048"/>
                  </a:lnTo>
                  <a:lnTo>
                    <a:pt x="2146779" y="345279"/>
                  </a:lnTo>
                  <a:lnTo>
                    <a:pt x="2127548" y="358245"/>
                  </a:lnTo>
                  <a:lnTo>
                    <a:pt x="2103998" y="362999"/>
                  </a:lnTo>
                  <a:lnTo>
                    <a:pt x="60501" y="362999"/>
                  </a:lnTo>
                  <a:lnTo>
                    <a:pt x="36951" y="358245"/>
                  </a:lnTo>
                  <a:lnTo>
                    <a:pt x="17720" y="345279"/>
                  </a:lnTo>
                  <a:lnTo>
                    <a:pt x="4754" y="326048"/>
                  </a:lnTo>
                  <a:lnTo>
                    <a:pt x="0" y="302498"/>
                  </a:lnTo>
                  <a:lnTo>
                    <a:pt x="0" y="605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481" name="Google Shape;1481;p86"/>
          <p:cNvSpPr txBox="1">
            <a:spLocks noGrp="1"/>
          </p:cNvSpPr>
          <p:nvPr>
            <p:ph type="title"/>
          </p:nvPr>
        </p:nvSpPr>
        <p:spPr>
          <a:xfrm>
            <a:off x="2285003" y="505350"/>
            <a:ext cx="4574100" cy="397500"/>
          </a:xfrm>
          <a:prstGeom prst="rect">
            <a:avLst/>
          </a:prstGeom>
          <a:noFill/>
          <a:ln>
            <a:noFill/>
          </a:ln>
        </p:spPr>
        <p:txBody>
          <a:bodyPr spcFirstLastPara="1" wrap="square" lIns="0" tIns="12700" rIns="0" bIns="0" anchor="t" anchorCtr="0">
            <a:spAutoFit/>
          </a:bodyPr>
          <a:lstStyle/>
          <a:p>
            <a:pPr marL="14603" lvl="0" indent="0" algn="l" rtl="0">
              <a:lnSpc>
                <a:spcPct val="100000"/>
              </a:lnSpc>
              <a:spcBef>
                <a:spcPts val="0"/>
              </a:spcBef>
              <a:spcAft>
                <a:spcPts val="0"/>
              </a:spcAft>
              <a:buSzPts val="1400"/>
              <a:buNone/>
            </a:pPr>
            <a:r>
              <a:rPr lang="zh-CN"/>
              <a:t>Architecture of the LAMA probe</a:t>
            </a:r>
            <a:endParaRPr/>
          </a:p>
        </p:txBody>
      </p:sp>
      <p:sp>
        <p:nvSpPr>
          <p:cNvPr id="1482" name="Google Shape;1482;p86"/>
          <p:cNvSpPr txBox="1"/>
          <p:nvPr/>
        </p:nvSpPr>
        <p:spPr>
          <a:xfrm>
            <a:off x="8795783" y="4766036"/>
            <a:ext cx="152400" cy="1668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zh-CN" sz="1000" b="0" i="0" u="none" strike="noStrike" kern="0" cap="none" spc="0" normalizeH="0" baseline="0" noProof="0">
                <a:ln>
                  <a:noFill/>
                </a:ln>
                <a:solidFill>
                  <a:srgbClr val="B7B7B7"/>
                </a:solidFill>
                <a:effectLst/>
                <a:uLnTx/>
                <a:uFillTx/>
                <a:latin typeface="Times New Roman"/>
                <a:ea typeface="Times New Roman"/>
                <a:cs typeface="Times New Roman"/>
                <a:sym typeface="Times New Roman"/>
              </a:rPr>
              <a:t>64</a:t>
            </a:r>
            <a:endParaRPr kumimoji="0" sz="1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grpSp>
        <p:nvGrpSpPr>
          <p:cNvPr id="1483" name="Google Shape;1483;p86"/>
          <p:cNvGrpSpPr/>
          <p:nvPr/>
        </p:nvGrpSpPr>
        <p:grpSpPr>
          <a:xfrm>
            <a:off x="660749" y="1749012"/>
            <a:ext cx="1823085" cy="1363345"/>
            <a:chOff x="660749" y="1749012"/>
            <a:chExt cx="1823085" cy="1363345"/>
          </a:xfrm>
        </p:grpSpPr>
        <p:sp>
          <p:nvSpPr>
            <p:cNvPr id="1484" name="Google Shape;1484;p86"/>
            <p:cNvSpPr/>
            <p:nvPr/>
          </p:nvSpPr>
          <p:spPr>
            <a:xfrm>
              <a:off x="660749" y="1749012"/>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5" name="Google Shape;1485;p86"/>
            <p:cNvSpPr/>
            <p:nvPr/>
          </p:nvSpPr>
          <p:spPr>
            <a:xfrm>
              <a:off x="660749" y="1749012"/>
              <a:ext cx="1823085" cy="1363345"/>
            </a:xfrm>
            <a:custGeom>
              <a:avLst/>
              <a:gdLst/>
              <a:ahLst/>
              <a:cxnLst/>
              <a:rect l="l" t="t" r="r" b="b"/>
              <a:pathLst>
                <a:path w="1823085" h="1363345" extrusionOk="0">
                  <a:moveTo>
                    <a:pt x="0" y="227154"/>
                  </a:moveTo>
                  <a:lnTo>
                    <a:pt x="4614" y="181374"/>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7"/>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7"/>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6" name="Google Shape;1486;p86"/>
            <p:cNvSpPr/>
            <p:nvPr/>
          </p:nvSpPr>
          <p:spPr>
            <a:xfrm>
              <a:off x="873924" y="1863183"/>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7" name="Google Shape;1487;p86"/>
            <p:cNvSpPr/>
            <p:nvPr/>
          </p:nvSpPr>
          <p:spPr>
            <a:xfrm>
              <a:off x="873924" y="1863183"/>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8" name="Google Shape;1488;p86"/>
            <p:cNvSpPr/>
            <p:nvPr/>
          </p:nvSpPr>
          <p:spPr>
            <a:xfrm>
              <a:off x="873924" y="2170529"/>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89" name="Google Shape;1489;p86"/>
            <p:cNvSpPr/>
            <p:nvPr/>
          </p:nvSpPr>
          <p:spPr>
            <a:xfrm>
              <a:off x="873924" y="2170529"/>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0" name="Google Shape;1490;p86"/>
            <p:cNvSpPr/>
            <p:nvPr/>
          </p:nvSpPr>
          <p:spPr>
            <a:xfrm>
              <a:off x="881249" y="2477875"/>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1" name="Google Shape;1491;p86"/>
            <p:cNvSpPr/>
            <p:nvPr/>
          </p:nvSpPr>
          <p:spPr>
            <a:xfrm>
              <a:off x="881249" y="2477875"/>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1492" name="Google Shape;1492;p86"/>
          <p:cNvGrpSpPr/>
          <p:nvPr/>
        </p:nvGrpSpPr>
        <p:grpSpPr>
          <a:xfrm>
            <a:off x="660749" y="3276156"/>
            <a:ext cx="2218180" cy="1363345"/>
            <a:chOff x="660749" y="3276156"/>
            <a:chExt cx="2218180" cy="1363345"/>
          </a:xfrm>
        </p:grpSpPr>
        <p:sp>
          <p:nvSpPr>
            <p:cNvPr id="1493" name="Google Shape;1493;p86"/>
            <p:cNvSpPr/>
            <p:nvPr/>
          </p:nvSpPr>
          <p:spPr>
            <a:xfrm>
              <a:off x="660749" y="3276156"/>
              <a:ext cx="1823085" cy="1363345"/>
            </a:xfrm>
            <a:custGeom>
              <a:avLst/>
              <a:gdLst/>
              <a:ahLst/>
              <a:cxnLst/>
              <a:rect l="l" t="t" r="r" b="b"/>
              <a:pathLst>
                <a:path w="1823085" h="1363345" extrusionOk="0">
                  <a:moveTo>
                    <a:pt x="1595645" y="1362899"/>
                  </a:move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lnTo>
                    <a:pt x="4614" y="181375"/>
                  </a:lnTo>
                  <a:lnTo>
                    <a:pt x="17850" y="138735"/>
                  </a:lnTo>
                  <a:lnTo>
                    <a:pt x="38794" y="100150"/>
                  </a:lnTo>
                  <a:lnTo>
                    <a:pt x="66532" y="66531"/>
                  </a:lnTo>
                  <a:lnTo>
                    <a:pt x="100150" y="38794"/>
                  </a:lnTo>
                  <a:lnTo>
                    <a:pt x="138735" y="17850"/>
                  </a:lnTo>
                  <a:lnTo>
                    <a:pt x="181375" y="4614"/>
                  </a:lnTo>
                  <a:lnTo>
                    <a:pt x="227154" y="0"/>
                  </a:lnTo>
                  <a:lnTo>
                    <a:pt x="1595645" y="0"/>
                  </a:lnTo>
                  <a:lnTo>
                    <a:pt x="1640168" y="4405"/>
                  </a:lnTo>
                  <a:lnTo>
                    <a:pt x="1682573" y="17291"/>
                  </a:lnTo>
                  <a:lnTo>
                    <a:pt x="1721670" y="38164"/>
                  </a:lnTo>
                  <a:lnTo>
                    <a:pt x="1756268" y="66532"/>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4" name="Google Shape;1494;p86"/>
            <p:cNvSpPr/>
            <p:nvPr/>
          </p:nvSpPr>
          <p:spPr>
            <a:xfrm>
              <a:off x="660749" y="3276156"/>
              <a:ext cx="1823085" cy="1363345"/>
            </a:xfrm>
            <a:custGeom>
              <a:avLst/>
              <a:gdLst/>
              <a:ahLst/>
              <a:cxnLst/>
              <a:rect l="l" t="t" r="r" b="b"/>
              <a:pathLst>
                <a:path w="1823085" h="1363345" extrusionOk="0">
                  <a:moveTo>
                    <a:pt x="0" y="227154"/>
                  </a:moveTo>
                  <a:lnTo>
                    <a:pt x="4614" y="181375"/>
                  </a:lnTo>
                  <a:lnTo>
                    <a:pt x="17850" y="138735"/>
                  </a:lnTo>
                  <a:lnTo>
                    <a:pt x="38794" y="100150"/>
                  </a:lnTo>
                  <a:lnTo>
                    <a:pt x="66532" y="66532"/>
                  </a:lnTo>
                  <a:lnTo>
                    <a:pt x="100150" y="38794"/>
                  </a:lnTo>
                  <a:lnTo>
                    <a:pt x="138735" y="17850"/>
                  </a:lnTo>
                  <a:lnTo>
                    <a:pt x="181375" y="4614"/>
                  </a:lnTo>
                  <a:lnTo>
                    <a:pt x="227154" y="0"/>
                  </a:lnTo>
                  <a:lnTo>
                    <a:pt x="1595645" y="0"/>
                  </a:lnTo>
                  <a:lnTo>
                    <a:pt x="1640168" y="4405"/>
                  </a:lnTo>
                  <a:lnTo>
                    <a:pt x="1682573" y="17291"/>
                  </a:lnTo>
                  <a:lnTo>
                    <a:pt x="1721670" y="38164"/>
                  </a:lnTo>
                  <a:lnTo>
                    <a:pt x="1756267" y="66531"/>
                  </a:lnTo>
                  <a:lnTo>
                    <a:pt x="1784635" y="101129"/>
                  </a:lnTo>
                  <a:lnTo>
                    <a:pt x="1805508" y="140226"/>
                  </a:lnTo>
                  <a:lnTo>
                    <a:pt x="1818394" y="182631"/>
                  </a:lnTo>
                  <a:lnTo>
                    <a:pt x="1822799" y="227154"/>
                  </a:lnTo>
                  <a:lnTo>
                    <a:pt x="1822799" y="1135745"/>
                  </a:lnTo>
                  <a:lnTo>
                    <a:pt x="1818185" y="1181525"/>
                  </a:lnTo>
                  <a:lnTo>
                    <a:pt x="1804949" y="1224164"/>
                  </a:lnTo>
                  <a:lnTo>
                    <a:pt x="1784005" y="1262749"/>
                  </a:lnTo>
                  <a:lnTo>
                    <a:pt x="1756267" y="1296368"/>
                  </a:lnTo>
                  <a:lnTo>
                    <a:pt x="1722649" y="1324105"/>
                  </a:lnTo>
                  <a:lnTo>
                    <a:pt x="1684064" y="1345049"/>
                  </a:lnTo>
                  <a:lnTo>
                    <a:pt x="1641425" y="1358285"/>
                  </a:lnTo>
                  <a:lnTo>
                    <a:pt x="1595645" y="1362899"/>
                  </a:lnTo>
                  <a:lnTo>
                    <a:pt x="227154" y="1362899"/>
                  </a:lnTo>
                  <a:lnTo>
                    <a:pt x="181375" y="1358285"/>
                  </a:lnTo>
                  <a:lnTo>
                    <a:pt x="138735" y="1345049"/>
                  </a:lnTo>
                  <a:lnTo>
                    <a:pt x="100150" y="1324105"/>
                  </a:lnTo>
                  <a:lnTo>
                    <a:pt x="66532" y="1296368"/>
                  </a:lnTo>
                  <a:lnTo>
                    <a:pt x="38794" y="1262749"/>
                  </a:lnTo>
                  <a:lnTo>
                    <a:pt x="17850" y="1224164"/>
                  </a:lnTo>
                  <a:lnTo>
                    <a:pt x="4614" y="1181525"/>
                  </a:lnTo>
                  <a:lnTo>
                    <a:pt x="0" y="1135745"/>
                  </a:lnTo>
                  <a:lnTo>
                    <a:pt x="0" y="227154"/>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5" name="Google Shape;1495;p86"/>
            <p:cNvSpPr/>
            <p:nvPr/>
          </p:nvSpPr>
          <p:spPr>
            <a:xfrm>
              <a:off x="877574" y="3448447"/>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6" name="Google Shape;1496;p86"/>
            <p:cNvSpPr/>
            <p:nvPr/>
          </p:nvSpPr>
          <p:spPr>
            <a:xfrm>
              <a:off x="877574" y="3448447"/>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7" name="Google Shape;1497;p86"/>
            <p:cNvSpPr/>
            <p:nvPr/>
          </p:nvSpPr>
          <p:spPr>
            <a:xfrm>
              <a:off x="877574" y="3755792"/>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EEEEEE"/>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8" name="Google Shape;1498;p86"/>
            <p:cNvSpPr/>
            <p:nvPr/>
          </p:nvSpPr>
          <p:spPr>
            <a:xfrm>
              <a:off x="877574" y="3755792"/>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99" name="Google Shape;1499;p86"/>
            <p:cNvSpPr/>
            <p:nvPr/>
          </p:nvSpPr>
          <p:spPr>
            <a:xfrm>
              <a:off x="884899" y="4063138"/>
              <a:ext cx="1382395" cy="200025"/>
            </a:xfrm>
            <a:custGeom>
              <a:avLst/>
              <a:gdLst/>
              <a:ahLst/>
              <a:cxnLst/>
              <a:rect l="l" t="t" r="r" b="b"/>
              <a:pathLst>
                <a:path w="1382395" h="200025" extrusionOk="0">
                  <a:moveTo>
                    <a:pt x="1348499" y="199799"/>
                  </a:moveTo>
                  <a:lnTo>
                    <a:pt x="33300" y="199799"/>
                  </a:lnTo>
                  <a:lnTo>
                    <a:pt x="20338" y="197183"/>
                  </a:lnTo>
                  <a:lnTo>
                    <a:pt x="9753" y="190046"/>
                  </a:lnTo>
                  <a:lnTo>
                    <a:pt x="2616" y="179461"/>
                  </a:lnTo>
                  <a:lnTo>
                    <a:pt x="0" y="166499"/>
                  </a:lnTo>
                  <a:lnTo>
                    <a:pt x="0" y="33300"/>
                  </a:ln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00" name="Google Shape;1500;p86"/>
            <p:cNvSpPr/>
            <p:nvPr/>
          </p:nvSpPr>
          <p:spPr>
            <a:xfrm>
              <a:off x="884899" y="4063138"/>
              <a:ext cx="1382395" cy="200025"/>
            </a:xfrm>
            <a:custGeom>
              <a:avLst/>
              <a:gdLst/>
              <a:ahLst/>
              <a:cxnLst/>
              <a:rect l="l" t="t" r="r" b="b"/>
              <a:pathLst>
                <a:path w="1382395" h="200025" extrusionOk="0">
                  <a:moveTo>
                    <a:pt x="0" y="33300"/>
                  </a:moveTo>
                  <a:lnTo>
                    <a:pt x="2616" y="20338"/>
                  </a:lnTo>
                  <a:lnTo>
                    <a:pt x="9753" y="9753"/>
                  </a:lnTo>
                  <a:lnTo>
                    <a:pt x="20338" y="2616"/>
                  </a:lnTo>
                  <a:lnTo>
                    <a:pt x="33300" y="0"/>
                  </a:lnTo>
                  <a:lnTo>
                    <a:pt x="1348499" y="0"/>
                  </a:lnTo>
                  <a:lnTo>
                    <a:pt x="1381154" y="26773"/>
                  </a:lnTo>
                  <a:lnTo>
                    <a:pt x="1381799" y="33300"/>
                  </a:lnTo>
                  <a:lnTo>
                    <a:pt x="1381799" y="166499"/>
                  </a:lnTo>
                  <a:lnTo>
                    <a:pt x="1379183" y="179461"/>
                  </a:lnTo>
                  <a:lnTo>
                    <a:pt x="1372046" y="190046"/>
                  </a:lnTo>
                  <a:lnTo>
                    <a:pt x="1361461" y="197183"/>
                  </a:lnTo>
                  <a:lnTo>
                    <a:pt x="1348499" y="199799"/>
                  </a:lnTo>
                  <a:lnTo>
                    <a:pt x="33300" y="199799"/>
                  </a:lnTo>
                  <a:lnTo>
                    <a:pt x="20338" y="197183"/>
                  </a:lnTo>
                  <a:lnTo>
                    <a:pt x="9753" y="190046"/>
                  </a:lnTo>
                  <a:lnTo>
                    <a:pt x="2616" y="179461"/>
                  </a:lnTo>
                  <a:lnTo>
                    <a:pt x="0" y="166499"/>
                  </a:lnTo>
                  <a:lnTo>
                    <a:pt x="0" y="33300"/>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01" name="Google Shape;1501;p86"/>
            <p:cNvSpPr/>
            <p:nvPr/>
          </p:nvSpPr>
          <p:spPr>
            <a:xfrm>
              <a:off x="2134074" y="4072535"/>
              <a:ext cx="744855" cy="135889"/>
            </a:xfrm>
            <a:custGeom>
              <a:avLst/>
              <a:gdLst/>
              <a:ahLst/>
              <a:cxnLst/>
              <a:rect l="l" t="t" r="r" b="b"/>
              <a:pathLst>
                <a:path w="744855" h="135889" extrusionOk="0">
                  <a:moveTo>
                    <a:pt x="676499" y="135599"/>
                  </a:moveTo>
                  <a:lnTo>
                    <a:pt x="676499" y="101699"/>
                  </a:lnTo>
                  <a:lnTo>
                    <a:pt x="0" y="101699"/>
                  </a:lnTo>
                  <a:lnTo>
                    <a:pt x="0" y="33899"/>
                  </a:lnTo>
                  <a:lnTo>
                    <a:pt x="676499" y="33899"/>
                  </a:lnTo>
                  <a:lnTo>
                    <a:pt x="676499" y="0"/>
                  </a:lnTo>
                  <a:lnTo>
                    <a:pt x="744299" y="67799"/>
                  </a:lnTo>
                  <a:lnTo>
                    <a:pt x="676499" y="1355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02" name="Google Shape;1502;p86"/>
            <p:cNvSpPr/>
            <p:nvPr/>
          </p:nvSpPr>
          <p:spPr>
            <a:xfrm>
              <a:off x="2134074" y="4072535"/>
              <a:ext cx="744855" cy="135889"/>
            </a:xfrm>
            <a:custGeom>
              <a:avLst/>
              <a:gdLst/>
              <a:ahLst/>
              <a:cxnLst/>
              <a:rect l="l" t="t" r="r" b="b"/>
              <a:pathLst>
                <a:path w="744855" h="135889" extrusionOk="0">
                  <a:moveTo>
                    <a:pt x="0" y="33899"/>
                  </a:moveTo>
                  <a:lnTo>
                    <a:pt x="676499" y="33899"/>
                  </a:lnTo>
                  <a:lnTo>
                    <a:pt x="676499" y="0"/>
                  </a:lnTo>
                  <a:lnTo>
                    <a:pt x="744299" y="67799"/>
                  </a:lnTo>
                  <a:lnTo>
                    <a:pt x="676499" y="135599"/>
                  </a:lnTo>
                  <a:lnTo>
                    <a:pt x="676499" y="101699"/>
                  </a:lnTo>
                  <a:lnTo>
                    <a:pt x="0" y="101699"/>
                  </a:lnTo>
                  <a:lnTo>
                    <a:pt x="0" y="338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03" name="Google Shape;1503;p86"/>
          <p:cNvSpPr txBox="1"/>
          <p:nvPr/>
        </p:nvSpPr>
        <p:spPr>
          <a:xfrm>
            <a:off x="1334418" y="1859070"/>
            <a:ext cx="468600" cy="11706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14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0"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504" name="Google Shape;1504;p86"/>
          <p:cNvSpPr txBox="1"/>
          <p:nvPr/>
        </p:nvSpPr>
        <p:spPr>
          <a:xfrm>
            <a:off x="1338068" y="3444334"/>
            <a:ext cx="468600" cy="11697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#1</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#2</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9685" marR="0" lvl="0" indent="0" algn="l" defTabSz="914400" rtl="0" eaLnBrk="1" fontAlgn="auto" latinLnBrk="0" hangingPunct="1">
              <a:lnSpc>
                <a:spcPct val="100000"/>
              </a:lnSpc>
              <a:spcBef>
                <a:spcPts val="110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Fact #3</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6985" lvl="0" indent="0" algn="ctr" defTabSz="914400" rtl="0" eaLnBrk="1" fontAlgn="auto" latinLnBrk="0" hangingPunct="1">
              <a:lnSpc>
                <a:spcPct val="100000"/>
              </a:lnSpc>
              <a:spcBef>
                <a:spcPts val="13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5"/>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a:p>
            <a:pPr marL="0" marR="6985" lvl="0" indent="0" algn="ctr" defTabSz="914400" rtl="0" eaLnBrk="1" fontAlgn="auto" latinLnBrk="0" hangingPunct="1">
              <a:lnSpc>
                <a:spcPct val="100000"/>
              </a:lnSpc>
              <a:spcBef>
                <a:spcPts val="10"/>
              </a:spcBef>
              <a:spcAft>
                <a:spcPts val="0"/>
              </a:spcAft>
              <a:buClr>
                <a:srgbClr val="000000"/>
              </a:buClr>
              <a:buSzPts val="750"/>
              <a:buFont typeface="Arial"/>
              <a:buNone/>
              <a:tabLst/>
              <a:defRPr/>
            </a:pPr>
            <a:r>
              <a:rPr kumimoji="0" lang="en-US" altLang="zh-CN" sz="750" b="1" i="0" u="none" strike="noStrike" kern="0" cap="none" spc="0" normalizeH="0" baseline="0" noProof="0">
                <a:ln>
                  <a:noFill/>
                </a:ln>
                <a:solidFill>
                  <a:srgbClr val="000000"/>
                </a:solidFill>
                <a:effectLst/>
                <a:uLnTx/>
                <a:uFillTx/>
                <a:latin typeface="Cambria"/>
                <a:ea typeface="Cambria"/>
                <a:cs typeface="Cambria"/>
                <a:sym typeface="Cambria"/>
              </a:rPr>
              <a:t>.</a:t>
            </a:r>
            <a:endParaRPr kumimoji="0" sz="75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505" name="Google Shape;1505;p86"/>
          <p:cNvSpPr txBox="1"/>
          <p:nvPr/>
        </p:nvSpPr>
        <p:spPr>
          <a:xfrm>
            <a:off x="3046438" y="4042125"/>
            <a:ext cx="2150700" cy="1821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(Who wrote Hamlet, Shakespeare)</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506" name="Google Shape;1506;p86"/>
          <p:cNvSpPr txBox="1"/>
          <p:nvPr/>
        </p:nvSpPr>
        <p:spPr>
          <a:xfrm>
            <a:off x="789424" y="4711744"/>
            <a:ext cx="16206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Knowledge Sources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507" name="Google Shape;1507;p86"/>
          <p:cNvSpPr txBox="1"/>
          <p:nvPr/>
        </p:nvSpPr>
        <p:spPr>
          <a:xfrm>
            <a:off x="3896372" y="4712069"/>
            <a:ext cx="4497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Facts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508" name="Google Shape;1508;p86"/>
          <p:cNvSpPr txBox="1"/>
          <p:nvPr/>
        </p:nvSpPr>
        <p:spPr>
          <a:xfrm>
            <a:off x="6678069" y="4670594"/>
            <a:ext cx="14238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595959"/>
                </a:solidFill>
                <a:effectLst/>
                <a:uLnTx/>
                <a:uFillTx/>
                <a:latin typeface="Cambria"/>
                <a:ea typeface="Cambria"/>
                <a:cs typeface="Cambria"/>
                <a:sym typeface="Cambria"/>
              </a:rPr>
              <a:t>Cloze Statements</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sp>
        <p:nvSpPr>
          <p:cNvPr id="1509" name="Google Shape;1509;p86"/>
          <p:cNvSpPr/>
          <p:nvPr/>
        </p:nvSpPr>
        <p:spPr>
          <a:xfrm>
            <a:off x="7977377" y="2986181"/>
            <a:ext cx="621029" cy="192405"/>
          </a:xfrm>
          <a:custGeom>
            <a:avLst/>
            <a:gdLst/>
            <a:ahLst/>
            <a:cxnLst/>
            <a:rect l="l" t="t" r="r" b="b"/>
            <a:pathLst>
              <a:path w="621029" h="192405" extrusionOk="0">
                <a:moveTo>
                  <a:pt x="620885" y="192023"/>
                </a:moveTo>
                <a:lnTo>
                  <a:pt x="0" y="192023"/>
                </a:lnTo>
                <a:lnTo>
                  <a:pt x="0" y="0"/>
                </a:lnTo>
                <a:lnTo>
                  <a:pt x="620885" y="0"/>
                </a:lnTo>
                <a:lnTo>
                  <a:pt x="620885" y="192023"/>
                </a:lnTo>
                <a:close/>
              </a:path>
            </a:pathLst>
          </a:custGeom>
          <a:solidFill>
            <a:srgbClr val="FCE4CD"/>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10" name="Google Shape;1510;p86"/>
          <p:cNvSpPr txBox="1"/>
          <p:nvPr/>
        </p:nvSpPr>
        <p:spPr>
          <a:xfrm>
            <a:off x="5957546" y="2949300"/>
            <a:ext cx="27654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CN" altLang="en-US" sz="1400" b="1" i="0" u="none" strike="noStrike" kern="0" cap="none" spc="0" normalizeH="0" baseline="0" noProof="0">
                <a:ln>
                  <a:noFill/>
                </a:ln>
                <a:solidFill>
                  <a:srgbClr val="000000"/>
                </a:solidFill>
                <a:effectLst/>
                <a:uLnTx/>
                <a:uFillTx/>
                <a:latin typeface="Cambria"/>
                <a:ea typeface="Cambria"/>
                <a:cs typeface="Cambria"/>
                <a:sym typeface="Cambria"/>
              </a:rPr>
              <a:t>“</a:t>
            </a:r>
            <a:r>
              <a:rPr kumimoji="0" lang="en-US" altLang="zh-CN" sz="1400" b="1" i="0" u="none" strike="noStrike" kern="0" cap="none" spc="0" normalizeH="0" baseline="0" noProof="0">
                <a:ln>
                  <a:noFill/>
                </a:ln>
                <a:solidFill>
                  <a:srgbClr val="000000"/>
                </a:solidFill>
                <a:effectLst/>
                <a:uLnTx/>
                <a:uFillTx/>
                <a:latin typeface="Cambria"/>
                <a:ea typeface="Cambria"/>
                <a:cs typeface="Cambria"/>
                <a:sym typeface="Cambria"/>
              </a:rPr>
              <a:t>The writer of Hamlet is [MASK].”</a:t>
            </a:r>
            <a:endParaRPr kumimoji="0" sz="14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511" name="Google Shape;1511;p86"/>
          <p:cNvGrpSpPr/>
          <p:nvPr/>
        </p:nvGrpSpPr>
        <p:grpSpPr>
          <a:xfrm>
            <a:off x="3005873" y="2763044"/>
            <a:ext cx="2184400" cy="645160"/>
            <a:chOff x="3005873" y="2763044"/>
            <a:chExt cx="2184400" cy="645160"/>
          </a:xfrm>
        </p:grpSpPr>
        <p:sp>
          <p:nvSpPr>
            <p:cNvPr id="1512" name="Google Shape;1512;p86"/>
            <p:cNvSpPr/>
            <p:nvPr/>
          </p:nvSpPr>
          <p:spPr>
            <a:xfrm>
              <a:off x="3005873" y="2763044"/>
              <a:ext cx="2184400" cy="645160"/>
            </a:xfrm>
            <a:custGeom>
              <a:avLst/>
              <a:gdLst/>
              <a:ahLst/>
              <a:cxnLst/>
              <a:rect l="l" t="t" r="r" b="b"/>
              <a:pathLst>
                <a:path w="2184400" h="645160" extrusionOk="0">
                  <a:moveTo>
                    <a:pt x="2076847" y="644699"/>
                  </a:moveTo>
                  <a:lnTo>
                    <a:pt x="107452" y="644699"/>
                  </a:lnTo>
                  <a:lnTo>
                    <a:pt x="65626" y="636255"/>
                  </a:lnTo>
                  <a:lnTo>
                    <a:pt x="31472" y="613228"/>
                  </a:lnTo>
                  <a:lnTo>
                    <a:pt x="8444" y="579073"/>
                  </a:lnTo>
                  <a:lnTo>
                    <a:pt x="0" y="537247"/>
                  </a:lnTo>
                  <a:lnTo>
                    <a:pt x="0" y="107452"/>
                  </a:ln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13" name="Google Shape;1513;p86"/>
            <p:cNvSpPr/>
            <p:nvPr/>
          </p:nvSpPr>
          <p:spPr>
            <a:xfrm>
              <a:off x="3005873" y="2763044"/>
              <a:ext cx="2184400" cy="645160"/>
            </a:xfrm>
            <a:custGeom>
              <a:avLst/>
              <a:gdLst/>
              <a:ahLst/>
              <a:cxnLst/>
              <a:rect l="l" t="t" r="r" b="b"/>
              <a:pathLst>
                <a:path w="2184400" h="645160" extrusionOk="0">
                  <a:moveTo>
                    <a:pt x="0" y="107452"/>
                  </a:moveTo>
                  <a:lnTo>
                    <a:pt x="8444" y="65626"/>
                  </a:lnTo>
                  <a:lnTo>
                    <a:pt x="31472" y="31472"/>
                  </a:lnTo>
                  <a:lnTo>
                    <a:pt x="65626" y="8444"/>
                  </a:lnTo>
                  <a:lnTo>
                    <a:pt x="107452" y="0"/>
                  </a:lnTo>
                  <a:lnTo>
                    <a:pt x="2076847" y="0"/>
                  </a:lnTo>
                  <a:lnTo>
                    <a:pt x="2117967" y="8179"/>
                  </a:lnTo>
                  <a:lnTo>
                    <a:pt x="2152827" y="31472"/>
                  </a:lnTo>
                  <a:lnTo>
                    <a:pt x="2176120" y="66332"/>
                  </a:lnTo>
                  <a:lnTo>
                    <a:pt x="2184300" y="107452"/>
                  </a:lnTo>
                  <a:lnTo>
                    <a:pt x="2184300" y="537247"/>
                  </a:lnTo>
                  <a:lnTo>
                    <a:pt x="2175856" y="579073"/>
                  </a:lnTo>
                  <a:lnTo>
                    <a:pt x="2152828" y="613228"/>
                  </a:lnTo>
                  <a:lnTo>
                    <a:pt x="2118673" y="636255"/>
                  </a:lnTo>
                  <a:lnTo>
                    <a:pt x="2076847" y="644699"/>
                  </a:lnTo>
                  <a:lnTo>
                    <a:pt x="107452" y="644699"/>
                  </a:lnTo>
                  <a:lnTo>
                    <a:pt x="65626" y="636255"/>
                  </a:lnTo>
                  <a:lnTo>
                    <a:pt x="31472" y="613228"/>
                  </a:lnTo>
                  <a:lnTo>
                    <a:pt x="8444" y="579073"/>
                  </a:lnTo>
                  <a:lnTo>
                    <a:pt x="0" y="537247"/>
                  </a:lnTo>
                  <a:lnTo>
                    <a:pt x="0" y="107452"/>
                  </a:lnTo>
                  <a:close/>
                </a:path>
              </a:pathLst>
            </a:custGeom>
            <a:noFill/>
            <a:ln w="9525" cap="flat" cmpd="sng">
              <a:solidFill>
                <a:srgbClr val="59595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14" name="Google Shape;1514;p86"/>
          <p:cNvSpPr txBox="1"/>
          <p:nvPr/>
        </p:nvSpPr>
        <p:spPr>
          <a:xfrm>
            <a:off x="3474558" y="2866065"/>
            <a:ext cx="1247700" cy="413100"/>
          </a:xfrm>
          <a:prstGeom prst="rect">
            <a:avLst/>
          </a:prstGeom>
          <a:noFill/>
          <a:ln>
            <a:noFill/>
          </a:ln>
        </p:spPr>
        <p:txBody>
          <a:bodyPr spcFirstLastPara="1" wrap="square" lIns="0" tIns="10775" rIns="0" bIns="0" anchor="t" anchorCtr="0">
            <a:spAutoFit/>
          </a:bodyPr>
          <a:lstStyle/>
          <a:p>
            <a:pPr marL="274320" marR="5080" lvl="0" indent="-262255" algn="l" defTabSz="914400" rtl="0" eaLnBrk="1" fontAlgn="auto" latinLnBrk="0" hangingPunct="1">
              <a:lnSpc>
                <a:spcPct val="101000"/>
              </a:lnSpc>
              <a:spcBef>
                <a:spcPts val="0"/>
              </a:spcBef>
              <a:spcAft>
                <a:spcPts val="0"/>
              </a:spcAft>
              <a:buClr>
                <a:srgbClr val="000000"/>
              </a:buClr>
              <a:buSzPts val="1300"/>
              <a:buFont typeface="Arial"/>
              <a:buNone/>
              <a:tabLst/>
              <a:defRPr/>
            </a:pPr>
            <a:r>
              <a:rPr kumimoji="0" lang="en-US" altLang="zh-CN" sz="1300" b="1" i="0" u="none" strike="noStrike" kern="0" cap="none" spc="0" normalizeH="0" baseline="0" noProof="0">
                <a:ln>
                  <a:noFill/>
                </a:ln>
                <a:solidFill>
                  <a:srgbClr val="FFFFFF"/>
                </a:solidFill>
                <a:effectLst/>
                <a:uLnTx/>
                <a:uFillTx/>
                <a:latin typeface="Cambria"/>
                <a:ea typeface="Cambria"/>
                <a:cs typeface="Cambria"/>
                <a:sym typeface="Cambria"/>
              </a:rPr>
              <a:t>Cloze Statement  (Manual)</a:t>
            </a:r>
            <a:endParaRPr kumimoji="0" sz="1300" b="0" i="0" u="none" strike="noStrike" kern="0" cap="none" spc="0" normalizeH="0" baseline="0" noProof="0">
              <a:ln>
                <a:noFill/>
              </a:ln>
              <a:solidFill>
                <a:srgbClr val="000000"/>
              </a:solidFill>
              <a:effectLst/>
              <a:uLnTx/>
              <a:uFillTx/>
              <a:latin typeface="Cambria"/>
              <a:ea typeface="Cambria"/>
              <a:cs typeface="Cambria"/>
              <a:sym typeface="Cambria"/>
            </a:endParaRPr>
          </a:p>
        </p:txBody>
      </p:sp>
      <p:grpSp>
        <p:nvGrpSpPr>
          <p:cNvPr id="1515" name="Google Shape;1515;p86"/>
          <p:cNvGrpSpPr/>
          <p:nvPr/>
        </p:nvGrpSpPr>
        <p:grpSpPr>
          <a:xfrm>
            <a:off x="4015975" y="3498999"/>
            <a:ext cx="144779" cy="530860"/>
            <a:chOff x="4015975" y="3498999"/>
            <a:chExt cx="144779" cy="530860"/>
          </a:xfrm>
        </p:grpSpPr>
        <p:sp>
          <p:nvSpPr>
            <p:cNvPr id="1516" name="Google Shape;1516;p86"/>
            <p:cNvSpPr/>
            <p:nvPr/>
          </p:nvSpPr>
          <p:spPr>
            <a:xfrm>
              <a:off x="4015975" y="3498999"/>
              <a:ext cx="144779" cy="530860"/>
            </a:xfrm>
            <a:custGeom>
              <a:avLst/>
              <a:gdLst/>
              <a:ahLst/>
              <a:cxnLst/>
              <a:rect l="l" t="t" r="r" b="b"/>
              <a:pathLst>
                <a:path w="144779" h="530860" extrusionOk="0">
                  <a:moveTo>
                    <a:pt x="108224" y="530699"/>
                  </a:moveTo>
                  <a:lnTo>
                    <a:pt x="36074" y="530699"/>
                  </a:lnTo>
                  <a:lnTo>
                    <a:pt x="36074" y="72149"/>
                  </a:lnTo>
                  <a:lnTo>
                    <a:pt x="0" y="72149"/>
                  </a:lnTo>
                  <a:lnTo>
                    <a:pt x="72149" y="0"/>
                  </a:lnTo>
                  <a:lnTo>
                    <a:pt x="144299" y="72149"/>
                  </a:lnTo>
                  <a:lnTo>
                    <a:pt x="108224" y="72149"/>
                  </a:lnTo>
                  <a:lnTo>
                    <a:pt x="108224" y="530699"/>
                  </a:lnTo>
                  <a:close/>
                </a:path>
              </a:pathLst>
            </a:custGeom>
            <a:solidFill>
              <a:srgbClr val="E69137"/>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17" name="Google Shape;1517;p86"/>
            <p:cNvSpPr/>
            <p:nvPr/>
          </p:nvSpPr>
          <p:spPr>
            <a:xfrm>
              <a:off x="4015975" y="3498999"/>
              <a:ext cx="144779" cy="530860"/>
            </a:xfrm>
            <a:custGeom>
              <a:avLst/>
              <a:gdLst/>
              <a:ahLst/>
              <a:cxnLst/>
              <a:rect l="l" t="t" r="r" b="b"/>
              <a:pathLst>
                <a:path w="144779" h="530860" extrusionOk="0">
                  <a:moveTo>
                    <a:pt x="36074" y="530699"/>
                  </a:moveTo>
                  <a:lnTo>
                    <a:pt x="36074" y="72149"/>
                  </a:lnTo>
                  <a:lnTo>
                    <a:pt x="0" y="72149"/>
                  </a:lnTo>
                  <a:lnTo>
                    <a:pt x="72149" y="0"/>
                  </a:lnTo>
                  <a:lnTo>
                    <a:pt x="144299" y="72149"/>
                  </a:lnTo>
                  <a:lnTo>
                    <a:pt x="108224" y="72149"/>
                  </a:lnTo>
                  <a:lnTo>
                    <a:pt x="108224" y="530699"/>
                  </a:lnTo>
                  <a:lnTo>
                    <a:pt x="36074" y="530699"/>
                  </a:lnTo>
                  <a:close/>
                </a:path>
              </a:pathLst>
            </a:custGeom>
            <a:noFill/>
            <a:ln w="95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18" name="Google Shape;1518;p86"/>
          <p:cNvSpPr txBox="1"/>
          <p:nvPr/>
        </p:nvSpPr>
        <p:spPr>
          <a:xfrm>
            <a:off x="1821824" y="1217372"/>
            <a:ext cx="5943600" cy="2592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altLang="zh-CN"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Step 3: Create cloze statements, either manually or via templates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519" name="Google Shape;1519;p86"/>
          <p:cNvPicPr preferRelativeResize="0"/>
          <p:nvPr/>
        </p:nvPicPr>
        <p:blipFill rotWithShape="1">
          <a:blip r:embed="rId3">
            <a:alphaModFix/>
          </a:blip>
          <a:srcRect/>
          <a:stretch/>
        </p:blipFill>
        <p:spPr>
          <a:xfrm>
            <a:off x="3742384" y="1763407"/>
            <a:ext cx="689726" cy="689600"/>
          </a:xfrm>
          <a:prstGeom prst="rect">
            <a:avLst/>
          </a:prstGeom>
          <a:noFill/>
          <a:ln>
            <a:noFill/>
          </a:ln>
        </p:spPr>
      </p:pic>
      <p:grpSp>
        <p:nvGrpSpPr>
          <p:cNvPr id="1520" name="Google Shape;1520;p86"/>
          <p:cNvGrpSpPr/>
          <p:nvPr/>
        </p:nvGrpSpPr>
        <p:grpSpPr>
          <a:xfrm>
            <a:off x="4014125" y="2112474"/>
            <a:ext cx="3519515" cy="781050"/>
            <a:chOff x="4014125" y="2112474"/>
            <a:chExt cx="3519515" cy="781050"/>
          </a:xfrm>
        </p:grpSpPr>
        <p:pic>
          <p:nvPicPr>
            <p:cNvPr id="1521" name="Google Shape;1521;p86"/>
            <p:cNvPicPr preferRelativeResize="0"/>
            <p:nvPr/>
          </p:nvPicPr>
          <p:blipFill rotWithShape="1">
            <a:blip r:embed="rId4">
              <a:alphaModFix/>
            </a:blip>
            <a:srcRect/>
            <a:stretch/>
          </p:blipFill>
          <p:spPr>
            <a:xfrm>
              <a:off x="4014125" y="2549518"/>
              <a:ext cx="144299" cy="253199"/>
            </a:xfrm>
            <a:prstGeom prst="rect">
              <a:avLst/>
            </a:prstGeom>
            <a:noFill/>
            <a:ln>
              <a:noFill/>
            </a:ln>
          </p:spPr>
        </p:pic>
        <p:sp>
          <p:nvSpPr>
            <p:cNvPr id="1522" name="Google Shape;1522;p86"/>
            <p:cNvSpPr/>
            <p:nvPr/>
          </p:nvSpPr>
          <p:spPr>
            <a:xfrm>
              <a:off x="4014125" y="2549518"/>
              <a:ext cx="144779" cy="253364"/>
            </a:xfrm>
            <a:custGeom>
              <a:avLst/>
              <a:gdLst/>
              <a:ahLst/>
              <a:cxnLst/>
              <a:rect l="l" t="t" r="r" b="b"/>
              <a:pathLst>
                <a:path w="144779" h="253364" extrusionOk="0">
                  <a:moveTo>
                    <a:pt x="36074" y="253199"/>
                  </a:moveTo>
                  <a:lnTo>
                    <a:pt x="36074" y="72149"/>
                  </a:lnTo>
                  <a:lnTo>
                    <a:pt x="0" y="72149"/>
                  </a:lnTo>
                  <a:lnTo>
                    <a:pt x="72149" y="0"/>
                  </a:lnTo>
                  <a:lnTo>
                    <a:pt x="144299" y="72149"/>
                  </a:lnTo>
                  <a:lnTo>
                    <a:pt x="108224" y="72149"/>
                  </a:lnTo>
                  <a:lnTo>
                    <a:pt x="108224" y="253199"/>
                  </a:lnTo>
                  <a:lnTo>
                    <a:pt x="36074" y="253199"/>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23" name="Google Shape;1523;p86"/>
            <p:cNvSpPr/>
            <p:nvPr/>
          </p:nvSpPr>
          <p:spPr>
            <a:xfrm>
              <a:off x="4572000" y="2112474"/>
              <a:ext cx="2961640" cy="781050"/>
            </a:xfrm>
            <a:custGeom>
              <a:avLst/>
              <a:gdLst/>
              <a:ahLst/>
              <a:cxnLst/>
              <a:rect l="l" t="t" r="r" b="b"/>
              <a:pathLst>
                <a:path w="2961640" h="781050" extrusionOk="0">
                  <a:moveTo>
                    <a:pt x="2861777" y="780899"/>
                  </a:moveTo>
                  <a:lnTo>
                    <a:pt x="2761955" y="685552"/>
                  </a:lnTo>
                  <a:lnTo>
                    <a:pt x="2834500" y="685552"/>
                  </a:lnTo>
                  <a:lnTo>
                    <a:pt x="2834500" y="54553"/>
                  </a:lnTo>
                  <a:lnTo>
                    <a:pt x="0" y="54553"/>
                  </a:lnTo>
                  <a:lnTo>
                    <a:pt x="0" y="0"/>
                  </a:lnTo>
                  <a:lnTo>
                    <a:pt x="2889054" y="0"/>
                  </a:lnTo>
                  <a:lnTo>
                    <a:pt x="2889054" y="685552"/>
                  </a:lnTo>
                  <a:lnTo>
                    <a:pt x="2961599" y="685552"/>
                  </a:lnTo>
                  <a:lnTo>
                    <a:pt x="2861777" y="7808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24" name="Google Shape;1524;p86"/>
            <p:cNvSpPr/>
            <p:nvPr/>
          </p:nvSpPr>
          <p:spPr>
            <a:xfrm>
              <a:off x="4572000" y="2112474"/>
              <a:ext cx="2961640" cy="781050"/>
            </a:xfrm>
            <a:custGeom>
              <a:avLst/>
              <a:gdLst/>
              <a:ahLst/>
              <a:cxnLst/>
              <a:rect l="l" t="t" r="r" b="b"/>
              <a:pathLst>
                <a:path w="2961640" h="781050" extrusionOk="0">
                  <a:moveTo>
                    <a:pt x="0" y="54553"/>
                  </a:moveTo>
                  <a:lnTo>
                    <a:pt x="2834500" y="54553"/>
                  </a:lnTo>
                  <a:lnTo>
                    <a:pt x="2834500" y="685552"/>
                  </a:lnTo>
                  <a:lnTo>
                    <a:pt x="2761955" y="685552"/>
                  </a:lnTo>
                  <a:lnTo>
                    <a:pt x="2861777" y="780899"/>
                  </a:lnTo>
                  <a:lnTo>
                    <a:pt x="2961599" y="685552"/>
                  </a:lnTo>
                  <a:lnTo>
                    <a:pt x="2889054" y="685552"/>
                  </a:lnTo>
                  <a:lnTo>
                    <a:pt x="2889054" y="0"/>
                  </a:lnTo>
                  <a:lnTo>
                    <a:pt x="0" y="0"/>
                  </a:lnTo>
                  <a:lnTo>
                    <a:pt x="0" y="54553"/>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25" name="Google Shape;1525;p86"/>
          <p:cNvSpPr txBox="1"/>
          <p:nvPr/>
        </p:nvSpPr>
        <p:spPr>
          <a:xfrm>
            <a:off x="6169260" y="3379938"/>
            <a:ext cx="2309400" cy="2283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human-generated statement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526" name="Google Shape;1526;p86"/>
          <p:cNvSpPr/>
          <p:nvPr/>
        </p:nvSpPr>
        <p:spPr>
          <a:xfrm>
            <a:off x="5934124" y="2820049"/>
            <a:ext cx="2812415" cy="530860"/>
          </a:xfrm>
          <a:custGeom>
            <a:avLst/>
            <a:gdLst/>
            <a:ahLst/>
            <a:cxnLst/>
            <a:rect l="l" t="t" r="r" b="b"/>
            <a:pathLst>
              <a:path w="2812415" h="530860" extrusionOk="0">
                <a:moveTo>
                  <a:pt x="0" y="88451"/>
                </a:moveTo>
                <a:lnTo>
                  <a:pt x="6950" y="54022"/>
                </a:lnTo>
                <a:lnTo>
                  <a:pt x="25906" y="25906"/>
                </a:lnTo>
                <a:lnTo>
                  <a:pt x="54022" y="6950"/>
                </a:lnTo>
                <a:lnTo>
                  <a:pt x="88451" y="0"/>
                </a:lnTo>
                <a:lnTo>
                  <a:pt x="2723748" y="0"/>
                </a:lnTo>
                <a:lnTo>
                  <a:pt x="2772821" y="14860"/>
                </a:lnTo>
                <a:lnTo>
                  <a:pt x="2805467" y="54602"/>
                </a:lnTo>
                <a:lnTo>
                  <a:pt x="2812199" y="88451"/>
                </a:lnTo>
                <a:lnTo>
                  <a:pt x="2812199" y="442248"/>
                </a:lnTo>
                <a:lnTo>
                  <a:pt x="2805248" y="476677"/>
                </a:lnTo>
                <a:lnTo>
                  <a:pt x="2786292" y="504793"/>
                </a:lnTo>
                <a:lnTo>
                  <a:pt x="2758177" y="523749"/>
                </a:lnTo>
                <a:lnTo>
                  <a:pt x="2723748" y="530699"/>
                </a:lnTo>
                <a:lnTo>
                  <a:pt x="88451" y="530699"/>
                </a:lnTo>
                <a:lnTo>
                  <a:pt x="54022" y="523749"/>
                </a:lnTo>
                <a:lnTo>
                  <a:pt x="25906" y="504793"/>
                </a:lnTo>
                <a:lnTo>
                  <a:pt x="6950" y="476677"/>
                </a:lnTo>
                <a:lnTo>
                  <a:pt x="0" y="442248"/>
                </a:lnTo>
                <a:lnTo>
                  <a:pt x="0" y="88451"/>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87"/>
          <p:cNvSpPr txBox="1">
            <a:spLocks noGrp="1"/>
          </p:cNvSpPr>
          <p:nvPr>
            <p:ph type="title"/>
          </p:nvPr>
        </p:nvSpPr>
        <p:spPr>
          <a:xfrm>
            <a:off x="311700" y="1860750"/>
            <a:ext cx="8520600" cy="1422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FF0000"/>
              </a:buClr>
              <a:buSzPts val="2800"/>
              <a:buFont typeface="Times New Roman"/>
              <a:buNone/>
            </a:pPr>
            <a:r>
              <a:rPr lang="zh-CN" sz="3400">
                <a:solidFill>
                  <a:srgbClr val="FF0000"/>
                </a:solidFill>
              </a:rPr>
              <a:t>More discussions on LAMA</a:t>
            </a:r>
            <a:endParaRPr sz="3400">
              <a:solidFill>
                <a:srgbClr val="FF0000"/>
              </a:solidFill>
            </a:endParaRPr>
          </a:p>
        </p:txBody>
      </p:sp>
      <p:sp>
        <p:nvSpPr>
          <p:cNvPr id="1532" name="Google Shape;1532;p87"/>
          <p:cNvSpPr/>
          <p:nvPr/>
        </p:nvSpPr>
        <p:spPr>
          <a:xfrm>
            <a:off x="4454820" y="2417863"/>
            <a:ext cx="237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1536"/>
        <p:cNvGrpSpPr/>
        <p:nvPr/>
      </p:nvGrpSpPr>
      <p:grpSpPr>
        <a:xfrm>
          <a:off x="0" y="0"/>
          <a:ext cx="0" cy="0"/>
          <a:chOff x="0" y="0"/>
          <a:chExt cx="0" cy="0"/>
        </a:xfrm>
      </p:grpSpPr>
      <p:sp>
        <p:nvSpPr>
          <p:cNvPr id="1537" name="Google Shape;1537;p88"/>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53</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538" name="Google Shape;1538;p88"/>
          <p:cNvSpPr txBox="1">
            <a:spLocks noGrp="1"/>
          </p:cNvSpPr>
          <p:nvPr>
            <p:ph type="title"/>
          </p:nvPr>
        </p:nvSpPr>
        <p:spPr>
          <a:xfrm>
            <a:off x="3497413" y="498676"/>
            <a:ext cx="24735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Any drawbacks?</a:t>
            </a:r>
            <a:endParaRPr/>
          </a:p>
        </p:txBody>
      </p:sp>
      <p:sp>
        <p:nvSpPr>
          <p:cNvPr id="1539" name="Google Shape;1539;p88"/>
          <p:cNvSpPr txBox="1"/>
          <p:nvPr/>
        </p:nvSpPr>
        <p:spPr>
          <a:xfrm>
            <a:off x="539369" y="1178002"/>
            <a:ext cx="7762800" cy="2434800"/>
          </a:xfrm>
          <a:prstGeom prst="rect">
            <a:avLst/>
          </a:prstGeom>
          <a:noFill/>
          <a:ln>
            <a:noFill/>
          </a:ln>
        </p:spPr>
        <p:txBody>
          <a:bodyPr spcFirstLastPara="1" wrap="square" lIns="0" tIns="12700" rIns="0" bIns="0" anchor="t" anchorCtr="0">
            <a:spAutoFit/>
          </a:bodyPr>
          <a:lstStyle/>
          <a:p>
            <a:pPr marL="12700" marR="97790" lvl="0" indent="0" algn="l" defTabSz="914400" rtl="0" eaLnBrk="1" fontAlgn="auto" latinLnBrk="0" hangingPunct="1">
              <a:lnSpc>
                <a:spcPct val="114999"/>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dirty="0">
                <a:ln>
                  <a:noFill/>
                </a:ln>
                <a:solidFill>
                  <a:srgbClr val="000000"/>
                </a:solidFill>
                <a:effectLst/>
                <a:uLnTx/>
                <a:uFillTx/>
                <a:latin typeface="Cambria"/>
                <a:ea typeface="Cambria"/>
                <a:cs typeface="Cambria"/>
                <a:sym typeface="Cambria"/>
              </a:rPr>
              <a:t>Overall pipeline of the LAMA Probe is in (</a:t>
            </a:r>
            <a:r>
              <a:rPr kumimoji="0" lang="en-US" altLang="zh-CN" sz="1700" b="1" i="0" u="none" strike="noStrike" kern="0" cap="none" spc="0" normalizeH="0" baseline="0" noProof="0" dirty="0" err="1">
                <a:ln>
                  <a:noFill/>
                </a:ln>
                <a:solidFill>
                  <a:srgbClr val="000000"/>
                </a:solidFill>
                <a:effectLst/>
                <a:uLnTx/>
                <a:uFillTx/>
                <a:latin typeface="Cambria"/>
                <a:ea typeface="Cambria"/>
                <a:cs typeface="Cambria"/>
                <a:sym typeface="Cambria"/>
              </a:rPr>
              <a:t>Petroni</a:t>
            </a:r>
            <a:r>
              <a:rPr kumimoji="0" lang="en-US" altLang="zh-CN" sz="1700" b="1" i="0" u="none" strike="noStrike" kern="0" cap="none" spc="0" normalizeH="0" baseline="0" noProof="0" dirty="0">
                <a:ln>
                  <a:noFill/>
                </a:ln>
                <a:solidFill>
                  <a:srgbClr val="000000"/>
                </a:solidFill>
                <a:effectLst/>
                <a:uLnTx/>
                <a:uFillTx/>
                <a:latin typeface="Cambria"/>
                <a:ea typeface="Cambria"/>
                <a:cs typeface="Cambria"/>
                <a:sym typeface="Cambria"/>
              </a:rPr>
              <a:t> et al., 2019) </a:t>
            </a:r>
            <a:endParaRPr kumimoji="0" sz="1700" b="0" i="0" u="none" strike="noStrike" kern="0" cap="none" spc="0" normalizeH="0" baseline="0" noProof="0" dirty="0">
              <a:ln>
                <a:noFill/>
              </a:ln>
              <a:solidFill>
                <a:srgbClr val="000000"/>
              </a:solidFill>
              <a:effectLst/>
              <a:uLnTx/>
              <a:uFillTx/>
              <a:latin typeface="Cambria"/>
              <a:ea typeface="Cambria"/>
              <a:cs typeface="Cambria"/>
              <a:sym typeface="Cambria"/>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Convert facts to cloze statements (either manually or using templates)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Ask LM to rank candidate vocabulary and see if ground truth is in top </a:t>
            </a:r>
            <a:r>
              <a:rPr kumimoji="0" lang="en-US" altLang="zh-CN" sz="1700" b="0" i="1"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k </a:t>
            </a: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rank</a:t>
            </a:r>
            <a:endParaRPr kumimoji="0"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10"/>
              </a:spcBef>
              <a:spcAft>
                <a:spcPts val="0"/>
              </a:spcAft>
              <a:buClr>
                <a:srgbClr val="000000"/>
              </a:buClr>
              <a:buSzPts val="2300"/>
              <a:buFont typeface="Tahoma"/>
              <a:buNone/>
              <a:tabLst/>
              <a:defRPr/>
            </a:pPr>
            <a:endParaRPr kumimoji="0" sz="23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dirty="0">
                <a:ln>
                  <a:noFill/>
                </a:ln>
                <a:solidFill>
                  <a:srgbClr val="000000"/>
                </a:solidFill>
                <a:effectLst/>
                <a:uLnTx/>
                <a:uFillTx/>
                <a:latin typeface="Cambria"/>
                <a:ea typeface="Cambria"/>
                <a:cs typeface="Cambria"/>
                <a:sym typeface="Cambria"/>
              </a:rPr>
              <a:t>Can you think of any drawbacks of the probes?</a:t>
            </a:r>
            <a:endParaRPr kumimoji="0" sz="1700" b="0" i="0" u="none" strike="noStrike" kern="0" cap="none" spc="0" normalizeH="0" baseline="0" noProof="0" dirty="0">
              <a:ln>
                <a:noFill/>
              </a:ln>
              <a:solidFill>
                <a:srgbClr val="000000"/>
              </a:solidFill>
              <a:effectLst/>
              <a:uLnTx/>
              <a:uFillTx/>
              <a:latin typeface="Cambria"/>
              <a:ea typeface="Cambria"/>
              <a:cs typeface="Cambria"/>
              <a:sym typeface="Cambria"/>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Answers must be </a:t>
            </a:r>
            <a:r>
              <a:rPr kumimoji="0" lang="en-US" altLang="zh-CN" sz="17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single-token</a:t>
            </a:r>
            <a:endParaRPr kumimoji="0" sz="17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Relies on </a:t>
            </a:r>
            <a:r>
              <a:rPr kumimoji="0" lang="en-US" altLang="zh-CN" sz="17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manual templates</a:t>
            </a:r>
            <a:endParaRPr kumimoji="0" sz="17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69900" marR="0" lvl="0" indent="-359410" algn="l" defTabSz="914400" rtl="0" eaLnBrk="1" fontAlgn="auto" latinLnBrk="0" hangingPunct="1">
              <a:lnSpc>
                <a:spcPct val="100000"/>
              </a:lnSpc>
              <a:spcBef>
                <a:spcPts val="305"/>
              </a:spcBef>
              <a:spcAft>
                <a:spcPts val="0"/>
              </a:spcAft>
              <a:buClr>
                <a:srgbClr val="000000"/>
              </a:buClr>
              <a:buSzPts val="1700"/>
              <a:buFont typeface="Tahoma"/>
              <a:buChar char="●"/>
              <a:tabLst/>
              <a:defRPr/>
            </a:pP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Questions are constrained to </a:t>
            </a:r>
            <a:r>
              <a:rPr kumimoji="0" lang="en-US" altLang="zh-CN" sz="17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very speciﬁc and simple types </a:t>
            </a:r>
            <a:r>
              <a:rPr kumimoji="0" lang="en-US" altLang="zh-CN"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of questions</a:t>
            </a:r>
            <a:endParaRPr kumimoji="0"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1543"/>
        <p:cNvGrpSpPr/>
        <p:nvPr/>
      </p:nvGrpSpPr>
      <p:grpSpPr>
        <a:xfrm>
          <a:off x="0" y="0"/>
          <a:ext cx="0" cy="0"/>
          <a:chOff x="0" y="0"/>
          <a:chExt cx="0" cy="0"/>
        </a:xfrm>
      </p:grpSpPr>
      <p:sp>
        <p:nvSpPr>
          <p:cNvPr id="1544" name="Google Shape;1544;p89"/>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54</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545" name="Google Shape;1545;p89"/>
          <p:cNvSpPr txBox="1">
            <a:spLocks noGrp="1"/>
          </p:cNvSpPr>
          <p:nvPr>
            <p:ph type="title"/>
          </p:nvPr>
        </p:nvSpPr>
        <p:spPr>
          <a:xfrm>
            <a:off x="711984" y="488675"/>
            <a:ext cx="7705200" cy="443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Data leakage: </a:t>
            </a:r>
            <a:r>
              <a:rPr lang="zh-CN" sz="2800" b="1">
                <a:latin typeface="Cambria"/>
                <a:ea typeface="Cambria"/>
                <a:cs typeface="Cambria"/>
                <a:sym typeface="Cambria"/>
              </a:rPr>
              <a:t>train-test overlap </a:t>
            </a:r>
            <a:endParaRPr/>
          </a:p>
        </p:txBody>
      </p:sp>
      <p:sp>
        <p:nvSpPr>
          <p:cNvPr id="1546" name="Google Shape;1546;p89"/>
          <p:cNvSpPr txBox="1"/>
          <p:nvPr/>
        </p:nvSpPr>
        <p:spPr>
          <a:xfrm>
            <a:off x="637624" y="1216864"/>
            <a:ext cx="7945800" cy="18618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Testing</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Many of the knowledge sources were extracted from </a:t>
            </a:r>
            <a:r>
              <a:rPr kumimoji="0" lang="en-US" altLang="zh-CN" sz="1700" b="1" i="0" u="none" strike="noStrike" kern="0" cap="none" spc="0" normalizeH="0" baseline="0" noProof="0">
                <a:ln>
                  <a:noFill/>
                </a:ln>
                <a:solidFill>
                  <a:srgbClr val="FF0000"/>
                </a:solidFill>
                <a:effectLst/>
                <a:uLnTx/>
                <a:uFillTx/>
                <a:latin typeface="Cambria"/>
                <a:ea typeface="Cambria"/>
                <a:cs typeface="Cambria"/>
                <a:sym typeface="Cambria"/>
              </a:rPr>
              <a:t>Wikipedia</a:t>
            </a:r>
            <a:endParaRPr kumimoji="0" sz="1700" b="0" i="0" u="none" strike="noStrike" kern="0" cap="none" spc="0" normalizeH="0" baseline="0" noProof="0">
              <a:ln>
                <a:noFill/>
              </a:ln>
              <a:solidFill>
                <a:srgbClr val="FF0000"/>
              </a:solidFill>
              <a:effectLst/>
              <a:uLnTx/>
              <a:uFillTx/>
              <a:latin typeface="Cambria"/>
              <a:ea typeface="Cambria"/>
              <a:cs typeface="Cambria"/>
              <a:sym typeface="Cambria"/>
            </a:endParaRPr>
          </a:p>
          <a:p>
            <a:pPr marL="0" marR="0" lvl="0" indent="0" algn="l" defTabSz="914400" rtl="0" eaLnBrk="1" fontAlgn="auto" latinLnBrk="0" hangingPunct="1">
              <a:lnSpc>
                <a:spcPct val="100000"/>
              </a:lnSpc>
              <a:spcBef>
                <a:spcPts val="45"/>
              </a:spcBef>
              <a:spcAft>
                <a:spcPts val="0"/>
              </a:spcAft>
              <a:buClr>
                <a:srgbClr val="000000"/>
              </a:buClr>
              <a:buSzPts val="1700"/>
              <a:buFont typeface="Arial"/>
              <a:buNone/>
              <a:tabLst/>
              <a:defRPr/>
            </a:pPr>
            <a:endParaRPr kumimoji="0" sz="1700" b="0" i="0" u="none" strike="noStrike" kern="0" cap="none" spc="0" normalizeH="0" baseline="0" noProof="0">
              <a:ln>
                <a:noFill/>
              </a:ln>
              <a:solidFill>
                <a:srgbClr val="000000"/>
              </a:solidFill>
              <a:effectLst/>
              <a:uLnTx/>
              <a:uFillTx/>
              <a:latin typeface="Cambria"/>
              <a:ea typeface="Cambria"/>
              <a:cs typeface="Cambria"/>
              <a:sym typeface="Cambria"/>
            </a:endParaRPr>
          </a:p>
          <a:p>
            <a:pPr marL="371475" marR="5080" lvl="0" indent="-359410" algn="l" defTabSz="914400" rtl="0" eaLnBrk="1" fontAlgn="auto" latinLnBrk="0" hangingPunct="1">
              <a:lnSpc>
                <a:spcPct val="100000"/>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Training</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However, pre-training corpora for language models almost always contain data  from </a:t>
            </a:r>
            <a:r>
              <a:rPr kumimoji="0" lang="en-US" altLang="zh-CN" sz="17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Wikipedia</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25"/>
              </a:spcBef>
              <a:spcAft>
                <a:spcPts val="0"/>
              </a:spcAft>
              <a:buClr>
                <a:srgbClr val="000000"/>
              </a:buClr>
              <a:buSzPts val="1750"/>
              <a:buFont typeface="Tahoma"/>
              <a:buNone/>
              <a:tabLst/>
              <a:defRPr/>
            </a:pPr>
            <a:endParaRPr kumimoji="0" sz="17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227328" lvl="0" indent="-359410" algn="l" defTabSz="914400" rtl="0" eaLnBrk="1" fontAlgn="auto" latinLnBrk="0" hangingPunct="1">
              <a:lnSpc>
                <a:spcPct val="100000"/>
              </a:lnSpc>
              <a:spcBef>
                <a:spcPts val="5"/>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How much of the amazing knowledge retrieval is due to </a:t>
            </a:r>
            <a:r>
              <a:rPr kumimoji="0" lang="en-US" altLang="zh-CN" sz="1700" b="1" i="0" u="none" strike="noStrike" kern="0" cap="none" spc="0" normalizeH="0" baseline="0" noProof="0">
                <a:ln>
                  <a:noFill/>
                </a:ln>
                <a:solidFill>
                  <a:srgbClr val="000000"/>
                </a:solidFill>
                <a:effectLst/>
                <a:uLnTx/>
                <a:uFillTx/>
                <a:latin typeface="Cambria"/>
                <a:ea typeface="Cambria"/>
                <a:cs typeface="Cambria"/>
                <a:sym typeface="Cambria"/>
              </a:rPr>
              <a:t>train-test overlap </a:t>
            </a: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in  the knowledge probing benchmarks?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1551"/>
        <p:cNvGrpSpPr/>
        <p:nvPr/>
      </p:nvGrpSpPr>
      <p:grpSpPr>
        <a:xfrm>
          <a:off x="0" y="0"/>
          <a:ext cx="0" cy="0"/>
          <a:chOff x="0" y="0"/>
          <a:chExt cx="0" cy="0"/>
        </a:xfrm>
      </p:grpSpPr>
      <p:sp>
        <p:nvSpPr>
          <p:cNvPr id="1552" name="Google Shape;1552;p90"/>
          <p:cNvSpPr txBox="1">
            <a:spLocks noGrp="1"/>
          </p:cNvSpPr>
          <p:nvPr>
            <p:ph type="title"/>
          </p:nvPr>
        </p:nvSpPr>
        <p:spPr>
          <a:xfrm>
            <a:off x="816414" y="505350"/>
            <a:ext cx="7513200" cy="782400"/>
          </a:xfrm>
          <a:prstGeom prst="rect">
            <a:avLst/>
          </a:prstGeom>
          <a:noFill/>
          <a:ln>
            <a:noFill/>
          </a:ln>
        </p:spPr>
        <p:txBody>
          <a:bodyPr spcFirstLastPara="1" wrap="square" lIns="0" tIns="12700" rIns="0" bIns="0" anchor="t" anchorCtr="0">
            <a:spAutoFit/>
          </a:bodyPr>
          <a:lstStyle/>
          <a:p>
            <a:pPr marL="968375" marR="5080" lvl="0" indent="-955675" algn="l" rtl="0">
              <a:lnSpc>
                <a:spcPct val="100000"/>
              </a:lnSpc>
              <a:spcBef>
                <a:spcPts val="0"/>
              </a:spcBef>
              <a:spcAft>
                <a:spcPts val="0"/>
              </a:spcAft>
              <a:buSzPts val="1400"/>
              <a:buNone/>
            </a:pPr>
            <a:r>
              <a:rPr lang="zh-CN"/>
              <a:t>Train-test overlap is responsible for LMʼs ability to do  knowledge retrieval! (</a:t>
            </a:r>
            <a:r>
              <a:rPr lang="zh-CN" u="sng">
                <a:solidFill>
                  <a:schemeClr val="hlink"/>
                </a:solidFill>
                <a:hlinkClick r:id="rId3"/>
              </a:rPr>
              <a:t>Lewis et al., 2020</a:t>
            </a:r>
            <a:r>
              <a:rPr lang="zh-CN"/>
              <a:t>)</a:t>
            </a:r>
            <a:endParaRPr/>
          </a:p>
        </p:txBody>
      </p:sp>
      <p:grpSp>
        <p:nvGrpSpPr>
          <p:cNvPr id="1553" name="Google Shape;1553;p90"/>
          <p:cNvGrpSpPr/>
          <p:nvPr/>
        </p:nvGrpSpPr>
        <p:grpSpPr>
          <a:xfrm>
            <a:off x="153485" y="1487929"/>
            <a:ext cx="8872098" cy="2669507"/>
            <a:chOff x="153485" y="1487929"/>
            <a:chExt cx="8872098" cy="2669507"/>
          </a:xfrm>
        </p:grpSpPr>
        <p:pic>
          <p:nvPicPr>
            <p:cNvPr id="1554" name="Google Shape;1554;p90"/>
            <p:cNvPicPr preferRelativeResize="0"/>
            <p:nvPr/>
          </p:nvPicPr>
          <p:blipFill rotWithShape="1">
            <a:blip r:embed="rId4">
              <a:alphaModFix/>
            </a:blip>
            <a:srcRect/>
            <a:stretch/>
          </p:blipFill>
          <p:spPr>
            <a:xfrm>
              <a:off x="153485" y="1487929"/>
              <a:ext cx="8872098" cy="2669507"/>
            </a:xfrm>
            <a:prstGeom prst="rect">
              <a:avLst/>
            </a:prstGeom>
            <a:noFill/>
            <a:ln>
              <a:noFill/>
            </a:ln>
          </p:spPr>
        </p:pic>
        <p:sp>
          <p:nvSpPr>
            <p:cNvPr id="1555" name="Google Shape;1555;p90"/>
            <p:cNvSpPr/>
            <p:nvPr/>
          </p:nvSpPr>
          <p:spPr>
            <a:xfrm>
              <a:off x="2235274" y="1842150"/>
              <a:ext cx="640714" cy="2176145"/>
            </a:xfrm>
            <a:custGeom>
              <a:avLst/>
              <a:gdLst/>
              <a:ahLst/>
              <a:cxnLst/>
              <a:rect l="l" t="t" r="r" b="b"/>
              <a:pathLst>
                <a:path w="640714" h="2176145" extrusionOk="0">
                  <a:moveTo>
                    <a:pt x="594915" y="2175599"/>
                  </a:moveTo>
                  <a:lnTo>
                    <a:pt x="45584" y="2175599"/>
                  </a:lnTo>
                  <a:lnTo>
                    <a:pt x="27840" y="2172017"/>
                  </a:lnTo>
                  <a:lnTo>
                    <a:pt x="13351" y="2162248"/>
                  </a:lnTo>
                  <a:lnTo>
                    <a:pt x="3582" y="2147758"/>
                  </a:lnTo>
                  <a:lnTo>
                    <a:pt x="0" y="2130015"/>
                  </a:lnTo>
                  <a:lnTo>
                    <a:pt x="0" y="45584"/>
                  </a:ln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56" name="Google Shape;1556;p90"/>
            <p:cNvSpPr/>
            <p:nvPr/>
          </p:nvSpPr>
          <p:spPr>
            <a:xfrm>
              <a:off x="2235274" y="1842150"/>
              <a:ext cx="640714" cy="2176145"/>
            </a:xfrm>
            <a:custGeom>
              <a:avLst/>
              <a:gdLst/>
              <a:ahLst/>
              <a:cxnLst/>
              <a:rect l="l" t="t" r="r" b="b"/>
              <a:pathLst>
                <a:path w="640714" h="2176145" extrusionOk="0">
                  <a:moveTo>
                    <a:pt x="0" y="45584"/>
                  </a:move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lnTo>
                    <a:pt x="45584" y="2175599"/>
                  </a:lnTo>
                  <a:lnTo>
                    <a:pt x="27840"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57" name="Google Shape;1557;p90"/>
            <p:cNvSpPr/>
            <p:nvPr/>
          </p:nvSpPr>
          <p:spPr>
            <a:xfrm>
              <a:off x="4663249" y="1842150"/>
              <a:ext cx="640714" cy="2176145"/>
            </a:xfrm>
            <a:custGeom>
              <a:avLst/>
              <a:gdLst/>
              <a:ahLst/>
              <a:cxnLst/>
              <a:rect l="l" t="t" r="r" b="b"/>
              <a:pathLst>
                <a:path w="640714" h="2176145" extrusionOk="0">
                  <a:moveTo>
                    <a:pt x="594915" y="2175599"/>
                  </a:moveTo>
                  <a:lnTo>
                    <a:pt x="45584" y="2175599"/>
                  </a:lnTo>
                  <a:lnTo>
                    <a:pt x="27841" y="2172017"/>
                  </a:lnTo>
                  <a:lnTo>
                    <a:pt x="13351" y="2162248"/>
                  </a:lnTo>
                  <a:lnTo>
                    <a:pt x="3582" y="2147758"/>
                  </a:lnTo>
                  <a:lnTo>
                    <a:pt x="0" y="2130015"/>
                  </a:lnTo>
                  <a:lnTo>
                    <a:pt x="0" y="45584"/>
                  </a:ln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58" name="Google Shape;1558;p90"/>
            <p:cNvSpPr/>
            <p:nvPr/>
          </p:nvSpPr>
          <p:spPr>
            <a:xfrm>
              <a:off x="4663249" y="1842150"/>
              <a:ext cx="640714" cy="2176145"/>
            </a:xfrm>
            <a:custGeom>
              <a:avLst/>
              <a:gdLst/>
              <a:ahLst/>
              <a:cxnLst/>
              <a:rect l="l" t="t" r="r" b="b"/>
              <a:pathLst>
                <a:path w="640714" h="2176145" extrusionOk="0">
                  <a:moveTo>
                    <a:pt x="0" y="45584"/>
                  </a:move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lnTo>
                    <a:pt x="45584" y="2175599"/>
                  </a:lnTo>
                  <a:lnTo>
                    <a:pt x="27841"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59" name="Google Shape;1559;p90"/>
            <p:cNvSpPr/>
            <p:nvPr/>
          </p:nvSpPr>
          <p:spPr>
            <a:xfrm>
              <a:off x="7091225" y="1842150"/>
              <a:ext cx="640715" cy="2176145"/>
            </a:xfrm>
            <a:custGeom>
              <a:avLst/>
              <a:gdLst/>
              <a:ahLst/>
              <a:cxnLst/>
              <a:rect l="l" t="t" r="r" b="b"/>
              <a:pathLst>
                <a:path w="640715" h="2176145" extrusionOk="0">
                  <a:moveTo>
                    <a:pt x="594915" y="2175599"/>
                  </a:moveTo>
                  <a:lnTo>
                    <a:pt x="45584" y="2175599"/>
                  </a:lnTo>
                  <a:lnTo>
                    <a:pt x="27840" y="2172017"/>
                  </a:lnTo>
                  <a:lnTo>
                    <a:pt x="13351" y="2162248"/>
                  </a:lnTo>
                  <a:lnTo>
                    <a:pt x="3582" y="2147758"/>
                  </a:lnTo>
                  <a:lnTo>
                    <a:pt x="0" y="2130015"/>
                  </a:lnTo>
                  <a:lnTo>
                    <a:pt x="0" y="45584"/>
                  </a:ln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60" name="Google Shape;1560;p90"/>
            <p:cNvSpPr/>
            <p:nvPr/>
          </p:nvSpPr>
          <p:spPr>
            <a:xfrm>
              <a:off x="7091225" y="1842150"/>
              <a:ext cx="640715" cy="2176145"/>
            </a:xfrm>
            <a:custGeom>
              <a:avLst/>
              <a:gdLst/>
              <a:ahLst/>
              <a:cxnLst/>
              <a:rect l="l" t="t" r="r" b="b"/>
              <a:pathLst>
                <a:path w="640715" h="2176145" extrusionOk="0">
                  <a:moveTo>
                    <a:pt x="0" y="45584"/>
                  </a:move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lnTo>
                    <a:pt x="45584" y="2175599"/>
                  </a:lnTo>
                  <a:lnTo>
                    <a:pt x="27840"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61" name="Google Shape;1561;p90"/>
          <p:cNvSpPr txBox="1"/>
          <p:nvPr/>
        </p:nvSpPr>
        <p:spPr>
          <a:xfrm>
            <a:off x="815256" y="4371637"/>
            <a:ext cx="76035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When there is </a:t>
            </a:r>
            <a:r>
              <a:rPr kumimoji="0" lang="en-US" altLang="zh-CN" sz="1700" b="1" i="0" u="none" strike="noStrike" kern="0" cap="none" spc="0" normalizeH="0" baseline="0" noProof="0">
                <a:ln>
                  <a:noFill/>
                </a:ln>
                <a:solidFill>
                  <a:srgbClr val="E69137"/>
                </a:solidFill>
                <a:effectLst/>
                <a:uLnTx/>
                <a:uFillTx/>
                <a:latin typeface="Times New Roman"/>
                <a:ea typeface="Times New Roman"/>
                <a:cs typeface="Times New Roman"/>
                <a:sym typeface="Times New Roman"/>
              </a:rPr>
              <a:t>question overlap</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both open and closed-book LMs perform well</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562" name="Google Shape;1562;p90"/>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55</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563" name="Google Shape;1563;p90"/>
          <p:cNvSpPr txBox="1"/>
          <p:nvPr/>
        </p:nvSpPr>
        <p:spPr>
          <a:xfrm>
            <a:off x="7710754" y="67029"/>
            <a:ext cx="13608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Table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3"/>
              </a:rPr>
              <a:t>Lewis et al., 2020</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1567"/>
        <p:cNvGrpSpPr/>
        <p:nvPr/>
      </p:nvGrpSpPr>
      <p:grpSpPr>
        <a:xfrm>
          <a:off x="0" y="0"/>
          <a:ext cx="0" cy="0"/>
          <a:chOff x="0" y="0"/>
          <a:chExt cx="0" cy="0"/>
        </a:xfrm>
      </p:grpSpPr>
      <p:sp>
        <p:nvSpPr>
          <p:cNvPr id="1568" name="Google Shape;1568;p91"/>
          <p:cNvSpPr txBox="1">
            <a:spLocks noGrp="1"/>
          </p:cNvSpPr>
          <p:nvPr>
            <p:ph type="title"/>
          </p:nvPr>
        </p:nvSpPr>
        <p:spPr>
          <a:xfrm>
            <a:off x="816414" y="505350"/>
            <a:ext cx="7513200" cy="782400"/>
          </a:xfrm>
          <a:prstGeom prst="rect">
            <a:avLst/>
          </a:prstGeom>
          <a:noFill/>
          <a:ln>
            <a:noFill/>
          </a:ln>
        </p:spPr>
        <p:txBody>
          <a:bodyPr spcFirstLastPara="1" wrap="square" lIns="0" tIns="12700" rIns="0" bIns="0" anchor="t" anchorCtr="0">
            <a:spAutoFit/>
          </a:bodyPr>
          <a:lstStyle/>
          <a:p>
            <a:pPr marL="968375" marR="5080" lvl="0" indent="-955675" algn="l" rtl="0">
              <a:lnSpc>
                <a:spcPct val="100000"/>
              </a:lnSpc>
              <a:spcBef>
                <a:spcPts val="0"/>
              </a:spcBef>
              <a:spcAft>
                <a:spcPts val="0"/>
              </a:spcAft>
              <a:buSzPts val="1400"/>
              <a:buNone/>
            </a:pPr>
            <a:r>
              <a:rPr lang="zh-CN"/>
              <a:t>Train-test overlap is responsible for LMʼs ability to do  knowledge retrieval! (</a:t>
            </a:r>
            <a:r>
              <a:rPr lang="zh-CN" u="sng">
                <a:solidFill>
                  <a:schemeClr val="hlink"/>
                </a:solidFill>
                <a:hlinkClick r:id="rId3"/>
              </a:rPr>
              <a:t>Lewis et al., 2020</a:t>
            </a:r>
            <a:r>
              <a:rPr lang="zh-CN"/>
              <a:t>)</a:t>
            </a:r>
            <a:endParaRPr/>
          </a:p>
        </p:txBody>
      </p:sp>
      <p:grpSp>
        <p:nvGrpSpPr>
          <p:cNvPr id="1569" name="Google Shape;1569;p91"/>
          <p:cNvGrpSpPr/>
          <p:nvPr/>
        </p:nvGrpSpPr>
        <p:grpSpPr>
          <a:xfrm>
            <a:off x="153485" y="1487929"/>
            <a:ext cx="8872098" cy="2669507"/>
            <a:chOff x="153485" y="1487929"/>
            <a:chExt cx="8872098" cy="2669507"/>
          </a:xfrm>
        </p:grpSpPr>
        <p:pic>
          <p:nvPicPr>
            <p:cNvPr id="1570" name="Google Shape;1570;p91"/>
            <p:cNvPicPr preferRelativeResize="0"/>
            <p:nvPr/>
          </p:nvPicPr>
          <p:blipFill rotWithShape="1">
            <a:blip r:embed="rId4">
              <a:alphaModFix/>
            </a:blip>
            <a:srcRect/>
            <a:stretch/>
          </p:blipFill>
          <p:spPr>
            <a:xfrm>
              <a:off x="153485" y="1487929"/>
              <a:ext cx="8872098" cy="2669507"/>
            </a:xfrm>
            <a:prstGeom prst="rect">
              <a:avLst/>
            </a:prstGeom>
            <a:noFill/>
            <a:ln>
              <a:noFill/>
            </a:ln>
          </p:spPr>
        </p:pic>
        <p:sp>
          <p:nvSpPr>
            <p:cNvPr id="1571" name="Google Shape;1571;p91"/>
            <p:cNvSpPr/>
            <p:nvPr/>
          </p:nvSpPr>
          <p:spPr>
            <a:xfrm>
              <a:off x="2235274" y="1842150"/>
              <a:ext cx="640714" cy="2176145"/>
            </a:xfrm>
            <a:custGeom>
              <a:avLst/>
              <a:gdLst/>
              <a:ahLst/>
              <a:cxnLst/>
              <a:rect l="l" t="t" r="r" b="b"/>
              <a:pathLst>
                <a:path w="640714" h="2176145" extrusionOk="0">
                  <a:moveTo>
                    <a:pt x="594915" y="2175599"/>
                  </a:moveTo>
                  <a:lnTo>
                    <a:pt x="45584" y="2175599"/>
                  </a:lnTo>
                  <a:lnTo>
                    <a:pt x="27840" y="2172017"/>
                  </a:lnTo>
                  <a:lnTo>
                    <a:pt x="13351" y="2162248"/>
                  </a:lnTo>
                  <a:lnTo>
                    <a:pt x="3582" y="2147758"/>
                  </a:lnTo>
                  <a:lnTo>
                    <a:pt x="0" y="2130015"/>
                  </a:lnTo>
                  <a:lnTo>
                    <a:pt x="0" y="45584"/>
                  </a:ln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2" name="Google Shape;1572;p91"/>
            <p:cNvSpPr/>
            <p:nvPr/>
          </p:nvSpPr>
          <p:spPr>
            <a:xfrm>
              <a:off x="2235274" y="1842150"/>
              <a:ext cx="640714" cy="2176145"/>
            </a:xfrm>
            <a:custGeom>
              <a:avLst/>
              <a:gdLst/>
              <a:ahLst/>
              <a:cxnLst/>
              <a:rect l="l" t="t" r="r" b="b"/>
              <a:pathLst>
                <a:path w="640714" h="2176145" extrusionOk="0">
                  <a:moveTo>
                    <a:pt x="0" y="45584"/>
                  </a:move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lnTo>
                    <a:pt x="45584" y="2175599"/>
                  </a:lnTo>
                  <a:lnTo>
                    <a:pt x="27840"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3" name="Google Shape;1573;p91"/>
            <p:cNvSpPr/>
            <p:nvPr/>
          </p:nvSpPr>
          <p:spPr>
            <a:xfrm>
              <a:off x="4663249" y="1842150"/>
              <a:ext cx="640714" cy="2176145"/>
            </a:xfrm>
            <a:custGeom>
              <a:avLst/>
              <a:gdLst/>
              <a:ahLst/>
              <a:cxnLst/>
              <a:rect l="l" t="t" r="r" b="b"/>
              <a:pathLst>
                <a:path w="640714" h="2176145" extrusionOk="0">
                  <a:moveTo>
                    <a:pt x="594915" y="2175599"/>
                  </a:moveTo>
                  <a:lnTo>
                    <a:pt x="45584" y="2175599"/>
                  </a:lnTo>
                  <a:lnTo>
                    <a:pt x="27841" y="2172017"/>
                  </a:lnTo>
                  <a:lnTo>
                    <a:pt x="13351" y="2162248"/>
                  </a:lnTo>
                  <a:lnTo>
                    <a:pt x="3582" y="2147758"/>
                  </a:lnTo>
                  <a:lnTo>
                    <a:pt x="0" y="2130015"/>
                  </a:lnTo>
                  <a:lnTo>
                    <a:pt x="0" y="45584"/>
                  </a:ln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4" name="Google Shape;1574;p91"/>
            <p:cNvSpPr/>
            <p:nvPr/>
          </p:nvSpPr>
          <p:spPr>
            <a:xfrm>
              <a:off x="4663249" y="1842150"/>
              <a:ext cx="640714" cy="2176145"/>
            </a:xfrm>
            <a:custGeom>
              <a:avLst/>
              <a:gdLst/>
              <a:ahLst/>
              <a:cxnLst/>
              <a:rect l="l" t="t" r="r" b="b"/>
              <a:pathLst>
                <a:path w="640714" h="2176145" extrusionOk="0">
                  <a:moveTo>
                    <a:pt x="0" y="45584"/>
                  </a:move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lnTo>
                    <a:pt x="45584" y="2175599"/>
                  </a:lnTo>
                  <a:lnTo>
                    <a:pt x="27841"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5" name="Google Shape;1575;p91"/>
            <p:cNvSpPr/>
            <p:nvPr/>
          </p:nvSpPr>
          <p:spPr>
            <a:xfrm>
              <a:off x="7091225" y="1842150"/>
              <a:ext cx="640715" cy="2176145"/>
            </a:xfrm>
            <a:custGeom>
              <a:avLst/>
              <a:gdLst/>
              <a:ahLst/>
              <a:cxnLst/>
              <a:rect l="l" t="t" r="r" b="b"/>
              <a:pathLst>
                <a:path w="640715" h="2176145" extrusionOk="0">
                  <a:moveTo>
                    <a:pt x="594915" y="2175599"/>
                  </a:moveTo>
                  <a:lnTo>
                    <a:pt x="45584" y="2175599"/>
                  </a:lnTo>
                  <a:lnTo>
                    <a:pt x="27840" y="2172017"/>
                  </a:lnTo>
                  <a:lnTo>
                    <a:pt x="13351" y="2162248"/>
                  </a:lnTo>
                  <a:lnTo>
                    <a:pt x="3582" y="2147758"/>
                  </a:lnTo>
                  <a:lnTo>
                    <a:pt x="0" y="2130015"/>
                  </a:lnTo>
                  <a:lnTo>
                    <a:pt x="0" y="45584"/>
                  </a:ln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close/>
                </a:path>
              </a:pathLst>
            </a:custGeom>
            <a:solidFill>
              <a:srgbClr val="E69137">
                <a:alpha val="23140"/>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6" name="Google Shape;1576;p91"/>
            <p:cNvSpPr/>
            <p:nvPr/>
          </p:nvSpPr>
          <p:spPr>
            <a:xfrm>
              <a:off x="7091225" y="1842150"/>
              <a:ext cx="640715" cy="2176145"/>
            </a:xfrm>
            <a:custGeom>
              <a:avLst/>
              <a:gdLst/>
              <a:ahLst/>
              <a:cxnLst/>
              <a:rect l="l" t="t" r="r" b="b"/>
              <a:pathLst>
                <a:path w="640715" h="2176145" extrusionOk="0">
                  <a:moveTo>
                    <a:pt x="0" y="45584"/>
                  </a:move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lnTo>
                    <a:pt x="45584" y="2175599"/>
                  </a:lnTo>
                  <a:lnTo>
                    <a:pt x="27840" y="2172017"/>
                  </a:lnTo>
                  <a:lnTo>
                    <a:pt x="13351" y="2162248"/>
                  </a:lnTo>
                  <a:lnTo>
                    <a:pt x="3582" y="2147758"/>
                  </a:lnTo>
                  <a:lnTo>
                    <a:pt x="0" y="2130015"/>
                  </a:lnTo>
                  <a:lnTo>
                    <a:pt x="0" y="45584"/>
                  </a:lnTo>
                  <a:close/>
                </a:path>
              </a:pathLst>
            </a:custGeom>
            <a:noFill/>
            <a:ln w="19025" cap="flat" cmpd="sng">
              <a:solidFill>
                <a:srgbClr val="E69137"/>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7" name="Google Shape;1577;p91"/>
            <p:cNvSpPr/>
            <p:nvPr/>
          </p:nvSpPr>
          <p:spPr>
            <a:xfrm>
              <a:off x="3489174" y="1842150"/>
              <a:ext cx="640714" cy="2176145"/>
            </a:xfrm>
            <a:custGeom>
              <a:avLst/>
              <a:gdLst/>
              <a:ahLst/>
              <a:cxnLst/>
              <a:rect l="l" t="t" r="r" b="b"/>
              <a:pathLst>
                <a:path w="640714" h="2176145" extrusionOk="0">
                  <a:moveTo>
                    <a:pt x="594915" y="2175599"/>
                  </a:moveTo>
                  <a:lnTo>
                    <a:pt x="45584" y="2175599"/>
                  </a:lnTo>
                  <a:lnTo>
                    <a:pt x="27841" y="2172017"/>
                  </a:lnTo>
                  <a:lnTo>
                    <a:pt x="13351" y="2162248"/>
                  </a:lnTo>
                  <a:lnTo>
                    <a:pt x="3582" y="2147758"/>
                  </a:lnTo>
                  <a:lnTo>
                    <a:pt x="0" y="2130015"/>
                  </a:lnTo>
                  <a:lnTo>
                    <a:pt x="0" y="45584"/>
                  </a:ln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8" name="Google Shape;1578;p91"/>
            <p:cNvSpPr/>
            <p:nvPr/>
          </p:nvSpPr>
          <p:spPr>
            <a:xfrm>
              <a:off x="3489174" y="1842150"/>
              <a:ext cx="640714" cy="2176145"/>
            </a:xfrm>
            <a:custGeom>
              <a:avLst/>
              <a:gdLst/>
              <a:ahLst/>
              <a:cxnLst/>
              <a:rect l="l" t="t" r="r" b="b"/>
              <a:pathLst>
                <a:path w="640714" h="2176145" extrusionOk="0">
                  <a:moveTo>
                    <a:pt x="0" y="45584"/>
                  </a:move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lnTo>
                    <a:pt x="45584" y="2175599"/>
                  </a:lnTo>
                  <a:lnTo>
                    <a:pt x="27841" y="2172017"/>
                  </a:lnTo>
                  <a:lnTo>
                    <a:pt x="13351" y="2162248"/>
                  </a:lnTo>
                  <a:lnTo>
                    <a:pt x="3582" y="2147758"/>
                  </a:lnTo>
                  <a:lnTo>
                    <a:pt x="0" y="2130015"/>
                  </a:lnTo>
                  <a:lnTo>
                    <a:pt x="0" y="45584"/>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79" name="Google Shape;1579;p91"/>
            <p:cNvSpPr/>
            <p:nvPr/>
          </p:nvSpPr>
          <p:spPr>
            <a:xfrm>
              <a:off x="5917150" y="1842150"/>
              <a:ext cx="640715" cy="2176145"/>
            </a:xfrm>
            <a:custGeom>
              <a:avLst/>
              <a:gdLst/>
              <a:ahLst/>
              <a:cxnLst/>
              <a:rect l="l" t="t" r="r" b="b"/>
              <a:pathLst>
                <a:path w="640715" h="2176145" extrusionOk="0">
                  <a:moveTo>
                    <a:pt x="594915" y="2175599"/>
                  </a:moveTo>
                  <a:lnTo>
                    <a:pt x="45584" y="2175599"/>
                  </a:lnTo>
                  <a:lnTo>
                    <a:pt x="27841" y="2172017"/>
                  </a:lnTo>
                  <a:lnTo>
                    <a:pt x="13351" y="2162248"/>
                  </a:lnTo>
                  <a:lnTo>
                    <a:pt x="3582" y="2147758"/>
                  </a:lnTo>
                  <a:lnTo>
                    <a:pt x="0" y="2130015"/>
                  </a:lnTo>
                  <a:lnTo>
                    <a:pt x="0" y="45584"/>
                  </a:ln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0" name="Google Shape;1580;p91"/>
            <p:cNvSpPr/>
            <p:nvPr/>
          </p:nvSpPr>
          <p:spPr>
            <a:xfrm>
              <a:off x="5917150" y="1842150"/>
              <a:ext cx="640715" cy="2176145"/>
            </a:xfrm>
            <a:custGeom>
              <a:avLst/>
              <a:gdLst/>
              <a:ahLst/>
              <a:cxnLst/>
              <a:rect l="l" t="t" r="r" b="b"/>
              <a:pathLst>
                <a:path w="640715" h="2176145" extrusionOk="0">
                  <a:moveTo>
                    <a:pt x="0" y="45584"/>
                  </a:moveTo>
                  <a:lnTo>
                    <a:pt x="3582" y="27840"/>
                  </a:lnTo>
                  <a:lnTo>
                    <a:pt x="13351" y="13351"/>
                  </a:lnTo>
                  <a:lnTo>
                    <a:pt x="27841" y="3582"/>
                  </a:lnTo>
                  <a:lnTo>
                    <a:pt x="45584" y="0"/>
                  </a:lnTo>
                  <a:lnTo>
                    <a:pt x="594915" y="0"/>
                  </a:lnTo>
                  <a:lnTo>
                    <a:pt x="632841" y="20294"/>
                  </a:lnTo>
                  <a:lnTo>
                    <a:pt x="640499" y="45584"/>
                  </a:lnTo>
                  <a:lnTo>
                    <a:pt x="640499" y="2130015"/>
                  </a:lnTo>
                  <a:lnTo>
                    <a:pt x="636917" y="2147758"/>
                  </a:lnTo>
                  <a:lnTo>
                    <a:pt x="627148" y="2162248"/>
                  </a:lnTo>
                  <a:lnTo>
                    <a:pt x="612658" y="2172017"/>
                  </a:lnTo>
                  <a:lnTo>
                    <a:pt x="594915" y="2175599"/>
                  </a:lnTo>
                  <a:lnTo>
                    <a:pt x="45584" y="2175599"/>
                  </a:lnTo>
                  <a:lnTo>
                    <a:pt x="27841" y="2172017"/>
                  </a:lnTo>
                  <a:lnTo>
                    <a:pt x="13351" y="2162248"/>
                  </a:lnTo>
                  <a:lnTo>
                    <a:pt x="3582" y="2147758"/>
                  </a:lnTo>
                  <a:lnTo>
                    <a:pt x="0" y="2130015"/>
                  </a:lnTo>
                  <a:lnTo>
                    <a:pt x="0" y="45584"/>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1" name="Google Shape;1581;p91"/>
            <p:cNvSpPr/>
            <p:nvPr/>
          </p:nvSpPr>
          <p:spPr>
            <a:xfrm>
              <a:off x="8345124" y="1842150"/>
              <a:ext cx="640715" cy="2176145"/>
            </a:xfrm>
            <a:custGeom>
              <a:avLst/>
              <a:gdLst/>
              <a:ahLst/>
              <a:cxnLst/>
              <a:rect l="l" t="t" r="r" b="b"/>
              <a:pathLst>
                <a:path w="640715" h="2176145" extrusionOk="0">
                  <a:moveTo>
                    <a:pt x="594915" y="2175599"/>
                  </a:moveTo>
                  <a:lnTo>
                    <a:pt x="45584" y="2175599"/>
                  </a:lnTo>
                  <a:lnTo>
                    <a:pt x="27840" y="2172017"/>
                  </a:lnTo>
                  <a:lnTo>
                    <a:pt x="13351" y="2162248"/>
                  </a:lnTo>
                  <a:lnTo>
                    <a:pt x="3582" y="2147758"/>
                  </a:lnTo>
                  <a:lnTo>
                    <a:pt x="0" y="2130015"/>
                  </a:lnTo>
                  <a:lnTo>
                    <a:pt x="0" y="45584"/>
                  </a:ln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close/>
                </a:path>
              </a:pathLst>
            </a:custGeom>
            <a:solidFill>
              <a:srgbClr val="3C78D8">
                <a:alpha val="16079"/>
              </a:srgbClr>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2" name="Google Shape;1582;p91"/>
            <p:cNvSpPr/>
            <p:nvPr/>
          </p:nvSpPr>
          <p:spPr>
            <a:xfrm>
              <a:off x="8345124" y="1842150"/>
              <a:ext cx="640715" cy="2176145"/>
            </a:xfrm>
            <a:custGeom>
              <a:avLst/>
              <a:gdLst/>
              <a:ahLst/>
              <a:cxnLst/>
              <a:rect l="l" t="t" r="r" b="b"/>
              <a:pathLst>
                <a:path w="640715" h="2176145" extrusionOk="0">
                  <a:moveTo>
                    <a:pt x="0" y="45584"/>
                  </a:moveTo>
                  <a:lnTo>
                    <a:pt x="3582" y="27840"/>
                  </a:lnTo>
                  <a:lnTo>
                    <a:pt x="13351" y="13351"/>
                  </a:lnTo>
                  <a:lnTo>
                    <a:pt x="27840" y="3582"/>
                  </a:lnTo>
                  <a:lnTo>
                    <a:pt x="45584" y="0"/>
                  </a:lnTo>
                  <a:lnTo>
                    <a:pt x="594915" y="0"/>
                  </a:lnTo>
                  <a:lnTo>
                    <a:pt x="632841" y="20294"/>
                  </a:lnTo>
                  <a:lnTo>
                    <a:pt x="640499" y="45584"/>
                  </a:lnTo>
                  <a:lnTo>
                    <a:pt x="640499" y="2130015"/>
                  </a:lnTo>
                  <a:lnTo>
                    <a:pt x="636917" y="2147758"/>
                  </a:lnTo>
                  <a:lnTo>
                    <a:pt x="627148" y="2162248"/>
                  </a:lnTo>
                  <a:lnTo>
                    <a:pt x="612659" y="2172017"/>
                  </a:lnTo>
                  <a:lnTo>
                    <a:pt x="594915" y="2175599"/>
                  </a:lnTo>
                  <a:lnTo>
                    <a:pt x="45584" y="2175599"/>
                  </a:lnTo>
                  <a:lnTo>
                    <a:pt x="27840" y="2172017"/>
                  </a:lnTo>
                  <a:lnTo>
                    <a:pt x="13351" y="2162248"/>
                  </a:lnTo>
                  <a:lnTo>
                    <a:pt x="3582" y="2147758"/>
                  </a:lnTo>
                  <a:lnTo>
                    <a:pt x="0" y="2130015"/>
                  </a:lnTo>
                  <a:lnTo>
                    <a:pt x="0" y="45584"/>
                  </a:lnTo>
                  <a:close/>
                </a:path>
              </a:pathLst>
            </a:custGeom>
            <a:noFill/>
            <a:ln w="190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3" name="Google Shape;1583;p91"/>
            <p:cNvSpPr/>
            <p:nvPr/>
          </p:nvSpPr>
          <p:spPr>
            <a:xfrm>
              <a:off x="2983775" y="2451707"/>
              <a:ext cx="391795" cy="951864"/>
            </a:xfrm>
            <a:custGeom>
              <a:avLst/>
              <a:gdLst/>
              <a:ahLst/>
              <a:cxnLst/>
              <a:rect l="l" t="t" r="r" b="b"/>
              <a:pathLst>
                <a:path w="391795" h="951864" extrusionOk="0">
                  <a:moveTo>
                    <a:pt x="170124" y="951600"/>
                  </a:moveTo>
                  <a:lnTo>
                    <a:pt x="170124" y="732808"/>
                  </a:lnTo>
                  <a:lnTo>
                    <a:pt x="0" y="732808"/>
                  </a:lnTo>
                  <a:lnTo>
                    <a:pt x="0" y="218791"/>
                  </a:lnTo>
                  <a:lnTo>
                    <a:pt x="170124" y="218791"/>
                  </a:lnTo>
                  <a:lnTo>
                    <a:pt x="170124" y="0"/>
                  </a:lnTo>
                  <a:lnTo>
                    <a:pt x="391199" y="475799"/>
                  </a:lnTo>
                  <a:lnTo>
                    <a:pt x="170124" y="951600"/>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4" name="Google Shape;1584;p91"/>
            <p:cNvSpPr/>
            <p:nvPr/>
          </p:nvSpPr>
          <p:spPr>
            <a:xfrm>
              <a:off x="2983775" y="2451707"/>
              <a:ext cx="391795" cy="951864"/>
            </a:xfrm>
            <a:custGeom>
              <a:avLst/>
              <a:gdLst/>
              <a:ahLst/>
              <a:cxnLst/>
              <a:rect l="l" t="t" r="r" b="b"/>
              <a:pathLst>
                <a:path w="391795" h="951864" extrusionOk="0">
                  <a:moveTo>
                    <a:pt x="0" y="218791"/>
                  </a:moveTo>
                  <a:lnTo>
                    <a:pt x="170124" y="218791"/>
                  </a:lnTo>
                  <a:lnTo>
                    <a:pt x="170124" y="0"/>
                  </a:lnTo>
                  <a:lnTo>
                    <a:pt x="391199" y="475799"/>
                  </a:lnTo>
                  <a:lnTo>
                    <a:pt x="170124" y="951600"/>
                  </a:lnTo>
                  <a:lnTo>
                    <a:pt x="170124" y="732808"/>
                  </a:lnTo>
                  <a:lnTo>
                    <a:pt x="0" y="732808"/>
                  </a:lnTo>
                  <a:lnTo>
                    <a:pt x="0" y="218791"/>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5" name="Google Shape;1585;p91"/>
            <p:cNvSpPr/>
            <p:nvPr/>
          </p:nvSpPr>
          <p:spPr>
            <a:xfrm>
              <a:off x="5417949" y="2451697"/>
              <a:ext cx="391795" cy="951864"/>
            </a:xfrm>
            <a:custGeom>
              <a:avLst/>
              <a:gdLst/>
              <a:ahLst/>
              <a:cxnLst/>
              <a:rect l="l" t="t" r="r" b="b"/>
              <a:pathLst>
                <a:path w="391795" h="951864" extrusionOk="0">
                  <a:moveTo>
                    <a:pt x="170124" y="951599"/>
                  </a:moveTo>
                  <a:lnTo>
                    <a:pt x="170124" y="732808"/>
                  </a:lnTo>
                  <a:lnTo>
                    <a:pt x="0" y="732808"/>
                  </a:lnTo>
                  <a:lnTo>
                    <a:pt x="0" y="218791"/>
                  </a:lnTo>
                  <a:lnTo>
                    <a:pt x="170124" y="218791"/>
                  </a:lnTo>
                  <a:lnTo>
                    <a:pt x="170124" y="0"/>
                  </a:lnTo>
                  <a:lnTo>
                    <a:pt x="391199" y="475799"/>
                  </a:lnTo>
                  <a:lnTo>
                    <a:pt x="170124" y="951599"/>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6" name="Google Shape;1586;p91"/>
            <p:cNvSpPr/>
            <p:nvPr/>
          </p:nvSpPr>
          <p:spPr>
            <a:xfrm>
              <a:off x="5417949" y="2451697"/>
              <a:ext cx="391795" cy="951864"/>
            </a:xfrm>
            <a:custGeom>
              <a:avLst/>
              <a:gdLst/>
              <a:ahLst/>
              <a:cxnLst/>
              <a:rect l="l" t="t" r="r" b="b"/>
              <a:pathLst>
                <a:path w="391795" h="951864" extrusionOk="0">
                  <a:moveTo>
                    <a:pt x="0" y="218791"/>
                  </a:moveTo>
                  <a:lnTo>
                    <a:pt x="170124" y="218791"/>
                  </a:lnTo>
                  <a:lnTo>
                    <a:pt x="170124" y="0"/>
                  </a:lnTo>
                  <a:lnTo>
                    <a:pt x="391199" y="475799"/>
                  </a:lnTo>
                  <a:lnTo>
                    <a:pt x="170124" y="951599"/>
                  </a:lnTo>
                  <a:lnTo>
                    <a:pt x="170124" y="732808"/>
                  </a:lnTo>
                  <a:lnTo>
                    <a:pt x="0" y="732808"/>
                  </a:lnTo>
                  <a:lnTo>
                    <a:pt x="0" y="218791"/>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7" name="Google Shape;1587;p91"/>
            <p:cNvSpPr/>
            <p:nvPr/>
          </p:nvSpPr>
          <p:spPr>
            <a:xfrm>
              <a:off x="7845924" y="2456588"/>
              <a:ext cx="391795" cy="951864"/>
            </a:xfrm>
            <a:custGeom>
              <a:avLst/>
              <a:gdLst/>
              <a:ahLst/>
              <a:cxnLst/>
              <a:rect l="l" t="t" r="r" b="b"/>
              <a:pathLst>
                <a:path w="391795" h="951864" extrusionOk="0">
                  <a:moveTo>
                    <a:pt x="170124" y="951600"/>
                  </a:moveTo>
                  <a:lnTo>
                    <a:pt x="170124" y="732808"/>
                  </a:lnTo>
                  <a:lnTo>
                    <a:pt x="0" y="732808"/>
                  </a:lnTo>
                  <a:lnTo>
                    <a:pt x="0" y="218791"/>
                  </a:lnTo>
                  <a:lnTo>
                    <a:pt x="170124" y="218791"/>
                  </a:lnTo>
                  <a:lnTo>
                    <a:pt x="170124" y="0"/>
                  </a:lnTo>
                  <a:lnTo>
                    <a:pt x="391199" y="475799"/>
                  </a:lnTo>
                  <a:lnTo>
                    <a:pt x="170124" y="951600"/>
                  </a:lnTo>
                  <a:close/>
                </a:path>
              </a:pathLst>
            </a:custGeom>
            <a:solidFill>
              <a:srgbClr val="3C78D8"/>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88" name="Google Shape;1588;p91"/>
            <p:cNvSpPr/>
            <p:nvPr/>
          </p:nvSpPr>
          <p:spPr>
            <a:xfrm>
              <a:off x="7845924" y="2456588"/>
              <a:ext cx="391795" cy="951864"/>
            </a:xfrm>
            <a:custGeom>
              <a:avLst/>
              <a:gdLst/>
              <a:ahLst/>
              <a:cxnLst/>
              <a:rect l="l" t="t" r="r" b="b"/>
              <a:pathLst>
                <a:path w="391795" h="951864" extrusionOk="0">
                  <a:moveTo>
                    <a:pt x="0" y="218791"/>
                  </a:moveTo>
                  <a:lnTo>
                    <a:pt x="170124" y="218791"/>
                  </a:lnTo>
                  <a:lnTo>
                    <a:pt x="170124" y="0"/>
                  </a:lnTo>
                  <a:lnTo>
                    <a:pt x="391199" y="475799"/>
                  </a:lnTo>
                  <a:lnTo>
                    <a:pt x="170124" y="951600"/>
                  </a:lnTo>
                  <a:lnTo>
                    <a:pt x="170124" y="732808"/>
                  </a:lnTo>
                  <a:lnTo>
                    <a:pt x="0" y="732808"/>
                  </a:lnTo>
                  <a:lnTo>
                    <a:pt x="0" y="218791"/>
                  </a:lnTo>
                  <a:close/>
                </a:path>
              </a:pathLst>
            </a:custGeom>
            <a:noFill/>
            <a:ln w="9525" cap="flat" cmpd="sng">
              <a:solidFill>
                <a:srgbClr val="3C78D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89" name="Google Shape;1589;p91"/>
          <p:cNvSpPr txBox="1"/>
          <p:nvPr/>
        </p:nvSpPr>
        <p:spPr>
          <a:xfrm>
            <a:off x="1265416" y="4371637"/>
            <a:ext cx="6702300" cy="274500"/>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But with </a:t>
            </a:r>
            <a:r>
              <a:rPr kumimoji="0" lang="en-US" altLang="zh-CN" sz="1700" b="1" i="0" u="none" strike="noStrike" kern="0" cap="none" spc="0" normalizeH="0" baseline="0" noProof="0">
                <a:ln>
                  <a:noFill/>
                </a:ln>
                <a:solidFill>
                  <a:srgbClr val="3C78D8"/>
                </a:solidFill>
                <a:effectLst/>
                <a:uLnTx/>
                <a:uFillTx/>
                <a:latin typeface="Times New Roman"/>
                <a:ea typeface="Times New Roman"/>
                <a:cs typeface="Times New Roman"/>
                <a:sym typeface="Times New Roman"/>
              </a:rPr>
              <a:t>no question or answer overlap</a:t>
            </a:r>
            <a:r>
              <a:rPr kumimoji="0" lang="en-US" altLang="zh-CN" sz="17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performance drops sharply!</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590" name="Google Shape;1590;p91"/>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56</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591" name="Google Shape;1591;p91"/>
          <p:cNvSpPr txBox="1"/>
          <p:nvPr/>
        </p:nvSpPr>
        <p:spPr>
          <a:xfrm>
            <a:off x="7710754" y="67029"/>
            <a:ext cx="1360800" cy="148200"/>
          </a:xfrm>
          <a:prstGeom prst="rect">
            <a:avLst/>
          </a:prstGeom>
          <a:noFill/>
          <a:ln>
            <a:noFill/>
          </a:ln>
        </p:spPr>
        <p:txBody>
          <a:bodyPr spcFirstLastPara="1" wrap="square" lIns="0" tIns="1712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850"/>
              <a:buFont typeface="Arial"/>
              <a:buNone/>
              <a:tabLst/>
              <a:defRPr/>
            </a:pPr>
            <a:r>
              <a:rPr kumimoji="0" lang="en-US" altLang="zh-CN" sz="850" b="0" i="1"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Table from </a:t>
            </a:r>
            <a:r>
              <a:rPr kumimoji="0" lang="en-US" altLang="zh-CN" sz="850" b="0" i="1"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3"/>
              </a:rPr>
              <a:t>Lewis et al., 2020</a:t>
            </a:r>
            <a:endParaRPr kumimoji="0" sz="8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95"/>
        <p:cNvGrpSpPr/>
        <p:nvPr/>
      </p:nvGrpSpPr>
      <p:grpSpPr>
        <a:xfrm>
          <a:off x="0" y="0"/>
          <a:ext cx="0" cy="0"/>
          <a:chOff x="0" y="0"/>
          <a:chExt cx="0" cy="0"/>
        </a:xfrm>
      </p:grpSpPr>
      <p:sp>
        <p:nvSpPr>
          <p:cNvPr id="1596" name="Google Shape;1596;p92"/>
          <p:cNvSpPr txBox="1">
            <a:spLocks noGrp="1"/>
          </p:cNvSpPr>
          <p:nvPr>
            <p:ph type="title"/>
          </p:nvPr>
        </p:nvSpPr>
        <p:spPr>
          <a:xfrm>
            <a:off x="1905000" y="527426"/>
            <a:ext cx="67077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Revising LAMA – underlying mechanisms</a:t>
            </a:r>
            <a:endParaRPr/>
          </a:p>
        </p:txBody>
      </p:sp>
      <p:pic>
        <p:nvPicPr>
          <p:cNvPr id="1597" name="Google Shape;1597;p92"/>
          <p:cNvPicPr preferRelativeResize="0"/>
          <p:nvPr/>
        </p:nvPicPr>
        <p:blipFill rotWithShape="1">
          <a:blip r:embed="rId3">
            <a:alphaModFix/>
          </a:blip>
          <a:srcRect/>
          <a:stretch/>
        </p:blipFill>
        <p:spPr>
          <a:xfrm>
            <a:off x="1524000" y="1047750"/>
            <a:ext cx="5848952" cy="3426919"/>
          </a:xfrm>
          <a:prstGeom prst="rect">
            <a:avLst/>
          </a:prstGeom>
          <a:noFill/>
          <a:ln>
            <a:noFill/>
          </a:ln>
        </p:spPr>
      </p:pic>
      <p:sp>
        <p:nvSpPr>
          <p:cNvPr id="1598" name="Google Shape;1598;p92"/>
          <p:cNvSpPr/>
          <p:nvPr/>
        </p:nvSpPr>
        <p:spPr>
          <a:xfrm>
            <a:off x="609600" y="4474669"/>
            <a:ext cx="8265300" cy="5232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Calibri"/>
                <a:ea typeface="Calibri"/>
                <a:cs typeface="Calibri"/>
                <a:sym typeface="Calibri"/>
              </a:rPr>
              <a:t>Boxi Cao et.al. Knowledgeable or Educated Guess? Revisiting Language Models as Knowledge Bases. ACL 2021.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0" i="0" u="none" strike="noStrike" kern="0" cap="none" spc="0" normalizeH="0" baseline="0" noProof="0">
                <a:ln>
                  <a:noFill/>
                </a:ln>
                <a:solidFill>
                  <a:srgbClr val="000000"/>
                </a:solidFill>
                <a:effectLst/>
                <a:uLnTx/>
                <a:uFillTx/>
                <a:latin typeface="Calibri"/>
                <a:ea typeface="Calibri"/>
                <a:cs typeface="Calibri"/>
                <a:sym typeface="Calibri"/>
              </a:rPr>
              <a:t>https://aclanthology.org/2021.acl-long.146.pdf</a:t>
            </a:r>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pic>
        <p:nvPicPr>
          <p:cNvPr id="1603" name="Google Shape;1603;p93"/>
          <p:cNvPicPr preferRelativeResize="0"/>
          <p:nvPr/>
        </p:nvPicPr>
        <p:blipFill rotWithShape="1">
          <a:blip r:embed="rId3">
            <a:alphaModFix/>
          </a:blip>
          <a:srcRect/>
          <a:stretch/>
        </p:blipFill>
        <p:spPr>
          <a:xfrm>
            <a:off x="3276600" y="1047750"/>
            <a:ext cx="5635772" cy="3732463"/>
          </a:xfrm>
          <a:prstGeom prst="rect">
            <a:avLst/>
          </a:prstGeom>
          <a:noFill/>
          <a:ln>
            <a:noFill/>
          </a:ln>
        </p:spPr>
      </p:pic>
      <p:sp>
        <p:nvSpPr>
          <p:cNvPr id="1604" name="Google Shape;1604;p93"/>
          <p:cNvSpPr txBox="1"/>
          <p:nvPr/>
        </p:nvSpPr>
        <p:spPr>
          <a:xfrm>
            <a:off x="152400" y="2313816"/>
            <a:ext cx="3352800" cy="12006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It is uninterested to say one is </a:t>
            </a:r>
            <a:r>
              <a:rPr kumimoji="0" lang="en-US" altLang="zh-CN" sz="1800" b="1" i="0" u="none" strike="noStrike" kern="0" cap="none" spc="0" normalizeH="0" baseline="0" noProof="0">
                <a:ln>
                  <a:noFill/>
                </a:ln>
                <a:solidFill>
                  <a:srgbClr val="000000"/>
                </a:solidFill>
                <a:effectLst/>
                <a:uLnTx/>
                <a:uFillTx/>
                <a:latin typeface="Calibri"/>
                <a:ea typeface="Calibri"/>
                <a:cs typeface="Calibri"/>
                <a:sym typeface="Calibri"/>
              </a:rPr>
              <a:t>thinking</a:t>
            </a: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or </a:t>
            </a:r>
            <a:r>
              <a:rPr kumimoji="0" lang="en-US" altLang="zh-CN" sz="1800" b="1" i="0" u="none" strike="noStrike" kern="0" cap="none" spc="0" normalizeH="0" baseline="0" noProof="0">
                <a:ln>
                  <a:noFill/>
                </a:ln>
                <a:solidFill>
                  <a:srgbClr val="000000"/>
                </a:solidFill>
                <a:effectLst/>
                <a:uLnTx/>
                <a:uFillTx/>
                <a:latin typeface="Calibri"/>
                <a:ea typeface="Calibri"/>
                <a:cs typeface="Calibri"/>
                <a:sym typeface="Calibri"/>
              </a:rPr>
              <a:t>breathing</a:t>
            </a: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But something related to </a:t>
            </a:r>
            <a:r>
              <a:rPr kumimoji="0" lang="en-US" altLang="zh-CN" sz="1800" b="1" i="0" u="none" strike="noStrike" kern="0" cap="none" spc="0" normalizeH="0" baseline="0" noProof="0">
                <a:ln>
                  <a:noFill/>
                </a:ln>
                <a:solidFill>
                  <a:srgbClr val="000000"/>
                </a:solidFill>
                <a:effectLst/>
                <a:uLnTx/>
                <a:uFillTx/>
                <a:latin typeface="Calibri"/>
                <a:ea typeface="Calibri"/>
                <a:cs typeface="Calibri"/>
                <a:sym typeface="Calibri"/>
              </a:rPr>
              <a:t>murders</a:t>
            </a:r>
            <a:r>
              <a:rPr kumimoji="0" lang="zh-CN" altLang="en-US" sz="1800" b="0" i="0" u="none" strike="noStrike" kern="0" cap="none" spc="0" normalizeH="0" baseline="0" noProof="0">
                <a:ln>
                  <a:noFill/>
                </a:ln>
                <a:solidFill>
                  <a:srgbClr val="000000"/>
                </a:solidFill>
                <a:effectLst/>
                <a:uLnTx/>
                <a:uFillTx/>
                <a:latin typeface="Calibri"/>
                <a:ea typeface="Calibri"/>
                <a:cs typeface="Calibri"/>
                <a:sym typeface="Calibri"/>
              </a:rPr>
              <a:t> </a:t>
            </a:r>
            <a:r>
              <a:rPr kumimoji="0" lang="en-US" altLang="zh-CN" sz="1800" b="0" i="0" u="none" strike="noStrike" kern="0" cap="none" spc="0" normalizeH="0" baseline="0" noProof="0">
                <a:ln>
                  <a:noFill/>
                </a:ln>
                <a:solidFill>
                  <a:srgbClr val="000000"/>
                </a:solidFill>
                <a:effectLst/>
                <a:uLnTx/>
                <a:uFillTx/>
                <a:latin typeface="Calibri"/>
                <a:ea typeface="Calibri"/>
                <a:cs typeface="Calibri"/>
                <a:sym typeface="Calibri"/>
              </a:rPr>
              <a:t>seems interesting to share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05" name="Google Shape;1605;p93"/>
          <p:cNvSpPr txBox="1">
            <a:spLocks noGrp="1"/>
          </p:cNvSpPr>
          <p:nvPr>
            <p:ph type="title"/>
          </p:nvPr>
        </p:nvSpPr>
        <p:spPr>
          <a:xfrm>
            <a:off x="2590800" y="514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Revising LAMA – Reporting Bias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10"/>
        <p:cNvGrpSpPr/>
        <p:nvPr/>
      </p:nvGrpSpPr>
      <p:grpSpPr>
        <a:xfrm>
          <a:off x="0" y="0"/>
          <a:ext cx="0" cy="0"/>
          <a:chOff x="0" y="0"/>
          <a:chExt cx="0" cy="0"/>
        </a:xfrm>
      </p:grpSpPr>
      <p:sp>
        <p:nvSpPr>
          <p:cNvPr id="1611" name="Google Shape;1611;p94"/>
          <p:cNvSpPr txBox="1">
            <a:spLocks noGrp="1"/>
          </p:cNvSpPr>
          <p:nvPr>
            <p:ph type="title"/>
          </p:nvPr>
        </p:nvSpPr>
        <p:spPr>
          <a:xfrm>
            <a:off x="2590800" y="514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Revising LAMA – Reporting Bias</a:t>
            </a:r>
            <a:endParaRPr/>
          </a:p>
        </p:txBody>
      </p:sp>
      <p:pic>
        <p:nvPicPr>
          <p:cNvPr id="1612" name="Google Shape;1612;p94"/>
          <p:cNvPicPr preferRelativeResize="0"/>
          <p:nvPr/>
        </p:nvPicPr>
        <p:blipFill rotWithShape="1">
          <a:blip r:embed="rId3">
            <a:alphaModFix/>
          </a:blip>
          <a:srcRect/>
          <a:stretch/>
        </p:blipFill>
        <p:spPr>
          <a:xfrm>
            <a:off x="685800" y="1403902"/>
            <a:ext cx="7772400" cy="2123921"/>
          </a:xfrm>
          <a:prstGeom prst="rect">
            <a:avLst/>
          </a:prstGeom>
          <a:noFill/>
          <a:ln>
            <a:noFill/>
          </a:ln>
        </p:spPr>
      </p:pic>
      <p:sp>
        <p:nvSpPr>
          <p:cNvPr id="1613" name="Google Shape;1613;p94"/>
          <p:cNvSpPr/>
          <p:nvPr/>
        </p:nvSpPr>
        <p:spPr>
          <a:xfrm>
            <a:off x="299923" y="3943350"/>
            <a:ext cx="8686800" cy="6462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none" strike="noStrike" kern="0" cap="none" spc="0" normalizeH="0" baseline="0" noProof="0">
                <a:ln>
                  <a:noFill/>
                </a:ln>
                <a:solidFill>
                  <a:srgbClr val="000000"/>
                </a:solidFill>
                <a:effectLst/>
                <a:uLnTx/>
                <a:uFillTx/>
                <a:latin typeface="Calibri"/>
                <a:ea typeface="Calibri"/>
                <a:cs typeface="Calibri"/>
                <a:sym typeface="Calibri"/>
              </a:rPr>
              <a:t>Reporting bias: due to Grice’s conversational maxim of quantity (Grice et al., 1975), people rarely state the obvious, thus many trivial facts (“people breathe”) are rarely mentioned in text, while uncommon events (“people murder”) are reported disproportionately (Gordon and Van Durme, 2013; Sorower et al., 2011).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14" name="Google Shape;1614;p94"/>
          <p:cNvSpPr/>
          <p:nvPr/>
        </p:nvSpPr>
        <p:spPr>
          <a:xfrm>
            <a:off x="299923" y="4707484"/>
            <a:ext cx="8938800" cy="261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zh-CN" sz="1100" b="0" i="0" u="none" strike="noStrike" kern="0" cap="none" spc="0" normalizeH="0" baseline="0" noProof="0">
                <a:ln>
                  <a:noFill/>
                </a:ln>
                <a:solidFill>
                  <a:srgbClr val="000000"/>
                </a:solidFill>
                <a:effectLst/>
                <a:uLnTx/>
                <a:uFillTx/>
                <a:latin typeface="Calibri"/>
                <a:ea typeface="Calibri"/>
                <a:cs typeface="Calibri"/>
                <a:sym typeface="Calibri"/>
              </a:rPr>
              <a:t>Vered Shwartz and Yejin Choi. Do Neural Language Models Overcome Reporting Bias?.  COLING 2020. https://aclanthology.org/2020.coling-main.605.pdf</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sp>
        <p:nvSpPr>
          <p:cNvPr id="1619" name="Google Shape;1619;p95"/>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zh-CN" b="1">
                <a:latin typeface="Times New Roman"/>
                <a:ea typeface="Times New Roman"/>
                <a:cs typeface="Times New Roman"/>
                <a:sym typeface="Times New Roman"/>
              </a:rPr>
              <a:t>Today’s Lecture</a:t>
            </a:r>
            <a:endParaRPr b="1">
              <a:latin typeface="Times New Roman"/>
              <a:ea typeface="Times New Roman"/>
              <a:cs typeface="Times New Roman"/>
              <a:sym typeface="Times New Roman"/>
            </a:endParaRPr>
          </a:p>
        </p:txBody>
      </p:sp>
      <p:sp>
        <p:nvSpPr>
          <p:cNvPr id="1620" name="Google Shape;1620;p95"/>
          <p:cNvSpPr txBox="1">
            <a:spLocks noGrp="1"/>
          </p:cNvSpPr>
          <p:nvPr>
            <p:ph type="body" idx="1"/>
          </p:nvPr>
        </p:nvSpPr>
        <p:spPr>
          <a:xfrm>
            <a:off x="628650" y="1070369"/>
            <a:ext cx="7886700" cy="3263400"/>
          </a:xfrm>
          <a:prstGeom prst="rect">
            <a:avLst/>
          </a:prstGeom>
          <a:noFill/>
          <a:ln>
            <a:noFill/>
          </a:ln>
        </p:spPr>
        <p:txBody>
          <a:bodyPr spcFirstLastPara="1" wrap="square" lIns="0" tIns="0" rIns="0" bIns="0" anchor="t" anchorCtr="0">
            <a:normAutofit/>
          </a:bodyPr>
          <a:lstStyle/>
          <a:p>
            <a:pPr marL="457200" lvl="0" indent="-457200" algn="l" rtl="0">
              <a:lnSpc>
                <a:spcPct val="100000"/>
              </a:lnSpc>
              <a:spcBef>
                <a:spcPts val="0"/>
              </a:spcBef>
              <a:spcAft>
                <a:spcPts val="0"/>
              </a:spcAft>
              <a:buClr>
                <a:schemeClr val="dk1"/>
              </a:buClr>
              <a:buSzPts val="2700"/>
              <a:buFont typeface="Arial"/>
              <a:buChar char="•"/>
            </a:pPr>
            <a:r>
              <a:rPr lang="zh-CN" sz="2700" b="1">
                <a:latin typeface="Times New Roman"/>
                <a:ea typeface="Times New Roman"/>
                <a:cs typeface="Times New Roman"/>
                <a:sym typeface="Times New Roman"/>
              </a:rPr>
              <a:t>Knowledge</a:t>
            </a:r>
            <a:r>
              <a:rPr lang="zh-CN" sz="2700">
                <a:latin typeface="Times New Roman"/>
                <a:ea typeface="Times New Roman"/>
                <a:cs typeface="Times New Roman"/>
                <a:sym typeface="Times New Roman"/>
              </a:rPr>
              <a:t> in LLMs</a:t>
            </a:r>
            <a:endParaRPr/>
          </a:p>
          <a:p>
            <a:pPr marL="800100" lvl="1" indent="-342900" algn="l" rtl="0">
              <a:lnSpc>
                <a:spcPct val="100000"/>
              </a:lnSpc>
              <a:spcBef>
                <a:spcPts val="0"/>
              </a:spcBef>
              <a:spcAft>
                <a:spcPts val="0"/>
              </a:spcAft>
              <a:buClr>
                <a:srgbClr val="CBCBCD"/>
              </a:buClr>
              <a:buSzPts val="2100"/>
              <a:buFont typeface="Arial"/>
              <a:buChar char="•"/>
            </a:pPr>
            <a:r>
              <a:rPr lang="zh-CN" sz="2100">
                <a:solidFill>
                  <a:srgbClr val="CBCBCD"/>
                </a:solidFill>
                <a:latin typeface="Times New Roman"/>
                <a:ea typeface="Times New Roman"/>
                <a:cs typeface="Times New Roman"/>
                <a:sym typeface="Times New Roman"/>
              </a:rPr>
              <a:t>LLMs as knowledge bases</a:t>
            </a:r>
            <a:endParaRPr>
              <a:solidFill>
                <a:srgbClr val="CBCBCD"/>
              </a:solidFill>
            </a:endParaRPr>
          </a:p>
          <a:p>
            <a:pPr marL="800100" lvl="1" indent="-342900" algn="l" rtl="0">
              <a:lnSpc>
                <a:spcPct val="100000"/>
              </a:lnSpc>
              <a:spcBef>
                <a:spcPts val="0"/>
              </a:spcBef>
              <a:spcAft>
                <a:spcPts val="0"/>
              </a:spcAft>
              <a:buClr>
                <a:schemeClr val="dk1"/>
              </a:buClr>
              <a:buSzPts val="2100"/>
              <a:buFont typeface="Arial"/>
              <a:buChar char="•"/>
            </a:pPr>
            <a:r>
              <a:rPr lang="zh-CN" sz="2100">
                <a:solidFill>
                  <a:schemeClr val="dk1"/>
                </a:solidFill>
                <a:latin typeface="Times New Roman"/>
                <a:ea typeface="Times New Roman"/>
                <a:cs typeface="Times New Roman"/>
                <a:sym typeface="Times New Roman"/>
              </a:rPr>
              <a:t>Facts updating for LLMs</a:t>
            </a:r>
            <a:endParaRPr>
              <a:solidFill>
                <a:schemeClr val="dk1"/>
              </a:solidFill>
            </a:endParaRPr>
          </a:p>
          <a:p>
            <a:pPr marL="457200" lvl="0" indent="-457200" algn="l" rtl="0">
              <a:lnSpc>
                <a:spcPct val="100000"/>
              </a:lnSpc>
              <a:spcBef>
                <a:spcPts val="0"/>
              </a:spcBef>
              <a:spcAft>
                <a:spcPts val="0"/>
              </a:spcAft>
              <a:buClr>
                <a:srgbClr val="CBCBCB"/>
              </a:buClr>
              <a:buSzPts val="2700"/>
              <a:buFont typeface="Arial"/>
              <a:buChar char="•"/>
            </a:pPr>
            <a:r>
              <a:rPr lang="zh-CN" sz="2700" b="1">
                <a:solidFill>
                  <a:srgbClr val="CBCBCB"/>
                </a:solidFill>
                <a:latin typeface="Times New Roman"/>
                <a:ea typeface="Times New Roman"/>
                <a:cs typeface="Times New Roman"/>
                <a:sym typeface="Times New Roman"/>
              </a:rPr>
              <a:t>Reasoning</a:t>
            </a:r>
            <a:r>
              <a:rPr lang="zh-CN" sz="2700">
                <a:solidFill>
                  <a:srgbClr val="CBCBCB"/>
                </a:solidFill>
                <a:latin typeface="Times New Roman"/>
                <a:ea typeface="Times New Roman"/>
                <a:cs typeface="Times New Roman"/>
                <a:sym typeface="Times New Roman"/>
              </a:rPr>
              <a:t> in LLMs</a:t>
            </a:r>
            <a:endParaRPr>
              <a:solidFill>
                <a:srgbClr val="CBCBCB"/>
              </a:solidFill>
            </a:endParaRPr>
          </a:p>
          <a:p>
            <a:pPr marL="800100" lvl="1" indent="-342900" algn="l" rtl="0">
              <a:lnSpc>
                <a:spcPct val="100000"/>
              </a:lnSpc>
              <a:spcBef>
                <a:spcPts val="0"/>
              </a:spcBef>
              <a:spcAft>
                <a:spcPts val="0"/>
              </a:spcAft>
              <a:buClr>
                <a:srgbClr val="CBCBCB"/>
              </a:buClr>
              <a:buSzPts val="2100"/>
              <a:buFont typeface="Arial"/>
              <a:buChar char="•"/>
            </a:pPr>
            <a:r>
              <a:rPr lang="zh-CN" sz="2100">
                <a:solidFill>
                  <a:srgbClr val="CBCBCB"/>
                </a:solidFill>
                <a:latin typeface="Times New Roman"/>
                <a:ea typeface="Times New Roman"/>
                <a:cs typeface="Times New Roman"/>
                <a:sym typeface="Times New Roman"/>
              </a:rPr>
              <a:t>Why reasoning is special in LLMs</a:t>
            </a:r>
            <a:endParaRPr>
              <a:solidFill>
                <a:srgbClr val="CBCBCB"/>
              </a:solidFill>
            </a:endParaRPr>
          </a:p>
          <a:p>
            <a:pPr marL="457200" lvl="0" indent="-457200" algn="l" rtl="0">
              <a:lnSpc>
                <a:spcPct val="100000"/>
              </a:lnSpc>
              <a:spcBef>
                <a:spcPts val="0"/>
              </a:spcBef>
              <a:spcAft>
                <a:spcPts val="0"/>
              </a:spcAft>
              <a:buClr>
                <a:srgbClr val="CBCBCB"/>
              </a:buClr>
              <a:buSzPts val="2700"/>
              <a:buChar char="•"/>
            </a:pPr>
            <a:r>
              <a:rPr lang="zh-CN" sz="2700" b="1">
                <a:solidFill>
                  <a:srgbClr val="CBCBCB"/>
                </a:solidFill>
              </a:rPr>
              <a:t>Prompt </a:t>
            </a:r>
            <a:r>
              <a:rPr lang="zh-CN" sz="2100">
                <a:solidFill>
                  <a:srgbClr val="CBCBCB"/>
                </a:solidFill>
              </a:rPr>
              <a:t>Techniques for better reasoning</a:t>
            </a:r>
            <a:endParaRPr>
              <a:solidFill>
                <a:srgbClr val="CBCBCB"/>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24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1624"/>
        <p:cNvGrpSpPr/>
        <p:nvPr/>
      </p:nvGrpSpPr>
      <p:grpSpPr>
        <a:xfrm>
          <a:off x="0" y="0"/>
          <a:ext cx="0" cy="0"/>
          <a:chOff x="0" y="0"/>
          <a:chExt cx="0" cy="0"/>
        </a:xfrm>
      </p:grpSpPr>
      <p:sp>
        <p:nvSpPr>
          <p:cNvPr id="1625" name="Google Shape;1625;p96"/>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61</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626" name="Google Shape;1626;p96"/>
          <p:cNvSpPr txBox="1">
            <a:spLocks noGrp="1"/>
          </p:cNvSpPr>
          <p:nvPr>
            <p:ph type="title"/>
          </p:nvPr>
        </p:nvSpPr>
        <p:spPr>
          <a:xfrm>
            <a:off x="2305461" y="2080801"/>
            <a:ext cx="4534500" cy="874800"/>
          </a:xfrm>
          <a:prstGeom prst="rect">
            <a:avLst/>
          </a:prstGeom>
          <a:noFill/>
          <a:ln>
            <a:noFill/>
          </a:ln>
        </p:spPr>
        <p:txBody>
          <a:bodyPr spcFirstLastPara="1" wrap="square" lIns="0" tIns="12700" rIns="0" bIns="0" anchor="t" anchorCtr="0">
            <a:spAutoFit/>
          </a:bodyPr>
          <a:lstStyle/>
          <a:p>
            <a:pPr marL="676275" marR="5080" lvl="0" indent="-664210" algn="l" rtl="0">
              <a:lnSpc>
                <a:spcPct val="100000"/>
              </a:lnSpc>
              <a:spcBef>
                <a:spcPts val="0"/>
              </a:spcBef>
              <a:spcAft>
                <a:spcPts val="0"/>
              </a:spcAft>
              <a:buSzPts val="1400"/>
              <a:buNone/>
            </a:pPr>
            <a:r>
              <a:rPr lang="zh-CN" sz="2800"/>
              <a:t>How to update knowledge in  pre-trained models?</a:t>
            </a:r>
            <a:endParaRPr sz="2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1630"/>
        <p:cNvGrpSpPr/>
        <p:nvPr/>
      </p:nvGrpSpPr>
      <p:grpSpPr>
        <a:xfrm>
          <a:off x="0" y="0"/>
          <a:ext cx="0" cy="0"/>
          <a:chOff x="0" y="0"/>
          <a:chExt cx="0" cy="0"/>
        </a:xfrm>
      </p:grpSpPr>
      <p:grpSp>
        <p:nvGrpSpPr>
          <p:cNvPr id="1631" name="Google Shape;1631;p97"/>
          <p:cNvGrpSpPr/>
          <p:nvPr/>
        </p:nvGrpSpPr>
        <p:grpSpPr>
          <a:xfrm>
            <a:off x="517949" y="138445"/>
            <a:ext cx="7531901" cy="4684785"/>
            <a:chOff x="532572" y="126925"/>
            <a:chExt cx="7531901" cy="4684785"/>
          </a:xfrm>
        </p:grpSpPr>
        <p:pic>
          <p:nvPicPr>
            <p:cNvPr id="1632" name="Google Shape;1632;p97"/>
            <p:cNvPicPr preferRelativeResize="0"/>
            <p:nvPr/>
          </p:nvPicPr>
          <p:blipFill rotWithShape="1">
            <a:blip r:embed="rId3">
              <a:alphaModFix/>
            </a:blip>
            <a:srcRect/>
            <a:stretch/>
          </p:blipFill>
          <p:spPr>
            <a:xfrm>
              <a:off x="532572" y="292682"/>
              <a:ext cx="7531901" cy="4519028"/>
            </a:xfrm>
            <a:prstGeom prst="rect">
              <a:avLst/>
            </a:prstGeom>
            <a:noFill/>
            <a:ln>
              <a:noFill/>
            </a:ln>
          </p:spPr>
        </p:pic>
        <p:sp>
          <p:nvSpPr>
            <p:cNvPr id="1633" name="Google Shape;1633;p97"/>
            <p:cNvSpPr/>
            <p:nvPr/>
          </p:nvSpPr>
          <p:spPr>
            <a:xfrm>
              <a:off x="548924" y="126925"/>
              <a:ext cx="3783329" cy="1071880"/>
            </a:xfrm>
            <a:custGeom>
              <a:avLst/>
              <a:gdLst/>
              <a:ahLst/>
              <a:cxnLst/>
              <a:rect l="l" t="t" r="r" b="b"/>
              <a:pathLst>
                <a:path w="3783329" h="1071880" extrusionOk="0">
                  <a:moveTo>
                    <a:pt x="3783299" y="1071299"/>
                  </a:moveTo>
                  <a:lnTo>
                    <a:pt x="0" y="1071299"/>
                  </a:lnTo>
                  <a:lnTo>
                    <a:pt x="0" y="0"/>
                  </a:lnTo>
                  <a:lnTo>
                    <a:pt x="3783299" y="0"/>
                  </a:lnTo>
                  <a:lnTo>
                    <a:pt x="3783299" y="10712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34" name="Google Shape;1634;p97"/>
            <p:cNvSpPr/>
            <p:nvPr/>
          </p:nvSpPr>
          <p:spPr>
            <a:xfrm>
              <a:off x="548924" y="126925"/>
              <a:ext cx="3783329" cy="1071880"/>
            </a:xfrm>
            <a:custGeom>
              <a:avLst/>
              <a:gdLst/>
              <a:ahLst/>
              <a:cxnLst/>
              <a:rect l="l" t="t" r="r" b="b"/>
              <a:pathLst>
                <a:path w="3783329" h="1071880" extrusionOk="0">
                  <a:moveTo>
                    <a:pt x="0" y="0"/>
                  </a:moveTo>
                  <a:lnTo>
                    <a:pt x="3783299" y="0"/>
                  </a:lnTo>
                  <a:lnTo>
                    <a:pt x="3783299" y="1071299"/>
                  </a:lnTo>
                  <a:lnTo>
                    <a:pt x="0" y="10712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635" name="Google Shape;1635;p97"/>
          <p:cNvSpPr txBox="1">
            <a:spLocks noGrp="1"/>
          </p:cNvSpPr>
          <p:nvPr>
            <p:ph type="title"/>
          </p:nvPr>
        </p:nvSpPr>
        <p:spPr>
          <a:xfrm>
            <a:off x="438624" y="290083"/>
            <a:ext cx="2942100" cy="751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sz="2400" b="1">
                <a:latin typeface="Cambria"/>
                <a:ea typeface="Cambria"/>
                <a:cs typeface="Cambria"/>
                <a:sym typeface="Cambria"/>
              </a:rPr>
              <a:t>Edit What, Exactly?</a:t>
            </a:r>
            <a:endParaRPr sz="2400">
              <a:latin typeface="Cambria"/>
              <a:ea typeface="Cambria"/>
              <a:cs typeface="Cambria"/>
              <a:sym typeface="Cambria"/>
            </a:endParaRPr>
          </a:p>
          <a:p>
            <a:pPr marL="12700" lvl="0" indent="0" algn="l" rtl="0">
              <a:lnSpc>
                <a:spcPct val="100000"/>
              </a:lnSpc>
              <a:spcBef>
                <a:spcPts val="0"/>
              </a:spcBef>
              <a:spcAft>
                <a:spcPts val="0"/>
              </a:spcAft>
              <a:buSzPts val="1400"/>
              <a:buNone/>
            </a:pPr>
            <a:r>
              <a:rPr lang="zh-CN" sz="2400"/>
              <a:t>Deﬁning the problem</a:t>
            </a:r>
            <a:endParaRPr sz="2400"/>
          </a:p>
        </p:txBody>
      </p:sp>
      <p:grpSp>
        <p:nvGrpSpPr>
          <p:cNvPr id="1636" name="Google Shape;1636;p97"/>
          <p:cNvGrpSpPr/>
          <p:nvPr/>
        </p:nvGrpSpPr>
        <p:grpSpPr>
          <a:xfrm>
            <a:off x="517949" y="415474"/>
            <a:ext cx="7676225" cy="4286735"/>
            <a:chOff x="517949" y="415474"/>
            <a:chExt cx="7676225" cy="4286735"/>
          </a:xfrm>
        </p:grpSpPr>
        <p:sp>
          <p:nvSpPr>
            <p:cNvPr id="1637" name="Google Shape;1637;p97"/>
            <p:cNvSpPr/>
            <p:nvPr/>
          </p:nvSpPr>
          <p:spPr>
            <a:xfrm>
              <a:off x="4106299" y="4225324"/>
              <a:ext cx="3834765" cy="476885"/>
            </a:xfrm>
            <a:custGeom>
              <a:avLst/>
              <a:gdLst/>
              <a:ahLst/>
              <a:cxnLst/>
              <a:rect l="l" t="t" r="r" b="b"/>
              <a:pathLst>
                <a:path w="3834765" h="476885" extrusionOk="0">
                  <a:moveTo>
                    <a:pt x="3834299" y="476399"/>
                  </a:moveTo>
                  <a:lnTo>
                    <a:pt x="0" y="476399"/>
                  </a:lnTo>
                  <a:lnTo>
                    <a:pt x="0" y="0"/>
                  </a:lnTo>
                  <a:lnTo>
                    <a:pt x="3834299" y="0"/>
                  </a:lnTo>
                  <a:lnTo>
                    <a:pt x="3834299" y="476399"/>
                  </a:lnTo>
                  <a:close/>
                </a:path>
              </a:pathLst>
            </a:custGeom>
            <a:solidFill>
              <a:srgbClr val="E1E1E1"/>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38" name="Google Shape;1638;p97"/>
            <p:cNvSpPr/>
            <p:nvPr/>
          </p:nvSpPr>
          <p:spPr>
            <a:xfrm>
              <a:off x="4106299" y="4225324"/>
              <a:ext cx="3834765" cy="476885"/>
            </a:xfrm>
            <a:custGeom>
              <a:avLst/>
              <a:gdLst/>
              <a:ahLst/>
              <a:cxnLst/>
              <a:rect l="l" t="t" r="r" b="b"/>
              <a:pathLst>
                <a:path w="3834765" h="476885" extrusionOk="0">
                  <a:moveTo>
                    <a:pt x="0" y="0"/>
                  </a:moveTo>
                  <a:lnTo>
                    <a:pt x="3834299" y="0"/>
                  </a:lnTo>
                  <a:lnTo>
                    <a:pt x="3834299" y="476399"/>
                  </a:lnTo>
                  <a:lnTo>
                    <a:pt x="0" y="476399"/>
                  </a:lnTo>
                  <a:lnTo>
                    <a:pt x="0" y="0"/>
                  </a:lnTo>
                  <a:close/>
                </a:path>
              </a:pathLst>
            </a:custGeom>
            <a:noFill/>
            <a:ln w="9525" cap="flat" cmpd="sng">
              <a:solidFill>
                <a:srgbClr val="E1E1E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39" name="Google Shape;1639;p97"/>
            <p:cNvSpPr/>
            <p:nvPr/>
          </p:nvSpPr>
          <p:spPr>
            <a:xfrm>
              <a:off x="1105224" y="1368774"/>
              <a:ext cx="1428750" cy="842010"/>
            </a:xfrm>
            <a:custGeom>
              <a:avLst/>
              <a:gdLst/>
              <a:ahLst/>
              <a:cxnLst/>
              <a:rect l="l" t="t" r="r" b="b"/>
              <a:pathLst>
                <a:path w="1428750" h="842010" extrusionOk="0">
                  <a:moveTo>
                    <a:pt x="1428299" y="841799"/>
                  </a:moveTo>
                  <a:lnTo>
                    <a:pt x="0" y="841799"/>
                  </a:lnTo>
                  <a:lnTo>
                    <a:pt x="0" y="0"/>
                  </a:lnTo>
                  <a:lnTo>
                    <a:pt x="1428299" y="0"/>
                  </a:lnTo>
                  <a:lnTo>
                    <a:pt x="1428299" y="8417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0" name="Google Shape;1640;p97"/>
            <p:cNvSpPr/>
            <p:nvPr/>
          </p:nvSpPr>
          <p:spPr>
            <a:xfrm>
              <a:off x="1105224" y="1368774"/>
              <a:ext cx="1428750" cy="842010"/>
            </a:xfrm>
            <a:custGeom>
              <a:avLst/>
              <a:gdLst/>
              <a:ahLst/>
              <a:cxnLst/>
              <a:rect l="l" t="t" r="r" b="b"/>
              <a:pathLst>
                <a:path w="1428750" h="842010" extrusionOk="0">
                  <a:moveTo>
                    <a:pt x="0" y="0"/>
                  </a:moveTo>
                  <a:lnTo>
                    <a:pt x="1428299" y="0"/>
                  </a:lnTo>
                  <a:lnTo>
                    <a:pt x="1428299" y="841799"/>
                  </a:lnTo>
                  <a:lnTo>
                    <a:pt x="0" y="8417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1" name="Google Shape;1641;p97"/>
            <p:cNvSpPr/>
            <p:nvPr/>
          </p:nvSpPr>
          <p:spPr>
            <a:xfrm>
              <a:off x="2864424" y="23747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2" name="Google Shape;1642;p97"/>
            <p:cNvSpPr/>
            <p:nvPr/>
          </p:nvSpPr>
          <p:spPr>
            <a:xfrm>
              <a:off x="2864424" y="2374774"/>
              <a:ext cx="1428750" cy="923925"/>
            </a:xfrm>
            <a:custGeom>
              <a:avLst/>
              <a:gdLst/>
              <a:ahLst/>
              <a:cxnLst/>
              <a:rect l="l" t="t" r="r" b="b"/>
              <a:pathLst>
                <a:path w="1428750" h="923925" extrusionOk="0">
                  <a:moveTo>
                    <a:pt x="0" y="0"/>
                  </a:moveTo>
                  <a:lnTo>
                    <a:pt x="1428299" y="0"/>
                  </a:lnTo>
                  <a:lnTo>
                    <a:pt x="1428299" y="923399"/>
                  </a:lnTo>
                  <a:lnTo>
                    <a:pt x="0" y="923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3" name="Google Shape;1643;p97"/>
            <p:cNvSpPr/>
            <p:nvPr/>
          </p:nvSpPr>
          <p:spPr>
            <a:xfrm>
              <a:off x="3562200" y="2159424"/>
              <a:ext cx="417195" cy="393700"/>
            </a:xfrm>
            <a:custGeom>
              <a:avLst/>
              <a:gdLst/>
              <a:ahLst/>
              <a:cxnLst/>
              <a:rect l="l" t="t" r="r" b="b"/>
              <a:pathLst>
                <a:path w="417195" h="393700" extrusionOk="0">
                  <a:moveTo>
                    <a:pt x="416699" y="393599"/>
                  </a:moveTo>
                  <a:lnTo>
                    <a:pt x="0" y="393599"/>
                  </a:lnTo>
                  <a:lnTo>
                    <a:pt x="0" y="0"/>
                  </a:lnTo>
                  <a:lnTo>
                    <a:pt x="416699" y="0"/>
                  </a:lnTo>
                  <a:lnTo>
                    <a:pt x="416699" y="393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4" name="Google Shape;1644;p97"/>
            <p:cNvSpPr/>
            <p:nvPr/>
          </p:nvSpPr>
          <p:spPr>
            <a:xfrm>
              <a:off x="3562200" y="2159424"/>
              <a:ext cx="417195" cy="393700"/>
            </a:xfrm>
            <a:custGeom>
              <a:avLst/>
              <a:gdLst/>
              <a:ahLst/>
              <a:cxnLst/>
              <a:rect l="l" t="t" r="r" b="b"/>
              <a:pathLst>
                <a:path w="417195" h="393700" extrusionOk="0">
                  <a:moveTo>
                    <a:pt x="0" y="0"/>
                  </a:moveTo>
                  <a:lnTo>
                    <a:pt x="416699" y="0"/>
                  </a:lnTo>
                  <a:lnTo>
                    <a:pt x="416699" y="393599"/>
                  </a:lnTo>
                  <a:lnTo>
                    <a:pt x="0" y="393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5" name="Google Shape;1645;p97"/>
            <p:cNvSpPr/>
            <p:nvPr/>
          </p:nvSpPr>
          <p:spPr>
            <a:xfrm>
              <a:off x="5193249" y="3434674"/>
              <a:ext cx="2390140" cy="586104"/>
            </a:xfrm>
            <a:custGeom>
              <a:avLst/>
              <a:gdLst/>
              <a:ahLst/>
              <a:cxnLst/>
              <a:rect l="l" t="t" r="r" b="b"/>
              <a:pathLst>
                <a:path w="2390140" h="586104" extrusionOk="0">
                  <a:moveTo>
                    <a:pt x="2390099" y="585599"/>
                  </a:moveTo>
                  <a:lnTo>
                    <a:pt x="0" y="585599"/>
                  </a:lnTo>
                  <a:lnTo>
                    <a:pt x="0" y="0"/>
                  </a:lnTo>
                  <a:lnTo>
                    <a:pt x="2390099" y="0"/>
                  </a:lnTo>
                  <a:lnTo>
                    <a:pt x="23900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6" name="Google Shape;1646;p97"/>
            <p:cNvSpPr/>
            <p:nvPr/>
          </p:nvSpPr>
          <p:spPr>
            <a:xfrm>
              <a:off x="5193249" y="3434674"/>
              <a:ext cx="2390140" cy="586104"/>
            </a:xfrm>
            <a:custGeom>
              <a:avLst/>
              <a:gdLst/>
              <a:ahLst/>
              <a:cxnLst/>
              <a:rect l="l" t="t" r="r" b="b"/>
              <a:pathLst>
                <a:path w="2390140" h="586104" extrusionOk="0">
                  <a:moveTo>
                    <a:pt x="0" y="0"/>
                  </a:moveTo>
                  <a:lnTo>
                    <a:pt x="2390099" y="0"/>
                  </a:lnTo>
                  <a:lnTo>
                    <a:pt x="23900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7" name="Google Shape;1647;p97"/>
            <p:cNvSpPr/>
            <p:nvPr/>
          </p:nvSpPr>
          <p:spPr>
            <a:xfrm>
              <a:off x="6263824" y="3366024"/>
              <a:ext cx="1056004" cy="586104"/>
            </a:xfrm>
            <a:custGeom>
              <a:avLst/>
              <a:gdLst/>
              <a:ahLst/>
              <a:cxnLst/>
              <a:rect l="l" t="t" r="r" b="b"/>
              <a:pathLst>
                <a:path w="1056004" h="586104" extrusionOk="0">
                  <a:moveTo>
                    <a:pt x="1055999" y="585599"/>
                  </a:moveTo>
                  <a:lnTo>
                    <a:pt x="0" y="585599"/>
                  </a:lnTo>
                  <a:lnTo>
                    <a:pt x="0" y="0"/>
                  </a:lnTo>
                  <a:lnTo>
                    <a:pt x="1055999" y="0"/>
                  </a:lnTo>
                  <a:lnTo>
                    <a:pt x="10559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8" name="Google Shape;1648;p97"/>
            <p:cNvSpPr/>
            <p:nvPr/>
          </p:nvSpPr>
          <p:spPr>
            <a:xfrm>
              <a:off x="6263824" y="3366024"/>
              <a:ext cx="1056004" cy="586104"/>
            </a:xfrm>
            <a:custGeom>
              <a:avLst/>
              <a:gdLst/>
              <a:ahLst/>
              <a:cxnLst/>
              <a:rect l="l" t="t" r="r" b="b"/>
              <a:pathLst>
                <a:path w="1056004" h="586104" extrusionOk="0">
                  <a:moveTo>
                    <a:pt x="0" y="0"/>
                  </a:moveTo>
                  <a:lnTo>
                    <a:pt x="1055999" y="0"/>
                  </a:lnTo>
                  <a:lnTo>
                    <a:pt x="10559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49" name="Google Shape;1649;p97"/>
            <p:cNvSpPr/>
            <p:nvPr/>
          </p:nvSpPr>
          <p:spPr>
            <a:xfrm>
              <a:off x="2652524" y="1666324"/>
              <a:ext cx="204469" cy="289560"/>
            </a:xfrm>
            <a:custGeom>
              <a:avLst/>
              <a:gdLst/>
              <a:ahLst/>
              <a:cxnLst/>
              <a:rect l="l" t="t" r="r" b="b"/>
              <a:pathLst>
                <a:path w="204469" h="289560" extrusionOk="0">
                  <a:moveTo>
                    <a:pt x="203999" y="289199"/>
                  </a:moveTo>
                  <a:lnTo>
                    <a:pt x="0" y="289199"/>
                  </a:lnTo>
                  <a:lnTo>
                    <a:pt x="0" y="0"/>
                  </a:lnTo>
                  <a:lnTo>
                    <a:pt x="203999" y="0"/>
                  </a:lnTo>
                  <a:lnTo>
                    <a:pt x="203999" y="28919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0" name="Google Shape;1650;p97"/>
            <p:cNvSpPr/>
            <p:nvPr/>
          </p:nvSpPr>
          <p:spPr>
            <a:xfrm>
              <a:off x="2652524" y="1666324"/>
              <a:ext cx="204469" cy="289560"/>
            </a:xfrm>
            <a:custGeom>
              <a:avLst/>
              <a:gdLst/>
              <a:ahLst/>
              <a:cxnLst/>
              <a:rect l="l" t="t" r="r" b="b"/>
              <a:pathLst>
                <a:path w="204469" h="289560" extrusionOk="0">
                  <a:moveTo>
                    <a:pt x="0" y="0"/>
                  </a:moveTo>
                  <a:lnTo>
                    <a:pt x="203999" y="0"/>
                  </a:lnTo>
                  <a:lnTo>
                    <a:pt x="203999" y="289199"/>
                  </a:lnTo>
                  <a:lnTo>
                    <a:pt x="0" y="289199"/>
                  </a:lnTo>
                  <a:lnTo>
                    <a:pt x="0" y="0"/>
                  </a:lnTo>
                  <a:close/>
                </a:path>
              </a:pathLst>
            </a:custGeom>
            <a:noFill/>
            <a:ln w="9525" cap="flat" cmpd="sng">
              <a:solidFill>
                <a:srgbClr val="DCE7DA"/>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1" name="Google Shape;1651;p97"/>
            <p:cNvSpPr/>
            <p:nvPr/>
          </p:nvSpPr>
          <p:spPr>
            <a:xfrm>
              <a:off x="517949" y="29528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2" name="Google Shape;1652;p97"/>
            <p:cNvSpPr/>
            <p:nvPr/>
          </p:nvSpPr>
          <p:spPr>
            <a:xfrm>
              <a:off x="517949" y="415474"/>
              <a:ext cx="6369050" cy="3461385"/>
            </a:xfrm>
            <a:custGeom>
              <a:avLst/>
              <a:gdLst/>
              <a:ahLst/>
              <a:cxnLst/>
              <a:rect l="l" t="t" r="r" b="b"/>
              <a:pathLst>
                <a:path w="6369050" h="3461385" extrusionOk="0">
                  <a:moveTo>
                    <a:pt x="0" y="2537399"/>
                  </a:moveTo>
                  <a:lnTo>
                    <a:pt x="1428299" y="2537399"/>
                  </a:lnTo>
                  <a:lnTo>
                    <a:pt x="1428299" y="3460799"/>
                  </a:lnTo>
                  <a:lnTo>
                    <a:pt x="0" y="3460799"/>
                  </a:lnTo>
                  <a:lnTo>
                    <a:pt x="0" y="2537399"/>
                  </a:lnTo>
                  <a:close/>
                </a:path>
                <a:path w="6369050" h="3461385" extrusionOk="0">
                  <a:moveTo>
                    <a:pt x="4242924" y="0"/>
                  </a:moveTo>
                  <a:lnTo>
                    <a:pt x="6368424" y="0"/>
                  </a:lnTo>
                  <a:lnTo>
                    <a:pt x="6368424" y="923399"/>
                  </a:lnTo>
                  <a:lnTo>
                    <a:pt x="4242924" y="923399"/>
                  </a:lnTo>
                  <a:lnTo>
                    <a:pt x="4242924"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3" name="Google Shape;1653;p97"/>
            <p:cNvSpPr/>
            <p:nvPr/>
          </p:nvSpPr>
          <p:spPr>
            <a:xfrm>
              <a:off x="6765424" y="13279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4" name="Google Shape;1654;p97"/>
            <p:cNvSpPr/>
            <p:nvPr/>
          </p:nvSpPr>
          <p:spPr>
            <a:xfrm>
              <a:off x="6765424" y="1327974"/>
              <a:ext cx="1428750" cy="923925"/>
            </a:xfrm>
            <a:custGeom>
              <a:avLst/>
              <a:gdLst/>
              <a:ahLst/>
              <a:cxnLst/>
              <a:rect l="l" t="t" r="r" b="b"/>
              <a:pathLst>
                <a:path w="1428750" h="923925" extrusionOk="0">
                  <a:moveTo>
                    <a:pt x="0" y="0"/>
                  </a:moveTo>
                  <a:lnTo>
                    <a:pt x="1428299" y="0"/>
                  </a:lnTo>
                  <a:lnTo>
                    <a:pt x="1428299" y="923399"/>
                  </a:lnTo>
                  <a:lnTo>
                    <a:pt x="0" y="923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5" name="Google Shape;1655;p97"/>
            <p:cNvSpPr/>
            <p:nvPr/>
          </p:nvSpPr>
          <p:spPr>
            <a:xfrm>
              <a:off x="4292724" y="1555824"/>
              <a:ext cx="1428750" cy="400050"/>
            </a:xfrm>
            <a:custGeom>
              <a:avLst/>
              <a:gdLst/>
              <a:ahLst/>
              <a:cxnLst/>
              <a:rect l="l" t="t" r="r" b="b"/>
              <a:pathLst>
                <a:path w="1428750" h="400050" extrusionOk="0">
                  <a:moveTo>
                    <a:pt x="1428299" y="399599"/>
                  </a:moveTo>
                  <a:lnTo>
                    <a:pt x="0" y="399599"/>
                  </a:lnTo>
                  <a:lnTo>
                    <a:pt x="0" y="0"/>
                  </a:lnTo>
                  <a:lnTo>
                    <a:pt x="1428299" y="0"/>
                  </a:lnTo>
                  <a:lnTo>
                    <a:pt x="1428299" y="39959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6" name="Google Shape;1656;p97"/>
            <p:cNvSpPr/>
            <p:nvPr/>
          </p:nvSpPr>
          <p:spPr>
            <a:xfrm>
              <a:off x="4292724" y="1555824"/>
              <a:ext cx="1428750" cy="400050"/>
            </a:xfrm>
            <a:custGeom>
              <a:avLst/>
              <a:gdLst/>
              <a:ahLst/>
              <a:cxnLst/>
              <a:rect l="l" t="t" r="r" b="b"/>
              <a:pathLst>
                <a:path w="1428750" h="400050" extrusionOk="0">
                  <a:moveTo>
                    <a:pt x="0" y="0"/>
                  </a:moveTo>
                  <a:lnTo>
                    <a:pt x="1428299" y="0"/>
                  </a:lnTo>
                  <a:lnTo>
                    <a:pt x="1428299" y="399599"/>
                  </a:lnTo>
                  <a:lnTo>
                    <a:pt x="0" y="399599"/>
                  </a:lnTo>
                  <a:lnTo>
                    <a:pt x="0" y="0"/>
                  </a:lnTo>
                  <a:close/>
                </a:path>
              </a:pathLst>
            </a:custGeom>
            <a:noFill/>
            <a:ln w="9525" cap="flat" cmpd="sng">
              <a:solidFill>
                <a:srgbClr val="DCE7DA"/>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7" name="Google Shape;1657;p97"/>
            <p:cNvSpPr/>
            <p:nvPr/>
          </p:nvSpPr>
          <p:spPr>
            <a:xfrm>
              <a:off x="4760875" y="1725224"/>
              <a:ext cx="663575" cy="400050"/>
            </a:xfrm>
            <a:custGeom>
              <a:avLst/>
              <a:gdLst/>
              <a:ahLst/>
              <a:cxnLst/>
              <a:rect l="l" t="t" r="r" b="b"/>
              <a:pathLst>
                <a:path w="663575" h="400050" extrusionOk="0">
                  <a:moveTo>
                    <a:pt x="663299" y="399599"/>
                  </a:moveTo>
                  <a:lnTo>
                    <a:pt x="0" y="399599"/>
                  </a:lnTo>
                  <a:lnTo>
                    <a:pt x="0" y="0"/>
                  </a:lnTo>
                  <a:lnTo>
                    <a:pt x="663299" y="0"/>
                  </a:lnTo>
                  <a:lnTo>
                    <a:pt x="663299" y="39959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58" name="Google Shape;1658;p97"/>
            <p:cNvSpPr/>
            <p:nvPr/>
          </p:nvSpPr>
          <p:spPr>
            <a:xfrm>
              <a:off x="4760875" y="1725224"/>
              <a:ext cx="663575" cy="400050"/>
            </a:xfrm>
            <a:custGeom>
              <a:avLst/>
              <a:gdLst/>
              <a:ahLst/>
              <a:cxnLst/>
              <a:rect l="l" t="t" r="r" b="b"/>
              <a:pathLst>
                <a:path w="663575" h="400050" extrusionOk="0">
                  <a:moveTo>
                    <a:pt x="0" y="0"/>
                  </a:moveTo>
                  <a:lnTo>
                    <a:pt x="663299" y="0"/>
                  </a:lnTo>
                  <a:lnTo>
                    <a:pt x="663299" y="399599"/>
                  </a:lnTo>
                  <a:lnTo>
                    <a:pt x="0" y="399599"/>
                  </a:lnTo>
                  <a:lnTo>
                    <a:pt x="0" y="0"/>
                  </a:lnTo>
                  <a:close/>
                </a:path>
              </a:pathLst>
            </a:custGeom>
            <a:noFill/>
            <a:ln w="9525" cap="flat" cmpd="sng">
              <a:solidFill>
                <a:srgbClr val="DCE7DA"/>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659" name="Google Shape;1659;p97"/>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62</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660" name="Google Shape;1660;p97"/>
          <p:cNvSpPr/>
          <p:nvPr/>
        </p:nvSpPr>
        <p:spPr>
          <a:xfrm>
            <a:off x="4953000" y="593005"/>
            <a:ext cx="2514600" cy="5439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61" name="Google Shape;1661;p97"/>
          <p:cNvSpPr txBox="1"/>
          <p:nvPr/>
        </p:nvSpPr>
        <p:spPr>
          <a:xfrm>
            <a:off x="5257800" y="2724150"/>
            <a:ext cx="1732200" cy="646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Calibri"/>
                <a:ea typeface="Calibri"/>
                <a:cs typeface="Calibri"/>
                <a:sym typeface="Calibri"/>
              </a:rPr>
              <a:t>True answer: Boris Johnson</a:t>
            </a:r>
            <a:endParaRPr kumimoji="0" sz="1800" b="0" i="0" u="none" strike="noStrike" kern="0" cap="none" spc="0" normalizeH="0" baseline="0" noProof="0">
              <a:ln>
                <a:noFill/>
              </a:ln>
              <a:solidFill>
                <a:srgbClr val="FF0000"/>
              </a:solidFill>
              <a:effectLst/>
              <a:uLnTx/>
              <a:uFillTx/>
              <a:latin typeface="Calibri"/>
              <a:ea typeface="Calibri"/>
              <a:cs typeface="Calibri"/>
              <a:sym typeface="Calibri"/>
            </a:endParaRPr>
          </a:p>
        </p:txBody>
      </p:sp>
      <p:sp>
        <p:nvSpPr>
          <p:cNvPr id="1662" name="Google Shape;1662;p97"/>
          <p:cNvSpPr txBox="1"/>
          <p:nvPr/>
        </p:nvSpPr>
        <p:spPr>
          <a:xfrm>
            <a:off x="76200" y="4901869"/>
            <a:ext cx="70899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https://web.stanford.edu/class/cs224n/slides/cs224n-2022-lecture-editing.pdf</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1666"/>
        <p:cNvGrpSpPr/>
        <p:nvPr/>
      </p:nvGrpSpPr>
      <p:grpSpPr>
        <a:xfrm>
          <a:off x="0" y="0"/>
          <a:ext cx="0" cy="0"/>
          <a:chOff x="0" y="0"/>
          <a:chExt cx="0" cy="0"/>
        </a:xfrm>
      </p:grpSpPr>
      <p:grpSp>
        <p:nvGrpSpPr>
          <p:cNvPr id="1667" name="Google Shape;1667;p98"/>
          <p:cNvGrpSpPr/>
          <p:nvPr/>
        </p:nvGrpSpPr>
        <p:grpSpPr>
          <a:xfrm>
            <a:off x="532572" y="126925"/>
            <a:ext cx="7531901" cy="4684785"/>
            <a:chOff x="532572" y="126925"/>
            <a:chExt cx="7531901" cy="4684785"/>
          </a:xfrm>
        </p:grpSpPr>
        <p:pic>
          <p:nvPicPr>
            <p:cNvPr id="1668" name="Google Shape;1668;p98"/>
            <p:cNvPicPr preferRelativeResize="0"/>
            <p:nvPr/>
          </p:nvPicPr>
          <p:blipFill rotWithShape="1">
            <a:blip r:embed="rId3">
              <a:alphaModFix/>
            </a:blip>
            <a:srcRect/>
            <a:stretch/>
          </p:blipFill>
          <p:spPr>
            <a:xfrm>
              <a:off x="532572" y="292682"/>
              <a:ext cx="7531901" cy="4519028"/>
            </a:xfrm>
            <a:prstGeom prst="rect">
              <a:avLst/>
            </a:prstGeom>
            <a:noFill/>
            <a:ln>
              <a:noFill/>
            </a:ln>
          </p:spPr>
        </p:pic>
        <p:sp>
          <p:nvSpPr>
            <p:cNvPr id="1669" name="Google Shape;1669;p98"/>
            <p:cNvSpPr/>
            <p:nvPr/>
          </p:nvSpPr>
          <p:spPr>
            <a:xfrm>
              <a:off x="548924" y="126925"/>
              <a:ext cx="3783329" cy="1071880"/>
            </a:xfrm>
            <a:custGeom>
              <a:avLst/>
              <a:gdLst/>
              <a:ahLst/>
              <a:cxnLst/>
              <a:rect l="l" t="t" r="r" b="b"/>
              <a:pathLst>
                <a:path w="3783329" h="1071880" extrusionOk="0">
                  <a:moveTo>
                    <a:pt x="3783299" y="1071299"/>
                  </a:moveTo>
                  <a:lnTo>
                    <a:pt x="0" y="1071299"/>
                  </a:lnTo>
                  <a:lnTo>
                    <a:pt x="0" y="0"/>
                  </a:lnTo>
                  <a:lnTo>
                    <a:pt x="3783299" y="0"/>
                  </a:lnTo>
                  <a:lnTo>
                    <a:pt x="3783299" y="10712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0" name="Google Shape;1670;p98"/>
            <p:cNvSpPr/>
            <p:nvPr/>
          </p:nvSpPr>
          <p:spPr>
            <a:xfrm>
              <a:off x="548924" y="126925"/>
              <a:ext cx="3783329" cy="1071880"/>
            </a:xfrm>
            <a:custGeom>
              <a:avLst/>
              <a:gdLst/>
              <a:ahLst/>
              <a:cxnLst/>
              <a:rect l="l" t="t" r="r" b="b"/>
              <a:pathLst>
                <a:path w="3783329" h="1071880" extrusionOk="0">
                  <a:moveTo>
                    <a:pt x="0" y="0"/>
                  </a:moveTo>
                  <a:lnTo>
                    <a:pt x="3783299" y="0"/>
                  </a:lnTo>
                  <a:lnTo>
                    <a:pt x="3783299" y="1071299"/>
                  </a:lnTo>
                  <a:lnTo>
                    <a:pt x="0" y="10712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671" name="Google Shape;1671;p98"/>
          <p:cNvSpPr txBox="1">
            <a:spLocks noGrp="1"/>
          </p:cNvSpPr>
          <p:nvPr>
            <p:ph type="title"/>
          </p:nvPr>
        </p:nvSpPr>
        <p:spPr>
          <a:xfrm>
            <a:off x="438624" y="290083"/>
            <a:ext cx="2942100" cy="751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sz="2400" b="1">
                <a:latin typeface="Cambria"/>
                <a:ea typeface="Cambria"/>
                <a:cs typeface="Cambria"/>
                <a:sym typeface="Cambria"/>
              </a:rPr>
              <a:t>Edit What, Exactly?</a:t>
            </a:r>
            <a:endParaRPr sz="2400">
              <a:latin typeface="Cambria"/>
              <a:ea typeface="Cambria"/>
              <a:cs typeface="Cambria"/>
              <a:sym typeface="Cambria"/>
            </a:endParaRPr>
          </a:p>
          <a:p>
            <a:pPr marL="12700" lvl="0" indent="0" algn="l" rtl="0">
              <a:lnSpc>
                <a:spcPct val="100000"/>
              </a:lnSpc>
              <a:spcBef>
                <a:spcPts val="0"/>
              </a:spcBef>
              <a:spcAft>
                <a:spcPts val="0"/>
              </a:spcAft>
              <a:buSzPts val="1400"/>
              <a:buNone/>
            </a:pPr>
            <a:r>
              <a:rPr lang="zh-CN" sz="2400"/>
              <a:t>Deﬁning the problem</a:t>
            </a:r>
            <a:endParaRPr sz="2400"/>
          </a:p>
        </p:txBody>
      </p:sp>
      <p:grpSp>
        <p:nvGrpSpPr>
          <p:cNvPr id="1672" name="Google Shape;1672;p98"/>
          <p:cNvGrpSpPr/>
          <p:nvPr/>
        </p:nvGrpSpPr>
        <p:grpSpPr>
          <a:xfrm>
            <a:off x="517949" y="415474"/>
            <a:ext cx="7676225" cy="4286735"/>
            <a:chOff x="517949" y="415474"/>
            <a:chExt cx="7676225" cy="4286735"/>
          </a:xfrm>
        </p:grpSpPr>
        <p:sp>
          <p:nvSpPr>
            <p:cNvPr id="1673" name="Google Shape;1673;p98"/>
            <p:cNvSpPr/>
            <p:nvPr/>
          </p:nvSpPr>
          <p:spPr>
            <a:xfrm>
              <a:off x="4998974" y="4225324"/>
              <a:ext cx="2941954" cy="476885"/>
            </a:xfrm>
            <a:custGeom>
              <a:avLst/>
              <a:gdLst/>
              <a:ahLst/>
              <a:cxnLst/>
              <a:rect l="l" t="t" r="r" b="b"/>
              <a:pathLst>
                <a:path w="2941954" h="476885" extrusionOk="0">
                  <a:moveTo>
                    <a:pt x="2941499" y="476399"/>
                  </a:moveTo>
                  <a:lnTo>
                    <a:pt x="0" y="476399"/>
                  </a:lnTo>
                  <a:lnTo>
                    <a:pt x="0" y="0"/>
                  </a:lnTo>
                  <a:lnTo>
                    <a:pt x="2941499" y="0"/>
                  </a:lnTo>
                  <a:lnTo>
                    <a:pt x="2941499" y="476399"/>
                  </a:lnTo>
                  <a:close/>
                </a:path>
              </a:pathLst>
            </a:custGeom>
            <a:solidFill>
              <a:srgbClr val="E1E1E1"/>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4" name="Google Shape;1674;p98"/>
            <p:cNvSpPr/>
            <p:nvPr/>
          </p:nvSpPr>
          <p:spPr>
            <a:xfrm>
              <a:off x="4998974" y="4225324"/>
              <a:ext cx="2941954" cy="476885"/>
            </a:xfrm>
            <a:custGeom>
              <a:avLst/>
              <a:gdLst/>
              <a:ahLst/>
              <a:cxnLst/>
              <a:rect l="l" t="t" r="r" b="b"/>
              <a:pathLst>
                <a:path w="2941954" h="476885" extrusionOk="0">
                  <a:moveTo>
                    <a:pt x="0" y="0"/>
                  </a:moveTo>
                  <a:lnTo>
                    <a:pt x="2941499" y="0"/>
                  </a:lnTo>
                  <a:lnTo>
                    <a:pt x="2941499" y="476399"/>
                  </a:lnTo>
                  <a:lnTo>
                    <a:pt x="0" y="476399"/>
                  </a:lnTo>
                  <a:lnTo>
                    <a:pt x="0" y="0"/>
                  </a:lnTo>
                  <a:close/>
                </a:path>
              </a:pathLst>
            </a:custGeom>
            <a:noFill/>
            <a:ln w="9525" cap="flat" cmpd="sng">
              <a:solidFill>
                <a:srgbClr val="E1E1E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5" name="Google Shape;1675;p98"/>
            <p:cNvSpPr/>
            <p:nvPr/>
          </p:nvSpPr>
          <p:spPr>
            <a:xfrm>
              <a:off x="1105224" y="1368774"/>
              <a:ext cx="1428750" cy="842010"/>
            </a:xfrm>
            <a:custGeom>
              <a:avLst/>
              <a:gdLst/>
              <a:ahLst/>
              <a:cxnLst/>
              <a:rect l="l" t="t" r="r" b="b"/>
              <a:pathLst>
                <a:path w="1428750" h="842010" extrusionOk="0">
                  <a:moveTo>
                    <a:pt x="1428299" y="841799"/>
                  </a:moveTo>
                  <a:lnTo>
                    <a:pt x="0" y="841799"/>
                  </a:lnTo>
                  <a:lnTo>
                    <a:pt x="0" y="0"/>
                  </a:lnTo>
                  <a:lnTo>
                    <a:pt x="1428299" y="0"/>
                  </a:lnTo>
                  <a:lnTo>
                    <a:pt x="1428299" y="8417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6" name="Google Shape;1676;p98"/>
            <p:cNvSpPr/>
            <p:nvPr/>
          </p:nvSpPr>
          <p:spPr>
            <a:xfrm>
              <a:off x="1105224" y="1368774"/>
              <a:ext cx="1428750" cy="842010"/>
            </a:xfrm>
            <a:custGeom>
              <a:avLst/>
              <a:gdLst/>
              <a:ahLst/>
              <a:cxnLst/>
              <a:rect l="l" t="t" r="r" b="b"/>
              <a:pathLst>
                <a:path w="1428750" h="842010" extrusionOk="0">
                  <a:moveTo>
                    <a:pt x="0" y="0"/>
                  </a:moveTo>
                  <a:lnTo>
                    <a:pt x="1428299" y="0"/>
                  </a:lnTo>
                  <a:lnTo>
                    <a:pt x="1428299" y="841799"/>
                  </a:lnTo>
                  <a:lnTo>
                    <a:pt x="0" y="8417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7" name="Google Shape;1677;p98"/>
            <p:cNvSpPr/>
            <p:nvPr/>
          </p:nvSpPr>
          <p:spPr>
            <a:xfrm>
              <a:off x="2864424" y="23747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8" name="Google Shape;1678;p98"/>
            <p:cNvSpPr/>
            <p:nvPr/>
          </p:nvSpPr>
          <p:spPr>
            <a:xfrm>
              <a:off x="2864424" y="2374774"/>
              <a:ext cx="1428750" cy="923925"/>
            </a:xfrm>
            <a:custGeom>
              <a:avLst/>
              <a:gdLst/>
              <a:ahLst/>
              <a:cxnLst/>
              <a:rect l="l" t="t" r="r" b="b"/>
              <a:pathLst>
                <a:path w="1428750" h="923925" extrusionOk="0">
                  <a:moveTo>
                    <a:pt x="0" y="0"/>
                  </a:moveTo>
                  <a:lnTo>
                    <a:pt x="1428299" y="0"/>
                  </a:lnTo>
                  <a:lnTo>
                    <a:pt x="1428299" y="923399"/>
                  </a:lnTo>
                  <a:lnTo>
                    <a:pt x="0" y="923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79" name="Google Shape;1679;p98"/>
            <p:cNvSpPr/>
            <p:nvPr/>
          </p:nvSpPr>
          <p:spPr>
            <a:xfrm>
              <a:off x="3562200" y="2159424"/>
              <a:ext cx="417195" cy="393700"/>
            </a:xfrm>
            <a:custGeom>
              <a:avLst/>
              <a:gdLst/>
              <a:ahLst/>
              <a:cxnLst/>
              <a:rect l="l" t="t" r="r" b="b"/>
              <a:pathLst>
                <a:path w="417195" h="393700" extrusionOk="0">
                  <a:moveTo>
                    <a:pt x="416699" y="393599"/>
                  </a:moveTo>
                  <a:lnTo>
                    <a:pt x="0" y="393599"/>
                  </a:lnTo>
                  <a:lnTo>
                    <a:pt x="0" y="0"/>
                  </a:lnTo>
                  <a:lnTo>
                    <a:pt x="416699" y="0"/>
                  </a:lnTo>
                  <a:lnTo>
                    <a:pt x="416699" y="393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0" name="Google Shape;1680;p98"/>
            <p:cNvSpPr/>
            <p:nvPr/>
          </p:nvSpPr>
          <p:spPr>
            <a:xfrm>
              <a:off x="3562200" y="2159424"/>
              <a:ext cx="417195" cy="393700"/>
            </a:xfrm>
            <a:custGeom>
              <a:avLst/>
              <a:gdLst/>
              <a:ahLst/>
              <a:cxnLst/>
              <a:rect l="l" t="t" r="r" b="b"/>
              <a:pathLst>
                <a:path w="417195" h="393700" extrusionOk="0">
                  <a:moveTo>
                    <a:pt x="0" y="0"/>
                  </a:moveTo>
                  <a:lnTo>
                    <a:pt x="416699" y="0"/>
                  </a:lnTo>
                  <a:lnTo>
                    <a:pt x="416699" y="393599"/>
                  </a:lnTo>
                  <a:lnTo>
                    <a:pt x="0" y="393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1" name="Google Shape;1681;p98"/>
            <p:cNvSpPr/>
            <p:nvPr/>
          </p:nvSpPr>
          <p:spPr>
            <a:xfrm>
              <a:off x="5193249" y="3434674"/>
              <a:ext cx="2390140" cy="586104"/>
            </a:xfrm>
            <a:custGeom>
              <a:avLst/>
              <a:gdLst/>
              <a:ahLst/>
              <a:cxnLst/>
              <a:rect l="l" t="t" r="r" b="b"/>
              <a:pathLst>
                <a:path w="2390140" h="586104" extrusionOk="0">
                  <a:moveTo>
                    <a:pt x="2390099" y="585599"/>
                  </a:moveTo>
                  <a:lnTo>
                    <a:pt x="0" y="585599"/>
                  </a:lnTo>
                  <a:lnTo>
                    <a:pt x="0" y="0"/>
                  </a:lnTo>
                  <a:lnTo>
                    <a:pt x="2390099" y="0"/>
                  </a:lnTo>
                  <a:lnTo>
                    <a:pt x="23900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2" name="Google Shape;1682;p98"/>
            <p:cNvSpPr/>
            <p:nvPr/>
          </p:nvSpPr>
          <p:spPr>
            <a:xfrm>
              <a:off x="5193249" y="3434674"/>
              <a:ext cx="2390140" cy="586104"/>
            </a:xfrm>
            <a:custGeom>
              <a:avLst/>
              <a:gdLst/>
              <a:ahLst/>
              <a:cxnLst/>
              <a:rect l="l" t="t" r="r" b="b"/>
              <a:pathLst>
                <a:path w="2390140" h="586104" extrusionOk="0">
                  <a:moveTo>
                    <a:pt x="0" y="0"/>
                  </a:moveTo>
                  <a:lnTo>
                    <a:pt x="2390099" y="0"/>
                  </a:lnTo>
                  <a:lnTo>
                    <a:pt x="23900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3" name="Google Shape;1683;p98"/>
            <p:cNvSpPr/>
            <p:nvPr/>
          </p:nvSpPr>
          <p:spPr>
            <a:xfrm>
              <a:off x="6263824" y="3366024"/>
              <a:ext cx="1056004" cy="586104"/>
            </a:xfrm>
            <a:custGeom>
              <a:avLst/>
              <a:gdLst/>
              <a:ahLst/>
              <a:cxnLst/>
              <a:rect l="l" t="t" r="r" b="b"/>
              <a:pathLst>
                <a:path w="1056004" h="586104" extrusionOk="0">
                  <a:moveTo>
                    <a:pt x="1055999" y="585599"/>
                  </a:moveTo>
                  <a:lnTo>
                    <a:pt x="0" y="585599"/>
                  </a:lnTo>
                  <a:lnTo>
                    <a:pt x="0" y="0"/>
                  </a:lnTo>
                  <a:lnTo>
                    <a:pt x="1055999" y="0"/>
                  </a:lnTo>
                  <a:lnTo>
                    <a:pt x="10559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4" name="Google Shape;1684;p98"/>
            <p:cNvSpPr/>
            <p:nvPr/>
          </p:nvSpPr>
          <p:spPr>
            <a:xfrm>
              <a:off x="6263824" y="3366024"/>
              <a:ext cx="1056004" cy="586104"/>
            </a:xfrm>
            <a:custGeom>
              <a:avLst/>
              <a:gdLst/>
              <a:ahLst/>
              <a:cxnLst/>
              <a:rect l="l" t="t" r="r" b="b"/>
              <a:pathLst>
                <a:path w="1056004" h="586104" extrusionOk="0">
                  <a:moveTo>
                    <a:pt x="0" y="0"/>
                  </a:moveTo>
                  <a:lnTo>
                    <a:pt x="1055999" y="0"/>
                  </a:lnTo>
                  <a:lnTo>
                    <a:pt x="10559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5" name="Google Shape;1685;p98"/>
            <p:cNvSpPr/>
            <p:nvPr/>
          </p:nvSpPr>
          <p:spPr>
            <a:xfrm>
              <a:off x="2652524" y="1666324"/>
              <a:ext cx="204469" cy="289560"/>
            </a:xfrm>
            <a:custGeom>
              <a:avLst/>
              <a:gdLst/>
              <a:ahLst/>
              <a:cxnLst/>
              <a:rect l="l" t="t" r="r" b="b"/>
              <a:pathLst>
                <a:path w="204469" h="289560" extrusionOk="0">
                  <a:moveTo>
                    <a:pt x="203999" y="289199"/>
                  </a:moveTo>
                  <a:lnTo>
                    <a:pt x="0" y="289199"/>
                  </a:lnTo>
                  <a:lnTo>
                    <a:pt x="0" y="0"/>
                  </a:lnTo>
                  <a:lnTo>
                    <a:pt x="203999" y="0"/>
                  </a:lnTo>
                  <a:lnTo>
                    <a:pt x="203999" y="28919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6" name="Google Shape;1686;p98"/>
            <p:cNvSpPr/>
            <p:nvPr/>
          </p:nvSpPr>
          <p:spPr>
            <a:xfrm>
              <a:off x="2652524" y="1666324"/>
              <a:ext cx="204469" cy="289560"/>
            </a:xfrm>
            <a:custGeom>
              <a:avLst/>
              <a:gdLst/>
              <a:ahLst/>
              <a:cxnLst/>
              <a:rect l="l" t="t" r="r" b="b"/>
              <a:pathLst>
                <a:path w="204469" h="289560" extrusionOk="0">
                  <a:moveTo>
                    <a:pt x="0" y="0"/>
                  </a:moveTo>
                  <a:lnTo>
                    <a:pt x="203999" y="0"/>
                  </a:lnTo>
                  <a:lnTo>
                    <a:pt x="203999" y="289199"/>
                  </a:lnTo>
                  <a:lnTo>
                    <a:pt x="0" y="289199"/>
                  </a:lnTo>
                  <a:lnTo>
                    <a:pt x="0" y="0"/>
                  </a:lnTo>
                  <a:close/>
                </a:path>
              </a:pathLst>
            </a:custGeom>
            <a:noFill/>
            <a:ln w="9525" cap="flat" cmpd="sng">
              <a:solidFill>
                <a:srgbClr val="DCE7DA"/>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7" name="Google Shape;1687;p98"/>
            <p:cNvSpPr/>
            <p:nvPr/>
          </p:nvSpPr>
          <p:spPr>
            <a:xfrm>
              <a:off x="517949" y="29528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8" name="Google Shape;1688;p98"/>
            <p:cNvSpPr/>
            <p:nvPr/>
          </p:nvSpPr>
          <p:spPr>
            <a:xfrm>
              <a:off x="517949" y="415474"/>
              <a:ext cx="6369050" cy="3461385"/>
            </a:xfrm>
            <a:custGeom>
              <a:avLst/>
              <a:gdLst/>
              <a:ahLst/>
              <a:cxnLst/>
              <a:rect l="l" t="t" r="r" b="b"/>
              <a:pathLst>
                <a:path w="6369050" h="3461385" extrusionOk="0">
                  <a:moveTo>
                    <a:pt x="0" y="2537399"/>
                  </a:moveTo>
                  <a:lnTo>
                    <a:pt x="1428299" y="2537399"/>
                  </a:lnTo>
                  <a:lnTo>
                    <a:pt x="1428299" y="3460799"/>
                  </a:lnTo>
                  <a:lnTo>
                    <a:pt x="0" y="3460799"/>
                  </a:lnTo>
                  <a:lnTo>
                    <a:pt x="0" y="2537399"/>
                  </a:lnTo>
                  <a:close/>
                </a:path>
                <a:path w="6369050" h="3461385" extrusionOk="0">
                  <a:moveTo>
                    <a:pt x="4242924" y="0"/>
                  </a:moveTo>
                  <a:lnTo>
                    <a:pt x="6368424" y="0"/>
                  </a:lnTo>
                  <a:lnTo>
                    <a:pt x="6368424" y="923399"/>
                  </a:lnTo>
                  <a:lnTo>
                    <a:pt x="4242924" y="923399"/>
                  </a:lnTo>
                  <a:lnTo>
                    <a:pt x="4242924"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89" name="Google Shape;1689;p98"/>
            <p:cNvSpPr/>
            <p:nvPr/>
          </p:nvSpPr>
          <p:spPr>
            <a:xfrm>
              <a:off x="6765424" y="1327974"/>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90" name="Google Shape;1690;p98"/>
            <p:cNvSpPr/>
            <p:nvPr/>
          </p:nvSpPr>
          <p:spPr>
            <a:xfrm>
              <a:off x="6765424" y="1327974"/>
              <a:ext cx="1428750" cy="923925"/>
            </a:xfrm>
            <a:custGeom>
              <a:avLst/>
              <a:gdLst/>
              <a:ahLst/>
              <a:cxnLst/>
              <a:rect l="l" t="t" r="r" b="b"/>
              <a:pathLst>
                <a:path w="1428750" h="923925" extrusionOk="0">
                  <a:moveTo>
                    <a:pt x="0" y="0"/>
                  </a:moveTo>
                  <a:lnTo>
                    <a:pt x="1428299" y="0"/>
                  </a:lnTo>
                  <a:lnTo>
                    <a:pt x="1428299" y="923399"/>
                  </a:lnTo>
                  <a:lnTo>
                    <a:pt x="0" y="923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691" name="Google Shape;1691;p98"/>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63</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692" name="Google Shape;1692;p98"/>
          <p:cNvSpPr/>
          <p:nvPr/>
        </p:nvSpPr>
        <p:spPr>
          <a:xfrm>
            <a:off x="4953000" y="441292"/>
            <a:ext cx="1905000" cy="7569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93" name="Google Shape;1693;p98"/>
          <p:cNvSpPr txBox="1"/>
          <p:nvPr/>
        </p:nvSpPr>
        <p:spPr>
          <a:xfrm>
            <a:off x="5257800" y="2724150"/>
            <a:ext cx="1732200" cy="646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Calibri"/>
                <a:ea typeface="Calibri"/>
                <a:cs typeface="Calibri"/>
                <a:sym typeface="Calibri"/>
              </a:rPr>
              <a:t>True answer: Boris Johnson</a:t>
            </a:r>
            <a:endParaRPr kumimoji="0" sz="1800" b="0" i="0" u="none" strike="noStrike" kern="0" cap="none" spc="0" normalizeH="0" baseline="0" noProof="0">
              <a:ln>
                <a:noFill/>
              </a:ln>
              <a:solidFill>
                <a:srgbClr val="FF0000"/>
              </a:solidFill>
              <a:effectLst/>
              <a:uLnTx/>
              <a:uFillTx/>
              <a:latin typeface="Calibri"/>
              <a:ea typeface="Calibri"/>
              <a:cs typeface="Calibri"/>
              <a:sym typeface="Calibri"/>
            </a:endParaRPr>
          </a:p>
        </p:txBody>
      </p:sp>
      <p:sp>
        <p:nvSpPr>
          <p:cNvPr id="1694" name="Google Shape;1694;p98"/>
          <p:cNvSpPr txBox="1"/>
          <p:nvPr/>
        </p:nvSpPr>
        <p:spPr>
          <a:xfrm>
            <a:off x="76200" y="4901869"/>
            <a:ext cx="70899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https://web.stanford.edu/class/cs224n/slides/cs224n-2022-lecture-editing.pdf</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1698"/>
        <p:cNvGrpSpPr/>
        <p:nvPr/>
      </p:nvGrpSpPr>
      <p:grpSpPr>
        <a:xfrm>
          <a:off x="0" y="0"/>
          <a:ext cx="0" cy="0"/>
          <a:chOff x="0" y="0"/>
          <a:chExt cx="0" cy="0"/>
        </a:xfrm>
      </p:grpSpPr>
      <p:grpSp>
        <p:nvGrpSpPr>
          <p:cNvPr id="1699" name="Google Shape;1699;p99"/>
          <p:cNvGrpSpPr/>
          <p:nvPr/>
        </p:nvGrpSpPr>
        <p:grpSpPr>
          <a:xfrm>
            <a:off x="532572" y="126925"/>
            <a:ext cx="7531901" cy="4684785"/>
            <a:chOff x="532572" y="126925"/>
            <a:chExt cx="7531901" cy="4684785"/>
          </a:xfrm>
        </p:grpSpPr>
        <p:pic>
          <p:nvPicPr>
            <p:cNvPr id="1700" name="Google Shape;1700;p99"/>
            <p:cNvPicPr preferRelativeResize="0"/>
            <p:nvPr/>
          </p:nvPicPr>
          <p:blipFill rotWithShape="1">
            <a:blip r:embed="rId3">
              <a:alphaModFix/>
            </a:blip>
            <a:srcRect/>
            <a:stretch/>
          </p:blipFill>
          <p:spPr>
            <a:xfrm>
              <a:off x="532572" y="292682"/>
              <a:ext cx="7531901" cy="4519028"/>
            </a:xfrm>
            <a:prstGeom prst="rect">
              <a:avLst/>
            </a:prstGeom>
            <a:noFill/>
            <a:ln>
              <a:noFill/>
            </a:ln>
          </p:spPr>
        </p:pic>
        <p:sp>
          <p:nvSpPr>
            <p:cNvPr id="1701" name="Google Shape;1701;p99"/>
            <p:cNvSpPr/>
            <p:nvPr/>
          </p:nvSpPr>
          <p:spPr>
            <a:xfrm>
              <a:off x="548924" y="126925"/>
              <a:ext cx="3783329" cy="1071880"/>
            </a:xfrm>
            <a:custGeom>
              <a:avLst/>
              <a:gdLst/>
              <a:ahLst/>
              <a:cxnLst/>
              <a:rect l="l" t="t" r="r" b="b"/>
              <a:pathLst>
                <a:path w="3783329" h="1071880" extrusionOk="0">
                  <a:moveTo>
                    <a:pt x="3783299" y="1071299"/>
                  </a:moveTo>
                  <a:lnTo>
                    <a:pt x="0" y="1071299"/>
                  </a:lnTo>
                  <a:lnTo>
                    <a:pt x="0" y="0"/>
                  </a:lnTo>
                  <a:lnTo>
                    <a:pt x="3783299" y="0"/>
                  </a:lnTo>
                  <a:lnTo>
                    <a:pt x="3783299" y="10712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2" name="Google Shape;1702;p99"/>
            <p:cNvSpPr/>
            <p:nvPr/>
          </p:nvSpPr>
          <p:spPr>
            <a:xfrm>
              <a:off x="548924" y="126925"/>
              <a:ext cx="3783329" cy="1071880"/>
            </a:xfrm>
            <a:custGeom>
              <a:avLst/>
              <a:gdLst/>
              <a:ahLst/>
              <a:cxnLst/>
              <a:rect l="l" t="t" r="r" b="b"/>
              <a:pathLst>
                <a:path w="3783329" h="1071880" extrusionOk="0">
                  <a:moveTo>
                    <a:pt x="0" y="0"/>
                  </a:moveTo>
                  <a:lnTo>
                    <a:pt x="3783299" y="0"/>
                  </a:lnTo>
                  <a:lnTo>
                    <a:pt x="3783299" y="1071299"/>
                  </a:lnTo>
                  <a:lnTo>
                    <a:pt x="0" y="10712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703" name="Google Shape;1703;p99"/>
          <p:cNvSpPr txBox="1">
            <a:spLocks noGrp="1"/>
          </p:cNvSpPr>
          <p:nvPr>
            <p:ph type="title"/>
          </p:nvPr>
        </p:nvSpPr>
        <p:spPr>
          <a:xfrm>
            <a:off x="438624" y="290083"/>
            <a:ext cx="2942100" cy="751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sz="2400" b="1">
                <a:latin typeface="Cambria"/>
                <a:ea typeface="Cambria"/>
                <a:cs typeface="Cambria"/>
                <a:sym typeface="Cambria"/>
              </a:rPr>
              <a:t>Edit What, Exactly?</a:t>
            </a:r>
            <a:endParaRPr sz="2400">
              <a:latin typeface="Cambria"/>
              <a:ea typeface="Cambria"/>
              <a:cs typeface="Cambria"/>
              <a:sym typeface="Cambria"/>
            </a:endParaRPr>
          </a:p>
          <a:p>
            <a:pPr marL="12700" lvl="0" indent="0" algn="l" rtl="0">
              <a:lnSpc>
                <a:spcPct val="100000"/>
              </a:lnSpc>
              <a:spcBef>
                <a:spcPts val="0"/>
              </a:spcBef>
              <a:spcAft>
                <a:spcPts val="0"/>
              </a:spcAft>
              <a:buSzPts val="1400"/>
              <a:buNone/>
            </a:pPr>
            <a:r>
              <a:rPr lang="zh-CN" sz="2400"/>
              <a:t>Deﬁning the problem</a:t>
            </a:r>
            <a:endParaRPr sz="2400"/>
          </a:p>
        </p:txBody>
      </p:sp>
      <p:grpSp>
        <p:nvGrpSpPr>
          <p:cNvPr id="1704" name="Google Shape;1704;p99"/>
          <p:cNvGrpSpPr/>
          <p:nvPr/>
        </p:nvGrpSpPr>
        <p:grpSpPr>
          <a:xfrm>
            <a:off x="1105224" y="1368774"/>
            <a:ext cx="6835916" cy="3333436"/>
            <a:chOff x="1105224" y="1368774"/>
            <a:chExt cx="6835916" cy="3333436"/>
          </a:xfrm>
        </p:grpSpPr>
        <p:sp>
          <p:nvSpPr>
            <p:cNvPr id="1705" name="Google Shape;1705;p99"/>
            <p:cNvSpPr/>
            <p:nvPr/>
          </p:nvSpPr>
          <p:spPr>
            <a:xfrm>
              <a:off x="6189175" y="4225325"/>
              <a:ext cx="1751965" cy="476885"/>
            </a:xfrm>
            <a:custGeom>
              <a:avLst/>
              <a:gdLst/>
              <a:ahLst/>
              <a:cxnLst/>
              <a:rect l="l" t="t" r="r" b="b"/>
              <a:pathLst>
                <a:path w="1751965" h="476885" extrusionOk="0">
                  <a:moveTo>
                    <a:pt x="1751399" y="476399"/>
                  </a:moveTo>
                  <a:lnTo>
                    <a:pt x="0" y="476399"/>
                  </a:lnTo>
                  <a:lnTo>
                    <a:pt x="0" y="0"/>
                  </a:lnTo>
                  <a:lnTo>
                    <a:pt x="1751399" y="0"/>
                  </a:lnTo>
                  <a:lnTo>
                    <a:pt x="1751399" y="476399"/>
                  </a:lnTo>
                  <a:close/>
                </a:path>
              </a:pathLst>
            </a:custGeom>
            <a:solidFill>
              <a:srgbClr val="E1E1E1"/>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6" name="Google Shape;1706;p99"/>
            <p:cNvSpPr/>
            <p:nvPr/>
          </p:nvSpPr>
          <p:spPr>
            <a:xfrm>
              <a:off x="6189175" y="4225325"/>
              <a:ext cx="1751965" cy="476885"/>
            </a:xfrm>
            <a:custGeom>
              <a:avLst/>
              <a:gdLst/>
              <a:ahLst/>
              <a:cxnLst/>
              <a:rect l="l" t="t" r="r" b="b"/>
              <a:pathLst>
                <a:path w="1751965" h="476885" extrusionOk="0">
                  <a:moveTo>
                    <a:pt x="0" y="0"/>
                  </a:moveTo>
                  <a:lnTo>
                    <a:pt x="1751399" y="0"/>
                  </a:lnTo>
                  <a:lnTo>
                    <a:pt x="1751399" y="476399"/>
                  </a:lnTo>
                  <a:lnTo>
                    <a:pt x="0" y="476399"/>
                  </a:lnTo>
                  <a:lnTo>
                    <a:pt x="0" y="0"/>
                  </a:lnTo>
                  <a:close/>
                </a:path>
              </a:pathLst>
            </a:custGeom>
            <a:noFill/>
            <a:ln w="9525" cap="flat" cmpd="sng">
              <a:solidFill>
                <a:srgbClr val="E1E1E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7" name="Google Shape;1707;p99"/>
            <p:cNvSpPr/>
            <p:nvPr/>
          </p:nvSpPr>
          <p:spPr>
            <a:xfrm>
              <a:off x="1105224" y="1368774"/>
              <a:ext cx="1428750" cy="842010"/>
            </a:xfrm>
            <a:custGeom>
              <a:avLst/>
              <a:gdLst/>
              <a:ahLst/>
              <a:cxnLst/>
              <a:rect l="l" t="t" r="r" b="b"/>
              <a:pathLst>
                <a:path w="1428750" h="842010" extrusionOk="0">
                  <a:moveTo>
                    <a:pt x="1428299" y="841799"/>
                  </a:moveTo>
                  <a:lnTo>
                    <a:pt x="0" y="841799"/>
                  </a:lnTo>
                  <a:lnTo>
                    <a:pt x="0" y="0"/>
                  </a:lnTo>
                  <a:lnTo>
                    <a:pt x="1428299" y="0"/>
                  </a:lnTo>
                  <a:lnTo>
                    <a:pt x="1428299" y="8417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8" name="Google Shape;1708;p99"/>
            <p:cNvSpPr/>
            <p:nvPr/>
          </p:nvSpPr>
          <p:spPr>
            <a:xfrm>
              <a:off x="1105224" y="1368774"/>
              <a:ext cx="1428750" cy="842010"/>
            </a:xfrm>
            <a:custGeom>
              <a:avLst/>
              <a:gdLst/>
              <a:ahLst/>
              <a:cxnLst/>
              <a:rect l="l" t="t" r="r" b="b"/>
              <a:pathLst>
                <a:path w="1428750" h="842010" extrusionOk="0">
                  <a:moveTo>
                    <a:pt x="0" y="0"/>
                  </a:moveTo>
                  <a:lnTo>
                    <a:pt x="1428299" y="0"/>
                  </a:lnTo>
                  <a:lnTo>
                    <a:pt x="1428299" y="841799"/>
                  </a:lnTo>
                  <a:lnTo>
                    <a:pt x="0" y="8417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9" name="Google Shape;1709;p99"/>
            <p:cNvSpPr/>
            <p:nvPr/>
          </p:nvSpPr>
          <p:spPr>
            <a:xfrm>
              <a:off x="2864424" y="2374775"/>
              <a:ext cx="1428750" cy="923925"/>
            </a:xfrm>
            <a:custGeom>
              <a:avLst/>
              <a:gdLst/>
              <a:ahLst/>
              <a:cxnLst/>
              <a:rect l="l" t="t" r="r" b="b"/>
              <a:pathLst>
                <a:path w="1428750" h="923925" extrusionOk="0">
                  <a:moveTo>
                    <a:pt x="1428299" y="923399"/>
                  </a:moveTo>
                  <a:lnTo>
                    <a:pt x="0" y="923399"/>
                  </a:lnTo>
                  <a:lnTo>
                    <a:pt x="0" y="0"/>
                  </a:lnTo>
                  <a:lnTo>
                    <a:pt x="1428299" y="0"/>
                  </a:lnTo>
                  <a:lnTo>
                    <a:pt x="1428299" y="9233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0" name="Google Shape;1710;p99"/>
            <p:cNvSpPr/>
            <p:nvPr/>
          </p:nvSpPr>
          <p:spPr>
            <a:xfrm>
              <a:off x="2864424" y="2374775"/>
              <a:ext cx="1428750" cy="923925"/>
            </a:xfrm>
            <a:custGeom>
              <a:avLst/>
              <a:gdLst/>
              <a:ahLst/>
              <a:cxnLst/>
              <a:rect l="l" t="t" r="r" b="b"/>
              <a:pathLst>
                <a:path w="1428750" h="923925" extrusionOk="0">
                  <a:moveTo>
                    <a:pt x="0" y="0"/>
                  </a:moveTo>
                  <a:lnTo>
                    <a:pt x="1428299" y="0"/>
                  </a:lnTo>
                  <a:lnTo>
                    <a:pt x="1428299" y="923399"/>
                  </a:lnTo>
                  <a:lnTo>
                    <a:pt x="0" y="9233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1" name="Google Shape;1711;p99"/>
            <p:cNvSpPr/>
            <p:nvPr/>
          </p:nvSpPr>
          <p:spPr>
            <a:xfrm>
              <a:off x="3562200" y="2159424"/>
              <a:ext cx="417195" cy="393700"/>
            </a:xfrm>
            <a:custGeom>
              <a:avLst/>
              <a:gdLst/>
              <a:ahLst/>
              <a:cxnLst/>
              <a:rect l="l" t="t" r="r" b="b"/>
              <a:pathLst>
                <a:path w="417195" h="393700" extrusionOk="0">
                  <a:moveTo>
                    <a:pt x="416699" y="393599"/>
                  </a:moveTo>
                  <a:lnTo>
                    <a:pt x="0" y="393599"/>
                  </a:lnTo>
                  <a:lnTo>
                    <a:pt x="0" y="0"/>
                  </a:lnTo>
                  <a:lnTo>
                    <a:pt x="416699" y="0"/>
                  </a:lnTo>
                  <a:lnTo>
                    <a:pt x="416699" y="393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2" name="Google Shape;1712;p99"/>
            <p:cNvSpPr/>
            <p:nvPr/>
          </p:nvSpPr>
          <p:spPr>
            <a:xfrm>
              <a:off x="3562200" y="2159424"/>
              <a:ext cx="417195" cy="393700"/>
            </a:xfrm>
            <a:custGeom>
              <a:avLst/>
              <a:gdLst/>
              <a:ahLst/>
              <a:cxnLst/>
              <a:rect l="l" t="t" r="r" b="b"/>
              <a:pathLst>
                <a:path w="417195" h="393700" extrusionOk="0">
                  <a:moveTo>
                    <a:pt x="0" y="0"/>
                  </a:moveTo>
                  <a:lnTo>
                    <a:pt x="416699" y="0"/>
                  </a:lnTo>
                  <a:lnTo>
                    <a:pt x="416699" y="393599"/>
                  </a:lnTo>
                  <a:lnTo>
                    <a:pt x="0" y="393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3" name="Google Shape;1713;p99"/>
            <p:cNvSpPr/>
            <p:nvPr/>
          </p:nvSpPr>
          <p:spPr>
            <a:xfrm>
              <a:off x="5193249" y="3434675"/>
              <a:ext cx="2390140" cy="586104"/>
            </a:xfrm>
            <a:custGeom>
              <a:avLst/>
              <a:gdLst/>
              <a:ahLst/>
              <a:cxnLst/>
              <a:rect l="l" t="t" r="r" b="b"/>
              <a:pathLst>
                <a:path w="2390140" h="586104" extrusionOk="0">
                  <a:moveTo>
                    <a:pt x="2390099" y="585599"/>
                  </a:moveTo>
                  <a:lnTo>
                    <a:pt x="0" y="585599"/>
                  </a:lnTo>
                  <a:lnTo>
                    <a:pt x="0" y="0"/>
                  </a:lnTo>
                  <a:lnTo>
                    <a:pt x="2390099" y="0"/>
                  </a:lnTo>
                  <a:lnTo>
                    <a:pt x="23900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4" name="Google Shape;1714;p99"/>
            <p:cNvSpPr/>
            <p:nvPr/>
          </p:nvSpPr>
          <p:spPr>
            <a:xfrm>
              <a:off x="5193249" y="3434675"/>
              <a:ext cx="2390140" cy="586104"/>
            </a:xfrm>
            <a:custGeom>
              <a:avLst/>
              <a:gdLst/>
              <a:ahLst/>
              <a:cxnLst/>
              <a:rect l="l" t="t" r="r" b="b"/>
              <a:pathLst>
                <a:path w="2390140" h="586104" extrusionOk="0">
                  <a:moveTo>
                    <a:pt x="0" y="0"/>
                  </a:moveTo>
                  <a:lnTo>
                    <a:pt x="2390099" y="0"/>
                  </a:lnTo>
                  <a:lnTo>
                    <a:pt x="23900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5" name="Google Shape;1715;p99"/>
            <p:cNvSpPr/>
            <p:nvPr/>
          </p:nvSpPr>
          <p:spPr>
            <a:xfrm>
              <a:off x="6263824" y="3366024"/>
              <a:ext cx="1056004" cy="586104"/>
            </a:xfrm>
            <a:custGeom>
              <a:avLst/>
              <a:gdLst/>
              <a:ahLst/>
              <a:cxnLst/>
              <a:rect l="l" t="t" r="r" b="b"/>
              <a:pathLst>
                <a:path w="1056004" h="586104" extrusionOk="0">
                  <a:moveTo>
                    <a:pt x="1055999" y="585599"/>
                  </a:moveTo>
                  <a:lnTo>
                    <a:pt x="0" y="585599"/>
                  </a:lnTo>
                  <a:lnTo>
                    <a:pt x="0" y="0"/>
                  </a:lnTo>
                  <a:lnTo>
                    <a:pt x="1055999" y="0"/>
                  </a:lnTo>
                  <a:lnTo>
                    <a:pt x="1055999" y="5855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6" name="Google Shape;1716;p99"/>
            <p:cNvSpPr/>
            <p:nvPr/>
          </p:nvSpPr>
          <p:spPr>
            <a:xfrm>
              <a:off x="6263824" y="3366024"/>
              <a:ext cx="1056004" cy="586104"/>
            </a:xfrm>
            <a:custGeom>
              <a:avLst/>
              <a:gdLst/>
              <a:ahLst/>
              <a:cxnLst/>
              <a:rect l="l" t="t" r="r" b="b"/>
              <a:pathLst>
                <a:path w="1056004" h="586104" extrusionOk="0">
                  <a:moveTo>
                    <a:pt x="0" y="0"/>
                  </a:moveTo>
                  <a:lnTo>
                    <a:pt x="1055999" y="0"/>
                  </a:lnTo>
                  <a:lnTo>
                    <a:pt x="1055999" y="585599"/>
                  </a:lnTo>
                  <a:lnTo>
                    <a:pt x="0" y="5855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7" name="Google Shape;1717;p99"/>
            <p:cNvSpPr/>
            <p:nvPr/>
          </p:nvSpPr>
          <p:spPr>
            <a:xfrm>
              <a:off x="2652525" y="1666324"/>
              <a:ext cx="204469" cy="289560"/>
            </a:xfrm>
            <a:custGeom>
              <a:avLst/>
              <a:gdLst/>
              <a:ahLst/>
              <a:cxnLst/>
              <a:rect l="l" t="t" r="r" b="b"/>
              <a:pathLst>
                <a:path w="204469" h="289560" extrusionOk="0">
                  <a:moveTo>
                    <a:pt x="203999" y="289199"/>
                  </a:moveTo>
                  <a:lnTo>
                    <a:pt x="0" y="289199"/>
                  </a:lnTo>
                  <a:lnTo>
                    <a:pt x="0" y="0"/>
                  </a:lnTo>
                  <a:lnTo>
                    <a:pt x="203999" y="0"/>
                  </a:lnTo>
                  <a:lnTo>
                    <a:pt x="203999" y="289199"/>
                  </a:lnTo>
                  <a:close/>
                </a:path>
              </a:pathLst>
            </a:custGeom>
            <a:solidFill>
              <a:srgbClr val="DCE7DA"/>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18" name="Google Shape;1718;p99"/>
            <p:cNvSpPr/>
            <p:nvPr/>
          </p:nvSpPr>
          <p:spPr>
            <a:xfrm>
              <a:off x="2652525" y="1666324"/>
              <a:ext cx="204469" cy="289560"/>
            </a:xfrm>
            <a:custGeom>
              <a:avLst/>
              <a:gdLst/>
              <a:ahLst/>
              <a:cxnLst/>
              <a:rect l="l" t="t" r="r" b="b"/>
              <a:pathLst>
                <a:path w="204469" h="289560" extrusionOk="0">
                  <a:moveTo>
                    <a:pt x="0" y="0"/>
                  </a:moveTo>
                  <a:lnTo>
                    <a:pt x="203999" y="0"/>
                  </a:lnTo>
                  <a:lnTo>
                    <a:pt x="203999" y="289199"/>
                  </a:lnTo>
                  <a:lnTo>
                    <a:pt x="0" y="289199"/>
                  </a:lnTo>
                  <a:lnTo>
                    <a:pt x="0" y="0"/>
                  </a:lnTo>
                  <a:close/>
                </a:path>
              </a:pathLst>
            </a:custGeom>
            <a:noFill/>
            <a:ln w="9525" cap="flat" cmpd="sng">
              <a:solidFill>
                <a:srgbClr val="DCE7DA"/>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719" name="Google Shape;1719;p99"/>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64</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720" name="Google Shape;1720;p99"/>
          <p:cNvSpPr txBox="1"/>
          <p:nvPr/>
        </p:nvSpPr>
        <p:spPr>
          <a:xfrm>
            <a:off x="5257800" y="2724150"/>
            <a:ext cx="1732200" cy="646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Calibri"/>
                <a:ea typeface="Calibri"/>
                <a:cs typeface="Calibri"/>
                <a:sym typeface="Calibri"/>
              </a:rPr>
              <a:t>True answer: Boris Johnson</a:t>
            </a:r>
            <a:endParaRPr kumimoji="0" sz="1800" b="0" i="0" u="none" strike="noStrike" kern="0" cap="none" spc="0" normalizeH="0" baseline="0" noProof="0">
              <a:ln>
                <a:noFill/>
              </a:ln>
              <a:solidFill>
                <a:srgbClr val="FF0000"/>
              </a:solidFill>
              <a:effectLst/>
              <a:uLnTx/>
              <a:uFillTx/>
              <a:latin typeface="Calibri"/>
              <a:ea typeface="Calibri"/>
              <a:cs typeface="Calibri"/>
              <a:sym typeface="Calibri"/>
            </a:endParaRPr>
          </a:p>
        </p:txBody>
      </p:sp>
      <p:sp>
        <p:nvSpPr>
          <p:cNvPr id="1721" name="Google Shape;1721;p99"/>
          <p:cNvSpPr txBox="1"/>
          <p:nvPr/>
        </p:nvSpPr>
        <p:spPr>
          <a:xfrm>
            <a:off x="76200" y="4901869"/>
            <a:ext cx="70899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https://web.stanford.edu/class/cs224n/slides/cs224n-2022-lecture-editing.pdf</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1726"/>
        <p:cNvGrpSpPr/>
        <p:nvPr/>
      </p:nvGrpSpPr>
      <p:grpSpPr>
        <a:xfrm>
          <a:off x="0" y="0"/>
          <a:ext cx="0" cy="0"/>
          <a:chOff x="0" y="0"/>
          <a:chExt cx="0" cy="0"/>
        </a:xfrm>
      </p:grpSpPr>
      <p:grpSp>
        <p:nvGrpSpPr>
          <p:cNvPr id="1727" name="Google Shape;1727;p100"/>
          <p:cNvGrpSpPr/>
          <p:nvPr/>
        </p:nvGrpSpPr>
        <p:grpSpPr>
          <a:xfrm>
            <a:off x="533400" y="94265"/>
            <a:ext cx="7531901" cy="4682186"/>
            <a:chOff x="548924" y="126925"/>
            <a:chExt cx="7531901" cy="4682186"/>
          </a:xfrm>
        </p:grpSpPr>
        <p:pic>
          <p:nvPicPr>
            <p:cNvPr id="1728" name="Google Shape;1728;p100"/>
            <p:cNvPicPr preferRelativeResize="0"/>
            <p:nvPr/>
          </p:nvPicPr>
          <p:blipFill rotWithShape="1">
            <a:blip r:embed="rId3">
              <a:alphaModFix/>
            </a:blip>
            <a:srcRect/>
            <a:stretch/>
          </p:blipFill>
          <p:spPr>
            <a:xfrm>
              <a:off x="548924" y="290083"/>
              <a:ext cx="7531901" cy="4519028"/>
            </a:xfrm>
            <a:prstGeom prst="rect">
              <a:avLst/>
            </a:prstGeom>
            <a:noFill/>
            <a:ln>
              <a:noFill/>
            </a:ln>
          </p:spPr>
        </p:pic>
        <p:sp>
          <p:nvSpPr>
            <p:cNvPr id="1729" name="Google Shape;1729;p100"/>
            <p:cNvSpPr/>
            <p:nvPr/>
          </p:nvSpPr>
          <p:spPr>
            <a:xfrm>
              <a:off x="548924" y="126925"/>
              <a:ext cx="3783329" cy="1071880"/>
            </a:xfrm>
            <a:custGeom>
              <a:avLst/>
              <a:gdLst/>
              <a:ahLst/>
              <a:cxnLst/>
              <a:rect l="l" t="t" r="r" b="b"/>
              <a:pathLst>
                <a:path w="3783329" h="1071880" extrusionOk="0">
                  <a:moveTo>
                    <a:pt x="3783299" y="1071299"/>
                  </a:moveTo>
                  <a:lnTo>
                    <a:pt x="0" y="1071299"/>
                  </a:lnTo>
                  <a:lnTo>
                    <a:pt x="0" y="0"/>
                  </a:lnTo>
                  <a:lnTo>
                    <a:pt x="3783299" y="0"/>
                  </a:lnTo>
                  <a:lnTo>
                    <a:pt x="3783299" y="1071299"/>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30" name="Google Shape;1730;p100"/>
            <p:cNvSpPr/>
            <p:nvPr/>
          </p:nvSpPr>
          <p:spPr>
            <a:xfrm>
              <a:off x="548924" y="126925"/>
              <a:ext cx="3783329" cy="1071880"/>
            </a:xfrm>
            <a:custGeom>
              <a:avLst/>
              <a:gdLst/>
              <a:ahLst/>
              <a:cxnLst/>
              <a:rect l="l" t="t" r="r" b="b"/>
              <a:pathLst>
                <a:path w="3783329" h="1071880" extrusionOk="0">
                  <a:moveTo>
                    <a:pt x="0" y="0"/>
                  </a:moveTo>
                  <a:lnTo>
                    <a:pt x="3783299" y="0"/>
                  </a:lnTo>
                  <a:lnTo>
                    <a:pt x="3783299" y="1071299"/>
                  </a:lnTo>
                  <a:lnTo>
                    <a:pt x="0" y="10712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731" name="Google Shape;1731;p100"/>
          <p:cNvSpPr txBox="1">
            <a:spLocks noGrp="1"/>
          </p:cNvSpPr>
          <p:nvPr>
            <p:ph type="title"/>
          </p:nvPr>
        </p:nvSpPr>
        <p:spPr>
          <a:xfrm>
            <a:off x="438624" y="290083"/>
            <a:ext cx="2942100" cy="751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sz="2400" b="1">
                <a:latin typeface="Cambria"/>
                <a:ea typeface="Cambria"/>
                <a:cs typeface="Cambria"/>
                <a:sym typeface="Cambria"/>
              </a:rPr>
              <a:t>Edit What, Exactly?</a:t>
            </a:r>
            <a:endParaRPr sz="2400">
              <a:latin typeface="Cambria"/>
              <a:ea typeface="Cambria"/>
              <a:cs typeface="Cambria"/>
              <a:sym typeface="Cambria"/>
            </a:endParaRPr>
          </a:p>
          <a:p>
            <a:pPr marL="12700" lvl="0" indent="0" algn="l" rtl="0">
              <a:lnSpc>
                <a:spcPct val="100000"/>
              </a:lnSpc>
              <a:spcBef>
                <a:spcPts val="0"/>
              </a:spcBef>
              <a:spcAft>
                <a:spcPts val="0"/>
              </a:spcAft>
              <a:buSzPts val="1400"/>
              <a:buNone/>
            </a:pPr>
            <a:r>
              <a:rPr lang="zh-CN" sz="2400"/>
              <a:t>Deﬁning the problem</a:t>
            </a:r>
            <a:endParaRPr sz="2400"/>
          </a:p>
        </p:txBody>
      </p:sp>
      <p:sp>
        <p:nvSpPr>
          <p:cNvPr id="1732" name="Google Shape;1732;p100"/>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65</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733" name="Google Shape;1733;p100"/>
          <p:cNvSpPr txBox="1"/>
          <p:nvPr/>
        </p:nvSpPr>
        <p:spPr>
          <a:xfrm>
            <a:off x="76200" y="4901869"/>
            <a:ext cx="7089900" cy="215400"/>
          </a:xfrm>
          <a:prstGeom prst="rect">
            <a:avLst/>
          </a:prstGeom>
          <a:noFill/>
          <a:ln>
            <a:noFill/>
          </a:ln>
        </p:spPr>
        <p:txBody>
          <a:bodyPr spcFirstLastPara="1" wrap="square" lIns="0" tIns="0" rIns="0" bIns="0" anchor="t" anchorCtr="0">
            <a:spAutoFit/>
          </a:bodyPr>
          <a:lstStyle/>
          <a:p>
            <a:pPr marL="12700" marR="0" lvl="0" indent="0" algn="l" defTabSz="914400" rtl="0" eaLnBrk="1" fontAlgn="auto" latinLnBrk="0" hangingPunct="1">
              <a:lnSpc>
                <a:spcPct val="118857"/>
              </a:lnSpc>
              <a:spcBef>
                <a:spcPts val="0"/>
              </a:spcBef>
              <a:spcAft>
                <a:spcPts val="0"/>
              </a:spcAft>
              <a:buClr>
                <a:srgbClr val="000000"/>
              </a:buClr>
              <a:buSzPts val="1400"/>
              <a:buFont typeface="Arial"/>
              <a:buNone/>
              <a:tabLst/>
              <a:defRPr/>
            </a:pPr>
            <a:r>
              <a:rPr kumimoji="0" lang="en-US" altLang="zh-CN" sz="14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https://web.stanford.edu/class/cs224n/slides/cs224n-2022-lecture-editing.pdf</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734" name="Google Shape;1734;p100"/>
          <p:cNvSpPr txBox="1"/>
          <p:nvPr/>
        </p:nvSpPr>
        <p:spPr>
          <a:xfrm>
            <a:off x="5257800" y="2724150"/>
            <a:ext cx="1732200" cy="646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Calibri"/>
                <a:ea typeface="Calibri"/>
                <a:cs typeface="Calibri"/>
                <a:sym typeface="Calibri"/>
              </a:rPr>
              <a:t>True answer: Boris Johnson</a:t>
            </a:r>
            <a:endParaRPr kumimoji="0" sz="1800" b="0" i="0" u="none" strike="noStrike" kern="0" cap="none" spc="0" normalizeH="0" baseline="0" noProof="0">
              <a:ln>
                <a:noFill/>
              </a:ln>
              <a:solidFill>
                <a:srgbClr val="FF0000"/>
              </a:solidFill>
              <a:effectLst/>
              <a:uLnTx/>
              <a:uFillTx/>
              <a:latin typeface="Calibri"/>
              <a:ea typeface="Calibri"/>
              <a:cs typeface="Calibri"/>
              <a:sym typeface="Calibri"/>
            </a:endParaRPr>
          </a:p>
        </p:txBody>
      </p:sp>
      <p:cxnSp>
        <p:nvCxnSpPr>
          <p:cNvPr id="1735" name="Google Shape;1735;p100"/>
          <p:cNvCxnSpPr/>
          <p:nvPr/>
        </p:nvCxnSpPr>
        <p:spPr>
          <a:xfrm>
            <a:off x="3886200" y="2647950"/>
            <a:ext cx="533400" cy="0"/>
          </a:xfrm>
          <a:prstGeom prst="straightConnector1">
            <a:avLst/>
          </a:prstGeom>
          <a:noFill/>
          <a:ln w="19050" cap="flat" cmpd="sng">
            <a:solidFill>
              <a:srgbClr val="BD4B48"/>
            </a:solidFill>
            <a:prstDash val="solid"/>
            <a:round/>
            <a:headEnd type="none" w="sm" len="sm"/>
            <a:tailEnd type="none" w="sm" len="sm"/>
          </a:ln>
        </p:spPr>
      </p:cxnSp>
      <p:cxnSp>
        <p:nvCxnSpPr>
          <p:cNvPr id="1736" name="Google Shape;1736;p100"/>
          <p:cNvCxnSpPr/>
          <p:nvPr/>
        </p:nvCxnSpPr>
        <p:spPr>
          <a:xfrm>
            <a:off x="3200400" y="2800350"/>
            <a:ext cx="533400" cy="0"/>
          </a:xfrm>
          <a:prstGeom prst="straightConnector1">
            <a:avLst/>
          </a:prstGeom>
          <a:noFill/>
          <a:ln w="19050" cap="flat" cmpd="sng">
            <a:solidFill>
              <a:srgbClr val="BD4B48"/>
            </a:solidFill>
            <a:prstDash val="solid"/>
            <a:round/>
            <a:headEnd type="none" w="sm" len="sm"/>
            <a:tailEnd type="none" w="sm" len="sm"/>
          </a:ln>
        </p:spPr>
      </p:cxnSp>
      <p:cxnSp>
        <p:nvCxnSpPr>
          <p:cNvPr id="1737" name="Google Shape;1737;p100"/>
          <p:cNvCxnSpPr/>
          <p:nvPr/>
        </p:nvCxnSpPr>
        <p:spPr>
          <a:xfrm>
            <a:off x="1981200" y="1733550"/>
            <a:ext cx="533400" cy="0"/>
          </a:xfrm>
          <a:prstGeom prst="straightConnector1">
            <a:avLst/>
          </a:prstGeom>
          <a:noFill/>
          <a:ln w="19050" cap="flat" cmpd="sng">
            <a:solidFill>
              <a:srgbClr val="BD4B48"/>
            </a:solidFill>
            <a:prstDash val="solid"/>
            <a:round/>
            <a:headEnd type="none" w="sm" len="sm"/>
            <a:tailEnd type="none" w="sm" len="sm"/>
          </a:ln>
        </p:spPr>
      </p:cxnSp>
      <p:cxnSp>
        <p:nvCxnSpPr>
          <p:cNvPr id="1738" name="Google Shape;1738;p100"/>
          <p:cNvCxnSpPr/>
          <p:nvPr/>
        </p:nvCxnSpPr>
        <p:spPr>
          <a:xfrm>
            <a:off x="1241425" y="2038350"/>
            <a:ext cx="533400" cy="0"/>
          </a:xfrm>
          <a:prstGeom prst="straightConnector1">
            <a:avLst/>
          </a:prstGeom>
          <a:noFill/>
          <a:ln w="19050" cap="flat" cmpd="sng">
            <a:solidFill>
              <a:srgbClr val="BD4B48"/>
            </a:solidFill>
            <a:prstDash val="solid"/>
            <a:round/>
            <a:headEnd type="none" w="sm" len="sm"/>
            <a:tailEnd type="none" w="sm" len="sm"/>
          </a:ln>
        </p:spPr>
      </p:cxnSp>
      <p:cxnSp>
        <p:nvCxnSpPr>
          <p:cNvPr id="1739" name="Google Shape;1739;p100"/>
          <p:cNvCxnSpPr/>
          <p:nvPr/>
        </p:nvCxnSpPr>
        <p:spPr>
          <a:xfrm>
            <a:off x="6989907" y="3790950"/>
            <a:ext cx="533400" cy="0"/>
          </a:xfrm>
          <a:prstGeom prst="straightConnector1">
            <a:avLst/>
          </a:prstGeom>
          <a:noFill/>
          <a:ln w="19050" cap="flat" cmpd="sng">
            <a:solidFill>
              <a:srgbClr val="BD4B48"/>
            </a:solidFill>
            <a:prstDash val="solid"/>
            <a:round/>
            <a:headEnd type="none" w="sm" len="sm"/>
            <a:tailEnd type="none" w="sm" len="sm"/>
          </a:ln>
        </p:spPr>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1743"/>
        <p:cNvGrpSpPr/>
        <p:nvPr/>
      </p:nvGrpSpPr>
      <p:grpSpPr>
        <a:xfrm>
          <a:off x="0" y="0"/>
          <a:ext cx="0" cy="0"/>
          <a:chOff x="0" y="0"/>
          <a:chExt cx="0" cy="0"/>
        </a:xfrm>
      </p:grpSpPr>
      <p:sp>
        <p:nvSpPr>
          <p:cNvPr id="1744" name="Google Shape;1744;p101"/>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66</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745" name="Google Shape;1745;p101"/>
          <p:cNvSpPr txBox="1">
            <a:spLocks noGrp="1"/>
          </p:cNvSpPr>
          <p:nvPr>
            <p:ph type="title"/>
          </p:nvPr>
        </p:nvSpPr>
        <p:spPr>
          <a:xfrm>
            <a:off x="481269" y="2086610"/>
            <a:ext cx="8184600" cy="505500"/>
          </a:xfrm>
          <a:prstGeom prst="rect">
            <a:avLst/>
          </a:prstGeom>
          <a:noFill/>
          <a:ln>
            <a:noFill/>
          </a:ln>
        </p:spPr>
        <p:txBody>
          <a:bodyPr spcFirstLastPara="1" wrap="square" lIns="0" tIns="12700" rIns="0" bIns="0" anchor="t" anchorCtr="0">
            <a:spAutoFit/>
          </a:bodyPr>
          <a:lstStyle/>
          <a:p>
            <a:pPr marL="2788285" marR="5080" lvl="0" indent="-2776220" algn="l" rtl="0">
              <a:lnSpc>
                <a:spcPct val="100000"/>
              </a:lnSpc>
              <a:spcBef>
                <a:spcPts val="0"/>
              </a:spcBef>
              <a:spcAft>
                <a:spcPts val="0"/>
              </a:spcAft>
              <a:buSzPts val="1400"/>
              <a:buNone/>
            </a:pPr>
            <a:r>
              <a:rPr lang="zh-CN" sz="3200"/>
              <a:t>How to edit knowledge in  pre-trained models?</a:t>
            </a:r>
            <a:endParaRPr sz="30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1750"/>
        <p:cNvGrpSpPr/>
        <p:nvPr/>
      </p:nvGrpSpPr>
      <p:grpSpPr>
        <a:xfrm>
          <a:off x="0" y="0"/>
          <a:ext cx="0" cy="0"/>
          <a:chOff x="0" y="0"/>
          <a:chExt cx="0" cy="0"/>
        </a:xfrm>
      </p:grpSpPr>
      <p:sp>
        <p:nvSpPr>
          <p:cNvPr id="1751" name="Google Shape;1751;p102"/>
          <p:cNvSpPr txBox="1">
            <a:spLocks noGrp="1"/>
          </p:cNvSpPr>
          <p:nvPr>
            <p:ph type="title"/>
          </p:nvPr>
        </p:nvSpPr>
        <p:spPr>
          <a:xfrm>
            <a:off x="3130777" y="505350"/>
            <a:ext cx="28842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Knowledge Neurons</a:t>
            </a:r>
            <a:endParaRPr/>
          </a:p>
        </p:txBody>
      </p:sp>
      <p:sp>
        <p:nvSpPr>
          <p:cNvPr id="1752" name="Google Shape;1752;p102"/>
          <p:cNvSpPr txBox="1"/>
          <p:nvPr/>
        </p:nvSpPr>
        <p:spPr>
          <a:xfrm>
            <a:off x="4566430" y="1311214"/>
            <a:ext cx="3683100" cy="2972700"/>
          </a:xfrm>
          <a:prstGeom prst="rect">
            <a:avLst/>
          </a:prstGeom>
          <a:noFill/>
          <a:ln>
            <a:noFill/>
          </a:ln>
        </p:spPr>
        <p:txBody>
          <a:bodyPr spcFirstLastPara="1" wrap="square" lIns="0" tIns="12700" rIns="0" bIns="0" anchor="t" anchorCtr="0">
            <a:spAutoFit/>
          </a:bodyPr>
          <a:lstStyle/>
          <a:p>
            <a:pPr marL="371475" marR="0" lvl="0" indent="-359410" algn="l" defTabSz="914400" rtl="0" eaLnBrk="1" fontAlgn="auto" latinLnBrk="0" hangingPunct="1">
              <a:lnSpc>
                <a:spcPct val="100000"/>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What is a knowledge neuron</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28675" marR="859155" lvl="1" indent="-336550" algn="l" defTabSz="914400" rtl="0" eaLnBrk="1" fontAlgn="auto" latinLnBrk="0" hangingPunct="1">
              <a:lnSpc>
                <a:spcPct val="100000"/>
              </a:lnSpc>
              <a:spcBef>
                <a:spcPts val="10"/>
              </a:spcBef>
              <a:spcAft>
                <a:spcPts val="0"/>
              </a:spcAft>
              <a:buClr>
                <a:srgbClr val="000000"/>
              </a:buClr>
              <a:buSzPts val="1400"/>
              <a:buFont typeface="Tahoma"/>
              <a:buChar char="○"/>
              <a:tabLst/>
              <a:defRPr/>
            </a:pPr>
            <a:r>
              <a:rPr kumimoji="0" lang="en-US" altLang="zh-CN" sz="1400" b="1" i="0" u="none" strike="noStrike" kern="0" cap="none" spc="0" normalizeH="0" baseline="0" noProof="0">
                <a:ln>
                  <a:noFill/>
                </a:ln>
                <a:solidFill>
                  <a:srgbClr val="E69137"/>
                </a:solidFill>
                <a:effectLst/>
                <a:uLnTx/>
                <a:uFillTx/>
                <a:latin typeface="Cambria"/>
                <a:ea typeface="Cambria"/>
                <a:cs typeface="Cambria"/>
                <a:sym typeface="Cambria"/>
              </a:rPr>
              <a:t>Activations </a:t>
            </a: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after the ﬁrst  feed-forward layer</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1" indent="0" algn="l" defTabSz="914400" rtl="0" eaLnBrk="1" fontAlgn="auto" latinLnBrk="0" hangingPunct="1">
              <a:lnSpc>
                <a:spcPct val="100000"/>
              </a:lnSpc>
              <a:spcBef>
                <a:spcPts val="0"/>
              </a:spcBef>
              <a:spcAft>
                <a:spcPts val="0"/>
              </a:spcAft>
              <a:buClr>
                <a:srgbClr val="000000"/>
              </a:buClr>
              <a:buSzPts val="1450"/>
              <a:buFont typeface="Tahoma"/>
              <a:buNone/>
              <a:tabLst/>
              <a:defRPr/>
            </a:pPr>
            <a:endParaRPr kumimoji="0" sz="14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0" lvl="0" indent="-359410" algn="l" defTabSz="914400" rtl="0" eaLnBrk="1" fontAlgn="auto" latinLnBrk="0" hangingPunct="1">
              <a:lnSpc>
                <a:spcPct val="100000"/>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Assumption</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28675" marR="184785" lvl="1" indent="-336550" algn="l" defTabSz="914400" rtl="0" eaLnBrk="1" fontAlgn="auto" latinLnBrk="0" hangingPunct="1">
              <a:lnSpc>
                <a:spcPct val="100000"/>
              </a:lnSpc>
              <a:spcBef>
                <a:spcPts val="15"/>
              </a:spcBef>
              <a:spcAft>
                <a:spcPts val="0"/>
              </a:spcAft>
              <a:buClr>
                <a:srgbClr val="000000"/>
              </a:buClr>
              <a:buSzPts val="1400"/>
              <a:buFont typeface="Tahoma"/>
              <a:buChar char="○"/>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Knowledge neuron are associated  with factual knowledge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1" indent="0" algn="l" defTabSz="914400" rtl="0" eaLnBrk="1" fontAlgn="auto" latinLnBrk="0" hangingPunct="1">
              <a:lnSpc>
                <a:spcPct val="100000"/>
              </a:lnSpc>
              <a:spcBef>
                <a:spcPts val="0"/>
              </a:spcBef>
              <a:spcAft>
                <a:spcPts val="0"/>
              </a:spcAft>
              <a:buClr>
                <a:srgbClr val="000000"/>
              </a:buClr>
              <a:buSzPts val="1450"/>
              <a:buFont typeface="Tahoma"/>
              <a:buNone/>
              <a:tabLst/>
              <a:defRPr/>
            </a:pPr>
            <a:endParaRPr kumimoji="0" sz="145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371475" marR="0" lvl="0" indent="-359410" algn="l" defTabSz="914400" rtl="0" eaLnBrk="1" fontAlgn="auto" latinLnBrk="0" hangingPunct="1">
              <a:lnSpc>
                <a:spcPct val="100000"/>
              </a:lnSpc>
              <a:spcBef>
                <a:spcPts val="0"/>
              </a:spcBef>
              <a:spcAft>
                <a:spcPts val="0"/>
              </a:spcAft>
              <a:buClr>
                <a:srgbClr val="000000"/>
              </a:buClr>
              <a:buSzPts val="1700"/>
              <a:buFont typeface="Tahoma"/>
              <a:buChar char="●"/>
              <a:tabLst/>
              <a:defRPr/>
            </a:pPr>
            <a:r>
              <a:rPr kumimoji="0" lang="en-US" altLang="zh-CN"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Implications</a:t>
            </a:r>
            <a:endParaRPr kumimoji="0"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28675" marR="5080" lvl="1" indent="-336550" algn="l" defTabSz="914400" rtl="0" eaLnBrk="1" fontAlgn="auto" latinLnBrk="0" hangingPunct="1">
              <a:lnSpc>
                <a:spcPct val="100000"/>
              </a:lnSpc>
              <a:spcBef>
                <a:spcPts val="10"/>
              </a:spcBef>
              <a:spcAft>
                <a:spcPts val="0"/>
              </a:spcAft>
              <a:buClr>
                <a:srgbClr val="000000"/>
              </a:buClr>
              <a:buSzPts val="1400"/>
              <a:buFont typeface="Tahoma"/>
              <a:buChar char="○"/>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If we can identifying these neurons,  we can alter them to edit  (update/erase) knowledge.</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828675" marR="0" lvl="1" indent="-336550" algn="l" defTabSz="914400" rtl="0" eaLnBrk="1" fontAlgn="auto" latinLnBrk="0" hangingPunct="1">
              <a:lnSpc>
                <a:spcPct val="100000"/>
              </a:lnSpc>
              <a:spcBef>
                <a:spcPts val="0"/>
              </a:spcBef>
              <a:spcAft>
                <a:spcPts val="0"/>
              </a:spcAft>
              <a:buClr>
                <a:srgbClr val="000000"/>
              </a:buClr>
              <a:buSzPts val="1400"/>
              <a:buFont typeface="Tahoma"/>
              <a:buChar char="○"/>
              <a:tabLst/>
              <a:defRPr/>
            </a:pPr>
            <a:r>
              <a:rPr kumimoji="0" lang="en-US" altLang="zh-CN"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No additional training is involved.</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753" name="Google Shape;1753;p102"/>
          <p:cNvPicPr preferRelativeResize="0"/>
          <p:nvPr/>
        </p:nvPicPr>
        <p:blipFill rotWithShape="1">
          <a:blip r:embed="rId3">
            <a:alphaModFix/>
          </a:blip>
          <a:srcRect/>
          <a:stretch/>
        </p:blipFill>
        <p:spPr>
          <a:xfrm>
            <a:off x="739416" y="1338505"/>
            <a:ext cx="2792740" cy="3097803"/>
          </a:xfrm>
          <a:prstGeom prst="rect">
            <a:avLst/>
          </a:prstGeom>
          <a:noFill/>
          <a:ln>
            <a:noFill/>
          </a:ln>
        </p:spPr>
      </p:pic>
      <p:sp>
        <p:nvSpPr>
          <p:cNvPr id="1754" name="Google Shape;1754;p102"/>
          <p:cNvSpPr txBox="1">
            <a:spLocks noGrp="1"/>
          </p:cNvSpPr>
          <p:nvPr>
            <p:ph type="sldNum" idx="12"/>
          </p:nvPr>
        </p:nvSpPr>
        <p:spPr>
          <a:xfrm>
            <a:off x="8706908" y="4776451"/>
            <a:ext cx="266700" cy="155700"/>
          </a:xfrm>
          <a:prstGeom prst="rect">
            <a:avLst/>
          </a:prstGeom>
          <a:noFill/>
          <a:ln>
            <a:noFill/>
          </a:ln>
        </p:spPr>
        <p:txBody>
          <a:bodyPr spcFirstLastPara="1" wrap="square" lIns="0" tIns="19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altLang="zh-CN" sz="1000" b="0" i="0" u="none" strike="noStrike" kern="0" cap="none" spc="0" normalizeH="0" baseline="0" noProof="0">
                <a:ln>
                  <a:noFill/>
                </a:ln>
                <a:solidFill>
                  <a:srgbClr val="B7B7B7"/>
                </a:solidFill>
                <a:effectLst/>
                <a:uLnTx/>
                <a:uFillTx/>
                <a:latin typeface="Times New Roman"/>
                <a:cs typeface="Times New Roman"/>
                <a:sym typeface="Times New Roman"/>
              </a:rPr>
              <a:pPr marL="3810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t>67</a:t>
            </a:fld>
            <a:endParaRPr kumimoji="0" sz="1000" b="0" i="0" u="none" strike="noStrike" kern="0" cap="none" spc="0" normalizeH="0" baseline="0" noProof="0">
              <a:ln>
                <a:noFill/>
              </a:ln>
              <a:solidFill>
                <a:srgbClr val="B7B7B7"/>
              </a:solidFill>
              <a:effectLst/>
              <a:uLnTx/>
              <a:uFillTx/>
              <a:latin typeface="Times New Roman"/>
              <a:cs typeface="Times New Roman"/>
              <a:sym typeface="Times New Roman"/>
            </a:endParaRPr>
          </a:p>
        </p:txBody>
      </p:sp>
      <p:sp>
        <p:nvSpPr>
          <p:cNvPr id="1755" name="Google Shape;1755;p102"/>
          <p:cNvSpPr txBox="1"/>
          <p:nvPr/>
        </p:nvSpPr>
        <p:spPr>
          <a:xfrm>
            <a:off x="0" y="4865140"/>
            <a:ext cx="10820400" cy="2769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Dai, Damai, et al. "Knowledge neurons in pretrained transformers." arXiv preprint arXiv:2104.08696 (2021).</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103"/>
          <p:cNvSpPr txBox="1">
            <a:spLocks noGrp="1"/>
          </p:cNvSpPr>
          <p:nvPr>
            <p:ph type="title"/>
          </p:nvPr>
        </p:nvSpPr>
        <p:spPr>
          <a:xfrm>
            <a:off x="2285003" y="505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Identify knowledge neurons</a:t>
            </a:r>
            <a:endParaRPr/>
          </a:p>
        </p:txBody>
      </p:sp>
      <p:sp>
        <p:nvSpPr>
          <p:cNvPr id="1762" name="Google Shape;1762;p103"/>
          <p:cNvSpPr txBox="1">
            <a:spLocks noGrp="1"/>
          </p:cNvSpPr>
          <p:nvPr>
            <p:ph type="body" idx="1"/>
          </p:nvPr>
        </p:nvSpPr>
        <p:spPr>
          <a:xfrm>
            <a:off x="743748" y="1180605"/>
            <a:ext cx="7657500" cy="2308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sz="2400" b="0" i="0" u="none" strike="noStrike">
                <a:latin typeface="Arial"/>
                <a:ea typeface="Arial"/>
                <a:cs typeface="Arial"/>
                <a:sym typeface="Arial"/>
              </a:rPr>
              <a:t>Given a relational fact  e.g. </a:t>
            </a:r>
            <a:r>
              <a:rPr lang="zh-CN" sz="2400"/>
              <a:t>(Mozart, </a:t>
            </a:r>
            <a:r>
              <a:rPr lang="zh-CN" sz="2400">
                <a:latin typeface="Courier New"/>
                <a:ea typeface="Courier New"/>
                <a:cs typeface="Courier New"/>
                <a:sym typeface="Courier New"/>
              </a:rPr>
              <a:t>BORN-IN</a:t>
            </a:r>
            <a:r>
              <a:rPr lang="zh-CN" sz="2400"/>
              <a:t>, Austria)</a:t>
            </a:r>
            <a:endParaRPr sz="2400" b="0" i="0" u="none" strike="noStrike">
              <a:latin typeface="Arial"/>
              <a:ea typeface="Arial"/>
              <a:cs typeface="Arial"/>
              <a:sym typeface="Arial"/>
            </a:endParaRPr>
          </a:p>
          <a:p>
            <a:pPr marL="342900" lvl="0" indent="-342900" algn="l" rtl="0">
              <a:lnSpc>
                <a:spcPct val="100000"/>
              </a:lnSpc>
              <a:spcBef>
                <a:spcPts val="0"/>
              </a:spcBef>
              <a:spcAft>
                <a:spcPts val="0"/>
              </a:spcAft>
              <a:buClr>
                <a:schemeClr val="dk1"/>
              </a:buClr>
              <a:buSzPts val="1800"/>
              <a:buFont typeface="Calibri"/>
              <a:buAutoNum type="arabicPeriod"/>
            </a:pPr>
            <a:r>
              <a:rPr lang="zh-CN" b="0" i="0" u="none" strike="noStrike">
                <a:latin typeface="Arial"/>
                <a:ea typeface="Arial"/>
                <a:cs typeface="Arial"/>
                <a:sym typeface="Arial"/>
              </a:rPr>
              <a:t>produce </a:t>
            </a:r>
            <a:r>
              <a:rPr lang="zh-CN">
                <a:solidFill>
                  <a:srgbClr val="FF0000"/>
                </a:solidFill>
                <a:latin typeface="Old Standard TT"/>
                <a:ea typeface="Old Standard TT"/>
                <a:cs typeface="Old Standard TT"/>
                <a:sym typeface="Old Standard TT"/>
              </a:rPr>
              <a:t>N</a:t>
            </a:r>
            <a:r>
              <a:rPr lang="zh-CN" b="0" i="0" u="none" strike="noStrike">
                <a:latin typeface="Old Standard TT"/>
                <a:ea typeface="Old Standard TT"/>
                <a:cs typeface="Old Standard TT"/>
                <a:sym typeface="Old Standard TT"/>
              </a:rPr>
              <a:t> </a:t>
            </a:r>
            <a:r>
              <a:rPr lang="zh-CN" b="0" i="0" u="none" strike="noStrike">
                <a:latin typeface="Arial"/>
                <a:ea typeface="Arial"/>
                <a:cs typeface="Arial"/>
                <a:sym typeface="Arial"/>
              </a:rPr>
              <a:t>diverse prompts;</a:t>
            </a:r>
            <a:endParaRPr/>
          </a:p>
          <a:p>
            <a:pPr marL="342900" lvl="0" indent="-342900" algn="l" rtl="0">
              <a:lnSpc>
                <a:spcPct val="100000"/>
              </a:lnSpc>
              <a:spcBef>
                <a:spcPts val="0"/>
              </a:spcBef>
              <a:spcAft>
                <a:spcPts val="0"/>
              </a:spcAft>
              <a:buClr>
                <a:schemeClr val="dk1"/>
              </a:buClr>
              <a:buSzPts val="1800"/>
              <a:buFont typeface="Calibri"/>
              <a:buAutoNum type="arabicPeriod"/>
            </a:pPr>
            <a:r>
              <a:rPr lang="zh-CN" b="0" i="0" u="none" strike="noStrike">
                <a:latin typeface="Arial"/>
                <a:ea typeface="Arial"/>
                <a:cs typeface="Arial"/>
                <a:sym typeface="Arial"/>
              </a:rPr>
              <a:t>for each prompt, calculate the knowledge attribution scores of neurons; </a:t>
            </a:r>
            <a:endParaRPr/>
          </a:p>
          <a:p>
            <a:pPr marL="342900" lvl="0" indent="-342900" algn="l" rtl="0">
              <a:lnSpc>
                <a:spcPct val="100000"/>
              </a:lnSpc>
              <a:spcBef>
                <a:spcPts val="0"/>
              </a:spcBef>
              <a:spcAft>
                <a:spcPts val="0"/>
              </a:spcAft>
              <a:buClr>
                <a:schemeClr val="dk1"/>
              </a:buClr>
              <a:buSzPts val="1800"/>
              <a:buFont typeface="Calibri"/>
              <a:buAutoNum type="arabicPeriod"/>
            </a:pPr>
            <a:r>
              <a:rPr lang="zh-CN" b="0" i="0" u="none" strike="noStrike">
                <a:latin typeface="Arial"/>
                <a:ea typeface="Arial"/>
                <a:cs typeface="Arial"/>
                <a:sym typeface="Arial"/>
              </a:rPr>
              <a:t>for each prompt, retain the neurons with attribution scores greater than the attribution threshold </a:t>
            </a:r>
            <a:r>
              <a:rPr lang="zh-CN" b="0" i="0" u="none" strike="noStrike">
                <a:solidFill>
                  <a:srgbClr val="FF0000"/>
                </a:solidFill>
                <a:latin typeface="Old Standard TT"/>
                <a:ea typeface="Old Standard TT"/>
                <a:cs typeface="Old Standard TT"/>
                <a:sym typeface="Old Standard TT"/>
              </a:rPr>
              <a:t>T</a:t>
            </a:r>
            <a:r>
              <a:rPr lang="zh-CN" b="0" i="0" u="none" strike="noStrike">
                <a:latin typeface="Arial"/>
                <a:ea typeface="Arial"/>
                <a:cs typeface="Arial"/>
                <a:sym typeface="Arial"/>
              </a:rPr>
              <a:t>, obtaining the coarse set of knowledge neurons; </a:t>
            </a:r>
            <a:endParaRPr/>
          </a:p>
          <a:p>
            <a:pPr marL="342900" lvl="0" indent="-342900" algn="l" rtl="0">
              <a:lnSpc>
                <a:spcPct val="100000"/>
              </a:lnSpc>
              <a:spcBef>
                <a:spcPts val="0"/>
              </a:spcBef>
              <a:spcAft>
                <a:spcPts val="0"/>
              </a:spcAft>
              <a:buClr>
                <a:schemeClr val="dk1"/>
              </a:buClr>
              <a:buSzPts val="1800"/>
              <a:buFont typeface="Calibri"/>
              <a:buAutoNum type="arabicPeriod"/>
            </a:pPr>
            <a:r>
              <a:rPr lang="zh-CN" b="0" i="0" u="none" strike="noStrike">
                <a:latin typeface="Arial"/>
                <a:ea typeface="Arial"/>
                <a:cs typeface="Arial"/>
                <a:sym typeface="Arial"/>
              </a:rPr>
              <a:t>considering all the coarse sets together, retain the knowledge neurons shared by more than </a:t>
            </a:r>
            <a:r>
              <a:rPr lang="zh-CN" b="0" i="0" u="none" strike="noStrike">
                <a:solidFill>
                  <a:srgbClr val="FF0000"/>
                </a:solidFill>
                <a:latin typeface="Old Standard TT"/>
                <a:ea typeface="Old Standard TT"/>
                <a:cs typeface="Old Standard TT"/>
                <a:sym typeface="Old Standard TT"/>
              </a:rPr>
              <a:t>p% </a:t>
            </a:r>
            <a:r>
              <a:rPr lang="zh-CN" b="0" i="0" u="none" strike="noStrike">
                <a:latin typeface="Arial"/>
                <a:ea typeface="Arial"/>
                <a:cs typeface="Arial"/>
                <a:sym typeface="Arial"/>
              </a:rPr>
              <a:t>prompts.</a:t>
            </a:r>
            <a:endParaRPr/>
          </a:p>
        </p:txBody>
      </p:sp>
      <p:sp>
        <p:nvSpPr>
          <p:cNvPr id="1763" name="Google Shape;1763;p103"/>
          <p:cNvSpPr txBox="1"/>
          <p:nvPr/>
        </p:nvSpPr>
        <p:spPr>
          <a:xfrm>
            <a:off x="0" y="4866501"/>
            <a:ext cx="10820400" cy="2769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3"/>
              </a:rPr>
              <a:t>Dai, Damai, et al. "Knowledge neurons in pretrained transformers." arXiv preprint arXiv:2104.08696 (2021).</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104"/>
          <p:cNvSpPr txBox="1">
            <a:spLocks noGrp="1"/>
          </p:cNvSpPr>
          <p:nvPr>
            <p:ph type="title"/>
          </p:nvPr>
        </p:nvSpPr>
        <p:spPr>
          <a:xfrm>
            <a:off x="2285003" y="505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Knowledge neuron editing</a:t>
            </a:r>
            <a:endParaRPr/>
          </a:p>
        </p:txBody>
      </p:sp>
      <p:sp>
        <p:nvSpPr>
          <p:cNvPr id="1770" name="Google Shape;1770;p104"/>
          <p:cNvSpPr txBox="1">
            <a:spLocks noGrp="1"/>
          </p:cNvSpPr>
          <p:nvPr>
            <p:ph type="body" idx="1"/>
          </p:nvPr>
        </p:nvSpPr>
        <p:spPr>
          <a:xfrm>
            <a:off x="743748" y="1180605"/>
            <a:ext cx="7657500" cy="1108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dirty="0"/>
              <a:t>Knowledge neuron: activations after the first feed-forward layer</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zh-CN" b="1" dirty="0"/>
              <a:t>Suppressing</a:t>
            </a:r>
            <a:r>
              <a:rPr lang="zh-CN" dirty="0"/>
              <a:t> the neuron: activation = 0</a:t>
            </a:r>
            <a:endParaRPr dirty="0"/>
          </a:p>
          <a:p>
            <a:pPr marL="0" lvl="0" indent="0" algn="l" rtl="0">
              <a:lnSpc>
                <a:spcPct val="100000"/>
              </a:lnSpc>
              <a:spcBef>
                <a:spcPts val="0"/>
              </a:spcBef>
              <a:spcAft>
                <a:spcPts val="0"/>
              </a:spcAft>
              <a:buSzPts val="1400"/>
              <a:buNone/>
            </a:pPr>
            <a:r>
              <a:rPr lang="zh-CN" b="1" dirty="0"/>
              <a:t>Amplifying</a:t>
            </a:r>
            <a:r>
              <a:rPr lang="zh-CN" dirty="0"/>
              <a:t> the neuron: activation = 2*activation</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1775"/>
        <p:cNvGrpSpPr/>
        <p:nvPr/>
      </p:nvGrpSpPr>
      <p:grpSpPr>
        <a:xfrm>
          <a:off x="0" y="0"/>
          <a:ext cx="0" cy="0"/>
          <a:chOff x="0" y="0"/>
          <a:chExt cx="0" cy="0"/>
        </a:xfrm>
      </p:grpSpPr>
      <p:sp>
        <p:nvSpPr>
          <p:cNvPr id="1776" name="Google Shape;1776;p105"/>
          <p:cNvSpPr txBox="1">
            <a:spLocks noGrp="1"/>
          </p:cNvSpPr>
          <p:nvPr>
            <p:ph type="title"/>
          </p:nvPr>
        </p:nvSpPr>
        <p:spPr>
          <a:xfrm>
            <a:off x="1205129" y="505350"/>
            <a:ext cx="6737400" cy="397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Suppressing or Amplifying Knowledge Neurons</a:t>
            </a:r>
            <a:endParaRPr/>
          </a:p>
        </p:txBody>
      </p:sp>
      <p:pic>
        <p:nvPicPr>
          <p:cNvPr id="1777" name="Google Shape;1777;p105"/>
          <p:cNvPicPr preferRelativeResize="0"/>
          <p:nvPr/>
        </p:nvPicPr>
        <p:blipFill rotWithShape="1">
          <a:blip r:embed="rId3">
            <a:alphaModFix/>
          </a:blip>
          <a:srcRect/>
          <a:stretch/>
        </p:blipFill>
        <p:spPr>
          <a:xfrm>
            <a:off x="1540964" y="1119821"/>
            <a:ext cx="6189429" cy="1502780"/>
          </a:xfrm>
          <a:prstGeom prst="rect">
            <a:avLst/>
          </a:prstGeom>
          <a:noFill/>
          <a:ln>
            <a:noFill/>
          </a:ln>
        </p:spPr>
      </p:pic>
      <p:pic>
        <p:nvPicPr>
          <p:cNvPr id="1778" name="Google Shape;1778;p105"/>
          <p:cNvPicPr preferRelativeResize="0"/>
          <p:nvPr/>
        </p:nvPicPr>
        <p:blipFill rotWithShape="1">
          <a:blip r:embed="rId4">
            <a:alphaModFix/>
          </a:blip>
          <a:srcRect/>
          <a:stretch/>
        </p:blipFill>
        <p:spPr>
          <a:xfrm>
            <a:off x="1543349" y="2929473"/>
            <a:ext cx="6164147" cy="1497358"/>
          </a:xfrm>
          <a:prstGeom prst="rect">
            <a:avLst/>
          </a:prstGeom>
          <a:noFill/>
          <a:ln>
            <a:noFill/>
          </a:ln>
        </p:spPr>
      </p:pic>
      <p:sp>
        <p:nvSpPr>
          <p:cNvPr id="1779" name="Google Shape;1779;p105"/>
          <p:cNvSpPr txBox="1"/>
          <p:nvPr/>
        </p:nvSpPr>
        <p:spPr>
          <a:xfrm>
            <a:off x="343662" y="4562959"/>
            <a:ext cx="8800338" cy="228268"/>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zh-CN" sz="1400" b="1" i="0" u="none" strike="noStrike" kern="0" cap="none" spc="0" normalizeH="0" baseline="0" noProof="0" dirty="0">
                <a:ln>
                  <a:noFill/>
                </a:ln>
                <a:solidFill>
                  <a:srgbClr val="000000"/>
                </a:solidFill>
                <a:effectLst/>
                <a:uLnTx/>
                <a:uFillTx/>
                <a:latin typeface="Cambria"/>
                <a:ea typeface="Cambria"/>
                <a:cs typeface="Cambria"/>
                <a:sym typeface="Cambria"/>
              </a:rPr>
              <a:t>Suppressing </a:t>
            </a:r>
            <a:r>
              <a:rPr kumimoji="0" lang="en-US" altLang="zh-CN"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the neurons </a:t>
            </a:r>
            <a:r>
              <a:rPr kumimoji="0" lang="en-US" altLang="zh-CN" sz="1400" b="1" i="0" u="none" strike="noStrike" kern="0" cap="none" spc="0" normalizeH="0" baseline="0" noProof="0" dirty="0">
                <a:ln>
                  <a:noFill/>
                </a:ln>
                <a:solidFill>
                  <a:srgbClr val="000000"/>
                </a:solidFill>
                <a:effectLst/>
                <a:uLnTx/>
                <a:uFillTx/>
                <a:latin typeface="Cambria"/>
                <a:ea typeface="Cambria"/>
                <a:cs typeface="Cambria"/>
                <a:sym typeface="Cambria"/>
              </a:rPr>
              <a:t>hurt </a:t>
            </a:r>
            <a:r>
              <a:rPr kumimoji="0" lang="en-US" altLang="zh-CN"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performance and </a:t>
            </a:r>
            <a:r>
              <a:rPr kumimoji="0" lang="en-US" altLang="zh-CN" sz="1400" b="1" i="0" u="none" strike="noStrike" kern="0" cap="none" spc="0" normalizeH="0" baseline="0" noProof="0" dirty="0">
                <a:ln>
                  <a:noFill/>
                </a:ln>
                <a:solidFill>
                  <a:srgbClr val="000000"/>
                </a:solidFill>
                <a:effectLst/>
                <a:uLnTx/>
                <a:uFillTx/>
                <a:latin typeface="Cambria"/>
                <a:ea typeface="Cambria"/>
                <a:cs typeface="Cambria"/>
                <a:sym typeface="Cambria"/>
              </a:rPr>
              <a:t>amplifying </a:t>
            </a:r>
            <a:r>
              <a:rPr kumimoji="0" lang="en-US" altLang="zh-CN"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neurons </a:t>
            </a:r>
            <a:r>
              <a:rPr kumimoji="0" lang="en-US" altLang="zh-CN" sz="1400" b="1" i="0" u="none" strike="noStrike" kern="0" cap="none" spc="0" normalizeH="0" baseline="0" noProof="0" dirty="0">
                <a:ln>
                  <a:noFill/>
                </a:ln>
                <a:solidFill>
                  <a:srgbClr val="000000"/>
                </a:solidFill>
                <a:effectLst/>
                <a:uLnTx/>
                <a:uFillTx/>
                <a:latin typeface="Cambria"/>
                <a:ea typeface="Cambria"/>
                <a:cs typeface="Cambria"/>
                <a:sym typeface="Cambria"/>
              </a:rPr>
              <a:t>increase </a:t>
            </a:r>
            <a:r>
              <a:rPr kumimoji="0" lang="en-US" altLang="zh-CN"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performance by up to 30% on average.</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
        <p:nvSpPr>
          <p:cNvPr id="1784" name="Google Shape;1784;p105"/>
          <p:cNvSpPr txBox="1"/>
          <p:nvPr/>
        </p:nvSpPr>
        <p:spPr>
          <a:xfrm>
            <a:off x="0" y="4866501"/>
            <a:ext cx="10820400" cy="2769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5"/>
              </a:rPr>
              <a:t>Dai, Damai, et al. "Knowledge neurons in pretrained transformers." arXiv preprint arXiv:2104.08696 (2021).</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789"/>
        <p:cNvGrpSpPr/>
        <p:nvPr/>
      </p:nvGrpSpPr>
      <p:grpSpPr>
        <a:xfrm>
          <a:off x="0" y="0"/>
          <a:ext cx="0" cy="0"/>
          <a:chOff x="0" y="0"/>
          <a:chExt cx="0" cy="0"/>
        </a:xfrm>
      </p:grpSpPr>
      <p:sp>
        <p:nvSpPr>
          <p:cNvPr id="1790" name="Google Shape;1790;p106"/>
          <p:cNvSpPr txBox="1">
            <a:spLocks noGrp="1"/>
          </p:cNvSpPr>
          <p:nvPr>
            <p:ph type="title"/>
          </p:nvPr>
        </p:nvSpPr>
        <p:spPr>
          <a:xfrm>
            <a:off x="3657600" y="7429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Drawback</a:t>
            </a:r>
            <a:endParaRPr/>
          </a:p>
        </p:txBody>
      </p:sp>
      <p:pic>
        <p:nvPicPr>
          <p:cNvPr id="1791" name="Google Shape;1791;p106"/>
          <p:cNvPicPr preferRelativeResize="0"/>
          <p:nvPr/>
        </p:nvPicPr>
        <p:blipFill rotWithShape="1">
          <a:blip r:embed="rId3">
            <a:alphaModFix/>
          </a:blip>
          <a:srcRect/>
          <a:stretch/>
        </p:blipFill>
        <p:spPr>
          <a:xfrm>
            <a:off x="-76200" y="1428750"/>
            <a:ext cx="9144002" cy="2463363"/>
          </a:xfrm>
          <a:prstGeom prst="rect">
            <a:avLst/>
          </a:prstGeom>
          <a:noFill/>
          <a:ln>
            <a:noFill/>
          </a:ln>
        </p:spPr>
      </p:pic>
      <p:sp>
        <p:nvSpPr>
          <p:cNvPr id="1792" name="Google Shape;1792;p106"/>
          <p:cNvSpPr txBox="1"/>
          <p:nvPr/>
        </p:nvSpPr>
        <p:spPr>
          <a:xfrm>
            <a:off x="1450521" y="1276350"/>
            <a:ext cx="76962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CN" sz="1800" b="0" i="0" u="none" strike="noStrike" kern="0" cap="none" spc="0" normalizeH="0" baseline="0" noProof="0">
                <a:ln>
                  <a:noFill/>
                </a:ln>
                <a:solidFill>
                  <a:srgbClr val="FF0000"/>
                </a:solidFill>
                <a:effectLst/>
                <a:uLnTx/>
                <a:uFillTx/>
                <a:latin typeface="Arial"/>
                <a:ea typeface="Arial"/>
                <a:cs typeface="Arial"/>
                <a:sym typeface="Arial"/>
              </a:rPr>
              <a:t>Sensitive</a:t>
            </a:r>
            <a:r>
              <a:rPr kumimoji="0" lang="zh-CN" altLang="en-US" sz="1800" b="0" i="0" u="none" strike="noStrike" kern="0" cap="none" spc="0" normalizeH="0" baseline="0" noProof="0">
                <a:ln>
                  <a:noFill/>
                </a:ln>
                <a:solidFill>
                  <a:srgbClr val="000000"/>
                </a:solidFill>
                <a:effectLst/>
                <a:uLnTx/>
                <a:uFillTx/>
                <a:latin typeface="Arial"/>
                <a:ea typeface="Arial"/>
                <a:cs typeface="Arial"/>
                <a:sym typeface="Arial"/>
              </a:rPr>
              <a:t> </a:t>
            </a:r>
            <a:r>
              <a:rPr kumimoji="0" lang="en-US" altLang="zh-CN" sz="1800" b="0" i="0" u="none" strike="noStrike" kern="0" cap="none" spc="0" normalizeH="0" baseline="0" noProof="0">
                <a:ln>
                  <a:noFill/>
                </a:ln>
                <a:solidFill>
                  <a:srgbClr val="000000"/>
                </a:solidFill>
                <a:effectLst/>
                <a:uLnTx/>
                <a:uFillTx/>
                <a:latin typeface="Arial"/>
                <a:ea typeface="Arial"/>
                <a:cs typeface="Arial"/>
                <a:sym typeface="Arial"/>
              </a:rPr>
              <a:t>to the format of the prompt collected by human</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93" name="Google Shape;1793;p106"/>
          <p:cNvSpPr txBox="1"/>
          <p:nvPr/>
        </p:nvSpPr>
        <p:spPr>
          <a:xfrm>
            <a:off x="0" y="4866501"/>
            <a:ext cx="10820400" cy="2769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altLang="zh-CN" sz="1200" b="0" i="0" u="sng" strike="noStrike" kern="0" cap="none" spc="0" normalizeH="0" baseline="0" noProof="0">
                <a:ln>
                  <a:noFill/>
                </a:ln>
                <a:solidFill>
                  <a:srgbClr val="0097A7"/>
                </a:solidFill>
                <a:effectLst/>
                <a:uLnTx/>
                <a:uFillTx/>
                <a:latin typeface="Times New Roman"/>
                <a:ea typeface="Times New Roman"/>
                <a:cs typeface="Times New Roman"/>
                <a:sym typeface="Times New Roman"/>
                <a:hlinkClick r:id="rId4"/>
              </a:rPr>
              <a:t>Dai, Damai, et al. "Knowledge neurons in pretrained transformers." arXiv preprint arXiv:2104.08696 (2021).</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1"/>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zh-CN" b="1">
                <a:latin typeface="Times New Roman"/>
                <a:ea typeface="Times New Roman"/>
                <a:cs typeface="Times New Roman"/>
                <a:sym typeface="Times New Roman"/>
              </a:rPr>
              <a:t>Today’s Lecture</a:t>
            </a:r>
            <a:endParaRPr b="1">
              <a:latin typeface="Times New Roman"/>
              <a:ea typeface="Times New Roman"/>
              <a:cs typeface="Times New Roman"/>
              <a:sym typeface="Times New Roman"/>
            </a:endParaRPr>
          </a:p>
        </p:txBody>
      </p:sp>
      <p:sp>
        <p:nvSpPr>
          <p:cNvPr id="149" name="Google Shape;149;p31"/>
          <p:cNvSpPr txBox="1">
            <a:spLocks noGrp="1"/>
          </p:cNvSpPr>
          <p:nvPr>
            <p:ph type="body" idx="1"/>
          </p:nvPr>
        </p:nvSpPr>
        <p:spPr>
          <a:xfrm>
            <a:off x="628650" y="1070369"/>
            <a:ext cx="7886700" cy="3263400"/>
          </a:xfrm>
          <a:prstGeom prst="rect">
            <a:avLst/>
          </a:prstGeom>
          <a:noFill/>
          <a:ln>
            <a:noFill/>
          </a:ln>
        </p:spPr>
        <p:txBody>
          <a:bodyPr spcFirstLastPara="1" wrap="square" lIns="0" tIns="0" rIns="0" bIns="0" anchor="t" anchorCtr="0">
            <a:normAutofit/>
          </a:bodyPr>
          <a:lstStyle/>
          <a:p>
            <a:pPr marL="457200" lvl="0" indent="-457200" algn="l" rtl="0">
              <a:lnSpc>
                <a:spcPct val="100000"/>
              </a:lnSpc>
              <a:spcBef>
                <a:spcPts val="0"/>
              </a:spcBef>
              <a:spcAft>
                <a:spcPts val="0"/>
              </a:spcAft>
              <a:buClr>
                <a:srgbClr val="E1D3CB"/>
              </a:buClr>
              <a:buSzPts val="2700"/>
              <a:buFont typeface="Arial"/>
              <a:buChar char="•"/>
            </a:pPr>
            <a:r>
              <a:rPr lang="zh-CN" sz="2700" b="1">
                <a:solidFill>
                  <a:srgbClr val="E1D3CB"/>
                </a:solidFill>
                <a:latin typeface="Times New Roman"/>
                <a:ea typeface="Times New Roman"/>
                <a:cs typeface="Times New Roman"/>
                <a:sym typeface="Times New Roman"/>
              </a:rPr>
              <a:t>Knowledge</a:t>
            </a:r>
            <a:r>
              <a:rPr lang="zh-CN" sz="2700">
                <a:solidFill>
                  <a:srgbClr val="E1D3CB"/>
                </a:solidFill>
                <a:latin typeface="Times New Roman"/>
                <a:ea typeface="Times New Roman"/>
                <a:cs typeface="Times New Roman"/>
                <a:sym typeface="Times New Roman"/>
              </a:rPr>
              <a:t> in LLMs</a:t>
            </a:r>
            <a:endParaRPr>
              <a:solidFill>
                <a:srgbClr val="E1D3CB"/>
              </a:solidFill>
            </a:endParaRPr>
          </a:p>
          <a:p>
            <a:pPr marL="800100" lvl="1" indent="-342900" algn="l" rtl="0">
              <a:lnSpc>
                <a:spcPct val="100000"/>
              </a:lnSpc>
              <a:spcBef>
                <a:spcPts val="0"/>
              </a:spcBef>
              <a:spcAft>
                <a:spcPts val="0"/>
              </a:spcAft>
              <a:buClr>
                <a:srgbClr val="CBCBCD"/>
              </a:buClr>
              <a:buSzPts val="2100"/>
              <a:buFont typeface="Arial"/>
              <a:buChar char="•"/>
            </a:pPr>
            <a:r>
              <a:rPr lang="zh-CN" sz="2100">
                <a:solidFill>
                  <a:srgbClr val="CBCBCD"/>
                </a:solidFill>
                <a:latin typeface="Times New Roman"/>
                <a:ea typeface="Times New Roman"/>
                <a:cs typeface="Times New Roman"/>
                <a:sym typeface="Times New Roman"/>
              </a:rPr>
              <a:t>LLMs as knowledge bases</a:t>
            </a:r>
            <a:endParaRPr>
              <a:solidFill>
                <a:srgbClr val="CBCBCD"/>
              </a:solidFill>
            </a:endParaRPr>
          </a:p>
          <a:p>
            <a:pPr marL="800100" lvl="1" indent="-342900" algn="l" rtl="0">
              <a:lnSpc>
                <a:spcPct val="100000"/>
              </a:lnSpc>
              <a:spcBef>
                <a:spcPts val="0"/>
              </a:spcBef>
              <a:spcAft>
                <a:spcPts val="0"/>
              </a:spcAft>
              <a:buClr>
                <a:srgbClr val="E1D3CB"/>
              </a:buClr>
              <a:buSzPts val="2100"/>
              <a:buFont typeface="Arial"/>
              <a:buChar char="•"/>
            </a:pPr>
            <a:r>
              <a:rPr lang="zh-CN" sz="2100">
                <a:solidFill>
                  <a:srgbClr val="E1D3CB"/>
                </a:solidFill>
                <a:latin typeface="Times New Roman"/>
                <a:ea typeface="Times New Roman"/>
                <a:cs typeface="Times New Roman"/>
                <a:sym typeface="Times New Roman"/>
              </a:rPr>
              <a:t>Facts updating for LLMs</a:t>
            </a:r>
            <a:endParaRPr>
              <a:solidFill>
                <a:srgbClr val="E1D3CB"/>
              </a:solidFill>
            </a:endParaRPr>
          </a:p>
          <a:p>
            <a:pPr marL="457200" lvl="0" indent="-457200" algn="l" rtl="0">
              <a:lnSpc>
                <a:spcPct val="100000"/>
              </a:lnSpc>
              <a:spcBef>
                <a:spcPts val="0"/>
              </a:spcBef>
              <a:spcAft>
                <a:spcPts val="0"/>
              </a:spcAft>
              <a:buClr>
                <a:schemeClr val="dk1"/>
              </a:buClr>
              <a:buSzPts val="2700"/>
              <a:buFont typeface="Arial"/>
              <a:buChar char="•"/>
            </a:pPr>
            <a:r>
              <a:rPr lang="zh-CN" sz="2700" b="1">
                <a:latin typeface="Times New Roman"/>
                <a:ea typeface="Times New Roman"/>
                <a:cs typeface="Times New Roman"/>
                <a:sym typeface="Times New Roman"/>
              </a:rPr>
              <a:t>Reasoning</a:t>
            </a:r>
            <a:r>
              <a:rPr lang="zh-CN" sz="2700">
                <a:latin typeface="Times New Roman"/>
                <a:ea typeface="Times New Roman"/>
                <a:cs typeface="Times New Roman"/>
                <a:sym typeface="Times New Roman"/>
              </a:rPr>
              <a:t> in LLMs</a:t>
            </a:r>
            <a:endParaRPr/>
          </a:p>
          <a:p>
            <a:pPr marL="800100" lvl="1" indent="-342900" algn="l" rtl="0">
              <a:lnSpc>
                <a:spcPct val="100000"/>
              </a:lnSpc>
              <a:spcBef>
                <a:spcPts val="0"/>
              </a:spcBef>
              <a:spcAft>
                <a:spcPts val="0"/>
              </a:spcAft>
              <a:buClr>
                <a:schemeClr val="dk1"/>
              </a:buClr>
              <a:buSzPts val="2100"/>
              <a:buFont typeface="Arial"/>
              <a:buChar char="•"/>
            </a:pPr>
            <a:r>
              <a:rPr lang="zh-CN" sz="2100">
                <a:solidFill>
                  <a:schemeClr val="dk1"/>
                </a:solidFill>
                <a:latin typeface="Times New Roman"/>
                <a:ea typeface="Times New Roman"/>
                <a:cs typeface="Times New Roman"/>
                <a:sym typeface="Times New Roman"/>
              </a:rPr>
              <a:t>Why reasoning is special in LLMs</a:t>
            </a:r>
            <a:endParaRPr>
              <a:solidFill>
                <a:schemeClr val="dk1"/>
              </a:solidFill>
            </a:endParaRPr>
          </a:p>
          <a:p>
            <a:pPr marL="457200" lvl="0" indent="-457200" algn="l" rtl="0">
              <a:lnSpc>
                <a:spcPct val="100000"/>
              </a:lnSpc>
              <a:spcBef>
                <a:spcPts val="0"/>
              </a:spcBef>
              <a:spcAft>
                <a:spcPts val="0"/>
              </a:spcAft>
              <a:buClr>
                <a:srgbClr val="CBCBCB"/>
              </a:buClr>
              <a:buSzPts val="2700"/>
              <a:buChar char="•"/>
            </a:pPr>
            <a:r>
              <a:rPr lang="zh-CN" sz="2700" b="1">
                <a:solidFill>
                  <a:srgbClr val="CBCBCB"/>
                </a:solidFill>
              </a:rPr>
              <a:t>Prompt </a:t>
            </a:r>
            <a:r>
              <a:rPr lang="zh-CN" sz="2100">
                <a:solidFill>
                  <a:srgbClr val="CBCBCB"/>
                </a:solidFill>
              </a:rPr>
              <a:t>Techniques for better reasoning</a:t>
            </a:r>
            <a:endParaRPr>
              <a:solidFill>
                <a:srgbClr val="CBCBCB"/>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2400">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2"/>
          <p:cNvSpPr txBox="1">
            <a:spLocks noGrp="1"/>
          </p:cNvSpPr>
          <p:nvPr>
            <p:ph type="title"/>
          </p:nvPr>
        </p:nvSpPr>
        <p:spPr>
          <a:xfrm>
            <a:off x="311700" y="445025"/>
            <a:ext cx="8908500" cy="851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91"/>
              <a:buFont typeface="Arial"/>
              <a:buNone/>
            </a:pPr>
            <a:r>
              <a:rPr lang="zh-CN" sz="1887" b="1">
                <a:latin typeface="Arial"/>
                <a:ea typeface="Arial"/>
                <a:cs typeface="Arial"/>
                <a:sym typeface="Arial"/>
              </a:rPr>
              <a:t>Human Intelligence vs. </a:t>
            </a:r>
            <a:r>
              <a:rPr lang="zh-CN" sz="2000" b="1">
                <a:latin typeface="Arial"/>
                <a:ea typeface="Arial"/>
                <a:cs typeface="Arial"/>
                <a:sym typeface="Arial"/>
              </a:rPr>
              <a:t>Traditional</a:t>
            </a:r>
            <a:r>
              <a:rPr lang="zh-CN" sz="1887" b="1">
                <a:latin typeface="Arial"/>
                <a:ea typeface="Arial"/>
                <a:cs typeface="Arial"/>
                <a:sym typeface="Arial"/>
              </a:rPr>
              <a:t> machine learning? (Hint: reasoning)</a:t>
            </a:r>
            <a:endParaRPr sz="1887" b="1">
              <a:latin typeface="Arial"/>
              <a:ea typeface="Arial"/>
              <a:cs typeface="Arial"/>
              <a:sym typeface="Arial"/>
            </a:endParaRPr>
          </a:p>
        </p:txBody>
      </p:sp>
      <p:graphicFrame>
        <p:nvGraphicFramePr>
          <p:cNvPr id="155" name="Google Shape;155;p32"/>
          <p:cNvGraphicFramePr/>
          <p:nvPr/>
        </p:nvGraphicFramePr>
        <p:xfrm>
          <a:off x="470700" y="1440100"/>
          <a:ext cx="3329750" cy="548610"/>
        </p:xfrm>
        <a:graphic>
          <a:graphicData uri="http://schemas.openxmlformats.org/drawingml/2006/table">
            <a:tbl>
              <a:tblPr>
                <a:noFill/>
                <a:tableStyleId>{5FCC3969-E081-4E01-AE5B-859A6A7E5BDE}</a:tableStyleId>
              </a:tblPr>
              <a:tblGrid>
                <a:gridCol w="1649200">
                  <a:extLst>
                    <a:ext uri="{9D8B030D-6E8A-4147-A177-3AD203B41FA5}">
                      <a16:colId xmlns:a16="http://schemas.microsoft.com/office/drawing/2014/main" val="20000"/>
                    </a:ext>
                  </a:extLst>
                </a:gridCol>
                <a:gridCol w="16805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Humans</a:t>
                      </a:r>
                      <a:endParaRPr sz="1200"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Traditional machine learning</a:t>
                      </a:r>
                      <a:endParaRPr sz="1200"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pSp>
        <p:nvGrpSpPr>
          <p:cNvPr id="156" name="Google Shape;156;p32"/>
          <p:cNvGrpSpPr/>
          <p:nvPr/>
        </p:nvGrpSpPr>
        <p:grpSpPr>
          <a:xfrm>
            <a:off x="4309400" y="1440100"/>
            <a:ext cx="3624300" cy="2160000"/>
            <a:chOff x="4309400" y="1440100"/>
            <a:chExt cx="3624300" cy="2160000"/>
          </a:xfrm>
        </p:grpSpPr>
        <p:pic>
          <p:nvPicPr>
            <p:cNvPr id="157" name="Google Shape;157;p32"/>
            <p:cNvPicPr preferRelativeResize="0"/>
            <p:nvPr/>
          </p:nvPicPr>
          <p:blipFill rotWithShape="1">
            <a:blip r:embed="rId3">
              <a:alphaModFix/>
            </a:blip>
            <a:srcRect/>
            <a:stretch/>
          </p:blipFill>
          <p:spPr>
            <a:xfrm>
              <a:off x="4322225" y="1440100"/>
              <a:ext cx="3598674" cy="1811425"/>
            </a:xfrm>
            <a:prstGeom prst="rect">
              <a:avLst/>
            </a:prstGeom>
            <a:noFill/>
            <a:ln w="19050" cap="flat" cmpd="sng">
              <a:solidFill>
                <a:schemeClr val="dk2"/>
              </a:solidFill>
              <a:prstDash val="solid"/>
              <a:round/>
              <a:headEnd type="none" w="sm" len="sm"/>
              <a:tailEnd type="none" w="sm" len="sm"/>
            </a:ln>
          </p:spPr>
        </p:pic>
        <p:sp>
          <p:nvSpPr>
            <p:cNvPr id="158" name="Google Shape;158;p32"/>
            <p:cNvSpPr txBox="1"/>
            <p:nvPr/>
          </p:nvSpPr>
          <p:spPr>
            <a:xfrm>
              <a:off x="4309400" y="3261400"/>
              <a:ext cx="36243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000"/>
                <a:buFont typeface="Arial"/>
                <a:buNone/>
              </a:pPr>
              <a:r>
                <a:rPr lang="zh-CN" sz="1000" b="0" i="1" u="none" strike="noStrike" cap="none">
                  <a:solidFill>
                    <a:schemeClr val="dk1"/>
                  </a:solidFill>
                  <a:latin typeface="Arial"/>
                  <a:ea typeface="Arial"/>
                  <a:cs typeface="Arial"/>
                  <a:sym typeface="Arial"/>
                </a:rPr>
                <a:t>Teaching language models to reason (Denny Zhou), 2023.</a:t>
              </a:r>
              <a:endParaRPr sz="800" b="0" i="0" u="none" strike="noStrike" cap="none">
                <a:solidFill>
                  <a:schemeClr val="dk1"/>
                </a:solidFill>
                <a:latin typeface="Calibri"/>
                <a:ea typeface="Calibri"/>
                <a:cs typeface="Calibri"/>
                <a:sym typeface="Calibri"/>
              </a:endParaRPr>
            </a:p>
          </p:txBody>
        </p:sp>
      </p:grpSp>
      <p:graphicFrame>
        <p:nvGraphicFramePr>
          <p:cNvPr id="159" name="Google Shape;159;p32"/>
          <p:cNvGraphicFramePr/>
          <p:nvPr/>
        </p:nvGraphicFramePr>
        <p:xfrm>
          <a:off x="470700" y="2529700"/>
          <a:ext cx="3329750" cy="548610"/>
        </p:xfrm>
        <a:graphic>
          <a:graphicData uri="http://schemas.openxmlformats.org/drawingml/2006/table">
            <a:tbl>
              <a:tblPr>
                <a:noFill/>
                <a:tableStyleId>{5FCC3969-E081-4E01-AE5B-859A6A7E5BDE}</a:tableStyleId>
              </a:tblPr>
              <a:tblGrid>
                <a:gridCol w="1649200">
                  <a:extLst>
                    <a:ext uri="{9D8B030D-6E8A-4147-A177-3AD203B41FA5}">
                      <a16:colId xmlns:a16="http://schemas.microsoft.com/office/drawing/2014/main" val="20000"/>
                    </a:ext>
                  </a:extLst>
                </a:gridCol>
                <a:gridCol w="16805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Can explain rationale for decisions</a:t>
                      </a:r>
                      <a:endParaRPr sz="1200"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Black box</a:t>
                      </a:r>
                      <a:endParaRPr sz="1200"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60" name="Google Shape;160;p32"/>
          <p:cNvGraphicFramePr/>
          <p:nvPr/>
        </p:nvGraphicFramePr>
        <p:xfrm>
          <a:off x="470700" y="1984900"/>
          <a:ext cx="3329750" cy="548610"/>
        </p:xfrm>
        <a:graphic>
          <a:graphicData uri="http://schemas.openxmlformats.org/drawingml/2006/table">
            <a:tbl>
              <a:tblPr>
                <a:noFill/>
                <a:tableStyleId>{5FCC3969-E081-4E01-AE5B-859A6A7E5BDE}</a:tableStyleId>
              </a:tblPr>
              <a:tblGrid>
                <a:gridCol w="1649200">
                  <a:extLst>
                    <a:ext uri="{9D8B030D-6E8A-4147-A177-3AD203B41FA5}">
                      <a16:colId xmlns:a16="http://schemas.microsoft.com/office/drawing/2014/main" val="20000"/>
                    </a:ext>
                  </a:extLst>
                </a:gridCol>
                <a:gridCol w="16805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Learn from only a few examples</a:t>
                      </a:r>
                      <a:endParaRPr sz="1200"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Large amounts of labeled data</a:t>
                      </a:r>
                      <a:endParaRPr sz="1200"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61" name="Google Shape;161;p32"/>
          <p:cNvGraphicFramePr/>
          <p:nvPr>
            <p:extLst>
              <p:ext uri="{D42A27DB-BD31-4B8C-83A1-F6EECF244321}">
                <p14:modId xmlns:p14="http://schemas.microsoft.com/office/powerpoint/2010/main" val="400957068"/>
              </p:ext>
            </p:extLst>
          </p:nvPr>
        </p:nvGraphicFramePr>
        <p:xfrm>
          <a:off x="470700" y="3070690"/>
          <a:ext cx="3329750" cy="548610"/>
        </p:xfrm>
        <a:graphic>
          <a:graphicData uri="http://schemas.openxmlformats.org/drawingml/2006/table">
            <a:tbl>
              <a:tblPr>
                <a:noFill/>
                <a:tableStyleId>{5FCC3969-E081-4E01-AE5B-859A6A7E5BDE}</a:tableStyleId>
              </a:tblPr>
              <a:tblGrid>
                <a:gridCol w="1649200">
                  <a:extLst>
                    <a:ext uri="{9D8B030D-6E8A-4147-A177-3AD203B41FA5}">
                      <a16:colId xmlns:a16="http://schemas.microsoft.com/office/drawing/2014/main" val="20000"/>
                    </a:ext>
                  </a:extLst>
                </a:gridCol>
                <a:gridCol w="16805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zh-CN" sz="1200" b="0" i="0" u="none" strike="noStrike" cap="none" dirty="0">
                          <a:solidFill>
                            <a:srgbClr val="000000"/>
                          </a:solidFill>
                          <a:latin typeface="Arial"/>
                          <a:ea typeface="Arial"/>
                          <a:cs typeface="Arial"/>
                          <a:sym typeface="Arial"/>
                        </a:rPr>
                        <a:t>Out-of-distribution generalization</a:t>
                      </a:r>
                      <a:endParaRPr sz="1200" b="0" i="0" u="none" strike="noStrike" cap="none" dirty="0">
                        <a:solidFill>
                          <a:srgbClr val="000000"/>
                        </a:solidFill>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b="0" i="0" u="none" strike="noStrike" cap="none" dirty="0">
                          <a:solidFill>
                            <a:srgbClr val="000000"/>
                          </a:solidFill>
                          <a:latin typeface="Arial"/>
                          <a:ea typeface="Arial"/>
                          <a:cs typeface="Arial"/>
                          <a:sym typeface="Arial"/>
                        </a:rPr>
                        <a:t>No</a:t>
                      </a:r>
                      <a:endParaRPr sz="1400" u="none" strike="noStrike" cap="none" dirty="0"/>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0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fade">
                                      <p:cBhvr>
                                        <p:cTn id="12" dur="1000"/>
                                        <p:tgtEl>
                                          <p:spTgt spid="15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1"/>
                                        </p:tgtEl>
                                        <p:attrNameLst>
                                          <p:attrName>style.visibility</p:attrName>
                                        </p:attrNameLst>
                                      </p:cBhvr>
                                      <p:to>
                                        <p:strVal val="visible"/>
                                      </p:to>
                                    </p:set>
                                    <p:animEffect transition="in" filter="fade">
                                      <p:cBhvr>
                                        <p:cTn id="21" dur="10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3"/>
          <p:cNvSpPr/>
          <p:nvPr/>
        </p:nvSpPr>
        <p:spPr>
          <a:xfrm>
            <a:off x="4733725" y="2629125"/>
            <a:ext cx="1149900" cy="721200"/>
          </a:xfrm>
          <a:prstGeom prst="roundRect">
            <a:avLst>
              <a:gd name="adj" fmla="val 16667"/>
            </a:avLst>
          </a:prstGeom>
          <a:solidFill>
            <a:srgbClr val="D0E0E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Calibri"/>
              <a:buNone/>
            </a:pPr>
            <a:r>
              <a:rPr lang="zh-CN" sz="1800" b="0" i="0" u="none" strike="noStrike" cap="none">
                <a:solidFill>
                  <a:schemeClr val="dk1"/>
                </a:solidFill>
                <a:latin typeface="Calibri"/>
                <a:ea typeface="Calibri"/>
                <a:cs typeface="Calibri"/>
                <a:sym typeface="Calibri"/>
              </a:rPr>
              <a:t>Language Model</a:t>
            </a:r>
            <a:endParaRPr sz="1800" b="0" i="0" u="none" strike="noStrike" cap="none">
              <a:solidFill>
                <a:schemeClr val="dk1"/>
              </a:solidFill>
              <a:latin typeface="Calibri"/>
              <a:ea typeface="Calibri"/>
              <a:cs typeface="Calibri"/>
              <a:sym typeface="Calibri"/>
            </a:endParaRPr>
          </a:p>
        </p:txBody>
      </p:sp>
      <p:grpSp>
        <p:nvGrpSpPr>
          <p:cNvPr id="167" name="Google Shape;167;p33"/>
          <p:cNvGrpSpPr/>
          <p:nvPr/>
        </p:nvGrpSpPr>
        <p:grpSpPr>
          <a:xfrm>
            <a:off x="2359725" y="1045175"/>
            <a:ext cx="6211075" cy="1944550"/>
            <a:chOff x="2359725" y="892775"/>
            <a:chExt cx="6211075" cy="1944550"/>
          </a:xfrm>
        </p:grpSpPr>
        <p:sp>
          <p:nvSpPr>
            <p:cNvPr id="168" name="Google Shape;168;p33"/>
            <p:cNvSpPr/>
            <p:nvPr/>
          </p:nvSpPr>
          <p:spPr>
            <a:xfrm>
              <a:off x="2359725" y="999675"/>
              <a:ext cx="1651800" cy="5019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This movie sucks!</a:t>
              </a:r>
              <a:endParaRPr sz="1200" b="0" i="0" u="none" strike="noStrike" cap="none">
                <a:solidFill>
                  <a:schemeClr val="dk1"/>
                </a:solidFill>
                <a:latin typeface="Arial"/>
                <a:ea typeface="Arial"/>
                <a:cs typeface="Arial"/>
                <a:sym typeface="Arial"/>
              </a:endParaRPr>
            </a:p>
          </p:txBody>
        </p:sp>
        <p:cxnSp>
          <p:nvCxnSpPr>
            <p:cNvPr id="169" name="Google Shape;169;p33"/>
            <p:cNvCxnSpPr>
              <a:stCxn id="168" idx="3"/>
              <a:endCxn id="166" idx="1"/>
            </p:cNvCxnSpPr>
            <p:nvPr/>
          </p:nvCxnSpPr>
          <p:spPr>
            <a:xfrm>
              <a:off x="4011525" y="1250625"/>
              <a:ext cx="722100" cy="1586700"/>
            </a:xfrm>
            <a:prstGeom prst="curvedConnector3">
              <a:avLst>
                <a:gd name="adj1" fmla="val 50007"/>
              </a:avLst>
            </a:prstGeom>
            <a:noFill/>
            <a:ln w="9525" cap="flat" cmpd="sng">
              <a:solidFill>
                <a:srgbClr val="595959"/>
              </a:solidFill>
              <a:prstDash val="solid"/>
              <a:round/>
              <a:headEnd type="none" w="sm" len="sm"/>
              <a:tailEnd type="none" w="sm" len="sm"/>
            </a:ln>
          </p:spPr>
        </p:cxnSp>
        <p:sp>
          <p:nvSpPr>
            <p:cNvPr id="170" name="Google Shape;170;p33"/>
            <p:cNvSpPr/>
            <p:nvPr/>
          </p:nvSpPr>
          <p:spPr>
            <a:xfrm>
              <a:off x="6548500" y="892775"/>
              <a:ext cx="2022300" cy="5019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Sentiment = negative</a:t>
              </a:r>
              <a:endParaRPr sz="1200" b="0" i="0" u="none" strike="noStrike" cap="none">
                <a:solidFill>
                  <a:schemeClr val="dk1"/>
                </a:solidFill>
                <a:latin typeface="Arial"/>
                <a:ea typeface="Arial"/>
                <a:cs typeface="Arial"/>
                <a:sym typeface="Arial"/>
              </a:endParaRPr>
            </a:p>
          </p:txBody>
        </p:sp>
        <p:cxnSp>
          <p:nvCxnSpPr>
            <p:cNvPr id="171" name="Google Shape;171;p33"/>
            <p:cNvCxnSpPr>
              <a:stCxn id="170" idx="1"/>
              <a:endCxn id="166" idx="3"/>
            </p:cNvCxnSpPr>
            <p:nvPr/>
          </p:nvCxnSpPr>
          <p:spPr>
            <a:xfrm flipH="1">
              <a:off x="5883700" y="1143725"/>
              <a:ext cx="664800" cy="1693500"/>
            </a:xfrm>
            <a:prstGeom prst="curvedConnector3">
              <a:avLst>
                <a:gd name="adj1" fmla="val 50006"/>
              </a:avLst>
            </a:prstGeom>
            <a:noFill/>
            <a:ln w="9525" cap="flat" cmpd="sng">
              <a:solidFill>
                <a:srgbClr val="595959"/>
              </a:solidFill>
              <a:prstDash val="solid"/>
              <a:round/>
              <a:headEnd type="none" w="sm" len="sm"/>
              <a:tailEnd type="none" w="sm" len="sm"/>
            </a:ln>
          </p:spPr>
        </p:cxnSp>
      </p:grpSp>
      <p:grpSp>
        <p:nvGrpSpPr>
          <p:cNvPr id="172" name="Google Shape;172;p33"/>
          <p:cNvGrpSpPr/>
          <p:nvPr/>
        </p:nvGrpSpPr>
        <p:grpSpPr>
          <a:xfrm>
            <a:off x="1852675" y="1615028"/>
            <a:ext cx="6676800" cy="1374750"/>
            <a:chOff x="1852675" y="1462628"/>
            <a:chExt cx="6676800" cy="1374750"/>
          </a:xfrm>
        </p:grpSpPr>
        <p:sp>
          <p:nvSpPr>
            <p:cNvPr id="173" name="Google Shape;173;p33"/>
            <p:cNvSpPr/>
            <p:nvPr/>
          </p:nvSpPr>
          <p:spPr>
            <a:xfrm>
              <a:off x="1852675" y="1547078"/>
              <a:ext cx="1756200" cy="603300"/>
            </a:xfrm>
            <a:prstGeom prst="rect">
              <a:avLst/>
            </a:prstGeom>
            <a:solidFill>
              <a:srgbClr val="EAD1D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Novak Djokovic wins the 2021 French Open.</a:t>
              </a:r>
              <a:endParaRPr sz="1200" b="0" i="0" u="none" strike="noStrike" cap="none">
                <a:solidFill>
                  <a:schemeClr val="dk1"/>
                </a:solidFill>
                <a:latin typeface="Arial"/>
                <a:ea typeface="Arial"/>
                <a:cs typeface="Arial"/>
                <a:sym typeface="Arial"/>
              </a:endParaRPr>
            </a:p>
          </p:txBody>
        </p:sp>
        <p:sp>
          <p:nvSpPr>
            <p:cNvPr id="174" name="Google Shape;174;p33"/>
            <p:cNvSpPr/>
            <p:nvPr/>
          </p:nvSpPr>
          <p:spPr>
            <a:xfrm>
              <a:off x="6773275" y="1462628"/>
              <a:ext cx="1756200" cy="603300"/>
            </a:xfrm>
            <a:prstGeom prst="rect">
              <a:avLst/>
            </a:prstGeom>
            <a:solidFill>
              <a:srgbClr val="EAD1D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Topic = Tennis</a:t>
              </a:r>
              <a:endParaRPr sz="1200" b="0" i="0" u="none" strike="noStrike" cap="none">
                <a:solidFill>
                  <a:schemeClr val="dk1"/>
                </a:solidFill>
                <a:latin typeface="Arial"/>
                <a:ea typeface="Arial"/>
                <a:cs typeface="Arial"/>
                <a:sym typeface="Arial"/>
              </a:endParaRPr>
            </a:p>
          </p:txBody>
        </p:sp>
        <p:cxnSp>
          <p:nvCxnSpPr>
            <p:cNvPr id="175" name="Google Shape;175;p33"/>
            <p:cNvCxnSpPr>
              <a:stCxn id="173" idx="3"/>
              <a:endCxn id="166" idx="1"/>
            </p:cNvCxnSpPr>
            <p:nvPr/>
          </p:nvCxnSpPr>
          <p:spPr>
            <a:xfrm>
              <a:off x="3608875" y="1848728"/>
              <a:ext cx="1125000" cy="988500"/>
            </a:xfrm>
            <a:prstGeom prst="curvedConnector3">
              <a:avLst>
                <a:gd name="adj1" fmla="val 49993"/>
              </a:avLst>
            </a:prstGeom>
            <a:noFill/>
            <a:ln w="9525" cap="flat" cmpd="sng">
              <a:solidFill>
                <a:srgbClr val="595959"/>
              </a:solidFill>
              <a:prstDash val="solid"/>
              <a:round/>
              <a:headEnd type="none" w="sm" len="sm"/>
              <a:tailEnd type="none" w="sm" len="sm"/>
            </a:ln>
          </p:spPr>
        </p:cxnSp>
        <p:cxnSp>
          <p:nvCxnSpPr>
            <p:cNvPr id="176" name="Google Shape;176;p33"/>
            <p:cNvCxnSpPr>
              <a:stCxn id="174" idx="1"/>
              <a:endCxn id="166" idx="3"/>
            </p:cNvCxnSpPr>
            <p:nvPr/>
          </p:nvCxnSpPr>
          <p:spPr>
            <a:xfrm flipH="1">
              <a:off x="5883475" y="1764278"/>
              <a:ext cx="889800" cy="1073100"/>
            </a:xfrm>
            <a:prstGeom prst="curvedConnector3">
              <a:avLst>
                <a:gd name="adj1" fmla="val 49992"/>
              </a:avLst>
            </a:prstGeom>
            <a:noFill/>
            <a:ln w="9525" cap="flat" cmpd="sng">
              <a:solidFill>
                <a:srgbClr val="595959"/>
              </a:solidFill>
              <a:prstDash val="solid"/>
              <a:round/>
              <a:headEnd type="none" w="sm" len="sm"/>
              <a:tailEnd type="none" w="sm" len="sm"/>
            </a:ln>
          </p:spPr>
        </p:cxnSp>
      </p:grpSp>
      <p:grpSp>
        <p:nvGrpSpPr>
          <p:cNvPr id="177" name="Google Shape;177;p33"/>
          <p:cNvGrpSpPr/>
          <p:nvPr/>
        </p:nvGrpSpPr>
        <p:grpSpPr>
          <a:xfrm>
            <a:off x="1710575" y="2275728"/>
            <a:ext cx="6992200" cy="714097"/>
            <a:chOff x="1710575" y="2123328"/>
            <a:chExt cx="6992200" cy="714097"/>
          </a:xfrm>
        </p:grpSpPr>
        <p:sp>
          <p:nvSpPr>
            <p:cNvPr id="178" name="Google Shape;178;p33"/>
            <p:cNvSpPr/>
            <p:nvPr/>
          </p:nvSpPr>
          <p:spPr>
            <a:xfrm>
              <a:off x="1710575" y="2195875"/>
              <a:ext cx="1263600" cy="5019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Thank you!</a:t>
              </a:r>
              <a:endParaRPr sz="1200" b="0" i="0" u="none" strike="noStrike" cap="none">
                <a:solidFill>
                  <a:schemeClr val="dk1"/>
                </a:solidFill>
                <a:latin typeface="Arial"/>
                <a:ea typeface="Arial"/>
                <a:cs typeface="Arial"/>
                <a:sym typeface="Arial"/>
              </a:endParaRPr>
            </a:p>
          </p:txBody>
        </p:sp>
        <p:sp>
          <p:nvSpPr>
            <p:cNvPr id="179" name="Google Shape;179;p33"/>
            <p:cNvSpPr/>
            <p:nvPr/>
          </p:nvSpPr>
          <p:spPr>
            <a:xfrm>
              <a:off x="6946575" y="2123328"/>
              <a:ext cx="1756200" cy="6033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Translation: 谢谢!</a:t>
              </a:r>
              <a:endParaRPr sz="1200" b="0" i="0" u="none" strike="noStrike" cap="none">
                <a:solidFill>
                  <a:schemeClr val="dk1"/>
                </a:solidFill>
                <a:latin typeface="Arial"/>
                <a:ea typeface="Arial"/>
                <a:cs typeface="Arial"/>
                <a:sym typeface="Arial"/>
              </a:endParaRPr>
            </a:p>
          </p:txBody>
        </p:sp>
        <p:cxnSp>
          <p:nvCxnSpPr>
            <p:cNvPr id="180" name="Google Shape;180;p33"/>
            <p:cNvCxnSpPr>
              <a:stCxn id="178" idx="3"/>
              <a:endCxn id="166" idx="1"/>
            </p:cNvCxnSpPr>
            <p:nvPr/>
          </p:nvCxnSpPr>
          <p:spPr>
            <a:xfrm>
              <a:off x="2974175" y="2446825"/>
              <a:ext cx="1759500" cy="390600"/>
            </a:xfrm>
            <a:prstGeom prst="curvedConnector3">
              <a:avLst>
                <a:gd name="adj1" fmla="val 50001"/>
              </a:avLst>
            </a:prstGeom>
            <a:noFill/>
            <a:ln w="9525" cap="flat" cmpd="sng">
              <a:solidFill>
                <a:srgbClr val="595959"/>
              </a:solidFill>
              <a:prstDash val="solid"/>
              <a:round/>
              <a:headEnd type="none" w="sm" len="sm"/>
              <a:tailEnd type="none" w="sm" len="sm"/>
            </a:ln>
          </p:spPr>
        </p:cxnSp>
        <p:cxnSp>
          <p:nvCxnSpPr>
            <p:cNvPr id="181" name="Google Shape;181;p33"/>
            <p:cNvCxnSpPr>
              <a:stCxn id="179" idx="1"/>
              <a:endCxn id="166" idx="3"/>
            </p:cNvCxnSpPr>
            <p:nvPr/>
          </p:nvCxnSpPr>
          <p:spPr>
            <a:xfrm flipH="1">
              <a:off x="5883675" y="2424978"/>
              <a:ext cx="1062900" cy="412200"/>
            </a:xfrm>
            <a:prstGeom prst="curvedConnector3">
              <a:avLst>
                <a:gd name="adj1" fmla="val 50002"/>
              </a:avLst>
            </a:prstGeom>
            <a:noFill/>
            <a:ln w="9525" cap="flat" cmpd="sng">
              <a:solidFill>
                <a:srgbClr val="595959"/>
              </a:solidFill>
              <a:prstDash val="solid"/>
              <a:round/>
              <a:headEnd type="none" w="sm" len="sm"/>
              <a:tailEnd type="none" w="sm" len="sm"/>
            </a:ln>
          </p:spPr>
        </p:cxnSp>
      </p:grpSp>
      <p:grpSp>
        <p:nvGrpSpPr>
          <p:cNvPr id="182" name="Google Shape;182;p33"/>
          <p:cNvGrpSpPr/>
          <p:nvPr/>
        </p:nvGrpSpPr>
        <p:grpSpPr>
          <a:xfrm>
            <a:off x="306876" y="1478225"/>
            <a:ext cx="4141525" cy="1619150"/>
            <a:chOff x="152400" y="1250625"/>
            <a:chExt cx="4141525" cy="1619150"/>
          </a:xfrm>
        </p:grpSpPr>
        <p:sp>
          <p:nvSpPr>
            <p:cNvPr id="183" name="Google Shape;183;p33"/>
            <p:cNvSpPr txBox="1"/>
            <p:nvPr/>
          </p:nvSpPr>
          <p:spPr>
            <a:xfrm>
              <a:off x="152400" y="1250625"/>
              <a:ext cx="19050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800"/>
                <a:buFont typeface="Arial"/>
                <a:buNone/>
              </a:pPr>
              <a:r>
                <a:rPr lang="zh-CN" sz="1800" b="1" i="0" u="none" strike="noStrike" cap="none">
                  <a:solidFill>
                    <a:schemeClr val="dk1"/>
                  </a:solidFill>
                  <a:latin typeface="Arial"/>
                  <a:ea typeface="Arial"/>
                  <a:cs typeface="Arial"/>
                  <a:sym typeface="Arial"/>
                </a:rPr>
                <a:t>“type 1”</a:t>
              </a:r>
              <a:endParaRPr sz="1800" b="1" i="0" u="none" strike="noStrike" cap="none">
                <a:solidFill>
                  <a:schemeClr val="dk1"/>
                </a:solidFill>
                <a:latin typeface="Arial"/>
                <a:ea typeface="Arial"/>
                <a:cs typeface="Arial"/>
                <a:sym typeface="Arial"/>
              </a:endParaRPr>
            </a:p>
          </p:txBody>
        </p:sp>
        <p:cxnSp>
          <p:nvCxnSpPr>
            <p:cNvPr id="184" name="Google Shape;184;p33"/>
            <p:cNvCxnSpPr/>
            <p:nvPr/>
          </p:nvCxnSpPr>
          <p:spPr>
            <a:xfrm flipH="1">
              <a:off x="271825" y="2868875"/>
              <a:ext cx="4022100" cy="900"/>
            </a:xfrm>
            <a:prstGeom prst="straightConnector1">
              <a:avLst/>
            </a:prstGeom>
            <a:noFill/>
            <a:ln w="38100" cap="flat" cmpd="sng">
              <a:solidFill>
                <a:srgbClr val="CCCCCC"/>
              </a:solidFill>
              <a:prstDash val="dash"/>
              <a:round/>
              <a:headEnd type="none" w="sm" len="sm"/>
              <a:tailEnd type="none" w="sm" len="sm"/>
            </a:ln>
          </p:spPr>
        </p:cxnSp>
      </p:grpSp>
      <p:sp>
        <p:nvSpPr>
          <p:cNvPr id="185" name="Google Shape;185;p33"/>
          <p:cNvSpPr txBox="1"/>
          <p:nvPr/>
        </p:nvSpPr>
        <p:spPr>
          <a:xfrm>
            <a:off x="141750" y="3695825"/>
            <a:ext cx="14697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800"/>
              <a:buFont typeface="Arial"/>
              <a:buNone/>
            </a:pPr>
            <a:r>
              <a:rPr lang="zh-CN" sz="1800" b="1" i="0" u="none" strike="noStrike" cap="none" dirty="0">
                <a:solidFill>
                  <a:schemeClr val="dk1"/>
                </a:solidFill>
                <a:latin typeface="Arial"/>
                <a:ea typeface="Arial"/>
                <a:cs typeface="Arial"/>
                <a:sym typeface="Arial"/>
              </a:rPr>
              <a:t>“type 2”</a:t>
            </a:r>
            <a:endParaRPr sz="1800" b="1" i="0" u="none" strike="noStrike" cap="none" dirty="0">
              <a:solidFill>
                <a:schemeClr val="dk1"/>
              </a:solidFill>
              <a:latin typeface="Arial"/>
              <a:ea typeface="Arial"/>
              <a:cs typeface="Arial"/>
              <a:sym typeface="Arial"/>
            </a:endParaRPr>
          </a:p>
        </p:txBody>
      </p:sp>
      <p:grpSp>
        <p:nvGrpSpPr>
          <p:cNvPr id="186" name="Google Shape;186;p33"/>
          <p:cNvGrpSpPr/>
          <p:nvPr/>
        </p:nvGrpSpPr>
        <p:grpSpPr>
          <a:xfrm>
            <a:off x="1510175" y="2989725"/>
            <a:ext cx="7412675" cy="852300"/>
            <a:chOff x="1510175" y="2837325"/>
            <a:chExt cx="7412675" cy="852300"/>
          </a:xfrm>
        </p:grpSpPr>
        <p:sp>
          <p:nvSpPr>
            <p:cNvPr id="187" name="Google Shape;187;p33"/>
            <p:cNvSpPr/>
            <p:nvPr/>
          </p:nvSpPr>
          <p:spPr>
            <a:xfrm>
              <a:off x="1510175" y="3038025"/>
              <a:ext cx="2240100" cy="651600"/>
            </a:xfrm>
            <a:prstGeom prst="rect">
              <a:avLst/>
            </a:prstGeom>
            <a:solidFill>
              <a:srgbClr val="FCE5C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Take the last letters of the words in "Elon Musk" and concatenate them.</a:t>
              </a:r>
              <a:endParaRPr sz="1200" b="0" i="0" u="none" strike="noStrike" cap="none">
                <a:solidFill>
                  <a:schemeClr val="dk1"/>
                </a:solidFill>
                <a:latin typeface="Arial"/>
                <a:ea typeface="Arial"/>
                <a:cs typeface="Arial"/>
                <a:sym typeface="Arial"/>
              </a:endParaRPr>
            </a:p>
          </p:txBody>
        </p:sp>
        <p:sp>
          <p:nvSpPr>
            <p:cNvPr id="188" name="Google Shape;188;p33"/>
            <p:cNvSpPr/>
            <p:nvPr/>
          </p:nvSpPr>
          <p:spPr>
            <a:xfrm>
              <a:off x="6946575" y="3146500"/>
              <a:ext cx="571200" cy="501900"/>
            </a:xfrm>
            <a:prstGeom prst="rect">
              <a:avLst/>
            </a:prstGeom>
            <a:solidFill>
              <a:srgbClr val="FCE5C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“uk”</a:t>
              </a:r>
              <a:endParaRPr sz="1200" b="0" i="0" u="none" strike="noStrike" cap="none">
                <a:solidFill>
                  <a:schemeClr val="dk1"/>
                </a:solidFill>
                <a:latin typeface="Arial"/>
                <a:ea typeface="Arial"/>
                <a:cs typeface="Arial"/>
                <a:sym typeface="Arial"/>
              </a:endParaRPr>
            </a:p>
          </p:txBody>
        </p:sp>
        <p:cxnSp>
          <p:nvCxnSpPr>
            <p:cNvPr id="189" name="Google Shape;189;p33"/>
            <p:cNvCxnSpPr>
              <a:stCxn id="187" idx="3"/>
              <a:endCxn id="166" idx="1"/>
            </p:cNvCxnSpPr>
            <p:nvPr/>
          </p:nvCxnSpPr>
          <p:spPr>
            <a:xfrm rot="10800000" flipH="1">
              <a:off x="3750275" y="2837325"/>
              <a:ext cx="983400" cy="526500"/>
            </a:xfrm>
            <a:prstGeom prst="curvedConnector3">
              <a:avLst>
                <a:gd name="adj1" fmla="val 50003"/>
              </a:avLst>
            </a:prstGeom>
            <a:noFill/>
            <a:ln w="9525" cap="flat" cmpd="sng">
              <a:solidFill>
                <a:srgbClr val="595959"/>
              </a:solidFill>
              <a:prstDash val="solid"/>
              <a:round/>
              <a:headEnd type="none" w="sm" len="sm"/>
              <a:tailEnd type="none" w="sm" len="sm"/>
            </a:ln>
          </p:spPr>
        </p:cxnSp>
        <p:cxnSp>
          <p:nvCxnSpPr>
            <p:cNvPr id="190" name="Google Shape;190;p33"/>
            <p:cNvCxnSpPr>
              <a:stCxn id="188" idx="1"/>
              <a:endCxn id="166" idx="3"/>
            </p:cNvCxnSpPr>
            <p:nvPr/>
          </p:nvCxnSpPr>
          <p:spPr>
            <a:xfrm rot="10800000">
              <a:off x="5883675" y="2837350"/>
              <a:ext cx="1062900" cy="560100"/>
            </a:xfrm>
            <a:prstGeom prst="curvedConnector3">
              <a:avLst>
                <a:gd name="adj1" fmla="val 50002"/>
              </a:avLst>
            </a:prstGeom>
            <a:noFill/>
            <a:ln w="9525" cap="flat" cmpd="sng">
              <a:solidFill>
                <a:srgbClr val="595959"/>
              </a:solidFill>
              <a:prstDash val="solid"/>
              <a:round/>
              <a:headEnd type="none" w="sm" len="sm"/>
              <a:tailEnd type="none" w="sm" len="sm"/>
            </a:ln>
          </p:spPr>
        </p:cxnSp>
        <p:sp>
          <p:nvSpPr>
            <p:cNvPr id="191" name="Google Shape;191;p33"/>
            <p:cNvSpPr/>
            <p:nvPr/>
          </p:nvSpPr>
          <p:spPr>
            <a:xfrm>
              <a:off x="7550325" y="3117400"/>
              <a:ext cx="548700" cy="560100"/>
            </a:xfrm>
            <a:prstGeom prst="mathMultiply">
              <a:avLst>
                <a:gd name="adj1" fmla="val 23520"/>
              </a:avLst>
            </a:prstGeom>
            <a:solidFill>
              <a:srgbClr val="A61C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92" name="Google Shape;192;p33"/>
            <p:cNvSpPr txBox="1"/>
            <p:nvPr/>
          </p:nvSpPr>
          <p:spPr>
            <a:xfrm>
              <a:off x="7972750" y="3197925"/>
              <a:ext cx="9501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(“nk”)</a:t>
              </a:r>
              <a:endParaRPr sz="1200" b="0" i="0" u="none" strike="noStrike" cap="none">
                <a:solidFill>
                  <a:schemeClr val="dk1"/>
                </a:solidFill>
                <a:latin typeface="Arial"/>
                <a:ea typeface="Arial"/>
                <a:cs typeface="Arial"/>
                <a:sym typeface="Arial"/>
              </a:endParaRPr>
            </a:p>
          </p:txBody>
        </p:sp>
      </p:grpSp>
      <p:grpSp>
        <p:nvGrpSpPr>
          <p:cNvPr id="193" name="Google Shape;193;p33"/>
          <p:cNvGrpSpPr/>
          <p:nvPr/>
        </p:nvGrpSpPr>
        <p:grpSpPr>
          <a:xfrm>
            <a:off x="1667825" y="2989750"/>
            <a:ext cx="6987900" cy="1878925"/>
            <a:chOff x="1667825" y="2837350"/>
            <a:chExt cx="6987900" cy="1878925"/>
          </a:xfrm>
        </p:grpSpPr>
        <p:sp>
          <p:nvSpPr>
            <p:cNvPr id="194" name="Google Shape;194;p33"/>
            <p:cNvSpPr/>
            <p:nvPr/>
          </p:nvSpPr>
          <p:spPr>
            <a:xfrm>
              <a:off x="1667825" y="3782675"/>
              <a:ext cx="2688900" cy="933600"/>
            </a:xfrm>
            <a:prstGeom prst="rect">
              <a:avLst/>
            </a:prstGeom>
            <a:solidFill>
              <a:srgbClr val="E6B8A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The cafeteria had 23 apples. If they used 20 to make lunch and bought 6 more, how many apples do they have?</a:t>
              </a:r>
              <a:endParaRPr sz="1200" b="0" i="0" u="none" strike="noStrike" cap="none">
                <a:solidFill>
                  <a:schemeClr val="dk1"/>
                </a:solidFill>
                <a:latin typeface="Arial"/>
                <a:ea typeface="Arial"/>
                <a:cs typeface="Arial"/>
                <a:sym typeface="Arial"/>
              </a:endParaRPr>
            </a:p>
          </p:txBody>
        </p:sp>
        <p:sp>
          <p:nvSpPr>
            <p:cNvPr id="195" name="Google Shape;195;p33"/>
            <p:cNvSpPr/>
            <p:nvPr/>
          </p:nvSpPr>
          <p:spPr>
            <a:xfrm>
              <a:off x="6833825" y="3798100"/>
              <a:ext cx="434400" cy="501900"/>
            </a:xfrm>
            <a:prstGeom prst="rect">
              <a:avLst/>
            </a:prstGeom>
            <a:solidFill>
              <a:srgbClr val="E6B8A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27</a:t>
              </a:r>
              <a:endParaRPr sz="1200" b="0" i="0" u="none" strike="noStrike" cap="none">
                <a:solidFill>
                  <a:schemeClr val="dk1"/>
                </a:solidFill>
                <a:latin typeface="Arial"/>
                <a:ea typeface="Arial"/>
                <a:cs typeface="Arial"/>
                <a:sym typeface="Arial"/>
              </a:endParaRPr>
            </a:p>
          </p:txBody>
        </p:sp>
        <p:cxnSp>
          <p:nvCxnSpPr>
            <p:cNvPr id="196" name="Google Shape;196;p33"/>
            <p:cNvCxnSpPr>
              <a:stCxn id="194" idx="3"/>
              <a:endCxn id="166" idx="1"/>
            </p:cNvCxnSpPr>
            <p:nvPr/>
          </p:nvCxnSpPr>
          <p:spPr>
            <a:xfrm rot="10800000" flipH="1">
              <a:off x="4356725" y="2837375"/>
              <a:ext cx="377100" cy="1412100"/>
            </a:xfrm>
            <a:prstGeom prst="curvedConnector3">
              <a:avLst>
                <a:gd name="adj1" fmla="val 49987"/>
              </a:avLst>
            </a:prstGeom>
            <a:noFill/>
            <a:ln w="9525" cap="flat" cmpd="sng">
              <a:solidFill>
                <a:srgbClr val="595959"/>
              </a:solidFill>
              <a:prstDash val="solid"/>
              <a:round/>
              <a:headEnd type="none" w="sm" len="sm"/>
              <a:tailEnd type="none" w="sm" len="sm"/>
            </a:ln>
          </p:spPr>
        </p:cxnSp>
        <p:cxnSp>
          <p:nvCxnSpPr>
            <p:cNvPr id="197" name="Google Shape;197;p33"/>
            <p:cNvCxnSpPr>
              <a:stCxn id="195" idx="1"/>
              <a:endCxn id="166" idx="3"/>
            </p:cNvCxnSpPr>
            <p:nvPr/>
          </p:nvCxnSpPr>
          <p:spPr>
            <a:xfrm rot="10800000">
              <a:off x="5883725" y="2837350"/>
              <a:ext cx="950100" cy="1211700"/>
            </a:xfrm>
            <a:prstGeom prst="curvedConnector3">
              <a:avLst>
                <a:gd name="adj1" fmla="val 50005"/>
              </a:avLst>
            </a:prstGeom>
            <a:noFill/>
            <a:ln w="9525" cap="flat" cmpd="sng">
              <a:solidFill>
                <a:srgbClr val="595959"/>
              </a:solidFill>
              <a:prstDash val="solid"/>
              <a:round/>
              <a:headEnd type="none" w="sm" len="sm"/>
              <a:tailEnd type="none" w="sm" len="sm"/>
            </a:ln>
          </p:spPr>
        </p:cxnSp>
        <p:sp>
          <p:nvSpPr>
            <p:cNvPr id="198" name="Google Shape;198;p33"/>
            <p:cNvSpPr/>
            <p:nvPr/>
          </p:nvSpPr>
          <p:spPr>
            <a:xfrm>
              <a:off x="7268225" y="3798100"/>
              <a:ext cx="548700" cy="560100"/>
            </a:xfrm>
            <a:prstGeom prst="mathMultiply">
              <a:avLst>
                <a:gd name="adj1" fmla="val 23520"/>
              </a:avLst>
            </a:prstGeom>
            <a:solidFill>
              <a:srgbClr val="A61C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99" name="Google Shape;199;p33"/>
            <p:cNvSpPr txBox="1"/>
            <p:nvPr/>
          </p:nvSpPr>
          <p:spPr>
            <a:xfrm>
              <a:off x="7705625" y="3865200"/>
              <a:ext cx="9501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(9)</a:t>
              </a:r>
              <a:endParaRPr sz="1200" b="0" i="0" u="none" strike="noStrike" cap="none">
                <a:solidFill>
                  <a:schemeClr val="dk1"/>
                </a:solidFill>
                <a:latin typeface="Arial"/>
                <a:ea typeface="Arial"/>
                <a:cs typeface="Arial"/>
                <a:sym typeface="Arial"/>
              </a:endParaRPr>
            </a:p>
          </p:txBody>
        </p:sp>
      </p:grpSp>
      <p:sp>
        <p:nvSpPr>
          <p:cNvPr id="200" name="Google Shape;200;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Multi-step reasoning is hard for language models</a:t>
            </a:r>
            <a:endParaRPr>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1000"/>
                                        <p:tgtEl>
                                          <p:spTgt spid="1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fade">
                                      <p:cBhvr>
                                        <p:cTn id="12" dur="1000"/>
                                        <p:tgtEl>
                                          <p:spTgt spid="1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
                                        </p:tgtEl>
                                        <p:attrNameLst>
                                          <p:attrName>style.visibility</p:attrName>
                                        </p:attrNameLst>
                                      </p:cBhvr>
                                      <p:to>
                                        <p:strVal val="visible"/>
                                      </p:to>
                                    </p:set>
                                    <p:animEffect transition="in" filter="fade">
                                      <p:cBhvr>
                                        <p:cTn id="17" dur="1000"/>
                                        <p:tgtEl>
                                          <p:spTgt spid="1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2"/>
                                        </p:tgtEl>
                                        <p:attrNameLst>
                                          <p:attrName>style.visibility</p:attrName>
                                        </p:attrNameLst>
                                      </p:cBhvr>
                                      <p:to>
                                        <p:strVal val="visible"/>
                                      </p:to>
                                    </p:set>
                                    <p:animEffect transition="in" filter="fade">
                                      <p:cBhvr>
                                        <p:cTn id="22" dur="1000"/>
                                        <p:tgtEl>
                                          <p:spTgt spid="18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5"/>
                                        </p:tgtEl>
                                        <p:attrNameLst>
                                          <p:attrName>style.visibility</p:attrName>
                                        </p:attrNameLst>
                                      </p:cBhvr>
                                      <p:to>
                                        <p:strVal val="visible"/>
                                      </p:to>
                                    </p:set>
                                    <p:animEffect transition="in" filter="fade">
                                      <p:cBhvr>
                                        <p:cTn id="27" dur="1000"/>
                                        <p:tgtEl>
                                          <p:spTgt spid="18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6"/>
                                        </p:tgtEl>
                                        <p:attrNameLst>
                                          <p:attrName>style.visibility</p:attrName>
                                        </p:attrNameLst>
                                      </p:cBhvr>
                                      <p:to>
                                        <p:strVal val="visible"/>
                                      </p:to>
                                    </p:set>
                                    <p:animEffect transition="in" filter="fade">
                                      <p:cBhvr>
                                        <p:cTn id="32" dur="1000"/>
                                        <p:tgtEl>
                                          <p:spTgt spid="18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3"/>
                                        </p:tgtEl>
                                        <p:attrNameLst>
                                          <p:attrName>style.visibility</p:attrName>
                                        </p:attrNameLst>
                                      </p:cBhvr>
                                      <p:to>
                                        <p:strVal val="visible"/>
                                      </p:to>
                                    </p:set>
                                    <p:animEffect transition="in" filter="fade">
                                      <p:cBhvr>
                                        <p:cTn id="37" dur="10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990"/>
              <a:buNone/>
            </a:pPr>
            <a:r>
              <a:rPr lang="zh-CN" sz="2320">
                <a:latin typeface="Arial"/>
                <a:ea typeface="Arial"/>
                <a:cs typeface="Arial"/>
                <a:sym typeface="Arial"/>
              </a:rPr>
              <a:t>What do language models learn from next-word prediction?</a:t>
            </a:r>
            <a:endParaRPr sz="2320">
              <a:latin typeface="Arial"/>
              <a:ea typeface="Arial"/>
              <a:cs typeface="Arial"/>
              <a:sym typeface="Arial"/>
            </a:endParaRPr>
          </a:p>
        </p:txBody>
      </p:sp>
      <p:graphicFrame>
        <p:nvGraphicFramePr>
          <p:cNvPr id="206" name="Google Shape;206;p34"/>
          <p:cNvGraphicFramePr/>
          <p:nvPr/>
        </p:nvGraphicFramePr>
        <p:xfrm>
          <a:off x="570950" y="1136725"/>
          <a:ext cx="7507500" cy="29258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290425">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Grammar</a:t>
                      </a:r>
                      <a:endParaRPr sz="1200" i="1" u="none" strike="noStrike" cap="none">
                        <a:latin typeface="Arial"/>
                        <a:ea typeface="Arial"/>
                        <a:cs typeface="Arial"/>
                        <a:sym typeface="Arial"/>
                      </a:endParaRPr>
                    </a:p>
                  </a:txBody>
                  <a:tcPr marL="91425" marR="91425" marT="54850" marB="54850"/>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In my free time, I like to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run</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banana</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tc>
                <a:extLst>
                  <a:ext uri="{0D108BD9-81ED-4DB2-BD59-A6C34878D82A}">
                    <a16:rowId xmlns:a16="http://schemas.microsoft.com/office/drawing/2014/main" val="10000"/>
                  </a:ext>
                </a:extLst>
              </a:tr>
            </a:tbl>
          </a:graphicData>
        </a:graphic>
      </p:graphicFrame>
      <p:graphicFrame>
        <p:nvGraphicFramePr>
          <p:cNvPr id="207" name="Google Shape;207;p34"/>
          <p:cNvGraphicFramePr/>
          <p:nvPr/>
        </p:nvGraphicFramePr>
        <p:xfrm>
          <a:off x="570950" y="3719725"/>
          <a:ext cx="7507500" cy="29258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290675">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Math question</a:t>
                      </a:r>
                      <a:endParaRPr sz="1200" i="1" u="none" strike="noStrike" cap="none">
                        <a:latin typeface="Arial"/>
                        <a:ea typeface="Arial"/>
                        <a:cs typeface="Arial"/>
                        <a:sym typeface="Arial"/>
                      </a:endParaRPr>
                    </a:p>
                  </a:txBody>
                  <a:tcPr marL="91425" marR="91425" marT="54850" marB="54850"/>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First grade arithmetic exam: 3 + 8 + 4 =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15</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11</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tc>
                <a:extLst>
                  <a:ext uri="{0D108BD9-81ED-4DB2-BD59-A6C34878D82A}">
                    <a16:rowId xmlns:a16="http://schemas.microsoft.com/office/drawing/2014/main" val="10000"/>
                  </a:ext>
                </a:extLst>
              </a:tr>
            </a:tbl>
          </a:graphicData>
        </a:graphic>
      </p:graphicFrame>
      <p:graphicFrame>
        <p:nvGraphicFramePr>
          <p:cNvPr id="208" name="Google Shape;208;p34"/>
          <p:cNvGraphicFramePr/>
          <p:nvPr/>
        </p:nvGraphicFramePr>
        <p:xfrm>
          <a:off x="570950" y="3248075"/>
          <a:ext cx="7507500" cy="47546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Spatial reasoning</a:t>
                      </a:r>
                      <a:endParaRPr sz="1200" i="1" u="none" strike="noStrike" cap="none">
                        <a:latin typeface="Arial"/>
                        <a:ea typeface="Arial"/>
                        <a:cs typeface="Arial"/>
                        <a:sym typeface="Arial"/>
                      </a:endParaRPr>
                    </a:p>
                  </a:txBody>
                  <a:tcPr marL="91425" marR="91425" marT="54850" marB="54850"/>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 Iroh went into the kitchen to make some tea. Standing next to Iroh, Zuko pondered his destiny. Zuko left the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kitchen</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store</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tc>
                <a:extLst>
                  <a:ext uri="{0D108BD9-81ED-4DB2-BD59-A6C34878D82A}">
                    <a16:rowId xmlns:a16="http://schemas.microsoft.com/office/drawing/2014/main" val="10000"/>
                  </a:ext>
                </a:extLst>
              </a:tr>
            </a:tbl>
          </a:graphicData>
        </a:graphic>
      </p:graphicFrame>
      <p:graphicFrame>
        <p:nvGraphicFramePr>
          <p:cNvPr id="209" name="Google Shape;209;p34"/>
          <p:cNvGraphicFramePr/>
          <p:nvPr/>
        </p:nvGraphicFramePr>
        <p:xfrm>
          <a:off x="570950" y="2957400"/>
          <a:ext cx="7507500" cy="29258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2731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Translation</a:t>
                      </a:r>
                      <a:endParaRPr sz="1200" i="1" u="none" strike="noStrike" cap="none">
                        <a:latin typeface="Arial"/>
                        <a:ea typeface="Arial"/>
                        <a:cs typeface="Arial"/>
                        <a:sym typeface="Arial"/>
                      </a:endParaRPr>
                    </a:p>
                  </a:txBody>
                  <a:tcPr marL="91425" marR="91425" marT="54850" marB="54850"/>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The word for “pretty” in Spanish is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bonita</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hola</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tc>
                <a:extLst>
                  <a:ext uri="{0D108BD9-81ED-4DB2-BD59-A6C34878D82A}">
                    <a16:rowId xmlns:a16="http://schemas.microsoft.com/office/drawing/2014/main" val="10000"/>
                  </a:ext>
                </a:extLst>
              </a:tr>
            </a:tbl>
          </a:graphicData>
        </a:graphic>
      </p:graphicFrame>
      <p:graphicFrame>
        <p:nvGraphicFramePr>
          <p:cNvPr id="210" name="Google Shape;210;p34"/>
          <p:cNvGraphicFramePr/>
          <p:nvPr/>
        </p:nvGraphicFramePr>
        <p:xfrm>
          <a:off x="570950" y="2485749"/>
          <a:ext cx="7507500" cy="762325"/>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762325">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Harder sentiment analysis</a:t>
                      </a:r>
                      <a:endParaRPr sz="1200" i="1" u="none" strike="noStrike" cap="none">
                        <a:latin typeface="Arial"/>
                        <a:ea typeface="Arial"/>
                        <a:cs typeface="Arial"/>
                        <a:sym typeface="Arial"/>
                      </a:endParaRPr>
                    </a:p>
                  </a:txBody>
                  <a:tcPr marL="91425" marR="91425" marT="54850" marB="54850"/>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Movie review: Overall, the value I got from the two hours watching it was the sum total of the popcorn and the drink. The movie was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bad</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good</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tc>
                <a:extLst>
                  <a:ext uri="{0D108BD9-81ED-4DB2-BD59-A6C34878D82A}">
                    <a16:rowId xmlns:a16="http://schemas.microsoft.com/office/drawing/2014/main" val="10000"/>
                  </a:ext>
                </a:extLst>
              </a:tr>
            </a:tbl>
          </a:graphicData>
        </a:graphic>
      </p:graphicFrame>
      <p:graphicFrame>
        <p:nvGraphicFramePr>
          <p:cNvPr id="211" name="Google Shape;211;p34"/>
          <p:cNvGraphicFramePr/>
          <p:nvPr/>
        </p:nvGraphicFramePr>
        <p:xfrm>
          <a:off x="570950" y="2014100"/>
          <a:ext cx="7507500" cy="47546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Sentiment analysis</a:t>
                      </a:r>
                      <a:endParaRPr sz="1200" i="1" u="none" strike="noStrike" cap="none">
                        <a:latin typeface="Arial"/>
                        <a:ea typeface="Arial"/>
                        <a:cs typeface="Arial"/>
                        <a:sym typeface="Arial"/>
                      </a:endParaRPr>
                    </a:p>
                  </a:txBody>
                  <a:tcPr marL="91425" marR="91425" marT="54850" marB="54850">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Movie review: I was engaged and on the edge of my seat the whole time. The movie was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good</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bad</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0"/>
                  </a:ext>
                </a:extLst>
              </a:tr>
            </a:tbl>
          </a:graphicData>
        </a:graphic>
      </p:graphicFrame>
      <p:graphicFrame>
        <p:nvGraphicFramePr>
          <p:cNvPr id="212" name="Google Shape;212;p34"/>
          <p:cNvGraphicFramePr/>
          <p:nvPr/>
        </p:nvGraphicFramePr>
        <p:xfrm>
          <a:off x="570950" y="1723425"/>
          <a:ext cx="7507500" cy="29258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290675">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World knowledge</a:t>
                      </a:r>
                      <a:endParaRPr sz="1200" i="1" u="none" strike="noStrike" cap="none">
                        <a:latin typeface="Arial"/>
                        <a:ea typeface="Arial"/>
                        <a:cs typeface="Arial"/>
                        <a:sym typeface="Arial"/>
                      </a:endParaRPr>
                    </a:p>
                  </a:txBody>
                  <a:tcPr marL="91425" marR="91425" marT="54850" marB="5485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The capital of Denmark is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Copenhagen</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London</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13" name="Google Shape;213;p34"/>
          <p:cNvGraphicFramePr/>
          <p:nvPr/>
        </p:nvGraphicFramePr>
        <p:xfrm>
          <a:off x="570950" y="1427400"/>
          <a:ext cx="7507500" cy="29258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224875">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Lexical semantics</a:t>
                      </a:r>
                      <a:endParaRPr sz="1200" i="1" u="none" strike="noStrike" cap="none">
                        <a:latin typeface="Arial"/>
                        <a:ea typeface="Arial"/>
                        <a:cs typeface="Arial"/>
                        <a:sym typeface="Arial"/>
                      </a:endParaRPr>
                    </a:p>
                  </a:txBody>
                  <a:tcPr marL="91425" marR="91425" marT="54850" marB="54850">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I went to the zoo to see giraffes, lions, and </a:t>
                      </a:r>
                      <a:r>
                        <a:rPr lang="zh-CN" sz="1200" b="1" u="none" strike="noStrike" cap="none">
                          <a:latin typeface="Arial"/>
                          <a:ea typeface="Arial"/>
                          <a:cs typeface="Arial"/>
                          <a:sym typeface="Arial"/>
                        </a:rPr>
                        <a:t>{</a:t>
                      </a:r>
                      <a:r>
                        <a:rPr lang="zh-CN" sz="1200" b="1" u="sng" strike="noStrike" cap="none">
                          <a:solidFill>
                            <a:srgbClr val="38761D"/>
                          </a:solidFill>
                          <a:latin typeface="Arial"/>
                          <a:ea typeface="Arial"/>
                          <a:cs typeface="Arial"/>
                          <a:sym typeface="Arial"/>
                        </a:rPr>
                        <a:t>zebras</a:t>
                      </a:r>
                      <a:r>
                        <a:rPr lang="zh-CN" sz="1200" b="1" u="none" strike="noStrike" cap="none">
                          <a:latin typeface="Arial"/>
                          <a:ea typeface="Arial"/>
                          <a:cs typeface="Arial"/>
                          <a:sym typeface="Arial"/>
                        </a:rPr>
                        <a:t>, </a:t>
                      </a:r>
                      <a:r>
                        <a:rPr lang="zh-CN" sz="1200" b="1" u="none" strike="noStrike" cap="none">
                          <a:solidFill>
                            <a:srgbClr val="F6B26B"/>
                          </a:solidFill>
                          <a:latin typeface="Arial"/>
                          <a:ea typeface="Arial"/>
                          <a:cs typeface="Arial"/>
                          <a:sym typeface="Arial"/>
                        </a:rPr>
                        <a:t>spoon</a:t>
                      </a:r>
                      <a:r>
                        <a:rPr lang="zh-CN" sz="1200" b="1" u="none" strike="noStrike" cap="none">
                          <a:latin typeface="Arial"/>
                          <a:ea typeface="Arial"/>
                          <a:cs typeface="Arial"/>
                          <a:sym typeface="Arial"/>
                        </a:rPr>
                        <a:t>}</a:t>
                      </a:r>
                      <a:endParaRPr sz="1200" b="1" u="none" strike="noStrike" cap="none">
                        <a:latin typeface="Arial"/>
                        <a:ea typeface="Arial"/>
                        <a:cs typeface="Arial"/>
                        <a:sym typeface="Arial"/>
                      </a:endParaRPr>
                    </a:p>
                  </a:txBody>
                  <a:tcPr marL="91425" marR="91425" marT="54850" marB="5485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14" name="Google Shape;214;p34"/>
          <p:cNvSpPr txBox="1">
            <a:spLocks noGrp="1"/>
          </p:cNvSpPr>
          <p:nvPr>
            <p:ph type="title"/>
          </p:nvPr>
        </p:nvSpPr>
        <p:spPr>
          <a:xfrm>
            <a:off x="484374" y="4425425"/>
            <a:ext cx="3706500" cy="39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zh-CN" sz="1100">
                <a:solidFill>
                  <a:srgbClr val="0000FF"/>
                </a:solidFill>
                <a:latin typeface="Arial"/>
                <a:ea typeface="Arial"/>
                <a:cs typeface="Arial"/>
                <a:sym typeface="Arial"/>
              </a:rPr>
              <a:t>Extreme multi-task learning!</a:t>
            </a:r>
            <a:endParaRPr sz="1100">
              <a:solidFill>
                <a:srgbClr val="0000FF"/>
              </a:solidFill>
              <a:latin typeface="Arial"/>
              <a:ea typeface="Arial"/>
              <a:cs typeface="Arial"/>
              <a:sym typeface="Arial"/>
            </a:endParaRPr>
          </a:p>
        </p:txBody>
      </p:sp>
      <p:sp>
        <p:nvSpPr>
          <p:cNvPr id="215" name="Google Shape;215;p34"/>
          <p:cNvSpPr txBox="1">
            <a:spLocks noGrp="1"/>
          </p:cNvSpPr>
          <p:nvPr>
            <p:ph type="title"/>
          </p:nvPr>
        </p:nvSpPr>
        <p:spPr>
          <a:xfrm>
            <a:off x="570950" y="4042075"/>
            <a:ext cx="2400900" cy="39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zh-CN" sz="900">
                <a:solidFill>
                  <a:srgbClr val="0000FF"/>
                </a:solidFill>
                <a:latin typeface="Arial"/>
                <a:ea typeface="Arial"/>
                <a:cs typeface="Arial"/>
                <a:sym typeface="Arial"/>
              </a:rPr>
              <a:t>[thousands (millions?) more]</a:t>
            </a:r>
            <a:endParaRPr sz="900">
              <a:solidFill>
                <a:srgbClr val="0000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10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fade">
                                      <p:cBhvr>
                                        <p:cTn id="12" dur="1000"/>
                                        <p:tgtEl>
                                          <p:spTgt spid="2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fade">
                                      <p:cBhvr>
                                        <p:cTn id="17" dur="1000"/>
                                        <p:tgtEl>
                                          <p:spTgt spid="2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0"/>
                                        </p:tgtEl>
                                        <p:attrNameLst>
                                          <p:attrName>style.visibility</p:attrName>
                                        </p:attrNameLst>
                                      </p:cBhvr>
                                      <p:to>
                                        <p:strVal val="visible"/>
                                      </p:to>
                                    </p:set>
                                    <p:animEffect transition="in" filter="fade">
                                      <p:cBhvr>
                                        <p:cTn id="22" dur="1000"/>
                                        <p:tgtEl>
                                          <p:spTgt spid="2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9"/>
                                        </p:tgtEl>
                                        <p:attrNameLst>
                                          <p:attrName>style.visibility</p:attrName>
                                        </p:attrNameLst>
                                      </p:cBhvr>
                                      <p:to>
                                        <p:strVal val="visible"/>
                                      </p:to>
                                    </p:set>
                                    <p:animEffect transition="in" filter="fade">
                                      <p:cBhvr>
                                        <p:cTn id="27" dur="1000"/>
                                        <p:tgtEl>
                                          <p:spTgt spid="20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8"/>
                                        </p:tgtEl>
                                        <p:attrNameLst>
                                          <p:attrName>style.visibility</p:attrName>
                                        </p:attrNameLst>
                                      </p:cBhvr>
                                      <p:to>
                                        <p:strVal val="visible"/>
                                      </p:to>
                                    </p:set>
                                    <p:animEffect transition="in" filter="fade">
                                      <p:cBhvr>
                                        <p:cTn id="32" dur="1000"/>
                                        <p:tgtEl>
                                          <p:spTgt spid="20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7"/>
                                        </p:tgtEl>
                                        <p:attrNameLst>
                                          <p:attrName>style.visibility</p:attrName>
                                        </p:attrNameLst>
                                      </p:cBhvr>
                                      <p:to>
                                        <p:strVal val="visible"/>
                                      </p:to>
                                    </p:set>
                                    <p:animEffect transition="in" filter="fade">
                                      <p:cBhvr>
                                        <p:cTn id="37" dur="1000"/>
                                        <p:tgtEl>
                                          <p:spTgt spid="20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5"/>
                                        </p:tgtEl>
                                        <p:attrNameLst>
                                          <p:attrName>style.visibility</p:attrName>
                                        </p:attrNameLst>
                                      </p:cBhvr>
                                      <p:to>
                                        <p:strVal val="visible"/>
                                      </p:to>
                                    </p:set>
                                    <p:animEffect transition="in" filter="fade">
                                      <p:cBhvr>
                                        <p:cTn id="42" dur="1000"/>
                                        <p:tgtEl>
                                          <p:spTgt spid="2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4"/>
                                        </p:tgtEl>
                                        <p:attrNameLst>
                                          <p:attrName>style.visibility</p:attrName>
                                        </p:attrNameLst>
                                      </p:cBhvr>
                                      <p:to>
                                        <p:strVal val="visible"/>
                                      </p:to>
                                    </p:set>
                                    <p:animEffect transition="in" filter="fade">
                                      <p:cBhvr>
                                        <p:cTn id="47"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5"/>
          <p:cNvSpPr txBox="1">
            <a:spLocks noGrp="1"/>
          </p:cNvSpPr>
          <p:nvPr>
            <p:ph type="title"/>
          </p:nvPr>
        </p:nvSpPr>
        <p:spPr>
          <a:xfrm>
            <a:off x="152400" y="457985"/>
            <a:ext cx="95181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990"/>
              <a:buNone/>
            </a:pPr>
            <a:r>
              <a:rPr lang="zh-CN" sz="2320">
                <a:latin typeface="Arial"/>
                <a:ea typeface="Arial"/>
                <a:cs typeface="Arial"/>
                <a:sym typeface="Arial"/>
              </a:rPr>
              <a:t>What can’t language models learn from next-word prediction?</a:t>
            </a:r>
            <a:endParaRPr sz="2320">
              <a:latin typeface="Arial"/>
              <a:ea typeface="Arial"/>
              <a:cs typeface="Arial"/>
              <a:sym typeface="Arial"/>
            </a:endParaRPr>
          </a:p>
        </p:txBody>
      </p:sp>
      <p:graphicFrame>
        <p:nvGraphicFramePr>
          <p:cNvPr id="221" name="Google Shape;221;p35"/>
          <p:cNvGraphicFramePr/>
          <p:nvPr>
            <p:extLst>
              <p:ext uri="{D42A27DB-BD31-4B8C-83A1-F6EECF244321}">
                <p14:modId xmlns:p14="http://schemas.microsoft.com/office/powerpoint/2010/main" val="2196288562"/>
              </p:ext>
            </p:extLst>
          </p:nvPr>
        </p:nvGraphicFramePr>
        <p:xfrm>
          <a:off x="924632" y="1153977"/>
          <a:ext cx="7507500" cy="54861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Current world knowledge</a:t>
                      </a:r>
                      <a:endParaRPr sz="1200" i="1"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The stock price of APPL on March 1st, 2023 is </a:t>
                      </a:r>
                      <a:r>
                        <a:rPr lang="zh-CN" sz="1200" b="1" u="none" strike="noStrike" cap="none">
                          <a:solidFill>
                            <a:srgbClr val="B45F06"/>
                          </a:solidFill>
                          <a:latin typeface="Arial"/>
                          <a:ea typeface="Arial"/>
                          <a:cs typeface="Arial"/>
                          <a:sym typeface="Arial"/>
                        </a:rPr>
                        <a:t>{???}</a:t>
                      </a:r>
                      <a:endParaRPr sz="1200" b="1" u="none" strike="noStrike" cap="none">
                        <a:solidFill>
                          <a:srgbClr val="B45F06"/>
                        </a:solidFill>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222" name="Google Shape;222;p35"/>
          <p:cNvGraphicFramePr/>
          <p:nvPr>
            <p:extLst>
              <p:ext uri="{D42A27DB-BD31-4B8C-83A1-F6EECF244321}">
                <p14:modId xmlns:p14="http://schemas.microsoft.com/office/powerpoint/2010/main" val="57221730"/>
              </p:ext>
            </p:extLst>
          </p:nvPr>
        </p:nvGraphicFramePr>
        <p:xfrm>
          <a:off x="924632" y="3599987"/>
          <a:ext cx="7507500" cy="54861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Extremely long inputs</a:t>
                      </a:r>
                      <a:endParaRPr sz="1200" i="1"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[2,000 page Harry Potter fan-fiction] What happened after Harry opened the chest for the second time? </a:t>
                      </a:r>
                      <a:r>
                        <a:rPr lang="zh-CN" sz="1200" b="1" u="none" strike="noStrike" cap="none">
                          <a:solidFill>
                            <a:srgbClr val="B45F06"/>
                          </a:solidFill>
                          <a:latin typeface="Arial"/>
                          <a:ea typeface="Arial"/>
                          <a:cs typeface="Arial"/>
                          <a:sym typeface="Arial"/>
                        </a:rPr>
                        <a:t>{???}</a:t>
                      </a:r>
                      <a:endParaRPr sz="1200"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223" name="Google Shape;223;p35"/>
          <p:cNvGraphicFramePr/>
          <p:nvPr>
            <p:extLst>
              <p:ext uri="{D42A27DB-BD31-4B8C-83A1-F6EECF244321}">
                <p14:modId xmlns:p14="http://schemas.microsoft.com/office/powerpoint/2010/main" val="1370970723"/>
              </p:ext>
            </p:extLst>
          </p:nvPr>
        </p:nvGraphicFramePr>
        <p:xfrm>
          <a:off x="924632" y="3055187"/>
          <a:ext cx="7507500" cy="54861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Information not in the training data</a:t>
                      </a:r>
                      <a:endParaRPr sz="1200" i="1" u="none" strike="noStrike" cap="none">
                        <a:latin typeface="Arial"/>
                        <a:ea typeface="Arial"/>
                        <a:cs typeface="Arial"/>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Jason Wei’s favorite color is </a:t>
                      </a:r>
                      <a:r>
                        <a:rPr lang="zh-CN" sz="1200" b="1" u="none" strike="noStrike" cap="none">
                          <a:solidFill>
                            <a:srgbClr val="B45F06"/>
                          </a:solidFill>
                          <a:latin typeface="Arial"/>
                          <a:ea typeface="Arial"/>
                          <a:cs typeface="Arial"/>
                          <a:sym typeface="Arial"/>
                        </a:rPr>
                        <a:t>{???}</a:t>
                      </a:r>
                      <a:endParaRPr sz="1200" b="1"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224" name="Google Shape;224;p35"/>
          <p:cNvGraphicFramePr/>
          <p:nvPr>
            <p:extLst>
              <p:ext uri="{D42A27DB-BD31-4B8C-83A1-F6EECF244321}">
                <p14:modId xmlns:p14="http://schemas.microsoft.com/office/powerpoint/2010/main" val="710897141"/>
              </p:ext>
            </p:extLst>
          </p:nvPr>
        </p:nvGraphicFramePr>
        <p:xfrm>
          <a:off x="924632" y="2658987"/>
          <a:ext cx="7507500" cy="39620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Predict the future</a:t>
                      </a:r>
                      <a:endParaRPr sz="1200" i="1" u="none" strike="noStrike" cap="none">
                        <a:latin typeface="Arial"/>
                        <a:ea typeface="Arial"/>
                        <a:cs typeface="Arial"/>
                        <a:sym typeface="Aria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The winner of the FIFA world cup in 2026 is </a:t>
                      </a:r>
                      <a:r>
                        <a:rPr lang="zh-CN" sz="1200" b="1" u="none" strike="noStrike" cap="none">
                          <a:solidFill>
                            <a:srgbClr val="B45F06"/>
                          </a:solidFill>
                          <a:latin typeface="Arial"/>
                          <a:ea typeface="Arial"/>
                          <a:cs typeface="Arial"/>
                          <a:sym typeface="Arial"/>
                        </a:rPr>
                        <a:t>{???}</a:t>
                      </a:r>
                      <a:endParaRPr sz="1200" b="1" u="none" strike="noStrike" cap="none">
                        <a:latin typeface="Arial"/>
                        <a:ea typeface="Arial"/>
                        <a:cs typeface="Arial"/>
                        <a:sym typeface="Arial"/>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0"/>
                  </a:ext>
                </a:extLst>
              </a:tr>
            </a:tbl>
          </a:graphicData>
        </a:graphic>
      </p:graphicFrame>
      <p:graphicFrame>
        <p:nvGraphicFramePr>
          <p:cNvPr id="225" name="Google Shape;225;p35"/>
          <p:cNvGraphicFramePr/>
          <p:nvPr>
            <p:extLst>
              <p:ext uri="{D42A27DB-BD31-4B8C-83A1-F6EECF244321}">
                <p14:modId xmlns:p14="http://schemas.microsoft.com/office/powerpoint/2010/main" val="2509209178"/>
              </p:ext>
            </p:extLst>
          </p:nvPr>
        </p:nvGraphicFramePr>
        <p:xfrm>
          <a:off x="924632" y="2114187"/>
          <a:ext cx="7507500" cy="54861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Many-step reasoning</a:t>
                      </a:r>
                      <a:endParaRPr sz="1200" i="1" u="none" strike="noStrike" cap="none">
                        <a:latin typeface="Arial"/>
                        <a:ea typeface="Arial"/>
                        <a:cs typeface="Arial"/>
                        <a:sym typeface="Arial"/>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Take the nineteenth digit of Pi and multiply it by the e to the fourth power. The resulting ones-digit of the resulting number is </a:t>
                      </a:r>
                      <a:r>
                        <a:rPr lang="zh-CN" sz="1200" b="1" u="none" strike="noStrike" cap="none">
                          <a:solidFill>
                            <a:srgbClr val="B45F06"/>
                          </a:solidFill>
                          <a:latin typeface="Arial"/>
                          <a:ea typeface="Arial"/>
                          <a:cs typeface="Arial"/>
                          <a:sym typeface="Arial"/>
                        </a:rPr>
                        <a:t>{???}</a:t>
                      </a:r>
                      <a:endParaRPr sz="1200" b="1" u="none" strike="noStrike" cap="none">
                        <a:latin typeface="Arial"/>
                        <a:ea typeface="Arial"/>
                        <a:cs typeface="Arial"/>
                        <a:sym typeface="Arial"/>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26" name="Google Shape;226;p35"/>
          <p:cNvGraphicFramePr/>
          <p:nvPr>
            <p:extLst>
              <p:ext uri="{D42A27DB-BD31-4B8C-83A1-F6EECF244321}">
                <p14:modId xmlns:p14="http://schemas.microsoft.com/office/powerpoint/2010/main" val="3825171383"/>
              </p:ext>
            </p:extLst>
          </p:nvPr>
        </p:nvGraphicFramePr>
        <p:xfrm>
          <a:off x="924632" y="1698777"/>
          <a:ext cx="7507500" cy="396200"/>
        </p:xfrm>
        <a:graphic>
          <a:graphicData uri="http://schemas.openxmlformats.org/drawingml/2006/table">
            <a:tbl>
              <a:tblPr>
                <a:noFill/>
                <a:tableStyleId>{5FCC3969-E081-4E01-AE5B-859A6A7E5BDE}</a:tableStyleId>
              </a:tblPr>
              <a:tblGrid>
                <a:gridCol w="1858050">
                  <a:extLst>
                    <a:ext uri="{9D8B030D-6E8A-4147-A177-3AD203B41FA5}">
                      <a16:colId xmlns:a16="http://schemas.microsoft.com/office/drawing/2014/main" val="20000"/>
                    </a:ext>
                  </a:extLst>
                </a:gridCol>
                <a:gridCol w="5649450">
                  <a:extLst>
                    <a:ext uri="{9D8B030D-6E8A-4147-A177-3AD203B41FA5}">
                      <a16:colId xmlns:a16="http://schemas.microsoft.com/office/drawing/2014/main" val="20001"/>
                    </a:ext>
                  </a:extLst>
                </a:gridCol>
              </a:tblGrid>
              <a:tr h="396200">
                <a:tc>
                  <a:txBody>
                    <a:bodyPr/>
                    <a:lstStyle/>
                    <a:p>
                      <a:pPr marL="0" marR="0" lvl="0" indent="0" algn="l" rtl="0">
                        <a:lnSpc>
                          <a:spcPct val="100000"/>
                        </a:lnSpc>
                        <a:spcBef>
                          <a:spcPts val="0"/>
                        </a:spcBef>
                        <a:spcAft>
                          <a:spcPts val="0"/>
                        </a:spcAft>
                        <a:buClr>
                          <a:srgbClr val="000000"/>
                        </a:buClr>
                        <a:buSzPts val="1200"/>
                        <a:buFont typeface="Arial"/>
                        <a:buNone/>
                      </a:pPr>
                      <a:r>
                        <a:rPr lang="zh-CN" sz="1200" i="1" u="none" strike="noStrike" cap="none">
                          <a:latin typeface="Arial"/>
                          <a:ea typeface="Arial"/>
                          <a:cs typeface="Arial"/>
                          <a:sym typeface="Arial"/>
                        </a:rPr>
                        <a:t>Arbitrarily long arithmetic</a:t>
                      </a:r>
                      <a:endParaRPr sz="1200" i="1" u="none" strike="noStrike" cap="none">
                        <a:latin typeface="Arial"/>
                        <a:ea typeface="Arial"/>
                        <a:cs typeface="Arial"/>
                        <a:sym typeface="Arial"/>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zh-CN" sz="1200" u="none" strike="noStrike" cap="none">
                          <a:latin typeface="Arial"/>
                          <a:ea typeface="Arial"/>
                          <a:cs typeface="Arial"/>
                          <a:sym typeface="Arial"/>
                        </a:rPr>
                        <a:t>36382894730 + 238302849204 = </a:t>
                      </a:r>
                      <a:r>
                        <a:rPr lang="zh-CN" sz="1200" b="1" u="none" strike="noStrike" cap="none">
                          <a:solidFill>
                            <a:srgbClr val="B45F06"/>
                          </a:solidFill>
                          <a:latin typeface="Arial"/>
                          <a:ea typeface="Arial"/>
                          <a:cs typeface="Arial"/>
                          <a:sym typeface="Arial"/>
                        </a:rPr>
                        <a:t>{???}</a:t>
                      </a:r>
                      <a:endParaRPr sz="1200" b="1" u="none" strike="noStrike" cap="none">
                        <a:latin typeface="Arial"/>
                        <a:ea typeface="Arial"/>
                        <a:cs typeface="Arial"/>
                        <a:sym typeface="Arial"/>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animEffect transition="in" filter="fade">
                                      <p:cBhvr>
                                        <p:cTn id="12" dur="1000"/>
                                        <p:tgtEl>
                                          <p:spTgt spid="2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fade">
                                      <p:cBhvr>
                                        <p:cTn id="17" dur="1000"/>
                                        <p:tgtEl>
                                          <p:spTgt spid="2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3"/>
                                        </p:tgtEl>
                                        <p:attrNameLst>
                                          <p:attrName>style.visibility</p:attrName>
                                        </p:attrNameLst>
                                      </p:cBhvr>
                                      <p:to>
                                        <p:strVal val="visible"/>
                                      </p:to>
                                    </p:set>
                                    <p:animEffect transition="in" filter="fade">
                                      <p:cBhvr>
                                        <p:cTn id="22" dur="1000"/>
                                        <p:tgtEl>
                                          <p:spTgt spid="2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2"/>
                                        </p:tgtEl>
                                        <p:attrNameLst>
                                          <p:attrName>style.visibility</p:attrName>
                                        </p:attrNameLst>
                                      </p:cBhvr>
                                      <p:to>
                                        <p:strVal val="visible"/>
                                      </p:to>
                                    </p:set>
                                    <p:animEffect transition="in" filter="fade">
                                      <p:cBhvr>
                                        <p:cTn id="27"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title"/>
          </p:nvPr>
        </p:nvSpPr>
        <p:spPr>
          <a:xfrm>
            <a:off x="1295400" y="2038350"/>
            <a:ext cx="7069800" cy="1281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1100"/>
              <a:buNone/>
            </a:pPr>
            <a:br>
              <a:rPr lang="zh-CN" sz="2000">
                <a:latin typeface="Arial"/>
                <a:ea typeface="Arial"/>
                <a:cs typeface="Arial"/>
                <a:sym typeface="Arial"/>
              </a:rPr>
            </a:br>
            <a:r>
              <a:rPr lang="zh-CN" sz="2000">
                <a:latin typeface="Arial"/>
                <a:ea typeface="Arial"/>
                <a:cs typeface="Arial"/>
                <a:sym typeface="Arial"/>
              </a:rPr>
              <a:t>language models can do (with decent accuracy) </a:t>
            </a:r>
            <a:br>
              <a:rPr lang="zh-CN" sz="2000">
                <a:latin typeface="Arial"/>
                <a:ea typeface="Arial"/>
                <a:cs typeface="Arial"/>
                <a:sym typeface="Arial"/>
              </a:rPr>
            </a:br>
            <a:r>
              <a:rPr lang="zh-CN" sz="2000">
                <a:latin typeface="Arial"/>
                <a:ea typeface="Arial"/>
                <a:cs typeface="Arial"/>
                <a:sym typeface="Arial"/>
              </a:rPr>
              <a:t>most text tasks that </a:t>
            </a:r>
            <a:r>
              <a:rPr lang="zh-CN" sz="2000" b="1">
                <a:latin typeface="Arial"/>
                <a:ea typeface="Arial"/>
                <a:cs typeface="Arial"/>
                <a:sym typeface="Arial"/>
              </a:rPr>
              <a:t>an average human can do in 1 minute.</a:t>
            </a:r>
            <a:endParaRPr sz="2000" b="1">
              <a:solidFill>
                <a:srgbClr val="B45F06"/>
              </a:solidFill>
              <a:latin typeface="Arial"/>
              <a:ea typeface="Arial"/>
              <a:cs typeface="Arial"/>
              <a:sym typeface="Arial"/>
            </a:endParaRPr>
          </a:p>
        </p:txBody>
      </p:sp>
      <p:sp>
        <p:nvSpPr>
          <p:cNvPr id="232" name="Google Shape;232;p36"/>
          <p:cNvSpPr/>
          <p:nvPr/>
        </p:nvSpPr>
        <p:spPr>
          <a:xfrm>
            <a:off x="1828800" y="514350"/>
            <a:ext cx="6186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CN" sz="2400" b="1" i="0" u="none" strike="noStrike" cap="none">
                <a:solidFill>
                  <a:schemeClr val="dk1"/>
                </a:solidFill>
                <a:latin typeface="Arial"/>
                <a:ea typeface="Arial"/>
                <a:cs typeface="Arial"/>
                <a:sym typeface="Arial"/>
              </a:rPr>
              <a:t>Jason Wei’s rule of thumb (经验法则) </a:t>
            </a: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aphicFrame>
        <p:nvGraphicFramePr>
          <p:cNvPr id="237" name="Google Shape;237;p37"/>
          <p:cNvGraphicFramePr/>
          <p:nvPr>
            <p:extLst>
              <p:ext uri="{D42A27DB-BD31-4B8C-83A1-F6EECF244321}">
                <p14:modId xmlns:p14="http://schemas.microsoft.com/office/powerpoint/2010/main" val="2489641894"/>
              </p:ext>
            </p:extLst>
          </p:nvPr>
        </p:nvGraphicFramePr>
        <p:xfrm>
          <a:off x="3341350" y="1449700"/>
          <a:ext cx="2254650" cy="3010930"/>
        </p:xfrm>
        <a:graphic>
          <a:graphicData uri="http://schemas.openxmlformats.org/drawingml/2006/table">
            <a:tbl>
              <a:tblPr>
                <a:noFill/>
                <a:tableStyleId>{5FCC3969-E081-4E01-AE5B-859A6A7E5BDE}</a:tableStyleId>
              </a:tblPr>
              <a:tblGrid>
                <a:gridCol w="2254650">
                  <a:extLst>
                    <a:ext uri="{9D8B030D-6E8A-4147-A177-3AD203B41FA5}">
                      <a16:colId xmlns:a16="http://schemas.microsoft.com/office/drawing/2014/main" val="20000"/>
                    </a:ext>
                  </a:extLst>
                </a:gridCol>
              </a:tblGrid>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a:t>
                      </a:r>
                      <a:endParaRPr sz="1400" u="none" strike="noStrike" cap="none"/>
                    </a:p>
                  </a:txBody>
                  <a:tcPr marL="91425" marR="91425" marT="9125" marB="9125"/>
                </a:tc>
                <a:extLst>
                  <a:ext uri="{0D108BD9-81ED-4DB2-BD59-A6C34878D82A}">
                    <a16:rowId xmlns:a16="http://schemas.microsoft.com/office/drawing/2014/main" val="1000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Protein discovery</a:t>
                      </a:r>
                      <a:endParaRPr sz="1400" u="none" strike="noStrike" cap="none"/>
                    </a:p>
                  </a:txBody>
                  <a:tcPr marL="91425" marR="91425" marT="9125" marB="9125">
                    <a:solidFill>
                      <a:srgbClr val="F4CCCC"/>
                    </a:solidFill>
                  </a:tcPr>
                </a:tc>
                <a:extLst>
                  <a:ext uri="{0D108BD9-81ED-4DB2-BD59-A6C34878D82A}">
                    <a16:rowId xmlns:a16="http://schemas.microsoft.com/office/drawing/2014/main" val="10001"/>
                  </a:ext>
                </a:extLst>
              </a:tr>
              <a:tr h="192575">
                <a:tc>
                  <a:txBody>
                    <a:bodyPr/>
                    <a:lstStyle/>
                    <a:p>
                      <a:pPr marL="0" marR="0" lvl="0" indent="0" algn="l" rtl="0">
                        <a:lnSpc>
                          <a:spcPct val="100000"/>
                        </a:lnSpc>
                        <a:spcBef>
                          <a:spcPts val="0"/>
                        </a:spcBef>
                        <a:spcAft>
                          <a:spcPts val="0"/>
                        </a:spcAft>
                        <a:buClr>
                          <a:schemeClr val="dk1"/>
                        </a:buClr>
                        <a:buSzPts val="1100"/>
                        <a:buFont typeface="Arial"/>
                        <a:buNone/>
                      </a:pPr>
                      <a:r>
                        <a:rPr lang="zh-CN" sz="1400" u="none" strike="noStrike" cap="none">
                          <a:solidFill>
                            <a:schemeClr val="dk1"/>
                          </a:solidFill>
                        </a:rPr>
                        <a:t>Clinical diagnosis</a:t>
                      </a:r>
                      <a:endParaRPr sz="1400" u="none" strike="noStrike" cap="none"/>
                    </a:p>
                  </a:txBody>
                  <a:tcPr marL="91425" marR="91425" marT="9125" marB="9125">
                    <a:solidFill>
                      <a:srgbClr val="F4CCCC"/>
                    </a:solidFill>
                  </a:tcPr>
                </a:tc>
                <a:extLst>
                  <a:ext uri="{0D108BD9-81ED-4DB2-BD59-A6C34878D82A}">
                    <a16:rowId xmlns:a16="http://schemas.microsoft.com/office/drawing/2014/main" val="10002"/>
                  </a:ext>
                </a:extLst>
              </a:tr>
              <a:tr h="192575">
                <a:tc>
                  <a:txBody>
                    <a:bodyPr/>
                    <a:lstStyle/>
                    <a:p>
                      <a:pPr marL="0" marR="0" lvl="0" indent="0" algn="l" rtl="0">
                        <a:lnSpc>
                          <a:spcPct val="100000"/>
                        </a:lnSpc>
                        <a:spcBef>
                          <a:spcPts val="0"/>
                        </a:spcBef>
                        <a:spcAft>
                          <a:spcPts val="0"/>
                        </a:spcAft>
                        <a:buClr>
                          <a:schemeClr val="dk1"/>
                        </a:buClr>
                        <a:buSzPts val="1100"/>
                        <a:buFont typeface="Arial"/>
                        <a:buNone/>
                      </a:pPr>
                      <a:r>
                        <a:rPr lang="zh-CN" sz="1400" u="none" strike="noStrike" cap="none">
                          <a:solidFill>
                            <a:schemeClr val="dk1"/>
                          </a:solidFill>
                        </a:rPr>
                        <a:t>Play chess well</a:t>
                      </a:r>
                      <a:endParaRPr sz="1400" u="none" strike="noStrike" cap="none"/>
                    </a:p>
                  </a:txBody>
                  <a:tcPr marL="91425" marR="91425" marT="9125" marB="9125">
                    <a:solidFill>
                      <a:srgbClr val="F4CCCC"/>
                    </a:solidFill>
                  </a:tcPr>
                </a:tc>
                <a:extLst>
                  <a:ext uri="{0D108BD9-81ED-4DB2-BD59-A6C34878D82A}">
                    <a16:rowId xmlns:a16="http://schemas.microsoft.com/office/drawing/2014/main" val="10003"/>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High-level planning</a:t>
                      </a:r>
                      <a:endParaRPr sz="1400" u="none" strike="noStrike" cap="none"/>
                    </a:p>
                  </a:txBody>
                  <a:tcPr marL="91425" marR="91425" marT="9125" marB="9125">
                    <a:solidFill>
                      <a:srgbClr val="F4CCCC"/>
                    </a:solidFill>
                  </a:tcPr>
                </a:tc>
                <a:extLst>
                  <a:ext uri="{0D108BD9-81ED-4DB2-BD59-A6C34878D82A}">
                    <a16:rowId xmlns:a16="http://schemas.microsoft.com/office/drawing/2014/main" val="10004"/>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Abstract reasoning</a:t>
                      </a:r>
                      <a:endParaRPr sz="1400" u="none" strike="noStrike" cap="none"/>
                    </a:p>
                  </a:txBody>
                  <a:tcPr marL="91425" marR="91425" marT="9125" marB="9125">
                    <a:solidFill>
                      <a:srgbClr val="F4CCCC"/>
                    </a:solidFill>
                  </a:tcPr>
                </a:tc>
                <a:extLst>
                  <a:ext uri="{0D108BD9-81ED-4DB2-BD59-A6C34878D82A}">
                    <a16:rowId xmlns:a16="http://schemas.microsoft.com/office/drawing/2014/main" val="10005"/>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Simple math</a:t>
                      </a:r>
                      <a:endParaRPr sz="1400" u="none" strike="noStrike" cap="none"/>
                    </a:p>
                  </a:txBody>
                  <a:tcPr marL="91425" marR="91425" marT="9125" marB="9125">
                    <a:solidFill>
                      <a:srgbClr val="D9EAD3"/>
                    </a:solidFill>
                  </a:tcPr>
                </a:tc>
                <a:extLst>
                  <a:ext uri="{0D108BD9-81ED-4DB2-BD59-A6C34878D82A}">
                    <a16:rowId xmlns:a16="http://schemas.microsoft.com/office/drawing/2014/main" val="10006"/>
                  </a:ext>
                </a:extLst>
              </a:tr>
              <a:tr h="229000">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Commonsense reasoning</a:t>
                      </a:r>
                      <a:endParaRPr sz="1400" u="none" strike="noStrike" cap="none"/>
                    </a:p>
                  </a:txBody>
                  <a:tcPr marL="91425" marR="91425" marT="9125" marB="9125">
                    <a:solidFill>
                      <a:srgbClr val="D9EAD3"/>
                    </a:solidFill>
                  </a:tcPr>
                </a:tc>
                <a:extLst>
                  <a:ext uri="{0D108BD9-81ED-4DB2-BD59-A6C34878D82A}">
                    <a16:rowId xmlns:a16="http://schemas.microsoft.com/office/drawing/2014/main" val="10007"/>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Know world knowledge</a:t>
                      </a:r>
                      <a:endParaRPr sz="1400" u="none" strike="noStrike" cap="none"/>
                    </a:p>
                  </a:txBody>
                  <a:tcPr marL="91425" marR="91425" marT="9125" marB="9125">
                    <a:solidFill>
                      <a:srgbClr val="D9EAD3"/>
                    </a:solidFill>
                  </a:tcPr>
                </a:tc>
                <a:extLst>
                  <a:ext uri="{0D108BD9-81ED-4DB2-BD59-A6C34878D82A}">
                    <a16:rowId xmlns:a16="http://schemas.microsoft.com/office/drawing/2014/main" val="10008"/>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Translation</a:t>
                      </a:r>
                      <a:endParaRPr sz="1400" u="none" strike="noStrike" cap="none"/>
                    </a:p>
                  </a:txBody>
                  <a:tcPr marL="91425" marR="91425" marT="9125" marB="9125">
                    <a:solidFill>
                      <a:srgbClr val="D9EAD3"/>
                    </a:solidFill>
                  </a:tcPr>
                </a:tc>
                <a:extLst>
                  <a:ext uri="{0D108BD9-81ED-4DB2-BD59-A6C34878D82A}">
                    <a16:rowId xmlns:a16="http://schemas.microsoft.com/office/drawing/2014/main" val="10009"/>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Sentiment analysis</a:t>
                      </a:r>
                      <a:endParaRPr sz="1400" u="none" strike="noStrike" cap="none"/>
                    </a:p>
                  </a:txBody>
                  <a:tcPr marL="91425" marR="91425" marT="9125" marB="9125">
                    <a:solidFill>
                      <a:srgbClr val="D9EAD3"/>
                    </a:solidFill>
                  </a:tcPr>
                </a:tc>
                <a:extLst>
                  <a:ext uri="{0D108BD9-81ED-4DB2-BD59-A6C34878D82A}">
                    <a16:rowId xmlns:a16="http://schemas.microsoft.com/office/drawing/2014/main" val="1001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Generate coherent text</a:t>
                      </a:r>
                      <a:endParaRPr sz="1400" u="none" strike="noStrike" cap="none"/>
                    </a:p>
                  </a:txBody>
                  <a:tcPr marL="91425" marR="91425" marT="9125" marB="9125">
                    <a:solidFill>
                      <a:srgbClr val="D9EAD3"/>
                    </a:solidFill>
                  </a:tcPr>
                </a:tc>
                <a:extLst>
                  <a:ext uri="{0D108BD9-81ED-4DB2-BD59-A6C34878D82A}">
                    <a16:rowId xmlns:a16="http://schemas.microsoft.com/office/drawing/2014/main" val="10011"/>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dirty="0"/>
                        <a:t>Be grammatically correct</a:t>
                      </a:r>
                      <a:endParaRPr sz="1400" u="none" strike="noStrike" cap="none" dirty="0"/>
                    </a:p>
                  </a:txBody>
                  <a:tcPr marL="91425" marR="91425" marT="9125" marB="9125">
                    <a:solidFill>
                      <a:srgbClr val="D9EAD3"/>
                    </a:solidFill>
                  </a:tcPr>
                </a:tc>
                <a:extLst>
                  <a:ext uri="{0D108BD9-81ED-4DB2-BD59-A6C34878D82A}">
                    <a16:rowId xmlns:a16="http://schemas.microsoft.com/office/drawing/2014/main" val="10012"/>
                  </a:ext>
                </a:extLst>
              </a:tr>
            </a:tbl>
          </a:graphicData>
        </a:graphic>
      </p:graphicFrame>
      <p:graphicFrame>
        <p:nvGraphicFramePr>
          <p:cNvPr id="238" name="Google Shape;238;p37"/>
          <p:cNvGraphicFramePr/>
          <p:nvPr>
            <p:extLst>
              <p:ext uri="{D42A27DB-BD31-4B8C-83A1-F6EECF244321}">
                <p14:modId xmlns:p14="http://schemas.microsoft.com/office/powerpoint/2010/main" val="1098807974"/>
              </p:ext>
            </p:extLst>
          </p:nvPr>
        </p:nvGraphicFramePr>
        <p:xfrm>
          <a:off x="676225" y="1449700"/>
          <a:ext cx="2254650" cy="3010930"/>
        </p:xfrm>
        <a:graphic>
          <a:graphicData uri="http://schemas.openxmlformats.org/drawingml/2006/table">
            <a:tbl>
              <a:tblPr>
                <a:noFill/>
                <a:tableStyleId>{5FCC3969-E081-4E01-AE5B-859A6A7E5BDE}</a:tableStyleId>
              </a:tblPr>
              <a:tblGrid>
                <a:gridCol w="2254650">
                  <a:extLst>
                    <a:ext uri="{9D8B030D-6E8A-4147-A177-3AD203B41FA5}">
                      <a16:colId xmlns:a16="http://schemas.microsoft.com/office/drawing/2014/main" val="20000"/>
                    </a:ext>
                  </a:extLst>
                </a:gridCol>
              </a:tblGrid>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a:t>
                      </a:r>
                      <a:endParaRPr sz="1400" u="none" strike="noStrike" cap="none"/>
                    </a:p>
                  </a:txBody>
                  <a:tcPr marL="91425" marR="91425" marT="9125" marB="9125"/>
                </a:tc>
                <a:extLst>
                  <a:ext uri="{0D108BD9-81ED-4DB2-BD59-A6C34878D82A}">
                    <a16:rowId xmlns:a16="http://schemas.microsoft.com/office/drawing/2014/main" val="1000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Protein discovery</a:t>
                      </a:r>
                      <a:endParaRPr sz="1400" u="none" strike="noStrike" cap="none"/>
                    </a:p>
                  </a:txBody>
                  <a:tcPr marL="91425" marR="91425" marT="9125" marB="9125">
                    <a:solidFill>
                      <a:srgbClr val="F4CCCC"/>
                    </a:solidFill>
                  </a:tcPr>
                </a:tc>
                <a:extLst>
                  <a:ext uri="{0D108BD9-81ED-4DB2-BD59-A6C34878D82A}">
                    <a16:rowId xmlns:a16="http://schemas.microsoft.com/office/drawing/2014/main" val="10001"/>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Clinical diagnosis</a:t>
                      </a:r>
                      <a:endParaRPr sz="1400" u="none" strike="noStrike" cap="none"/>
                    </a:p>
                  </a:txBody>
                  <a:tcPr marL="91425" marR="91425" marT="9125" marB="9125">
                    <a:solidFill>
                      <a:srgbClr val="F4CCCC"/>
                    </a:solidFill>
                  </a:tcPr>
                </a:tc>
                <a:extLst>
                  <a:ext uri="{0D108BD9-81ED-4DB2-BD59-A6C34878D82A}">
                    <a16:rowId xmlns:a16="http://schemas.microsoft.com/office/drawing/2014/main" val="10002"/>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Play chess well</a:t>
                      </a:r>
                      <a:endParaRPr sz="1400" u="none" strike="noStrike" cap="none"/>
                    </a:p>
                  </a:txBody>
                  <a:tcPr marL="91425" marR="91425" marT="9125" marB="9125">
                    <a:solidFill>
                      <a:srgbClr val="F4CCCC"/>
                    </a:solidFill>
                  </a:tcPr>
                </a:tc>
                <a:extLst>
                  <a:ext uri="{0D108BD9-81ED-4DB2-BD59-A6C34878D82A}">
                    <a16:rowId xmlns:a16="http://schemas.microsoft.com/office/drawing/2014/main" val="10003"/>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High-level planning</a:t>
                      </a:r>
                      <a:endParaRPr sz="1400" u="none" strike="noStrike" cap="none"/>
                    </a:p>
                  </a:txBody>
                  <a:tcPr marL="91425" marR="91425" marT="9125" marB="9125">
                    <a:solidFill>
                      <a:srgbClr val="F4CCCC"/>
                    </a:solidFill>
                  </a:tcPr>
                </a:tc>
                <a:extLst>
                  <a:ext uri="{0D108BD9-81ED-4DB2-BD59-A6C34878D82A}">
                    <a16:rowId xmlns:a16="http://schemas.microsoft.com/office/drawing/2014/main" val="10004"/>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Abstract reasoning</a:t>
                      </a:r>
                      <a:endParaRPr sz="1400" u="none" strike="noStrike" cap="none"/>
                    </a:p>
                  </a:txBody>
                  <a:tcPr marL="91425" marR="91425" marT="9125" marB="9125">
                    <a:solidFill>
                      <a:srgbClr val="F4CCCC"/>
                    </a:solidFill>
                  </a:tcPr>
                </a:tc>
                <a:extLst>
                  <a:ext uri="{0D108BD9-81ED-4DB2-BD59-A6C34878D82A}">
                    <a16:rowId xmlns:a16="http://schemas.microsoft.com/office/drawing/2014/main" val="10005"/>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Simple math</a:t>
                      </a:r>
                      <a:endParaRPr sz="1400" u="none" strike="noStrike" cap="none"/>
                    </a:p>
                  </a:txBody>
                  <a:tcPr marL="91425" marR="91425" marT="9125" marB="9125">
                    <a:solidFill>
                      <a:srgbClr val="F4CCCC"/>
                    </a:solidFill>
                  </a:tcPr>
                </a:tc>
                <a:extLst>
                  <a:ext uri="{0D108BD9-81ED-4DB2-BD59-A6C34878D82A}">
                    <a16:rowId xmlns:a16="http://schemas.microsoft.com/office/drawing/2014/main" val="10006"/>
                  </a:ext>
                </a:extLst>
              </a:tr>
              <a:tr h="229000">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Commonsense reasoning</a:t>
                      </a:r>
                      <a:endParaRPr sz="1400" u="none" strike="noStrike" cap="none"/>
                    </a:p>
                  </a:txBody>
                  <a:tcPr marL="91425" marR="91425" marT="9125" marB="9125">
                    <a:solidFill>
                      <a:srgbClr val="F4CCCC"/>
                    </a:solidFill>
                  </a:tcPr>
                </a:tc>
                <a:extLst>
                  <a:ext uri="{0D108BD9-81ED-4DB2-BD59-A6C34878D82A}">
                    <a16:rowId xmlns:a16="http://schemas.microsoft.com/office/drawing/2014/main" val="10007"/>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Know world knowledge</a:t>
                      </a:r>
                      <a:endParaRPr sz="1400" u="none" strike="noStrike" cap="none"/>
                    </a:p>
                  </a:txBody>
                  <a:tcPr marL="91425" marR="91425" marT="9125" marB="9125">
                    <a:solidFill>
                      <a:srgbClr val="F4CCCC"/>
                    </a:solidFill>
                  </a:tcPr>
                </a:tc>
                <a:extLst>
                  <a:ext uri="{0D108BD9-81ED-4DB2-BD59-A6C34878D82A}">
                    <a16:rowId xmlns:a16="http://schemas.microsoft.com/office/drawing/2014/main" val="10008"/>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Translation</a:t>
                      </a:r>
                      <a:endParaRPr sz="1400" u="none" strike="noStrike" cap="none"/>
                    </a:p>
                  </a:txBody>
                  <a:tcPr marL="91425" marR="91425" marT="9125" marB="9125">
                    <a:solidFill>
                      <a:srgbClr val="F4CCCC"/>
                    </a:solidFill>
                  </a:tcPr>
                </a:tc>
                <a:extLst>
                  <a:ext uri="{0D108BD9-81ED-4DB2-BD59-A6C34878D82A}">
                    <a16:rowId xmlns:a16="http://schemas.microsoft.com/office/drawing/2014/main" val="10009"/>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Sentiment analysis</a:t>
                      </a:r>
                      <a:endParaRPr sz="1400" u="none" strike="noStrike" cap="none"/>
                    </a:p>
                  </a:txBody>
                  <a:tcPr marL="91425" marR="91425" marT="9125" marB="9125">
                    <a:solidFill>
                      <a:srgbClr val="F4CCCC"/>
                    </a:solidFill>
                  </a:tcPr>
                </a:tc>
                <a:extLst>
                  <a:ext uri="{0D108BD9-81ED-4DB2-BD59-A6C34878D82A}">
                    <a16:rowId xmlns:a16="http://schemas.microsoft.com/office/drawing/2014/main" val="1001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Generate coherent text</a:t>
                      </a:r>
                      <a:endParaRPr sz="1400" u="none" strike="noStrike" cap="none"/>
                    </a:p>
                  </a:txBody>
                  <a:tcPr marL="91425" marR="91425" marT="9125" marB="9125">
                    <a:solidFill>
                      <a:srgbClr val="D9EAD3"/>
                    </a:solidFill>
                  </a:tcPr>
                </a:tc>
                <a:extLst>
                  <a:ext uri="{0D108BD9-81ED-4DB2-BD59-A6C34878D82A}">
                    <a16:rowId xmlns:a16="http://schemas.microsoft.com/office/drawing/2014/main" val="10011"/>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Be grammatically correct</a:t>
                      </a:r>
                      <a:endParaRPr sz="1400" u="none" strike="noStrike" cap="none"/>
                    </a:p>
                  </a:txBody>
                  <a:tcPr marL="91425" marR="91425" marT="9125" marB="9125">
                    <a:solidFill>
                      <a:srgbClr val="D9EAD3"/>
                    </a:solidFill>
                  </a:tcPr>
                </a:tc>
                <a:extLst>
                  <a:ext uri="{0D108BD9-81ED-4DB2-BD59-A6C34878D82A}">
                    <a16:rowId xmlns:a16="http://schemas.microsoft.com/office/drawing/2014/main" val="10012"/>
                  </a:ext>
                </a:extLst>
              </a:tr>
            </a:tbl>
          </a:graphicData>
        </a:graphic>
      </p:graphicFrame>
      <p:sp>
        <p:nvSpPr>
          <p:cNvPr id="239" name="Google Shape;239;p37"/>
          <p:cNvSpPr txBox="1">
            <a:spLocks noGrp="1"/>
          </p:cNvSpPr>
          <p:nvPr>
            <p:ph type="title"/>
          </p:nvPr>
        </p:nvSpPr>
        <p:spPr>
          <a:xfrm>
            <a:off x="3341200" y="715025"/>
            <a:ext cx="2254800" cy="51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zh-CN" sz="1520" b="1" dirty="0">
                <a:latin typeface="Arial"/>
                <a:ea typeface="Arial"/>
                <a:cs typeface="Arial"/>
                <a:sym typeface="Arial"/>
              </a:rPr>
              <a:t> (2023)</a:t>
            </a:r>
            <a:endParaRPr sz="1520" b="1" dirty="0">
              <a:latin typeface="Arial"/>
              <a:ea typeface="Arial"/>
              <a:cs typeface="Arial"/>
              <a:sym typeface="Arial"/>
            </a:endParaRPr>
          </a:p>
        </p:txBody>
      </p:sp>
      <p:sp>
        <p:nvSpPr>
          <p:cNvPr id="240" name="Google Shape;240;p37"/>
          <p:cNvSpPr txBox="1">
            <a:spLocks noGrp="1"/>
          </p:cNvSpPr>
          <p:nvPr>
            <p:ph type="title"/>
          </p:nvPr>
        </p:nvSpPr>
        <p:spPr>
          <a:xfrm>
            <a:off x="676150" y="685225"/>
            <a:ext cx="2254800" cy="51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zh-CN" sz="1520" b="1">
                <a:latin typeface="Arial"/>
                <a:ea typeface="Arial"/>
                <a:cs typeface="Arial"/>
                <a:sym typeface="Arial"/>
              </a:rPr>
              <a:t>2018</a:t>
            </a:r>
            <a:endParaRPr sz="1520" b="1">
              <a:latin typeface="Arial"/>
              <a:ea typeface="Arial"/>
              <a:cs typeface="Arial"/>
              <a:sym typeface="Arial"/>
            </a:endParaRPr>
          </a:p>
        </p:txBody>
      </p:sp>
      <p:pic>
        <p:nvPicPr>
          <p:cNvPr id="241" name="Google Shape;241;p37"/>
          <p:cNvPicPr preferRelativeResize="0"/>
          <p:nvPr/>
        </p:nvPicPr>
        <p:blipFill rotWithShape="1">
          <a:blip r:embed="rId3">
            <a:alphaModFix/>
          </a:blip>
          <a:srcRect/>
          <a:stretch/>
        </p:blipFill>
        <p:spPr>
          <a:xfrm>
            <a:off x="817125" y="345825"/>
            <a:ext cx="672576" cy="672576"/>
          </a:xfrm>
          <a:prstGeom prst="rect">
            <a:avLst/>
          </a:prstGeom>
          <a:noFill/>
          <a:ln>
            <a:noFill/>
          </a:ln>
        </p:spPr>
      </p:pic>
      <p:graphicFrame>
        <p:nvGraphicFramePr>
          <p:cNvPr id="242" name="Google Shape;242;p37"/>
          <p:cNvGraphicFramePr/>
          <p:nvPr>
            <p:extLst>
              <p:ext uri="{D42A27DB-BD31-4B8C-83A1-F6EECF244321}">
                <p14:modId xmlns:p14="http://schemas.microsoft.com/office/powerpoint/2010/main" val="579700916"/>
              </p:ext>
            </p:extLst>
          </p:nvPr>
        </p:nvGraphicFramePr>
        <p:xfrm>
          <a:off x="6233500" y="1449700"/>
          <a:ext cx="2254650" cy="3010930"/>
        </p:xfrm>
        <a:graphic>
          <a:graphicData uri="http://schemas.openxmlformats.org/drawingml/2006/table">
            <a:tbl>
              <a:tblPr>
                <a:noFill/>
                <a:tableStyleId>{5FCC3969-E081-4E01-AE5B-859A6A7E5BDE}</a:tableStyleId>
              </a:tblPr>
              <a:tblGrid>
                <a:gridCol w="2254650">
                  <a:extLst>
                    <a:ext uri="{9D8B030D-6E8A-4147-A177-3AD203B41FA5}">
                      <a16:colId xmlns:a16="http://schemas.microsoft.com/office/drawing/2014/main" val="20000"/>
                    </a:ext>
                  </a:extLst>
                </a:gridCol>
              </a:tblGrid>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dirty="0"/>
                        <a:t>…</a:t>
                      </a:r>
                      <a:endParaRPr sz="1400" u="none" strike="noStrike" cap="none" dirty="0"/>
                    </a:p>
                  </a:txBody>
                  <a:tcPr marL="91425" marR="91425" marT="9125" marB="9125"/>
                </a:tc>
                <a:extLst>
                  <a:ext uri="{0D108BD9-81ED-4DB2-BD59-A6C34878D82A}">
                    <a16:rowId xmlns:a16="http://schemas.microsoft.com/office/drawing/2014/main" val="1000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 Protein discovery</a:t>
                      </a:r>
                      <a:endParaRPr sz="1400" u="none" strike="noStrike" cap="none"/>
                    </a:p>
                  </a:txBody>
                  <a:tcPr marL="91425" marR="91425" marT="9125" marB="9125"/>
                </a:tc>
                <a:extLst>
                  <a:ext uri="{0D108BD9-81ED-4DB2-BD59-A6C34878D82A}">
                    <a16:rowId xmlns:a16="http://schemas.microsoft.com/office/drawing/2014/main" val="10001"/>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 Clinical diagnosis</a:t>
                      </a:r>
                      <a:endParaRPr sz="1400" u="none" strike="noStrike" cap="none"/>
                    </a:p>
                  </a:txBody>
                  <a:tcPr marL="91425" marR="91425" marT="9125" marB="9125"/>
                </a:tc>
                <a:extLst>
                  <a:ext uri="{0D108BD9-81ED-4DB2-BD59-A6C34878D82A}">
                    <a16:rowId xmlns:a16="http://schemas.microsoft.com/office/drawing/2014/main" val="10002"/>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 Play chess well</a:t>
                      </a:r>
                      <a:endParaRPr sz="1400" u="none" strike="noStrike" cap="none"/>
                    </a:p>
                  </a:txBody>
                  <a:tcPr marL="91425" marR="91425" marT="9125" marB="9125"/>
                </a:tc>
                <a:extLst>
                  <a:ext uri="{0D108BD9-81ED-4DB2-BD59-A6C34878D82A}">
                    <a16:rowId xmlns:a16="http://schemas.microsoft.com/office/drawing/2014/main" val="10003"/>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solidFill>
                            <a:schemeClr val="dk1"/>
                          </a:solidFill>
                        </a:rPr>
                        <a:t>(?) </a:t>
                      </a:r>
                      <a:r>
                        <a:rPr lang="zh-CN" sz="1400" u="none" strike="noStrike" cap="none"/>
                        <a:t>High-level planning</a:t>
                      </a:r>
                      <a:endParaRPr sz="1400" u="none" strike="noStrike" cap="none"/>
                    </a:p>
                  </a:txBody>
                  <a:tcPr marL="91425" marR="91425" marT="9125" marB="9125"/>
                </a:tc>
                <a:extLst>
                  <a:ext uri="{0D108BD9-81ED-4DB2-BD59-A6C34878D82A}">
                    <a16:rowId xmlns:a16="http://schemas.microsoft.com/office/drawing/2014/main" val="10004"/>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dirty="0"/>
                        <a:t>(?) Abstract reasoning</a:t>
                      </a:r>
                      <a:endParaRPr sz="1400" u="none" strike="noStrike" cap="none" dirty="0"/>
                    </a:p>
                  </a:txBody>
                  <a:tcPr marL="91425" marR="91425" marT="9125" marB="9125"/>
                </a:tc>
                <a:extLst>
                  <a:ext uri="{0D108BD9-81ED-4DB2-BD59-A6C34878D82A}">
                    <a16:rowId xmlns:a16="http://schemas.microsoft.com/office/drawing/2014/main" val="10005"/>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Simple math</a:t>
                      </a:r>
                      <a:endParaRPr sz="1400" u="none" strike="noStrike" cap="none"/>
                    </a:p>
                  </a:txBody>
                  <a:tcPr marL="91425" marR="91425" marT="9125" marB="9125">
                    <a:solidFill>
                      <a:srgbClr val="D9EAD3"/>
                    </a:solidFill>
                  </a:tcPr>
                </a:tc>
                <a:extLst>
                  <a:ext uri="{0D108BD9-81ED-4DB2-BD59-A6C34878D82A}">
                    <a16:rowId xmlns:a16="http://schemas.microsoft.com/office/drawing/2014/main" val="10006"/>
                  </a:ext>
                </a:extLst>
              </a:tr>
              <a:tr h="229000">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Commonsense reasoning</a:t>
                      </a:r>
                      <a:endParaRPr sz="1400" u="none" strike="noStrike" cap="none"/>
                    </a:p>
                  </a:txBody>
                  <a:tcPr marL="91425" marR="91425" marT="9125" marB="9125">
                    <a:solidFill>
                      <a:srgbClr val="D9EAD3"/>
                    </a:solidFill>
                  </a:tcPr>
                </a:tc>
                <a:extLst>
                  <a:ext uri="{0D108BD9-81ED-4DB2-BD59-A6C34878D82A}">
                    <a16:rowId xmlns:a16="http://schemas.microsoft.com/office/drawing/2014/main" val="10007"/>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Know world knowledge</a:t>
                      </a:r>
                      <a:endParaRPr sz="1400" u="none" strike="noStrike" cap="none"/>
                    </a:p>
                  </a:txBody>
                  <a:tcPr marL="91425" marR="91425" marT="9125" marB="9125">
                    <a:solidFill>
                      <a:srgbClr val="D9EAD3"/>
                    </a:solidFill>
                  </a:tcPr>
                </a:tc>
                <a:extLst>
                  <a:ext uri="{0D108BD9-81ED-4DB2-BD59-A6C34878D82A}">
                    <a16:rowId xmlns:a16="http://schemas.microsoft.com/office/drawing/2014/main" val="10008"/>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Translation</a:t>
                      </a:r>
                      <a:endParaRPr sz="1400" u="none" strike="noStrike" cap="none"/>
                    </a:p>
                  </a:txBody>
                  <a:tcPr marL="91425" marR="91425" marT="9125" marB="9125">
                    <a:solidFill>
                      <a:srgbClr val="D9EAD3"/>
                    </a:solidFill>
                  </a:tcPr>
                </a:tc>
                <a:extLst>
                  <a:ext uri="{0D108BD9-81ED-4DB2-BD59-A6C34878D82A}">
                    <a16:rowId xmlns:a16="http://schemas.microsoft.com/office/drawing/2014/main" val="10009"/>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Sentiment analysis</a:t>
                      </a:r>
                      <a:endParaRPr sz="1400" u="none" strike="noStrike" cap="none"/>
                    </a:p>
                  </a:txBody>
                  <a:tcPr marL="91425" marR="91425" marT="9125" marB="9125">
                    <a:solidFill>
                      <a:srgbClr val="D9EAD3"/>
                    </a:solidFill>
                  </a:tcPr>
                </a:tc>
                <a:extLst>
                  <a:ext uri="{0D108BD9-81ED-4DB2-BD59-A6C34878D82A}">
                    <a16:rowId xmlns:a16="http://schemas.microsoft.com/office/drawing/2014/main" val="10010"/>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a:t>Generate coherent text</a:t>
                      </a:r>
                      <a:endParaRPr sz="1400" u="none" strike="noStrike" cap="none"/>
                    </a:p>
                  </a:txBody>
                  <a:tcPr marL="91425" marR="91425" marT="9125" marB="9125">
                    <a:solidFill>
                      <a:srgbClr val="D9EAD3"/>
                    </a:solidFill>
                  </a:tcPr>
                </a:tc>
                <a:extLst>
                  <a:ext uri="{0D108BD9-81ED-4DB2-BD59-A6C34878D82A}">
                    <a16:rowId xmlns:a16="http://schemas.microsoft.com/office/drawing/2014/main" val="10011"/>
                  </a:ext>
                </a:extLst>
              </a:tr>
              <a:tr h="192575">
                <a:tc>
                  <a:txBody>
                    <a:bodyPr/>
                    <a:lstStyle/>
                    <a:p>
                      <a:pPr marL="0" marR="0" lvl="0" indent="0" algn="l" rtl="0">
                        <a:lnSpc>
                          <a:spcPct val="100000"/>
                        </a:lnSpc>
                        <a:spcBef>
                          <a:spcPts val="0"/>
                        </a:spcBef>
                        <a:spcAft>
                          <a:spcPts val="0"/>
                        </a:spcAft>
                        <a:buClr>
                          <a:srgbClr val="000000"/>
                        </a:buClr>
                        <a:buSzPts val="1400"/>
                        <a:buFont typeface="Arial"/>
                        <a:buNone/>
                      </a:pPr>
                      <a:r>
                        <a:rPr lang="zh-CN" sz="1400" u="none" strike="noStrike" cap="none" dirty="0"/>
                        <a:t>Be grammatically correct</a:t>
                      </a:r>
                      <a:endParaRPr sz="1400" u="none" strike="noStrike" cap="none" dirty="0"/>
                    </a:p>
                  </a:txBody>
                  <a:tcPr marL="91425" marR="91425" marT="9125" marB="9125">
                    <a:solidFill>
                      <a:srgbClr val="D9EAD3"/>
                    </a:solidFill>
                  </a:tcPr>
                </a:tc>
                <a:extLst>
                  <a:ext uri="{0D108BD9-81ED-4DB2-BD59-A6C34878D82A}">
                    <a16:rowId xmlns:a16="http://schemas.microsoft.com/office/drawing/2014/main" val="10012"/>
                  </a:ext>
                </a:extLst>
              </a:tr>
            </a:tbl>
          </a:graphicData>
        </a:graphic>
      </p:graphicFrame>
      <p:cxnSp>
        <p:nvCxnSpPr>
          <p:cNvPr id="243" name="Google Shape;243;p37"/>
          <p:cNvCxnSpPr/>
          <p:nvPr/>
        </p:nvCxnSpPr>
        <p:spPr>
          <a:xfrm rot="10800000" flipH="1">
            <a:off x="708700" y="1109500"/>
            <a:ext cx="7795800" cy="17400"/>
          </a:xfrm>
          <a:prstGeom prst="straightConnector1">
            <a:avLst/>
          </a:prstGeom>
          <a:noFill/>
          <a:ln w="28575" cap="flat" cmpd="sng">
            <a:solidFill>
              <a:schemeClr val="accent1"/>
            </a:solidFill>
            <a:prstDash val="solid"/>
            <a:round/>
            <a:headEnd type="none" w="sm" len="sm"/>
            <a:tailEnd type="triangle" w="med" len="med"/>
          </a:ln>
        </p:spPr>
      </p:cxnSp>
      <p:sp>
        <p:nvSpPr>
          <p:cNvPr id="244" name="Google Shape;244;p37"/>
          <p:cNvSpPr txBox="1">
            <a:spLocks noGrp="1"/>
          </p:cNvSpPr>
          <p:nvPr>
            <p:ph type="title"/>
          </p:nvPr>
        </p:nvSpPr>
        <p:spPr>
          <a:xfrm>
            <a:off x="6233425" y="685225"/>
            <a:ext cx="2254800" cy="51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zh-CN" sz="1520" b="1" dirty="0">
                <a:latin typeface="Arial"/>
                <a:ea typeface="Arial"/>
                <a:cs typeface="Arial"/>
                <a:sym typeface="Arial"/>
              </a:rPr>
              <a:t>Future …?</a:t>
            </a:r>
            <a:endParaRPr sz="1520" b="1" dirty="0">
              <a:latin typeface="Arial"/>
              <a:ea typeface="Arial"/>
              <a:cs typeface="Arial"/>
              <a:sym typeface="Arial"/>
            </a:endParaRPr>
          </a:p>
        </p:txBody>
      </p:sp>
      <p:sp>
        <p:nvSpPr>
          <p:cNvPr id="2" name="Rectangle 1">
            <a:extLst>
              <a:ext uri="{FF2B5EF4-FFF2-40B4-BE49-F238E27FC236}">
                <a16:creationId xmlns:a16="http://schemas.microsoft.com/office/drawing/2014/main" id="{894E68E4-586F-4979-B048-0B2B20BDD226}"/>
              </a:ext>
            </a:extLst>
          </p:cNvPr>
          <p:cNvSpPr/>
          <p:nvPr/>
        </p:nvSpPr>
        <p:spPr>
          <a:xfrm>
            <a:off x="2832021" y="4715105"/>
            <a:ext cx="4528804" cy="307777"/>
          </a:xfrm>
          <a:prstGeom prst="rect">
            <a:avLst/>
          </a:prstGeom>
        </p:spPr>
        <p:txBody>
          <a:bodyPr wrap="none">
            <a:spAutoFit/>
          </a:bodyPr>
          <a:lstStyle/>
          <a:p>
            <a:r>
              <a:rPr lang="zh-CN" altLang="zh-CN" dirty="0"/>
              <a:t>Abstract reasoning</a:t>
            </a:r>
            <a:r>
              <a:rPr lang="en-US" altLang="zh-CN" dirty="0"/>
              <a:t> </a:t>
            </a:r>
            <a:r>
              <a:rPr lang="en-US" altLang="zh-CN" b="1" dirty="0"/>
              <a:t>might be done </a:t>
            </a:r>
            <a:r>
              <a:rPr lang="en-US" altLang="zh-CN" dirty="0"/>
              <a:t>in the year of 2025!</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fade">
                                      <p:cBhvr>
                                        <p:cTn id="7" dur="1000"/>
                                        <p:tgtEl>
                                          <p:spTgt spid="237"/>
                                        </p:tgtEl>
                                      </p:cBhvr>
                                    </p:animEffect>
                                  </p:childTnLst>
                                </p:cTn>
                              </p:par>
                              <p:par>
                                <p:cTn id="8" presetID="10" presetClass="entr" presetSubtype="0" fill="hold" nodeType="withEffect">
                                  <p:stCondLst>
                                    <p:cond delay="0"/>
                                  </p:stCondLst>
                                  <p:childTnLst>
                                    <p:set>
                                      <p:cBhvr>
                                        <p:cTn id="9" dur="1" fill="hold">
                                          <p:stCondLst>
                                            <p:cond delay="0"/>
                                          </p:stCondLst>
                                        </p:cTn>
                                        <p:tgtEl>
                                          <p:spTgt spid="239"/>
                                        </p:tgtEl>
                                        <p:attrNameLst>
                                          <p:attrName>style.visibility</p:attrName>
                                        </p:attrNameLst>
                                      </p:cBhvr>
                                      <p:to>
                                        <p:strVal val="visible"/>
                                      </p:to>
                                    </p:set>
                                    <p:animEffect transition="in" filter="fade">
                                      <p:cBhvr>
                                        <p:cTn id="10" dur="1000"/>
                                        <p:tgtEl>
                                          <p:spTgt spid="23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2"/>
                                        </p:tgtEl>
                                        <p:attrNameLst>
                                          <p:attrName>style.visibility</p:attrName>
                                        </p:attrNameLst>
                                      </p:cBhvr>
                                      <p:to>
                                        <p:strVal val="visible"/>
                                      </p:to>
                                    </p:set>
                                    <p:animEffect transition="in" filter="fade">
                                      <p:cBhvr>
                                        <p:cTn id="15" dur="1000"/>
                                        <p:tgtEl>
                                          <p:spTgt spid="242"/>
                                        </p:tgtEl>
                                      </p:cBhvr>
                                    </p:animEffect>
                                  </p:childTnLst>
                                </p:cTn>
                              </p:par>
                              <p:par>
                                <p:cTn id="16" presetID="10" presetClass="entr" presetSubtype="0" fill="hold" nodeType="withEffect">
                                  <p:stCondLst>
                                    <p:cond delay="0"/>
                                  </p:stCondLst>
                                  <p:childTnLst>
                                    <p:set>
                                      <p:cBhvr>
                                        <p:cTn id="17" dur="1" fill="hold">
                                          <p:stCondLst>
                                            <p:cond delay="0"/>
                                          </p:stCondLst>
                                        </p:cTn>
                                        <p:tgtEl>
                                          <p:spTgt spid="244"/>
                                        </p:tgtEl>
                                        <p:attrNameLst>
                                          <p:attrName>style.visibility</p:attrName>
                                        </p:attrNameLst>
                                      </p:cBhvr>
                                      <p:to>
                                        <p:strVal val="visible"/>
                                      </p:to>
                                    </p:set>
                                    <p:animEffect transition="in" filter="fade">
                                      <p:cBhvr>
                                        <p:cTn id="18"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5AC8CD-BC02-4268-ADFE-5297F2F96677}"/>
              </a:ext>
            </a:extLst>
          </p:cNvPr>
          <p:cNvSpPr>
            <a:spLocks noGrp="1"/>
          </p:cNvSpPr>
          <p:nvPr>
            <p:ph type="sldNum" sz="quarter" idx="4"/>
          </p:nvPr>
        </p:nvSpPr>
        <p:spPr/>
        <p:txBody>
          <a:bodyPr/>
          <a:lstStyle/>
          <a:p>
            <a:pPr lvl="0" eaLnBrk="1" fontAlgn="base" hangingPunct="1"/>
            <a:endParaRPr lang="zh-CN" altLang="en-US" strike="noStrike" noProof="1">
              <a:latin typeface="Arial" panose="020B0604020202090204" pitchFamily="34" charset="0"/>
            </a:endParaRPr>
          </a:p>
        </p:txBody>
      </p:sp>
      <p:pic>
        <p:nvPicPr>
          <p:cNvPr id="6" name="Picture 5">
            <a:extLst>
              <a:ext uri="{FF2B5EF4-FFF2-40B4-BE49-F238E27FC236}">
                <a16:creationId xmlns:a16="http://schemas.microsoft.com/office/drawing/2014/main" id="{84B225EE-0CD1-4711-8F64-875E8A639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780" y="820275"/>
            <a:ext cx="5798269" cy="2757934"/>
          </a:xfrm>
          <a:prstGeom prst="rect">
            <a:avLst/>
          </a:prstGeom>
        </p:spPr>
      </p:pic>
    </p:spTree>
    <p:extLst>
      <p:ext uri="{BB962C8B-B14F-4D97-AF65-F5344CB8AC3E}">
        <p14:creationId xmlns:p14="http://schemas.microsoft.com/office/powerpoint/2010/main" val="25322043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9"/>
          <p:cNvSpPr txBox="1">
            <a:spLocks noGrp="1"/>
          </p:cNvSpPr>
          <p:nvPr>
            <p:ph type="title"/>
          </p:nvPr>
        </p:nvSpPr>
        <p:spPr>
          <a:xfrm>
            <a:off x="384725" y="212690"/>
            <a:ext cx="3161700" cy="474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100"/>
              </a:spcBef>
              <a:spcAft>
                <a:spcPts val="0"/>
              </a:spcAft>
              <a:buSzPts val="2800"/>
              <a:buNone/>
            </a:pPr>
            <a:r>
              <a:rPr lang="zh-CN" sz="3000"/>
              <a:t>Reasoning Problems</a:t>
            </a:r>
            <a:endParaRPr sz="3000"/>
          </a:p>
        </p:txBody>
      </p:sp>
      <p:sp>
        <p:nvSpPr>
          <p:cNvPr id="257" name="Google Shape;257;p39"/>
          <p:cNvSpPr/>
          <p:nvPr/>
        </p:nvSpPr>
        <p:spPr>
          <a:xfrm>
            <a:off x="1828800" y="975302"/>
            <a:ext cx="2607869" cy="1396932"/>
          </a:xfrm>
          <a:custGeom>
            <a:avLst/>
            <a:gdLst/>
            <a:ahLst/>
            <a:cxnLst/>
            <a:rect l="l" t="t" r="r" b="b"/>
            <a:pathLst>
              <a:path w="2834640" h="1708785" extrusionOk="0">
                <a:moveTo>
                  <a:pt x="2549644" y="1708499"/>
                </a:move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lnTo>
                  <a:pt x="3726" y="238566"/>
                </a:lnTo>
                <a:lnTo>
                  <a:pt x="14517" y="194750"/>
                </a:lnTo>
                <a:lnTo>
                  <a:pt x="31783" y="153894"/>
                </a:lnTo>
                <a:lnTo>
                  <a:pt x="54941" y="116582"/>
                </a:lnTo>
                <a:lnTo>
                  <a:pt x="83403" y="83402"/>
                </a:lnTo>
                <a:lnTo>
                  <a:pt x="116582" y="54941"/>
                </a:lnTo>
                <a:lnTo>
                  <a:pt x="153894" y="31783"/>
                </a:lnTo>
                <a:lnTo>
                  <a:pt x="194750" y="14517"/>
                </a:lnTo>
                <a:lnTo>
                  <a:pt x="238566" y="3726"/>
                </a:lnTo>
                <a:lnTo>
                  <a:pt x="284755" y="0"/>
                </a:lnTo>
                <a:lnTo>
                  <a:pt x="2549644" y="0"/>
                </a:lnTo>
                <a:lnTo>
                  <a:pt x="2594458" y="3547"/>
                </a:lnTo>
                <a:lnTo>
                  <a:pt x="2637766" y="13978"/>
                </a:lnTo>
                <a:lnTo>
                  <a:pt x="2678801" y="30975"/>
                </a:lnTo>
                <a:lnTo>
                  <a:pt x="2716800" y="54222"/>
                </a:lnTo>
                <a:lnTo>
                  <a:pt x="2750996" y="83403"/>
                </a:lnTo>
                <a:lnTo>
                  <a:pt x="2780177" y="117599"/>
                </a:lnTo>
                <a:lnTo>
                  <a:pt x="2803424" y="155598"/>
                </a:lnTo>
                <a:lnTo>
                  <a:pt x="2820421" y="196633"/>
                </a:lnTo>
                <a:lnTo>
                  <a:pt x="2830852" y="239941"/>
                </a:lnTo>
                <a:lnTo>
                  <a:pt x="2834399" y="284755"/>
                </a:lnTo>
                <a:lnTo>
                  <a:pt x="2834399" y="1423744"/>
                </a:lnTo>
                <a:lnTo>
                  <a:pt x="2830673" y="1469933"/>
                </a:lnTo>
                <a:lnTo>
                  <a:pt x="2819882" y="1513749"/>
                </a:lnTo>
                <a:lnTo>
                  <a:pt x="2802616" y="1554605"/>
                </a:lnTo>
                <a:lnTo>
                  <a:pt x="2779458" y="1591917"/>
                </a:lnTo>
                <a:lnTo>
                  <a:pt x="2750996" y="1625096"/>
                </a:lnTo>
                <a:lnTo>
                  <a:pt x="2717817" y="1653558"/>
                </a:lnTo>
                <a:lnTo>
                  <a:pt x="2680505" y="1676716"/>
                </a:lnTo>
                <a:lnTo>
                  <a:pt x="2639649" y="1693982"/>
                </a:lnTo>
                <a:lnTo>
                  <a:pt x="2595833" y="1704773"/>
                </a:lnTo>
                <a:lnTo>
                  <a:pt x="2549644" y="1708499"/>
                </a:lnTo>
                <a:close/>
              </a:path>
            </a:pathLst>
          </a:custGeom>
          <a:solidFill>
            <a:srgbClr val="EEEE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8" name="Google Shape;258;p39"/>
          <p:cNvSpPr/>
          <p:nvPr/>
        </p:nvSpPr>
        <p:spPr>
          <a:xfrm>
            <a:off x="1828800" y="975302"/>
            <a:ext cx="2607869" cy="1396932"/>
          </a:xfrm>
          <a:custGeom>
            <a:avLst/>
            <a:gdLst/>
            <a:ahLst/>
            <a:cxnLst/>
            <a:rect l="l" t="t" r="r" b="b"/>
            <a:pathLst>
              <a:path w="2834640" h="1708785" extrusionOk="0">
                <a:moveTo>
                  <a:pt x="0" y="284755"/>
                </a:moveTo>
                <a:lnTo>
                  <a:pt x="3726" y="238566"/>
                </a:lnTo>
                <a:lnTo>
                  <a:pt x="14517" y="194750"/>
                </a:lnTo>
                <a:lnTo>
                  <a:pt x="31783" y="153894"/>
                </a:lnTo>
                <a:lnTo>
                  <a:pt x="54941" y="116582"/>
                </a:lnTo>
                <a:lnTo>
                  <a:pt x="83403" y="83403"/>
                </a:lnTo>
                <a:lnTo>
                  <a:pt x="116582" y="54941"/>
                </a:lnTo>
                <a:lnTo>
                  <a:pt x="153894" y="31783"/>
                </a:lnTo>
                <a:lnTo>
                  <a:pt x="194750" y="14517"/>
                </a:lnTo>
                <a:lnTo>
                  <a:pt x="238566" y="3726"/>
                </a:lnTo>
                <a:lnTo>
                  <a:pt x="284755" y="0"/>
                </a:lnTo>
                <a:lnTo>
                  <a:pt x="2549644" y="0"/>
                </a:lnTo>
                <a:lnTo>
                  <a:pt x="2594458" y="3547"/>
                </a:lnTo>
                <a:lnTo>
                  <a:pt x="2637766" y="13978"/>
                </a:lnTo>
                <a:lnTo>
                  <a:pt x="2678801" y="30975"/>
                </a:lnTo>
                <a:lnTo>
                  <a:pt x="2716800" y="54222"/>
                </a:lnTo>
                <a:lnTo>
                  <a:pt x="2750996" y="83402"/>
                </a:lnTo>
                <a:lnTo>
                  <a:pt x="2780177" y="117599"/>
                </a:lnTo>
                <a:lnTo>
                  <a:pt x="2803424" y="155598"/>
                </a:lnTo>
                <a:lnTo>
                  <a:pt x="2820421" y="196633"/>
                </a:lnTo>
                <a:lnTo>
                  <a:pt x="2830852" y="239941"/>
                </a:lnTo>
                <a:lnTo>
                  <a:pt x="2834399" y="284755"/>
                </a:lnTo>
                <a:lnTo>
                  <a:pt x="2834399" y="1423744"/>
                </a:lnTo>
                <a:lnTo>
                  <a:pt x="2830673" y="1469933"/>
                </a:lnTo>
                <a:lnTo>
                  <a:pt x="2819882" y="1513749"/>
                </a:lnTo>
                <a:lnTo>
                  <a:pt x="2802616" y="1554605"/>
                </a:lnTo>
                <a:lnTo>
                  <a:pt x="2779458" y="1591917"/>
                </a:lnTo>
                <a:lnTo>
                  <a:pt x="2750996" y="1625096"/>
                </a:lnTo>
                <a:lnTo>
                  <a:pt x="2717817" y="1653558"/>
                </a:lnTo>
                <a:lnTo>
                  <a:pt x="2680505" y="1676716"/>
                </a:lnTo>
                <a:lnTo>
                  <a:pt x="2639649" y="1693982"/>
                </a:lnTo>
                <a:lnTo>
                  <a:pt x="2595833" y="1704773"/>
                </a:lnTo>
                <a:lnTo>
                  <a:pt x="2549644" y="1708499"/>
                </a:ln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close/>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9" name="Google Shape;259;p39"/>
          <p:cNvSpPr txBox="1"/>
          <p:nvPr/>
        </p:nvSpPr>
        <p:spPr>
          <a:xfrm>
            <a:off x="1985228" y="1047750"/>
            <a:ext cx="2257500" cy="969600"/>
          </a:xfrm>
          <a:prstGeom prst="rect">
            <a:avLst/>
          </a:prstGeom>
          <a:noFill/>
          <a:ln>
            <a:noFill/>
          </a:ln>
        </p:spPr>
        <p:txBody>
          <a:bodyPr spcFirstLastPara="1" wrap="square" lIns="0" tIns="22850" rIns="0" bIns="0" anchor="t" anchorCtr="0">
            <a:spAutoFit/>
          </a:bodyPr>
          <a:lstStyle/>
          <a:p>
            <a:pPr marL="12700" marR="5080" lvl="0" indent="0" algn="l" rtl="0">
              <a:lnSpc>
                <a:spcPct val="1375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Q: If there are 3 cars in the  parking lot and 2 more cars  arrive, how many cars are in  the parking lot?</a:t>
            </a:r>
            <a:endParaRPr sz="1200" b="0" i="0" u="none" strike="noStrike" cap="none">
              <a:solidFill>
                <a:schemeClr val="dk1"/>
              </a:solidFill>
              <a:latin typeface="Arial"/>
              <a:ea typeface="Arial"/>
              <a:cs typeface="Arial"/>
              <a:sym typeface="Arial"/>
            </a:endParaRPr>
          </a:p>
        </p:txBody>
      </p:sp>
      <p:sp>
        <p:nvSpPr>
          <p:cNvPr id="260" name="Google Shape;260;p39"/>
          <p:cNvSpPr txBox="1"/>
          <p:nvPr/>
        </p:nvSpPr>
        <p:spPr>
          <a:xfrm>
            <a:off x="1985228" y="2069460"/>
            <a:ext cx="14943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 The answer is </a:t>
            </a:r>
            <a:r>
              <a:rPr lang="zh-CN" sz="1200" b="1" i="0" u="none" strike="noStrike" cap="none">
                <a:solidFill>
                  <a:srgbClr val="A61B00"/>
                </a:solidFill>
                <a:latin typeface="Arial"/>
                <a:ea typeface="Arial"/>
                <a:cs typeface="Arial"/>
                <a:sym typeface="Arial"/>
              </a:rPr>
              <a:t>5</a:t>
            </a:r>
            <a:endParaRPr sz="1200" b="0" i="0" u="none" strike="noStrike" cap="none">
              <a:solidFill>
                <a:schemeClr val="dk1"/>
              </a:solidFill>
              <a:latin typeface="Arial"/>
              <a:ea typeface="Arial"/>
              <a:cs typeface="Arial"/>
              <a:sym typeface="Arial"/>
            </a:endParaRPr>
          </a:p>
        </p:txBody>
      </p:sp>
      <p:sp>
        <p:nvSpPr>
          <p:cNvPr id="261" name="Google Shape;261;p39"/>
          <p:cNvSpPr txBox="1"/>
          <p:nvPr/>
        </p:nvSpPr>
        <p:spPr>
          <a:xfrm>
            <a:off x="2177447" y="2488296"/>
            <a:ext cx="23298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zh-CN" sz="1600" b="0" i="0" u="none" strike="noStrike" cap="none">
                <a:solidFill>
                  <a:schemeClr val="dk1"/>
                </a:solidFill>
                <a:latin typeface="Times New Roman"/>
                <a:ea typeface="Times New Roman"/>
                <a:cs typeface="Times New Roman"/>
                <a:sym typeface="Times New Roman"/>
              </a:rPr>
              <a:t>Mathematical Reasoning</a:t>
            </a:r>
            <a:endParaRPr sz="1600" b="0" i="0" u="none" strike="noStrike" cap="none">
              <a:solidFill>
                <a:schemeClr val="dk1"/>
              </a:solidFill>
              <a:latin typeface="Times New Roman"/>
              <a:ea typeface="Times New Roman"/>
              <a:cs typeface="Times New Roman"/>
              <a:sym typeface="Times New Roman"/>
            </a:endParaRPr>
          </a:p>
        </p:txBody>
      </p:sp>
      <p:sp>
        <p:nvSpPr>
          <p:cNvPr id="262" name="Google Shape;262;p39"/>
          <p:cNvSpPr/>
          <p:nvPr/>
        </p:nvSpPr>
        <p:spPr>
          <a:xfrm>
            <a:off x="907949" y="3082180"/>
            <a:ext cx="3597415" cy="1567810"/>
          </a:xfrm>
          <a:custGeom>
            <a:avLst/>
            <a:gdLst/>
            <a:ahLst/>
            <a:cxnLst/>
            <a:rect l="l" t="t" r="r" b="b"/>
            <a:pathLst>
              <a:path w="2973070" h="1708785" extrusionOk="0">
                <a:moveTo>
                  <a:pt x="2688244" y="1708499"/>
                </a:move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lnTo>
                  <a:pt x="3726" y="238566"/>
                </a:lnTo>
                <a:lnTo>
                  <a:pt x="14517" y="194750"/>
                </a:lnTo>
                <a:lnTo>
                  <a:pt x="31783" y="153894"/>
                </a:lnTo>
                <a:lnTo>
                  <a:pt x="54941" y="116582"/>
                </a:lnTo>
                <a:lnTo>
                  <a:pt x="83403" y="83402"/>
                </a:lnTo>
                <a:lnTo>
                  <a:pt x="116582" y="54941"/>
                </a:lnTo>
                <a:lnTo>
                  <a:pt x="153894" y="31783"/>
                </a:lnTo>
                <a:lnTo>
                  <a:pt x="194750" y="14517"/>
                </a:lnTo>
                <a:lnTo>
                  <a:pt x="238566" y="3726"/>
                </a:lnTo>
                <a:lnTo>
                  <a:pt x="284755" y="0"/>
                </a:lnTo>
                <a:lnTo>
                  <a:pt x="2688244" y="0"/>
                </a:lnTo>
                <a:lnTo>
                  <a:pt x="2733058" y="3547"/>
                </a:lnTo>
                <a:lnTo>
                  <a:pt x="2776366" y="13978"/>
                </a:lnTo>
                <a:lnTo>
                  <a:pt x="2817401" y="30975"/>
                </a:lnTo>
                <a:lnTo>
                  <a:pt x="2855400" y="54222"/>
                </a:lnTo>
                <a:lnTo>
                  <a:pt x="2889596" y="83403"/>
                </a:lnTo>
                <a:lnTo>
                  <a:pt x="2918777" y="117599"/>
                </a:lnTo>
                <a:lnTo>
                  <a:pt x="2942024" y="155598"/>
                </a:lnTo>
                <a:lnTo>
                  <a:pt x="2959021" y="196633"/>
                </a:lnTo>
                <a:lnTo>
                  <a:pt x="2969452" y="239941"/>
                </a:lnTo>
                <a:lnTo>
                  <a:pt x="2972999" y="284755"/>
                </a:lnTo>
                <a:lnTo>
                  <a:pt x="2972999" y="1423744"/>
                </a:lnTo>
                <a:lnTo>
                  <a:pt x="2969272" y="1469933"/>
                </a:lnTo>
                <a:lnTo>
                  <a:pt x="2958482" y="1513749"/>
                </a:lnTo>
                <a:lnTo>
                  <a:pt x="2941215" y="1554605"/>
                </a:lnTo>
                <a:lnTo>
                  <a:pt x="2918058" y="1591917"/>
                </a:lnTo>
                <a:lnTo>
                  <a:pt x="2889596" y="1625096"/>
                </a:lnTo>
                <a:lnTo>
                  <a:pt x="2856417" y="1653558"/>
                </a:lnTo>
                <a:lnTo>
                  <a:pt x="2819105" y="1676716"/>
                </a:lnTo>
                <a:lnTo>
                  <a:pt x="2778249" y="1693982"/>
                </a:lnTo>
                <a:lnTo>
                  <a:pt x="2734433" y="1704773"/>
                </a:lnTo>
                <a:lnTo>
                  <a:pt x="2688244" y="1708499"/>
                </a:lnTo>
                <a:close/>
              </a:path>
            </a:pathLst>
          </a:custGeom>
          <a:solidFill>
            <a:srgbClr val="EEEE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3" name="Google Shape;263;p39"/>
          <p:cNvSpPr/>
          <p:nvPr/>
        </p:nvSpPr>
        <p:spPr>
          <a:xfrm>
            <a:off x="907949" y="3082180"/>
            <a:ext cx="3597415" cy="1567810"/>
          </a:xfrm>
          <a:custGeom>
            <a:avLst/>
            <a:gdLst/>
            <a:ahLst/>
            <a:cxnLst/>
            <a:rect l="l" t="t" r="r" b="b"/>
            <a:pathLst>
              <a:path w="2973070" h="1708785" extrusionOk="0">
                <a:moveTo>
                  <a:pt x="0" y="284755"/>
                </a:moveTo>
                <a:lnTo>
                  <a:pt x="3726" y="238566"/>
                </a:lnTo>
                <a:lnTo>
                  <a:pt x="14517" y="194750"/>
                </a:lnTo>
                <a:lnTo>
                  <a:pt x="31783" y="153894"/>
                </a:lnTo>
                <a:lnTo>
                  <a:pt x="54941" y="116582"/>
                </a:lnTo>
                <a:lnTo>
                  <a:pt x="83403" y="83403"/>
                </a:lnTo>
                <a:lnTo>
                  <a:pt x="116582" y="54941"/>
                </a:lnTo>
                <a:lnTo>
                  <a:pt x="153894" y="31783"/>
                </a:lnTo>
                <a:lnTo>
                  <a:pt x="194750" y="14517"/>
                </a:lnTo>
                <a:lnTo>
                  <a:pt x="238566" y="3726"/>
                </a:lnTo>
                <a:lnTo>
                  <a:pt x="284755" y="0"/>
                </a:lnTo>
                <a:lnTo>
                  <a:pt x="2688244" y="0"/>
                </a:lnTo>
                <a:lnTo>
                  <a:pt x="2733059" y="3547"/>
                </a:lnTo>
                <a:lnTo>
                  <a:pt x="2776366" y="13978"/>
                </a:lnTo>
                <a:lnTo>
                  <a:pt x="2817401" y="30975"/>
                </a:lnTo>
                <a:lnTo>
                  <a:pt x="2855400" y="54222"/>
                </a:lnTo>
                <a:lnTo>
                  <a:pt x="2889596" y="83402"/>
                </a:lnTo>
                <a:lnTo>
                  <a:pt x="2918777" y="117599"/>
                </a:lnTo>
                <a:lnTo>
                  <a:pt x="2942024" y="155598"/>
                </a:lnTo>
                <a:lnTo>
                  <a:pt x="2959021" y="196633"/>
                </a:lnTo>
                <a:lnTo>
                  <a:pt x="2969452" y="239941"/>
                </a:lnTo>
                <a:lnTo>
                  <a:pt x="2972999" y="284755"/>
                </a:lnTo>
                <a:lnTo>
                  <a:pt x="2972999" y="1423744"/>
                </a:lnTo>
                <a:lnTo>
                  <a:pt x="2969273" y="1469933"/>
                </a:lnTo>
                <a:lnTo>
                  <a:pt x="2958482" y="1513749"/>
                </a:lnTo>
                <a:lnTo>
                  <a:pt x="2941215" y="1554605"/>
                </a:lnTo>
                <a:lnTo>
                  <a:pt x="2918058" y="1591917"/>
                </a:lnTo>
                <a:lnTo>
                  <a:pt x="2889596" y="1625096"/>
                </a:lnTo>
                <a:lnTo>
                  <a:pt x="2856417" y="1653558"/>
                </a:lnTo>
                <a:lnTo>
                  <a:pt x="2819105" y="1676716"/>
                </a:lnTo>
                <a:lnTo>
                  <a:pt x="2778249" y="1693982"/>
                </a:lnTo>
                <a:lnTo>
                  <a:pt x="2734433" y="1704773"/>
                </a:lnTo>
                <a:lnTo>
                  <a:pt x="2688244" y="1708499"/>
                </a:ln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close/>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4" name="Google Shape;264;p39"/>
          <p:cNvSpPr txBox="1"/>
          <p:nvPr/>
        </p:nvSpPr>
        <p:spPr>
          <a:xfrm>
            <a:off x="1064375" y="3231496"/>
            <a:ext cx="3624600" cy="959700"/>
          </a:xfrm>
          <a:prstGeom prst="rect">
            <a:avLst/>
          </a:prstGeom>
          <a:noFill/>
          <a:ln>
            <a:noFill/>
          </a:ln>
        </p:spPr>
        <p:txBody>
          <a:bodyPr spcFirstLastPara="1" wrap="square" lIns="0" tIns="22850" rIns="0" bIns="0" anchor="t" anchorCtr="0">
            <a:spAutoFit/>
          </a:bodyPr>
          <a:lstStyle/>
          <a:p>
            <a:pPr marL="12700" marR="281305" lvl="0" indent="0" algn="l" rtl="0">
              <a:lnSpc>
                <a:spcPct val="1375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Q: What home entertainment  equipment requires cable?</a:t>
            </a:r>
            <a:endParaRPr sz="1400" b="0" i="0" u="none" strike="noStrike" cap="none">
              <a:solidFill>
                <a:srgbClr val="000000"/>
              </a:solidFill>
              <a:latin typeface="Arial"/>
              <a:ea typeface="Arial"/>
              <a:cs typeface="Arial"/>
              <a:sym typeface="Arial"/>
            </a:endParaRPr>
          </a:p>
          <a:p>
            <a:pPr marL="12700" marR="0" lvl="0" indent="0" algn="l" rtl="0">
              <a:lnSpc>
                <a:spcPct val="132083"/>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Answer Choices: (a) radio shack (b) substation </a:t>
            </a:r>
            <a:br>
              <a:rPr lang="zh-CN" sz="1200" b="0" i="0" u="none" strike="noStrike" cap="none">
                <a:solidFill>
                  <a:schemeClr val="dk1"/>
                </a:solidFill>
                <a:latin typeface="Arial"/>
                <a:ea typeface="Arial"/>
                <a:cs typeface="Arial"/>
                <a:sym typeface="Arial"/>
              </a:rPr>
            </a:br>
            <a:r>
              <a:rPr lang="zh-CN" sz="1200" b="0" i="0" u="none" strike="noStrike" cap="none">
                <a:solidFill>
                  <a:schemeClr val="dk1"/>
                </a:solidFill>
                <a:latin typeface="Arial"/>
                <a:ea typeface="Arial"/>
                <a:cs typeface="Arial"/>
                <a:sym typeface="Arial"/>
              </a:rPr>
              <a:t>(c) television (d)  cabinet</a:t>
            </a:r>
            <a:endParaRPr sz="1400" b="0" i="0" u="none" strike="noStrike" cap="none">
              <a:solidFill>
                <a:srgbClr val="000000"/>
              </a:solidFill>
              <a:latin typeface="Arial"/>
              <a:ea typeface="Arial"/>
              <a:cs typeface="Arial"/>
              <a:sym typeface="Arial"/>
            </a:endParaRPr>
          </a:p>
        </p:txBody>
      </p:sp>
      <p:sp>
        <p:nvSpPr>
          <p:cNvPr id="265" name="Google Shape;265;p39"/>
          <p:cNvSpPr txBox="1"/>
          <p:nvPr/>
        </p:nvSpPr>
        <p:spPr>
          <a:xfrm>
            <a:off x="1064376" y="4275732"/>
            <a:ext cx="25737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 The answer is </a:t>
            </a:r>
            <a:r>
              <a:rPr lang="zh-CN" sz="1200" b="1" i="0" u="none" strike="noStrike" cap="none">
                <a:solidFill>
                  <a:srgbClr val="A61B00"/>
                </a:solidFill>
                <a:latin typeface="Arial"/>
                <a:ea typeface="Arial"/>
                <a:cs typeface="Arial"/>
                <a:sym typeface="Arial"/>
              </a:rPr>
              <a:t> television.</a:t>
            </a:r>
            <a:endParaRPr sz="1200" b="0" i="0" u="none" strike="noStrike" cap="none">
              <a:solidFill>
                <a:schemeClr val="dk1"/>
              </a:solidFill>
              <a:latin typeface="Arial"/>
              <a:ea typeface="Arial"/>
              <a:cs typeface="Arial"/>
              <a:sym typeface="Arial"/>
            </a:endParaRPr>
          </a:p>
        </p:txBody>
      </p:sp>
      <p:sp>
        <p:nvSpPr>
          <p:cNvPr id="266" name="Google Shape;266;p39"/>
          <p:cNvSpPr txBox="1"/>
          <p:nvPr/>
        </p:nvSpPr>
        <p:spPr>
          <a:xfrm>
            <a:off x="1586735" y="4749064"/>
            <a:ext cx="25800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zh-CN" sz="1600" b="0" i="0" u="none" strike="noStrike" cap="none">
                <a:solidFill>
                  <a:schemeClr val="dk1"/>
                </a:solidFill>
                <a:latin typeface="Times New Roman"/>
                <a:ea typeface="Times New Roman"/>
                <a:cs typeface="Times New Roman"/>
                <a:sym typeface="Times New Roman"/>
              </a:rPr>
              <a:t>Commonsense Reasoning</a:t>
            </a:r>
            <a:endParaRPr sz="1600" b="0" i="0" u="none" strike="noStrike" cap="none">
              <a:solidFill>
                <a:schemeClr val="dk1"/>
              </a:solidFill>
              <a:latin typeface="Times New Roman"/>
              <a:ea typeface="Times New Roman"/>
              <a:cs typeface="Times New Roman"/>
              <a:sym typeface="Times New Roman"/>
            </a:endParaRPr>
          </a:p>
        </p:txBody>
      </p:sp>
      <p:sp>
        <p:nvSpPr>
          <p:cNvPr id="267" name="Google Shape;267;p39"/>
          <p:cNvSpPr/>
          <p:nvPr/>
        </p:nvSpPr>
        <p:spPr>
          <a:xfrm>
            <a:off x="5052189" y="975302"/>
            <a:ext cx="2296230" cy="1396932"/>
          </a:xfrm>
          <a:custGeom>
            <a:avLst/>
            <a:gdLst/>
            <a:ahLst/>
            <a:cxnLst/>
            <a:rect l="l" t="t" r="r" b="b"/>
            <a:pathLst>
              <a:path w="2594610" h="1708785" extrusionOk="0">
                <a:moveTo>
                  <a:pt x="2309644" y="1708499"/>
                </a:move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lnTo>
                  <a:pt x="3726" y="238566"/>
                </a:lnTo>
                <a:lnTo>
                  <a:pt x="14517" y="194750"/>
                </a:lnTo>
                <a:lnTo>
                  <a:pt x="31783" y="153894"/>
                </a:lnTo>
                <a:lnTo>
                  <a:pt x="54941" y="116582"/>
                </a:lnTo>
                <a:lnTo>
                  <a:pt x="83403" y="83402"/>
                </a:lnTo>
                <a:lnTo>
                  <a:pt x="116582" y="54941"/>
                </a:lnTo>
                <a:lnTo>
                  <a:pt x="153894" y="31783"/>
                </a:lnTo>
                <a:lnTo>
                  <a:pt x="194750" y="14517"/>
                </a:lnTo>
                <a:lnTo>
                  <a:pt x="238566" y="3726"/>
                </a:lnTo>
                <a:lnTo>
                  <a:pt x="284755" y="0"/>
                </a:lnTo>
                <a:lnTo>
                  <a:pt x="2309644" y="0"/>
                </a:lnTo>
                <a:lnTo>
                  <a:pt x="2354458" y="3547"/>
                </a:lnTo>
                <a:lnTo>
                  <a:pt x="2397766" y="13978"/>
                </a:lnTo>
                <a:lnTo>
                  <a:pt x="2438801" y="30975"/>
                </a:lnTo>
                <a:lnTo>
                  <a:pt x="2476800" y="54222"/>
                </a:lnTo>
                <a:lnTo>
                  <a:pt x="2510996" y="83403"/>
                </a:lnTo>
                <a:lnTo>
                  <a:pt x="2540177" y="117599"/>
                </a:lnTo>
                <a:lnTo>
                  <a:pt x="2563424" y="155598"/>
                </a:lnTo>
                <a:lnTo>
                  <a:pt x="2580421" y="196633"/>
                </a:lnTo>
                <a:lnTo>
                  <a:pt x="2590852" y="239941"/>
                </a:lnTo>
                <a:lnTo>
                  <a:pt x="2594399" y="284755"/>
                </a:lnTo>
                <a:lnTo>
                  <a:pt x="2594399" y="1423744"/>
                </a:lnTo>
                <a:lnTo>
                  <a:pt x="2590673" y="1469933"/>
                </a:lnTo>
                <a:lnTo>
                  <a:pt x="2579882" y="1513749"/>
                </a:lnTo>
                <a:lnTo>
                  <a:pt x="2562616" y="1554605"/>
                </a:lnTo>
                <a:lnTo>
                  <a:pt x="2539458" y="1591917"/>
                </a:lnTo>
                <a:lnTo>
                  <a:pt x="2510996" y="1625096"/>
                </a:lnTo>
                <a:lnTo>
                  <a:pt x="2477817" y="1653558"/>
                </a:lnTo>
                <a:lnTo>
                  <a:pt x="2440505" y="1676716"/>
                </a:lnTo>
                <a:lnTo>
                  <a:pt x="2399649" y="1693982"/>
                </a:lnTo>
                <a:lnTo>
                  <a:pt x="2355833" y="1704773"/>
                </a:lnTo>
                <a:lnTo>
                  <a:pt x="2309644" y="1708499"/>
                </a:lnTo>
                <a:close/>
              </a:path>
            </a:pathLst>
          </a:custGeom>
          <a:solidFill>
            <a:srgbClr val="EEEE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8" name="Google Shape;268;p39"/>
          <p:cNvSpPr/>
          <p:nvPr/>
        </p:nvSpPr>
        <p:spPr>
          <a:xfrm>
            <a:off x="5052189" y="975302"/>
            <a:ext cx="2296230" cy="1396932"/>
          </a:xfrm>
          <a:custGeom>
            <a:avLst/>
            <a:gdLst/>
            <a:ahLst/>
            <a:cxnLst/>
            <a:rect l="l" t="t" r="r" b="b"/>
            <a:pathLst>
              <a:path w="2594610" h="1708785" extrusionOk="0">
                <a:moveTo>
                  <a:pt x="0" y="284755"/>
                </a:moveTo>
                <a:lnTo>
                  <a:pt x="3726" y="238566"/>
                </a:lnTo>
                <a:lnTo>
                  <a:pt x="14517" y="194750"/>
                </a:lnTo>
                <a:lnTo>
                  <a:pt x="31783" y="153894"/>
                </a:lnTo>
                <a:lnTo>
                  <a:pt x="54941" y="116582"/>
                </a:lnTo>
                <a:lnTo>
                  <a:pt x="83403" y="83403"/>
                </a:lnTo>
                <a:lnTo>
                  <a:pt x="116582" y="54941"/>
                </a:lnTo>
                <a:lnTo>
                  <a:pt x="153894" y="31783"/>
                </a:lnTo>
                <a:lnTo>
                  <a:pt x="194750" y="14517"/>
                </a:lnTo>
                <a:lnTo>
                  <a:pt x="238566" y="3726"/>
                </a:lnTo>
                <a:lnTo>
                  <a:pt x="284755" y="0"/>
                </a:lnTo>
                <a:lnTo>
                  <a:pt x="2309644" y="0"/>
                </a:lnTo>
                <a:lnTo>
                  <a:pt x="2354458" y="3547"/>
                </a:lnTo>
                <a:lnTo>
                  <a:pt x="2397766" y="13978"/>
                </a:lnTo>
                <a:lnTo>
                  <a:pt x="2438801" y="30975"/>
                </a:lnTo>
                <a:lnTo>
                  <a:pt x="2476800" y="54222"/>
                </a:lnTo>
                <a:lnTo>
                  <a:pt x="2510996" y="83402"/>
                </a:lnTo>
                <a:lnTo>
                  <a:pt x="2540177" y="117599"/>
                </a:lnTo>
                <a:lnTo>
                  <a:pt x="2563424" y="155598"/>
                </a:lnTo>
                <a:lnTo>
                  <a:pt x="2580421" y="196633"/>
                </a:lnTo>
                <a:lnTo>
                  <a:pt x="2590852" y="239941"/>
                </a:lnTo>
                <a:lnTo>
                  <a:pt x="2594399" y="284755"/>
                </a:lnTo>
                <a:lnTo>
                  <a:pt x="2594399" y="1423744"/>
                </a:lnTo>
                <a:lnTo>
                  <a:pt x="2590673" y="1469933"/>
                </a:lnTo>
                <a:lnTo>
                  <a:pt x="2579882" y="1513749"/>
                </a:lnTo>
                <a:lnTo>
                  <a:pt x="2562616" y="1554605"/>
                </a:lnTo>
                <a:lnTo>
                  <a:pt x="2539458" y="1591917"/>
                </a:lnTo>
                <a:lnTo>
                  <a:pt x="2510996" y="1625096"/>
                </a:lnTo>
                <a:lnTo>
                  <a:pt x="2477817" y="1653558"/>
                </a:lnTo>
                <a:lnTo>
                  <a:pt x="2440505" y="1676716"/>
                </a:lnTo>
                <a:lnTo>
                  <a:pt x="2399649" y="1693982"/>
                </a:lnTo>
                <a:lnTo>
                  <a:pt x="2355833" y="1704773"/>
                </a:lnTo>
                <a:lnTo>
                  <a:pt x="2309644" y="1708499"/>
                </a:ln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close/>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9" name="Google Shape;269;p39"/>
          <p:cNvSpPr txBox="1"/>
          <p:nvPr/>
        </p:nvSpPr>
        <p:spPr>
          <a:xfrm>
            <a:off x="5208617" y="1150080"/>
            <a:ext cx="1986300" cy="715800"/>
          </a:xfrm>
          <a:prstGeom prst="rect">
            <a:avLst/>
          </a:prstGeom>
          <a:noFill/>
          <a:ln>
            <a:noFill/>
          </a:ln>
        </p:spPr>
        <p:txBody>
          <a:bodyPr spcFirstLastPara="1" wrap="square" lIns="0" tIns="22850" rIns="0" bIns="0" anchor="t" anchorCtr="0">
            <a:spAutoFit/>
          </a:bodyPr>
          <a:lstStyle/>
          <a:p>
            <a:pPr marL="12700" marR="5080" lvl="0" indent="0" algn="just" rtl="0">
              <a:lnSpc>
                <a:spcPct val="1375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Q: Take the last letters of  the words in "Elon Musk"  and concatenate them</a:t>
            </a:r>
            <a:endParaRPr sz="1200" b="0" i="0" u="none" strike="noStrike" cap="none">
              <a:solidFill>
                <a:schemeClr val="dk1"/>
              </a:solidFill>
              <a:latin typeface="Arial"/>
              <a:ea typeface="Arial"/>
              <a:cs typeface="Arial"/>
              <a:sym typeface="Arial"/>
            </a:endParaRPr>
          </a:p>
        </p:txBody>
      </p:sp>
      <p:sp>
        <p:nvSpPr>
          <p:cNvPr id="270" name="Google Shape;270;p39"/>
          <p:cNvSpPr txBox="1">
            <a:spLocks noGrp="1"/>
          </p:cNvSpPr>
          <p:nvPr>
            <p:ph type="sldNum" idx="12"/>
          </p:nvPr>
        </p:nvSpPr>
        <p:spPr>
          <a:xfrm>
            <a:off x="8472458" y="4663217"/>
            <a:ext cx="548700" cy="154500"/>
          </a:xfrm>
          <a:prstGeom prst="rect">
            <a:avLst/>
          </a:prstGeom>
          <a:noFill/>
          <a:ln>
            <a:noFill/>
          </a:ln>
        </p:spPr>
        <p:txBody>
          <a:bodyPr spcFirstLastPara="1" wrap="square" lIns="0" tIns="625" rIns="0" bIns="0" anchor="ctr" anchorCtr="0">
            <a:spAutoFit/>
          </a:bodyPr>
          <a:lstStyle/>
          <a:p>
            <a:pPr marL="25400" lvl="0" indent="0" algn="r" rtl="0">
              <a:lnSpc>
                <a:spcPct val="100000"/>
              </a:lnSpc>
              <a:spcBef>
                <a:spcPts val="5"/>
              </a:spcBef>
              <a:spcAft>
                <a:spcPts val="0"/>
              </a:spcAft>
              <a:buClr>
                <a:srgbClr val="595959"/>
              </a:buClr>
              <a:buSzPts val="1000"/>
              <a:buFont typeface="Arial"/>
              <a:buNone/>
            </a:pPr>
            <a:fld id="{00000000-1234-1234-1234-123412341234}" type="slidenum">
              <a:rPr lang="en-US" altLang="zh-CN"/>
              <a:t>80</a:t>
            </a:fld>
            <a:endParaRPr/>
          </a:p>
        </p:txBody>
      </p:sp>
      <p:sp>
        <p:nvSpPr>
          <p:cNvPr id="271" name="Google Shape;271;p39"/>
          <p:cNvSpPr txBox="1"/>
          <p:nvPr/>
        </p:nvSpPr>
        <p:spPr>
          <a:xfrm>
            <a:off x="5208617" y="1982718"/>
            <a:ext cx="16524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 The answer is </a:t>
            </a:r>
            <a:r>
              <a:rPr lang="zh-CN" sz="1200" b="1" i="0" u="none" strike="noStrike" cap="none">
                <a:solidFill>
                  <a:srgbClr val="A61B00"/>
                </a:solidFill>
                <a:latin typeface="Arial"/>
                <a:ea typeface="Arial"/>
                <a:cs typeface="Arial"/>
                <a:sym typeface="Arial"/>
              </a:rPr>
              <a:t>nk</a:t>
            </a:r>
            <a:r>
              <a:rPr lang="zh-CN" sz="1200" b="1"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p:txBody>
      </p:sp>
      <p:sp>
        <p:nvSpPr>
          <p:cNvPr id="272" name="Google Shape;272;p39"/>
          <p:cNvSpPr txBox="1"/>
          <p:nvPr/>
        </p:nvSpPr>
        <p:spPr>
          <a:xfrm>
            <a:off x="5281909" y="2520657"/>
            <a:ext cx="21438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zh-CN" sz="1600" b="0" i="0" u="none" strike="noStrike" cap="none">
                <a:solidFill>
                  <a:schemeClr val="dk1"/>
                </a:solidFill>
                <a:latin typeface="Times New Roman"/>
                <a:ea typeface="Times New Roman"/>
                <a:cs typeface="Times New Roman"/>
                <a:sym typeface="Times New Roman"/>
              </a:rPr>
              <a:t>Symbolic Reasoning</a:t>
            </a:r>
            <a:endParaRPr sz="1600" b="0" i="0" u="none" strike="noStrike" cap="none">
              <a:solidFill>
                <a:schemeClr val="dk1"/>
              </a:solidFill>
              <a:latin typeface="Times New Roman"/>
              <a:ea typeface="Times New Roman"/>
              <a:cs typeface="Times New Roman"/>
              <a:sym typeface="Times New Roman"/>
            </a:endParaRPr>
          </a:p>
        </p:txBody>
      </p:sp>
      <p:sp>
        <p:nvSpPr>
          <p:cNvPr id="273" name="Google Shape;273;p39"/>
          <p:cNvSpPr/>
          <p:nvPr/>
        </p:nvSpPr>
        <p:spPr>
          <a:xfrm>
            <a:off x="4910511" y="3082180"/>
            <a:ext cx="3597415" cy="1567810"/>
          </a:xfrm>
          <a:custGeom>
            <a:avLst/>
            <a:gdLst/>
            <a:ahLst/>
            <a:cxnLst/>
            <a:rect l="l" t="t" r="r" b="b"/>
            <a:pathLst>
              <a:path w="2973070" h="1708785" extrusionOk="0">
                <a:moveTo>
                  <a:pt x="2688244" y="1708499"/>
                </a:move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lnTo>
                  <a:pt x="3726" y="238566"/>
                </a:lnTo>
                <a:lnTo>
                  <a:pt x="14517" y="194750"/>
                </a:lnTo>
                <a:lnTo>
                  <a:pt x="31783" y="153894"/>
                </a:lnTo>
                <a:lnTo>
                  <a:pt x="54941" y="116582"/>
                </a:lnTo>
                <a:lnTo>
                  <a:pt x="83403" y="83402"/>
                </a:lnTo>
                <a:lnTo>
                  <a:pt x="116582" y="54941"/>
                </a:lnTo>
                <a:lnTo>
                  <a:pt x="153894" y="31783"/>
                </a:lnTo>
                <a:lnTo>
                  <a:pt x="194750" y="14517"/>
                </a:lnTo>
                <a:lnTo>
                  <a:pt x="238566" y="3726"/>
                </a:lnTo>
                <a:lnTo>
                  <a:pt x="284755" y="0"/>
                </a:lnTo>
                <a:lnTo>
                  <a:pt x="2688244" y="0"/>
                </a:lnTo>
                <a:lnTo>
                  <a:pt x="2733058" y="3547"/>
                </a:lnTo>
                <a:lnTo>
                  <a:pt x="2776366" y="13978"/>
                </a:lnTo>
                <a:lnTo>
                  <a:pt x="2817401" y="30975"/>
                </a:lnTo>
                <a:lnTo>
                  <a:pt x="2855400" y="54222"/>
                </a:lnTo>
                <a:lnTo>
                  <a:pt x="2889596" y="83403"/>
                </a:lnTo>
                <a:lnTo>
                  <a:pt x="2918777" y="117599"/>
                </a:lnTo>
                <a:lnTo>
                  <a:pt x="2942024" y="155598"/>
                </a:lnTo>
                <a:lnTo>
                  <a:pt x="2959021" y="196633"/>
                </a:lnTo>
                <a:lnTo>
                  <a:pt x="2969452" y="239941"/>
                </a:lnTo>
                <a:lnTo>
                  <a:pt x="2972999" y="284755"/>
                </a:lnTo>
                <a:lnTo>
                  <a:pt x="2972999" y="1423744"/>
                </a:lnTo>
                <a:lnTo>
                  <a:pt x="2969272" y="1469933"/>
                </a:lnTo>
                <a:lnTo>
                  <a:pt x="2958482" y="1513749"/>
                </a:lnTo>
                <a:lnTo>
                  <a:pt x="2941215" y="1554605"/>
                </a:lnTo>
                <a:lnTo>
                  <a:pt x="2918058" y="1591917"/>
                </a:lnTo>
                <a:lnTo>
                  <a:pt x="2889596" y="1625096"/>
                </a:lnTo>
                <a:lnTo>
                  <a:pt x="2856417" y="1653558"/>
                </a:lnTo>
                <a:lnTo>
                  <a:pt x="2819105" y="1676716"/>
                </a:lnTo>
                <a:lnTo>
                  <a:pt x="2778249" y="1693982"/>
                </a:lnTo>
                <a:lnTo>
                  <a:pt x="2734433" y="1704773"/>
                </a:lnTo>
                <a:lnTo>
                  <a:pt x="2688244" y="1708499"/>
                </a:lnTo>
                <a:close/>
              </a:path>
            </a:pathLst>
          </a:custGeom>
          <a:solidFill>
            <a:srgbClr val="EEEE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4" name="Google Shape;274;p39"/>
          <p:cNvSpPr/>
          <p:nvPr/>
        </p:nvSpPr>
        <p:spPr>
          <a:xfrm>
            <a:off x="4910511" y="3082180"/>
            <a:ext cx="3597415" cy="1567810"/>
          </a:xfrm>
          <a:custGeom>
            <a:avLst/>
            <a:gdLst/>
            <a:ahLst/>
            <a:cxnLst/>
            <a:rect l="l" t="t" r="r" b="b"/>
            <a:pathLst>
              <a:path w="2973070" h="1708785" extrusionOk="0">
                <a:moveTo>
                  <a:pt x="0" y="284755"/>
                </a:moveTo>
                <a:lnTo>
                  <a:pt x="3726" y="238566"/>
                </a:lnTo>
                <a:lnTo>
                  <a:pt x="14517" y="194750"/>
                </a:lnTo>
                <a:lnTo>
                  <a:pt x="31783" y="153894"/>
                </a:lnTo>
                <a:lnTo>
                  <a:pt x="54941" y="116582"/>
                </a:lnTo>
                <a:lnTo>
                  <a:pt x="83403" y="83403"/>
                </a:lnTo>
                <a:lnTo>
                  <a:pt x="116582" y="54941"/>
                </a:lnTo>
                <a:lnTo>
                  <a:pt x="153894" y="31783"/>
                </a:lnTo>
                <a:lnTo>
                  <a:pt x="194750" y="14517"/>
                </a:lnTo>
                <a:lnTo>
                  <a:pt x="238566" y="3726"/>
                </a:lnTo>
                <a:lnTo>
                  <a:pt x="284755" y="0"/>
                </a:lnTo>
                <a:lnTo>
                  <a:pt x="2688244" y="0"/>
                </a:lnTo>
                <a:lnTo>
                  <a:pt x="2733059" y="3547"/>
                </a:lnTo>
                <a:lnTo>
                  <a:pt x="2776366" y="13978"/>
                </a:lnTo>
                <a:lnTo>
                  <a:pt x="2817401" y="30975"/>
                </a:lnTo>
                <a:lnTo>
                  <a:pt x="2855400" y="54222"/>
                </a:lnTo>
                <a:lnTo>
                  <a:pt x="2889596" y="83402"/>
                </a:lnTo>
                <a:lnTo>
                  <a:pt x="2918777" y="117599"/>
                </a:lnTo>
                <a:lnTo>
                  <a:pt x="2942024" y="155598"/>
                </a:lnTo>
                <a:lnTo>
                  <a:pt x="2959021" y="196633"/>
                </a:lnTo>
                <a:lnTo>
                  <a:pt x="2969452" y="239941"/>
                </a:lnTo>
                <a:lnTo>
                  <a:pt x="2972999" y="284755"/>
                </a:lnTo>
                <a:lnTo>
                  <a:pt x="2972999" y="1423744"/>
                </a:lnTo>
                <a:lnTo>
                  <a:pt x="2969273" y="1469933"/>
                </a:lnTo>
                <a:lnTo>
                  <a:pt x="2958482" y="1513749"/>
                </a:lnTo>
                <a:lnTo>
                  <a:pt x="2941215" y="1554605"/>
                </a:lnTo>
                <a:lnTo>
                  <a:pt x="2918058" y="1591917"/>
                </a:lnTo>
                <a:lnTo>
                  <a:pt x="2889596" y="1625096"/>
                </a:lnTo>
                <a:lnTo>
                  <a:pt x="2856417" y="1653558"/>
                </a:lnTo>
                <a:lnTo>
                  <a:pt x="2819105" y="1676716"/>
                </a:lnTo>
                <a:lnTo>
                  <a:pt x="2778249" y="1693982"/>
                </a:lnTo>
                <a:lnTo>
                  <a:pt x="2734433" y="1704773"/>
                </a:lnTo>
                <a:lnTo>
                  <a:pt x="2688244" y="1708499"/>
                </a:lnTo>
                <a:lnTo>
                  <a:pt x="284755" y="1708499"/>
                </a:lnTo>
                <a:lnTo>
                  <a:pt x="238566" y="1704773"/>
                </a:lnTo>
                <a:lnTo>
                  <a:pt x="194750" y="1693982"/>
                </a:lnTo>
                <a:lnTo>
                  <a:pt x="153894" y="1676716"/>
                </a:lnTo>
                <a:lnTo>
                  <a:pt x="116582" y="1653558"/>
                </a:lnTo>
                <a:lnTo>
                  <a:pt x="83403" y="1625096"/>
                </a:lnTo>
                <a:lnTo>
                  <a:pt x="54941" y="1591917"/>
                </a:lnTo>
                <a:lnTo>
                  <a:pt x="31783" y="1554605"/>
                </a:lnTo>
                <a:lnTo>
                  <a:pt x="14517" y="1513749"/>
                </a:lnTo>
                <a:lnTo>
                  <a:pt x="3726" y="1469933"/>
                </a:lnTo>
                <a:lnTo>
                  <a:pt x="0" y="1423744"/>
                </a:lnTo>
                <a:lnTo>
                  <a:pt x="0" y="284755"/>
                </a:lnTo>
                <a:close/>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5" name="Google Shape;275;p39"/>
          <p:cNvSpPr txBox="1"/>
          <p:nvPr/>
        </p:nvSpPr>
        <p:spPr>
          <a:xfrm>
            <a:off x="5066938" y="3397482"/>
            <a:ext cx="3624600" cy="461700"/>
          </a:xfrm>
          <a:prstGeom prst="rect">
            <a:avLst/>
          </a:prstGeom>
          <a:noFill/>
          <a:ln>
            <a:noFill/>
          </a:ln>
        </p:spPr>
        <p:txBody>
          <a:bodyPr spcFirstLastPara="1" wrap="square" lIns="0" tIns="22850" rIns="0" bIns="0" anchor="t" anchorCtr="0">
            <a:spAutoFit/>
          </a:bodyPr>
          <a:lstStyle/>
          <a:p>
            <a:pPr marL="12700" marR="281305" lvl="0" indent="0" algn="l" rtl="0">
              <a:lnSpc>
                <a:spcPct val="1375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Q: Wolves are afraid of mice. Sheep are afraid of wolves. Emily is a wolf. What is Emily afraid of?</a:t>
            </a:r>
            <a:endParaRPr sz="1200" b="0" i="0" u="none" strike="noStrike" cap="none">
              <a:solidFill>
                <a:schemeClr val="dk1"/>
              </a:solidFill>
              <a:latin typeface="Arial"/>
              <a:ea typeface="Arial"/>
              <a:cs typeface="Arial"/>
              <a:sym typeface="Arial"/>
            </a:endParaRPr>
          </a:p>
        </p:txBody>
      </p:sp>
      <p:sp>
        <p:nvSpPr>
          <p:cNvPr id="276" name="Google Shape;276;p39"/>
          <p:cNvSpPr txBox="1"/>
          <p:nvPr/>
        </p:nvSpPr>
        <p:spPr>
          <a:xfrm>
            <a:off x="5066938" y="4275732"/>
            <a:ext cx="25737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 The answer is </a:t>
            </a:r>
            <a:r>
              <a:rPr lang="zh-CN" sz="1200" b="1" i="0" u="none" strike="noStrike" cap="none">
                <a:solidFill>
                  <a:srgbClr val="A61B00"/>
                </a:solidFill>
                <a:latin typeface="Arial"/>
                <a:ea typeface="Arial"/>
                <a:cs typeface="Arial"/>
                <a:sym typeface="Arial"/>
              </a:rPr>
              <a:t> mice.</a:t>
            </a:r>
            <a:endParaRPr sz="1200" b="0" i="0" u="none" strike="noStrike" cap="none">
              <a:solidFill>
                <a:schemeClr val="dk1"/>
              </a:solidFill>
              <a:latin typeface="Arial"/>
              <a:ea typeface="Arial"/>
              <a:cs typeface="Arial"/>
              <a:sym typeface="Arial"/>
            </a:endParaRPr>
          </a:p>
        </p:txBody>
      </p:sp>
      <p:sp>
        <p:nvSpPr>
          <p:cNvPr id="277" name="Google Shape;277;p39"/>
          <p:cNvSpPr txBox="1"/>
          <p:nvPr/>
        </p:nvSpPr>
        <p:spPr>
          <a:xfrm>
            <a:off x="5892453" y="4760014"/>
            <a:ext cx="25800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zh-CN" sz="1600" b="0" i="0" u="none" strike="noStrike" cap="none">
                <a:solidFill>
                  <a:schemeClr val="dk1"/>
                </a:solidFill>
                <a:latin typeface="Times New Roman"/>
                <a:ea typeface="Times New Roman"/>
                <a:cs typeface="Times New Roman"/>
                <a:sym typeface="Times New Roman"/>
              </a:rPr>
              <a:t>Logical Reasoning</a:t>
            </a: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2"/>
          <p:cNvSpPr txBox="1">
            <a:spLocks noGrp="1"/>
          </p:cNvSpPr>
          <p:nvPr>
            <p:ph type="title"/>
          </p:nvPr>
        </p:nvSpPr>
        <p:spPr>
          <a:xfrm>
            <a:off x="384725" y="212690"/>
            <a:ext cx="8087700" cy="48731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100"/>
              </a:spcBef>
              <a:spcAft>
                <a:spcPts val="0"/>
              </a:spcAft>
              <a:buSzPts val="2800"/>
              <a:buNone/>
            </a:pPr>
            <a:r>
              <a:rPr lang="zh-CN" sz="3000" dirty="0"/>
              <a:t>Scaling laws are worse for logical reasoning</a:t>
            </a:r>
            <a:r>
              <a:rPr lang="en-US" altLang="zh-CN" sz="3000" dirty="0"/>
              <a:t> in 2022</a:t>
            </a:r>
            <a:endParaRPr sz="3000" dirty="0"/>
          </a:p>
        </p:txBody>
      </p:sp>
      <p:sp>
        <p:nvSpPr>
          <p:cNvPr id="298" name="Google Shape;298;p42"/>
          <p:cNvSpPr txBox="1"/>
          <p:nvPr/>
        </p:nvSpPr>
        <p:spPr>
          <a:xfrm>
            <a:off x="976700" y="1155222"/>
            <a:ext cx="50667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zh-CN" sz="1600" b="0" i="0" u="none" strike="noStrike" cap="none">
                <a:solidFill>
                  <a:schemeClr val="dk1"/>
                </a:solidFill>
                <a:latin typeface="Times New Roman"/>
                <a:ea typeface="Times New Roman"/>
                <a:cs typeface="Times New Roman"/>
                <a:sym typeface="Times New Roman"/>
              </a:rPr>
              <a:t>(Creswell et al. 2022)</a:t>
            </a:r>
            <a:endParaRPr sz="1400" b="0" i="0" u="none" strike="noStrike" cap="none">
              <a:solidFill>
                <a:srgbClr val="000000"/>
              </a:solidFill>
              <a:latin typeface="Arial"/>
              <a:ea typeface="Arial"/>
              <a:cs typeface="Arial"/>
              <a:sym typeface="Arial"/>
            </a:endParaRPr>
          </a:p>
        </p:txBody>
      </p:sp>
      <p:sp>
        <p:nvSpPr>
          <p:cNvPr id="299" name="Google Shape;299;p42"/>
          <p:cNvSpPr txBox="1">
            <a:spLocks noGrp="1"/>
          </p:cNvSpPr>
          <p:nvPr>
            <p:ph type="sldNum" idx="12"/>
          </p:nvPr>
        </p:nvSpPr>
        <p:spPr>
          <a:xfrm>
            <a:off x="8472458" y="4663217"/>
            <a:ext cx="548700" cy="154500"/>
          </a:xfrm>
          <a:prstGeom prst="rect">
            <a:avLst/>
          </a:prstGeom>
          <a:noFill/>
          <a:ln>
            <a:noFill/>
          </a:ln>
        </p:spPr>
        <p:txBody>
          <a:bodyPr spcFirstLastPara="1" wrap="square" lIns="0" tIns="625" rIns="0" bIns="0" anchor="ctr" anchorCtr="0">
            <a:spAutoFit/>
          </a:bodyPr>
          <a:lstStyle/>
          <a:p>
            <a:pPr marL="25400" lvl="0" indent="0" algn="r" rtl="0">
              <a:lnSpc>
                <a:spcPct val="100000"/>
              </a:lnSpc>
              <a:spcBef>
                <a:spcPts val="5"/>
              </a:spcBef>
              <a:spcAft>
                <a:spcPts val="0"/>
              </a:spcAft>
              <a:buClr>
                <a:srgbClr val="595959"/>
              </a:buClr>
              <a:buSzPts val="1000"/>
              <a:buFont typeface="Arial"/>
              <a:buNone/>
            </a:pPr>
            <a:fld id="{00000000-1234-1234-1234-123412341234}" type="slidenum">
              <a:rPr lang="en-US" altLang="zh-CN"/>
              <a:t>81</a:t>
            </a:fld>
            <a:endParaRPr/>
          </a:p>
        </p:txBody>
      </p:sp>
      <p:pic>
        <p:nvPicPr>
          <p:cNvPr id="300" name="Google Shape;300;p42"/>
          <p:cNvPicPr preferRelativeResize="0"/>
          <p:nvPr/>
        </p:nvPicPr>
        <p:blipFill rotWithShape="1">
          <a:blip r:embed="rId3">
            <a:alphaModFix/>
          </a:blip>
          <a:srcRect/>
          <a:stretch/>
        </p:blipFill>
        <p:spPr>
          <a:xfrm>
            <a:off x="1004216" y="1699437"/>
            <a:ext cx="3339185" cy="3168569"/>
          </a:xfrm>
          <a:prstGeom prst="rect">
            <a:avLst/>
          </a:prstGeom>
          <a:noFill/>
          <a:ln>
            <a:noFill/>
          </a:ln>
        </p:spPr>
      </p:pic>
      <p:sp>
        <p:nvSpPr>
          <p:cNvPr id="301" name="Google Shape;301;p42"/>
          <p:cNvSpPr txBox="1"/>
          <p:nvPr/>
        </p:nvSpPr>
        <p:spPr>
          <a:xfrm>
            <a:off x="4343400" y="3028950"/>
            <a:ext cx="1996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CN" sz="1400" b="0" i="0" u="none" strike="noStrike" cap="none">
                <a:solidFill>
                  <a:schemeClr val="dk1"/>
                </a:solidFill>
                <a:latin typeface="Arial"/>
                <a:ea typeface="Arial"/>
                <a:cs typeface="Arial"/>
                <a:sym typeface="Arial"/>
              </a:rPr>
              <a:t>logical reasoning tasks</a:t>
            </a:r>
            <a:endParaRPr sz="1400" b="0" i="0" u="none" strike="noStrike" cap="none">
              <a:solidFill>
                <a:schemeClr val="dk1"/>
              </a:solidFill>
              <a:latin typeface="Arial"/>
              <a:ea typeface="Arial"/>
              <a:cs typeface="Arial"/>
              <a:sym typeface="Arial"/>
            </a:endParaRPr>
          </a:p>
        </p:txBody>
      </p:sp>
      <p:sp>
        <p:nvSpPr>
          <p:cNvPr id="302" name="Google Shape;302;p42"/>
          <p:cNvSpPr txBox="1"/>
          <p:nvPr/>
        </p:nvSpPr>
        <p:spPr>
          <a:xfrm>
            <a:off x="4343399" y="1591213"/>
            <a:ext cx="198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CN" sz="1400" b="0" i="0" u="none" strike="noStrike" cap="none">
                <a:solidFill>
                  <a:schemeClr val="dk1"/>
                </a:solidFill>
                <a:latin typeface="Arial"/>
                <a:ea typeface="Arial"/>
                <a:cs typeface="Arial"/>
                <a:sym typeface="Arial"/>
              </a:rPr>
              <a:t>natural language tasks</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350AFE-7495-4CF5-BCDD-18D8E4DEC8EB}"/>
              </a:ext>
            </a:extLst>
          </p:cNvPr>
          <p:cNvSpPr>
            <a:spLocks noGrp="1"/>
          </p:cNvSpPr>
          <p:nvPr>
            <p:ph type="sldNum" idx="12"/>
          </p:nvPr>
        </p:nvSpPr>
        <p:spPr/>
        <p:txBody>
          <a:bodyPr/>
          <a:lstStyle/>
          <a:p>
            <a:fld id="{00000000-1234-1234-1234-123412341234}" type="slidenum">
              <a:rPr lang="en-US" altLang="zh-CN" smtClean="0"/>
              <a:t>82</a:t>
            </a:fld>
            <a:endParaRPr lang="zh-CN" altLang="en-US"/>
          </a:p>
        </p:txBody>
      </p:sp>
      <p:sp>
        <p:nvSpPr>
          <p:cNvPr id="5" name="Title 1">
            <a:extLst>
              <a:ext uri="{FF2B5EF4-FFF2-40B4-BE49-F238E27FC236}">
                <a16:creationId xmlns:a16="http://schemas.microsoft.com/office/drawing/2014/main" id="{15B31610-9DFF-48AF-BF4F-CF2F94EB0B76}"/>
              </a:ext>
            </a:extLst>
          </p:cNvPr>
          <p:cNvSpPr txBox="1">
            <a:spLocks/>
          </p:cNvSpPr>
          <p:nvPr/>
        </p:nvSpPr>
        <p:spPr>
          <a:xfrm>
            <a:off x="422713" y="205979"/>
            <a:ext cx="5990881" cy="528135"/>
          </a:xfrm>
          <a:prstGeom prst="rect">
            <a:avLst/>
          </a:prstGeom>
          <a:noFill/>
          <a:ln w="9525">
            <a:noFill/>
          </a:ln>
        </p:spPr>
        <p:txBody>
          <a:bodyPr spcFirstLastPara="1" wrap="square" lIns="68569" tIns="68569" rIns="68569" bIns="68569" anchor="t" anchorCtr="0">
            <a:normAutofit/>
          </a:bodyPr>
          <a:lstStyle>
            <a:lvl1pPr lvl="0" algn="l" rtl="0" eaLnBrk="0" fontAlgn="base" hangingPunct="0">
              <a:spcBef>
                <a:spcPts val="0"/>
              </a:spcBef>
              <a:spcAft>
                <a:spcPts val="0"/>
              </a:spcAft>
              <a:buSzPts val="2800"/>
              <a:buNone/>
              <a:defRPr sz="2800" kern="1200">
                <a:solidFill>
                  <a:srgbClr val="7F237B"/>
                </a:solidFill>
                <a:latin typeface="微软雅黑" panose="020B0503020204020204" charset="-122"/>
                <a:ea typeface="微软雅黑" panose="020B0503020204020204" charset="-122"/>
                <a:cs typeface="+mj-cs"/>
              </a:defRPr>
            </a:lvl1pPr>
            <a:lvl2pPr lvl="1" algn="ctr" rtl="0" eaLnBrk="0" fontAlgn="base" hangingPunct="0">
              <a:spcBef>
                <a:spcPts val="0"/>
              </a:spcBef>
              <a:spcAft>
                <a:spcPts val="0"/>
              </a:spcAft>
              <a:buSzPts val="2800"/>
              <a:buNone/>
              <a:defRPr sz="4400">
                <a:solidFill>
                  <a:schemeClr val="tx1"/>
                </a:solidFill>
                <a:latin typeface="Calibri" panose="020F0502020204030204" charset="0"/>
                <a:ea typeface="宋体" pitchFamily="2" charset="-122"/>
              </a:defRPr>
            </a:lvl2pPr>
            <a:lvl3pPr lvl="2" algn="ctr" rtl="0" eaLnBrk="0" fontAlgn="base" hangingPunct="0">
              <a:spcBef>
                <a:spcPts val="0"/>
              </a:spcBef>
              <a:spcAft>
                <a:spcPts val="0"/>
              </a:spcAft>
              <a:buSzPts val="2800"/>
              <a:buNone/>
              <a:defRPr sz="4400">
                <a:solidFill>
                  <a:schemeClr val="tx1"/>
                </a:solidFill>
                <a:latin typeface="Calibri" panose="020F0502020204030204" charset="0"/>
                <a:ea typeface="宋体" pitchFamily="2" charset="-122"/>
              </a:defRPr>
            </a:lvl3pPr>
            <a:lvl4pPr lvl="3" algn="ctr" rtl="0" eaLnBrk="0" fontAlgn="base" hangingPunct="0">
              <a:spcBef>
                <a:spcPts val="0"/>
              </a:spcBef>
              <a:spcAft>
                <a:spcPts val="0"/>
              </a:spcAft>
              <a:buSzPts val="2800"/>
              <a:buNone/>
              <a:defRPr sz="4400">
                <a:solidFill>
                  <a:schemeClr val="tx1"/>
                </a:solidFill>
                <a:latin typeface="Calibri" panose="020F0502020204030204" charset="0"/>
                <a:ea typeface="宋体" pitchFamily="2" charset="-122"/>
              </a:defRPr>
            </a:lvl4pPr>
            <a:lvl5pPr lvl="4" algn="ctr" rtl="0" eaLnBrk="0" fontAlgn="base" hangingPunct="0">
              <a:spcBef>
                <a:spcPts val="0"/>
              </a:spcBef>
              <a:spcAft>
                <a:spcPts val="0"/>
              </a:spcAft>
              <a:buSzPts val="2800"/>
              <a:buNone/>
              <a:defRPr sz="4400">
                <a:solidFill>
                  <a:schemeClr val="tx1"/>
                </a:solidFill>
                <a:latin typeface="Calibri" panose="020F0502020204030204" charset="0"/>
                <a:ea typeface="宋体" pitchFamily="2" charset="-122"/>
              </a:defRPr>
            </a:lvl5pPr>
            <a:lvl6pPr marL="457200" lvl="5" algn="ctr" rtl="0" fontAlgn="base">
              <a:spcBef>
                <a:spcPts val="0"/>
              </a:spcBef>
              <a:spcAft>
                <a:spcPts val="0"/>
              </a:spcAft>
              <a:buSzPts val="2800"/>
              <a:buNone/>
              <a:defRPr sz="4400">
                <a:solidFill>
                  <a:schemeClr val="tx1"/>
                </a:solidFill>
                <a:latin typeface="Calibri" panose="020F0502020204030204" charset="0"/>
                <a:ea typeface="宋体" pitchFamily="2" charset="-122"/>
              </a:defRPr>
            </a:lvl6pPr>
            <a:lvl7pPr marL="914400" lvl="6" algn="ctr" rtl="0" fontAlgn="base">
              <a:spcBef>
                <a:spcPts val="0"/>
              </a:spcBef>
              <a:spcAft>
                <a:spcPts val="0"/>
              </a:spcAft>
              <a:buSzPts val="2800"/>
              <a:buNone/>
              <a:defRPr sz="4400">
                <a:solidFill>
                  <a:schemeClr val="tx1"/>
                </a:solidFill>
                <a:latin typeface="Calibri" panose="020F0502020204030204" charset="0"/>
                <a:ea typeface="宋体" pitchFamily="2" charset="-122"/>
              </a:defRPr>
            </a:lvl7pPr>
            <a:lvl8pPr marL="1371600" lvl="7" algn="ctr" rtl="0" fontAlgn="base">
              <a:spcBef>
                <a:spcPts val="0"/>
              </a:spcBef>
              <a:spcAft>
                <a:spcPts val="0"/>
              </a:spcAft>
              <a:buSzPts val="2800"/>
              <a:buNone/>
              <a:defRPr sz="4400">
                <a:solidFill>
                  <a:schemeClr val="tx1"/>
                </a:solidFill>
                <a:latin typeface="Calibri" panose="020F0502020204030204" charset="0"/>
                <a:ea typeface="宋体" pitchFamily="2" charset="-122"/>
              </a:defRPr>
            </a:lvl8pPr>
            <a:lvl9pPr marL="1828800" lvl="8" algn="ctr" rtl="0" fontAlgn="base">
              <a:spcBef>
                <a:spcPts val="0"/>
              </a:spcBef>
              <a:spcAft>
                <a:spcPts val="0"/>
              </a:spcAft>
              <a:buSzPts val="2800"/>
              <a:buNone/>
              <a:defRPr sz="4400">
                <a:solidFill>
                  <a:schemeClr val="tx1"/>
                </a:solidFill>
                <a:latin typeface="Calibri" panose="020F0502020204030204" charset="0"/>
                <a:ea typeface="宋体" pitchFamily="2" charset="-122"/>
              </a:defRPr>
            </a:lvl9pPr>
          </a:lstStyle>
          <a:p>
            <a:r>
              <a:rPr lang="en-US" altLang="zh-CN" sz="2100" dirty="0"/>
              <a:t>Difficult tasks: </a:t>
            </a:r>
            <a:endParaRPr lang="zh-CN" altLang="en-US" sz="2100" b="1" dirty="0"/>
          </a:p>
        </p:txBody>
      </p:sp>
      <p:sp>
        <p:nvSpPr>
          <p:cNvPr id="8" name="Rectangle 7">
            <a:extLst>
              <a:ext uri="{FF2B5EF4-FFF2-40B4-BE49-F238E27FC236}">
                <a16:creationId xmlns:a16="http://schemas.microsoft.com/office/drawing/2014/main" id="{7E9CDEA7-B050-41E8-BB6E-B46D13AD8339}"/>
              </a:ext>
            </a:extLst>
          </p:cNvPr>
          <p:cNvSpPr/>
          <p:nvPr/>
        </p:nvSpPr>
        <p:spPr>
          <a:xfrm>
            <a:off x="1937140" y="4263865"/>
            <a:ext cx="6222206" cy="253916"/>
          </a:xfrm>
          <a:prstGeom prst="rect">
            <a:avLst/>
          </a:prstGeom>
        </p:spPr>
        <p:txBody>
          <a:bodyPr wrap="square">
            <a:spAutoFit/>
          </a:bodyPr>
          <a:lstStyle/>
          <a:p>
            <a:r>
              <a:rPr lang="zh-CN" altLang="en-US" sz="1050" dirty="0"/>
              <a:t>https://www.kaggle.com/c/ai-mathematical-olympiad-progress-prize-2</a:t>
            </a:r>
          </a:p>
        </p:txBody>
      </p:sp>
      <p:pic>
        <p:nvPicPr>
          <p:cNvPr id="2062" name="Picture 14" descr="https://www.kaggle.com/competitions/86023/images/header">
            <a:extLst>
              <a:ext uri="{FF2B5EF4-FFF2-40B4-BE49-F238E27FC236}">
                <a16:creationId xmlns:a16="http://schemas.microsoft.com/office/drawing/2014/main" id="{F92BB0F0-7E0D-4B8A-A8A0-80A5579E0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365" y="1387711"/>
            <a:ext cx="3922647" cy="1961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1219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8B83-AE89-437E-970D-DD554A64618B}"/>
              </a:ext>
            </a:extLst>
          </p:cNvPr>
          <p:cNvSpPr>
            <a:spLocks noGrp="1"/>
          </p:cNvSpPr>
          <p:nvPr>
            <p:ph type="title"/>
          </p:nvPr>
        </p:nvSpPr>
        <p:spPr>
          <a:xfrm>
            <a:off x="2285003" y="505350"/>
            <a:ext cx="4574100" cy="384721"/>
          </a:xfrm>
        </p:spPr>
        <p:txBody>
          <a:bodyPr/>
          <a:lstStyle/>
          <a:p>
            <a:r>
              <a:rPr lang="en-US" altLang="zh-CN" dirty="0"/>
              <a:t>AIMO</a:t>
            </a:r>
            <a:endParaRPr lang="zh-CN" altLang="en-US" dirty="0"/>
          </a:p>
        </p:txBody>
      </p:sp>
      <p:graphicFrame>
        <p:nvGraphicFramePr>
          <p:cNvPr id="5" name="Table 4">
            <a:extLst>
              <a:ext uri="{FF2B5EF4-FFF2-40B4-BE49-F238E27FC236}">
                <a16:creationId xmlns:a16="http://schemas.microsoft.com/office/drawing/2014/main" id="{9B1047C4-4539-42C6-B01E-C5C7C6A54BE5}"/>
              </a:ext>
            </a:extLst>
          </p:cNvPr>
          <p:cNvGraphicFramePr>
            <a:graphicFrameLocks noGrp="1"/>
          </p:cNvGraphicFramePr>
          <p:nvPr>
            <p:extLst/>
          </p:nvPr>
        </p:nvGraphicFramePr>
        <p:xfrm>
          <a:off x="505557" y="1268016"/>
          <a:ext cx="8392258" cy="2453055"/>
        </p:xfrm>
        <a:graphic>
          <a:graphicData uri="http://schemas.openxmlformats.org/drawingml/2006/table">
            <a:tbl>
              <a:tblPr/>
              <a:tblGrid>
                <a:gridCol w="7600662">
                  <a:extLst>
                    <a:ext uri="{9D8B030D-6E8A-4147-A177-3AD203B41FA5}">
                      <a16:colId xmlns:a16="http://schemas.microsoft.com/office/drawing/2014/main" val="1687761893"/>
                    </a:ext>
                  </a:extLst>
                </a:gridCol>
                <a:gridCol w="791596">
                  <a:extLst>
                    <a:ext uri="{9D8B030D-6E8A-4147-A177-3AD203B41FA5}">
                      <a16:colId xmlns:a16="http://schemas.microsoft.com/office/drawing/2014/main" val="2122485919"/>
                    </a:ext>
                  </a:extLst>
                </a:gridCol>
              </a:tblGrid>
              <a:tr h="817685">
                <a:tc>
                  <a:txBody>
                    <a:bodyPr/>
                    <a:lstStyle/>
                    <a:p>
                      <a:pPr algn="l" fontAlgn="ctr"/>
                      <a:r>
                        <a:rPr lang="en-US" sz="1500" b="0" i="0" u="none" strike="noStrike" dirty="0">
                          <a:solidFill>
                            <a:srgbClr val="000000"/>
                          </a:solidFill>
                          <a:effectLst/>
                          <a:latin typeface="等线" panose="02010600030101010101" pitchFamily="2" charset="-122"/>
                          <a:ea typeface="等线" panose="02010600030101010101" pitchFamily="2" charset="-122"/>
                        </a:rPr>
                        <a:t>What is the minimum value of $5x^2+5y^2-8xy$ when $x$ and $y$ range over all real numbers such that $|x-2y| + |y-2x| = 40$?</a:t>
                      </a:r>
                    </a:p>
                  </a:txBody>
                  <a:tcPr marL="4728" marR="4728" marT="4728" marB="0" anchor="ctr">
                    <a:lnL>
                      <a:noFill/>
                    </a:lnL>
                    <a:lnR>
                      <a:noFill/>
                    </a:lnR>
                    <a:lnT>
                      <a:noFill/>
                    </a:lnT>
                    <a:lnB>
                      <a:noFill/>
                    </a:lnB>
                  </a:tcPr>
                </a:tc>
                <a:tc>
                  <a:txBody>
                    <a:bodyPr/>
                    <a:lstStyle/>
                    <a:p>
                      <a:pPr algn="r" fontAlgn="ctr"/>
                      <a:r>
                        <a:rPr lang="en-US" altLang="zh-CN" sz="1800" b="0" i="0" u="none" strike="noStrike" dirty="0">
                          <a:solidFill>
                            <a:srgbClr val="FF0000"/>
                          </a:solidFill>
                          <a:effectLst/>
                          <a:latin typeface="等线" panose="02010600030101010101" pitchFamily="2" charset="-122"/>
                          <a:ea typeface="等线" panose="02010600030101010101" pitchFamily="2" charset="-122"/>
                        </a:rPr>
                        <a:t>800</a:t>
                      </a:r>
                    </a:p>
                  </a:txBody>
                  <a:tcPr marL="4728" marR="4728" marT="4728" marB="0" anchor="ctr">
                    <a:lnL>
                      <a:noFill/>
                    </a:lnL>
                    <a:lnR>
                      <a:noFill/>
                    </a:lnR>
                    <a:lnT>
                      <a:noFill/>
                    </a:lnT>
                    <a:lnB>
                      <a:noFill/>
                    </a:lnB>
                  </a:tcPr>
                </a:tc>
                <a:extLst>
                  <a:ext uri="{0D108BD9-81ED-4DB2-BD59-A6C34878D82A}">
                    <a16:rowId xmlns:a16="http://schemas.microsoft.com/office/drawing/2014/main" val="482820025"/>
                  </a:ext>
                </a:extLst>
              </a:tr>
              <a:tr h="817685">
                <a:tc>
                  <a:txBody>
                    <a:bodyPr/>
                    <a:lstStyle/>
                    <a:p>
                      <a:pPr algn="l" fontAlgn="ctr"/>
                      <a:r>
                        <a:rPr lang="en-US" sz="1500" b="0" i="0" u="none" strike="noStrike" dirty="0">
                          <a:solidFill>
                            <a:srgbClr val="000000"/>
                          </a:solidFill>
                          <a:effectLst/>
                          <a:latin typeface="等线" panose="02010600030101010101" pitchFamily="2" charset="-122"/>
                          <a:ea typeface="等线" panose="02010600030101010101" pitchFamily="2" charset="-122"/>
                        </a:rPr>
                        <a:t>There exists a unique increasing geometric sequence of five 2-digit positive integers. What is their sum?</a:t>
                      </a:r>
                    </a:p>
                  </a:txBody>
                  <a:tcPr marL="4728" marR="4728" marT="4728" marB="0" anchor="ctr">
                    <a:lnL>
                      <a:noFill/>
                    </a:lnL>
                    <a:lnR>
                      <a:noFill/>
                    </a:lnR>
                    <a:lnT>
                      <a:noFill/>
                    </a:lnT>
                    <a:lnB>
                      <a:noFill/>
                    </a:lnB>
                  </a:tcPr>
                </a:tc>
                <a:tc>
                  <a:txBody>
                    <a:bodyPr/>
                    <a:lstStyle/>
                    <a:p>
                      <a:pPr algn="r" fontAlgn="ctr"/>
                      <a:r>
                        <a:rPr lang="en-US" altLang="zh-CN" sz="1800" b="0" i="0" u="none" strike="noStrike" dirty="0">
                          <a:solidFill>
                            <a:srgbClr val="FF0000"/>
                          </a:solidFill>
                          <a:effectLst/>
                          <a:latin typeface="等线" panose="02010600030101010101" pitchFamily="2" charset="-122"/>
                          <a:ea typeface="等线" panose="02010600030101010101" pitchFamily="2" charset="-122"/>
                        </a:rPr>
                        <a:t>211</a:t>
                      </a:r>
                    </a:p>
                  </a:txBody>
                  <a:tcPr marL="4728" marR="4728" marT="4728" marB="0" anchor="ctr">
                    <a:lnL>
                      <a:noFill/>
                    </a:lnL>
                    <a:lnR>
                      <a:noFill/>
                    </a:lnR>
                    <a:lnT>
                      <a:noFill/>
                    </a:lnT>
                    <a:lnB>
                      <a:noFill/>
                    </a:lnB>
                  </a:tcPr>
                </a:tc>
                <a:extLst>
                  <a:ext uri="{0D108BD9-81ED-4DB2-BD59-A6C34878D82A}">
                    <a16:rowId xmlns:a16="http://schemas.microsoft.com/office/drawing/2014/main" val="813333327"/>
                  </a:ext>
                </a:extLst>
              </a:tr>
              <a:tr h="817685">
                <a:tc>
                  <a:txBody>
                    <a:bodyPr/>
                    <a:lstStyle/>
                    <a:p>
                      <a:pPr algn="l" fontAlgn="ctr"/>
                      <a:r>
                        <a:rPr lang="en-US" sz="1500" b="0" i="0" u="none" strike="noStrike" dirty="0">
                          <a:solidFill>
                            <a:srgbClr val="000000"/>
                          </a:solidFill>
                          <a:effectLst/>
                          <a:latin typeface="等线" panose="02010600030101010101" pitchFamily="2" charset="-122"/>
                          <a:ea typeface="等线" panose="02010600030101010101" pitchFamily="2" charset="-122"/>
                        </a:rPr>
                        <a:t>For how many positive integers $m$ does the equation \[\vert \vert x-1 \vert -2 \vert=\frac{m}{100}\] have $4$ distinct solutions?</a:t>
                      </a:r>
                    </a:p>
                  </a:txBody>
                  <a:tcPr marL="4728" marR="4728" marT="4728" marB="0" anchor="ctr">
                    <a:lnL>
                      <a:noFill/>
                    </a:lnL>
                    <a:lnR>
                      <a:noFill/>
                    </a:lnR>
                    <a:lnT>
                      <a:noFill/>
                    </a:lnT>
                    <a:lnB>
                      <a:noFill/>
                    </a:lnB>
                  </a:tcPr>
                </a:tc>
                <a:tc>
                  <a:txBody>
                    <a:bodyPr/>
                    <a:lstStyle/>
                    <a:p>
                      <a:pPr algn="r" fontAlgn="ctr"/>
                      <a:r>
                        <a:rPr lang="en-US" altLang="zh-CN" sz="1800" b="0" i="0" u="none" strike="noStrike" dirty="0">
                          <a:solidFill>
                            <a:srgbClr val="FF0000"/>
                          </a:solidFill>
                          <a:effectLst/>
                          <a:latin typeface="等线" panose="02010600030101010101" pitchFamily="2" charset="-122"/>
                          <a:ea typeface="等线" panose="02010600030101010101" pitchFamily="2" charset="-122"/>
                        </a:rPr>
                        <a:t>199</a:t>
                      </a:r>
                    </a:p>
                  </a:txBody>
                  <a:tcPr marL="4728" marR="4728" marT="4728" marB="0" anchor="ctr">
                    <a:lnL>
                      <a:noFill/>
                    </a:lnL>
                    <a:lnR>
                      <a:noFill/>
                    </a:lnR>
                    <a:lnT>
                      <a:noFill/>
                    </a:lnT>
                    <a:lnB>
                      <a:noFill/>
                    </a:lnB>
                  </a:tcPr>
                </a:tc>
                <a:extLst>
                  <a:ext uri="{0D108BD9-81ED-4DB2-BD59-A6C34878D82A}">
                    <a16:rowId xmlns:a16="http://schemas.microsoft.com/office/drawing/2014/main" val="4038009685"/>
                  </a:ext>
                </a:extLst>
              </a:tr>
            </a:tbl>
          </a:graphicData>
        </a:graphic>
      </p:graphicFrame>
      <p:sp>
        <p:nvSpPr>
          <p:cNvPr id="6" name="Rectangle 5">
            <a:extLst>
              <a:ext uri="{FF2B5EF4-FFF2-40B4-BE49-F238E27FC236}">
                <a16:creationId xmlns:a16="http://schemas.microsoft.com/office/drawing/2014/main" id="{37D7A14C-A7EC-4A07-8153-8484F7081BE1}"/>
              </a:ext>
            </a:extLst>
          </p:cNvPr>
          <p:cNvSpPr/>
          <p:nvPr/>
        </p:nvSpPr>
        <p:spPr>
          <a:xfrm>
            <a:off x="661621" y="4306358"/>
            <a:ext cx="8080130" cy="253916"/>
          </a:xfrm>
          <a:prstGeom prst="rect">
            <a:avLst/>
          </a:prstGeom>
        </p:spPr>
        <p:txBody>
          <a:bodyPr wrap="square">
            <a:spAutoFit/>
          </a:bodyPr>
          <a:lstStyle/>
          <a:p>
            <a:r>
              <a:rPr lang="zh-CN" altLang="en-US" sz="1050" dirty="0"/>
              <a:t>https://www.kaggle.com/competitions/ai-mathematical-olympiad-prize/data?select=train.csv</a:t>
            </a:r>
          </a:p>
        </p:txBody>
      </p:sp>
    </p:spTree>
    <p:extLst>
      <p:ext uri="{BB962C8B-B14F-4D97-AF65-F5344CB8AC3E}">
        <p14:creationId xmlns:p14="http://schemas.microsoft.com/office/powerpoint/2010/main" val="40148072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SzPct val="97222"/>
              <a:buNone/>
            </a:pPr>
            <a:r>
              <a:rPr lang="en-US" altLang="zh-CN" dirty="0"/>
              <a:t>Interesting task: </a:t>
            </a:r>
            <a:r>
              <a:rPr lang="zh-CN" dirty="0"/>
              <a:t>Mathematical modeling</a:t>
            </a:r>
            <a:br>
              <a:rPr lang="zh-CN" dirty="0"/>
            </a:br>
            <a:r>
              <a:rPr lang="zh-CN" dirty="0"/>
              <a:t> </a:t>
            </a:r>
            <a:endParaRPr dirty="0"/>
          </a:p>
        </p:txBody>
      </p:sp>
      <p:sp>
        <p:nvSpPr>
          <p:cNvPr id="283" name="Google Shape;283;p40"/>
          <p:cNvSpPr txBox="1">
            <a:spLocks noGrp="1"/>
          </p:cNvSpPr>
          <p:nvPr>
            <p:ph type="body" idx="1"/>
          </p:nvPr>
        </p:nvSpPr>
        <p:spPr>
          <a:xfrm>
            <a:off x="240691" y="1017725"/>
            <a:ext cx="8662500" cy="4088700"/>
          </a:xfrm>
          <a:prstGeom prst="rect">
            <a:avLst/>
          </a:prstGeom>
          <a:noFill/>
          <a:ln>
            <a:noFill/>
          </a:ln>
        </p:spPr>
        <p:txBody>
          <a:bodyPr spcFirstLastPara="1" wrap="square" lIns="0" tIns="0" rIns="0" bIns="0" anchor="t" anchorCtr="0">
            <a:normAutofit fontScale="40000" lnSpcReduction="20000"/>
          </a:bodyPr>
          <a:lstStyle/>
          <a:p>
            <a:pPr marL="114300" lvl="0" indent="0" algn="l" rtl="0">
              <a:lnSpc>
                <a:spcPct val="115000"/>
              </a:lnSpc>
              <a:spcBef>
                <a:spcPts val="0"/>
              </a:spcBef>
              <a:spcAft>
                <a:spcPts val="0"/>
              </a:spcAft>
              <a:buSzPct val="281250"/>
              <a:buNone/>
            </a:pPr>
            <a:endParaRPr sz="1300" dirty="0"/>
          </a:p>
          <a:p>
            <a:pPr marL="114300" lvl="0" indent="0" algn="l" rtl="0">
              <a:lnSpc>
                <a:spcPct val="115000"/>
              </a:lnSpc>
              <a:spcBef>
                <a:spcPts val="0"/>
              </a:spcBef>
              <a:spcAft>
                <a:spcPts val="0"/>
              </a:spcAft>
              <a:buSzPct val="195652"/>
              <a:buNone/>
            </a:pPr>
            <a:r>
              <a:rPr lang="zh-CN" sz="2000" dirty="0"/>
              <a:t>#### 模型背景</a:t>
            </a:r>
            <a:endParaRPr sz="1300" dirty="0"/>
          </a:p>
          <a:p>
            <a:pPr marL="114300" lvl="0" indent="0" algn="l" rtl="0">
              <a:lnSpc>
                <a:spcPct val="115000"/>
              </a:lnSpc>
              <a:spcBef>
                <a:spcPts val="0"/>
              </a:spcBef>
              <a:spcAft>
                <a:spcPts val="0"/>
              </a:spcAft>
              <a:buSzPct val="195652"/>
              <a:buNone/>
            </a:pPr>
            <a:r>
              <a:rPr lang="zh-CN" sz="2000" dirty="0"/>
              <a:t>物资调拨模型关注于如何高效、成本效益地将物资从供应地点分配到需求地点。在供应链管理、紧急物资分配等场景中，合理的物资调拨能够确保物资及时供应，同时降低总体成本。</a:t>
            </a:r>
            <a:endParaRPr sz="1300" dirty="0"/>
          </a:p>
          <a:p>
            <a:pPr marL="114300" lvl="0" indent="0" algn="l" rtl="0">
              <a:lnSpc>
                <a:spcPct val="115000"/>
              </a:lnSpc>
              <a:spcBef>
                <a:spcPts val="0"/>
              </a:spcBef>
              <a:spcAft>
                <a:spcPts val="0"/>
              </a:spcAft>
              <a:buSzPct val="195652"/>
              <a:buNone/>
            </a:pPr>
            <a:endParaRPr sz="2000" dirty="0"/>
          </a:p>
          <a:p>
            <a:pPr marL="114300" lvl="0" indent="0" algn="l" rtl="0">
              <a:lnSpc>
                <a:spcPct val="115000"/>
              </a:lnSpc>
              <a:spcBef>
                <a:spcPts val="0"/>
              </a:spcBef>
              <a:spcAft>
                <a:spcPts val="0"/>
              </a:spcAft>
              <a:buSzPct val="195652"/>
              <a:buNone/>
            </a:pPr>
            <a:r>
              <a:rPr lang="zh-CN" sz="2000" dirty="0"/>
              <a:t>#### 模型描述</a:t>
            </a:r>
            <a:endParaRPr sz="1300" dirty="0"/>
          </a:p>
          <a:p>
            <a:pPr marL="114300" lvl="0" indent="0" algn="l" rtl="0">
              <a:lnSpc>
                <a:spcPct val="115000"/>
              </a:lnSpc>
              <a:spcBef>
                <a:spcPts val="0"/>
              </a:spcBef>
              <a:spcAft>
                <a:spcPts val="0"/>
              </a:spcAft>
              <a:buSzPct val="195652"/>
              <a:buNone/>
            </a:pPr>
            <a:r>
              <a:rPr lang="zh-CN" sz="2000" dirty="0"/>
              <a:t>假设有一组供应点集合$S$和一组需求点集合$D$。每个供应点$i \in S$具有供应能力$a_i$，每个需求点$j \in D$有需求量$b_j$。从供应点$i$到需求点$j$运输单位物资的成本为$c_{ij}$。模型的目标是确定从每个供应点到每个需求点的物资调拨量$x_{ij}$，以满足所有需求点的需求，同时最小化总运输成本。</a:t>
            </a:r>
            <a:endParaRPr sz="1300" dirty="0"/>
          </a:p>
          <a:p>
            <a:pPr marL="114300" lvl="0" indent="0" algn="l" rtl="0">
              <a:lnSpc>
                <a:spcPct val="115000"/>
              </a:lnSpc>
              <a:spcBef>
                <a:spcPts val="0"/>
              </a:spcBef>
              <a:spcAft>
                <a:spcPts val="0"/>
              </a:spcAft>
              <a:buSzPct val="281250"/>
              <a:buNone/>
            </a:pPr>
            <a:endParaRPr dirty="0"/>
          </a:p>
          <a:p>
            <a:pPr marL="114300" lvl="0" indent="0" algn="l" rtl="0">
              <a:lnSpc>
                <a:spcPct val="115000"/>
              </a:lnSpc>
              <a:spcBef>
                <a:spcPts val="0"/>
              </a:spcBef>
              <a:spcAft>
                <a:spcPts val="0"/>
              </a:spcAft>
              <a:buSzPct val="281250"/>
              <a:buNone/>
            </a:pPr>
            <a:r>
              <a:rPr lang="zh-CN" b="1" dirty="0"/>
              <a:t>#### 模型目标</a:t>
            </a:r>
            <a:endParaRPr dirty="0"/>
          </a:p>
          <a:p>
            <a:pPr marL="114300" lvl="0" indent="0" algn="l" rtl="0">
              <a:lnSpc>
                <a:spcPct val="115000"/>
              </a:lnSpc>
              <a:spcBef>
                <a:spcPts val="0"/>
              </a:spcBef>
              <a:spcAft>
                <a:spcPts val="0"/>
              </a:spcAft>
              <a:buSzPct val="281250"/>
              <a:buNone/>
            </a:pPr>
            <a:endParaRPr dirty="0"/>
          </a:p>
          <a:p>
            <a:pPr marL="114300" lvl="0" indent="0" algn="l" rtl="0">
              <a:lnSpc>
                <a:spcPct val="115000"/>
              </a:lnSpc>
              <a:spcBef>
                <a:spcPts val="0"/>
              </a:spcBef>
              <a:spcAft>
                <a:spcPts val="0"/>
              </a:spcAft>
              <a:buSzPct val="281250"/>
              <a:buNone/>
            </a:pPr>
            <a:r>
              <a:rPr lang="zh-CN" dirty="0"/>
              <a:t>1. **服务水平最大化**：提高物资调拨的服务水平，包括减少配送时间或提高配送的可靠性。</a:t>
            </a:r>
            <a:endParaRPr dirty="0"/>
          </a:p>
          <a:p>
            <a:pPr marL="114300" lvl="0" indent="0" algn="l" rtl="0">
              <a:lnSpc>
                <a:spcPct val="115000"/>
              </a:lnSpc>
              <a:spcBef>
                <a:spcPts val="0"/>
              </a:spcBef>
              <a:spcAft>
                <a:spcPts val="0"/>
              </a:spcAft>
              <a:buSzPct val="281250"/>
              <a:buNone/>
            </a:pPr>
            <a:r>
              <a:rPr lang="zh-CN" dirty="0"/>
              <a:t>   - 公式：$$\max S = \sum_{j \in D} \alpha_j \left(1 - \frac{\sum_{i \in S} t_{ij}x_{ij}}{T_j}\right)$$</a:t>
            </a:r>
            <a:endParaRPr dirty="0"/>
          </a:p>
          <a:p>
            <a:pPr marL="114300" lvl="0" indent="0" algn="l" rtl="0">
              <a:lnSpc>
                <a:spcPct val="115000"/>
              </a:lnSpc>
              <a:spcBef>
                <a:spcPts val="0"/>
              </a:spcBef>
              <a:spcAft>
                <a:spcPts val="0"/>
              </a:spcAft>
              <a:buSzPct val="281250"/>
              <a:buNone/>
            </a:pPr>
            <a:r>
              <a:rPr lang="zh-CN" dirty="0"/>
              <a:t>     其中，$t_{ij}$是从供应点$i$到需求点$j$的运输时间，$T_j$是需求点$j$对运输时间的最大容忍值，$\alpha_j$是与需求点$j$的服务水平重要性相关的权重。</a:t>
            </a:r>
            <a:endParaRPr dirty="0"/>
          </a:p>
          <a:p>
            <a:pPr marL="114300" lvl="0" indent="0" algn="l" rtl="0">
              <a:lnSpc>
                <a:spcPct val="115000"/>
              </a:lnSpc>
              <a:spcBef>
                <a:spcPts val="0"/>
              </a:spcBef>
              <a:spcAft>
                <a:spcPts val="0"/>
              </a:spcAft>
              <a:buSzPct val="281250"/>
              <a:buNone/>
            </a:pPr>
            <a:r>
              <a:rPr lang="zh-CN" dirty="0"/>
              <a:t>2. **环境影响最小化**：在物资调拨过程中，尽量减少对环境的负面影响，例如减少碳排放。</a:t>
            </a:r>
            <a:endParaRPr dirty="0"/>
          </a:p>
          <a:p>
            <a:pPr marL="114300" lvl="0" indent="0" algn="l" rtl="0">
              <a:lnSpc>
                <a:spcPct val="115000"/>
              </a:lnSpc>
              <a:spcBef>
                <a:spcPts val="0"/>
              </a:spcBef>
              <a:spcAft>
                <a:spcPts val="0"/>
              </a:spcAft>
              <a:buSzPct val="281250"/>
              <a:buNone/>
            </a:pPr>
            <a:r>
              <a:rPr lang="zh-CN" dirty="0"/>
              <a:t>   - 公式：$$\min E = \sum_{i \in S}\sum_{j \in D} e_{ij}x_{ij}$$</a:t>
            </a:r>
            <a:endParaRPr dirty="0"/>
          </a:p>
          <a:p>
            <a:pPr marL="114300" lvl="0" indent="0" algn="l" rtl="0">
              <a:lnSpc>
                <a:spcPct val="115000"/>
              </a:lnSpc>
              <a:spcBef>
                <a:spcPts val="0"/>
              </a:spcBef>
              <a:spcAft>
                <a:spcPts val="0"/>
              </a:spcAft>
              <a:buSzPct val="281250"/>
              <a:buNone/>
            </a:pPr>
            <a:r>
              <a:rPr lang="zh-CN" dirty="0"/>
              <a:t>     其中，$e_{ij}$是从供应点$i$到需求点$j$运输单位物资产生的碳排放量。</a:t>
            </a:r>
            <a:endParaRPr dirty="0"/>
          </a:p>
          <a:p>
            <a:pPr marL="114300" lvl="0" indent="0" algn="l" rtl="0">
              <a:lnSpc>
                <a:spcPct val="115000"/>
              </a:lnSpc>
              <a:spcBef>
                <a:spcPts val="0"/>
              </a:spcBef>
              <a:spcAft>
                <a:spcPts val="0"/>
              </a:spcAft>
              <a:buSzPct val="281250"/>
              <a:buNone/>
            </a:pPr>
            <a:r>
              <a:rPr lang="zh-CN" dirty="0"/>
              <a:t>3. **成本最小化**：最小化从所有供应点到所有需求点的总运输成本。</a:t>
            </a:r>
            <a:endParaRPr dirty="0"/>
          </a:p>
          <a:p>
            <a:pPr marL="114300" lvl="0" indent="0" algn="l" rtl="0">
              <a:lnSpc>
                <a:spcPct val="115000"/>
              </a:lnSpc>
              <a:spcBef>
                <a:spcPts val="0"/>
              </a:spcBef>
              <a:spcAft>
                <a:spcPts val="0"/>
              </a:spcAft>
              <a:buSzPct val="281250"/>
              <a:buNone/>
            </a:pPr>
            <a:r>
              <a:rPr lang="zh-CN" dirty="0"/>
              <a:t>   - 公式：$$\min Z = \sum_{i \in S}\sum_{j \in D} c_{ij}x_{ij}$$</a:t>
            </a:r>
            <a:endParaRPr dirty="0"/>
          </a:p>
          <a:p>
            <a:pPr marL="114300" lvl="0" indent="0" algn="l" rtl="0">
              <a:lnSpc>
                <a:spcPct val="115000"/>
              </a:lnSpc>
              <a:spcBef>
                <a:spcPts val="0"/>
              </a:spcBef>
              <a:spcAft>
                <a:spcPts val="0"/>
              </a:spcAft>
              <a:buSzPct val="281250"/>
              <a:buNone/>
            </a:pPr>
            <a:r>
              <a:rPr lang="zh-CN" dirty="0"/>
              <a:t>4. **库存水平平衡**：优化各供应点和需求点的库存水平，以减少过剩或短缺的情况，保持库存的稳定。</a:t>
            </a:r>
            <a:endParaRPr dirty="0"/>
          </a:p>
          <a:p>
            <a:pPr marL="114300" lvl="0" indent="0" algn="l" rtl="0">
              <a:lnSpc>
                <a:spcPct val="115000"/>
              </a:lnSpc>
              <a:spcBef>
                <a:spcPts val="0"/>
              </a:spcBef>
              <a:spcAft>
                <a:spcPts val="0"/>
              </a:spcAft>
              <a:buSzPct val="281250"/>
              <a:buNone/>
            </a:pPr>
            <a:r>
              <a:rPr lang="zh-CN" dirty="0"/>
              <a:t>   - 公式：$$\min I = \sum_{i \in S} \left| x_{i} - L_i \right| + \sum_{j \in D} \left| x_{j} - L_j \right|$$</a:t>
            </a:r>
            <a:endParaRPr dirty="0"/>
          </a:p>
          <a:p>
            <a:pPr marL="114300" lvl="0" indent="0" algn="l" rtl="0">
              <a:lnSpc>
                <a:spcPct val="115000"/>
              </a:lnSpc>
              <a:spcBef>
                <a:spcPts val="0"/>
              </a:spcBef>
              <a:spcAft>
                <a:spcPts val="0"/>
              </a:spcAft>
              <a:buSzPct val="281250"/>
              <a:buNone/>
            </a:pPr>
            <a:r>
              <a:rPr lang="zh-CN" dirty="0"/>
              <a:t>     其中，$x_{i}$表示供应点$i$的实际库存水平，$x_{j}$表示需求点$j$的实际库存水平，$L_i$和$L_j$分别表示供应点$i$和需求点$j$的理想库存水平。</a:t>
            </a:r>
            <a:endParaRPr dirty="0"/>
          </a:p>
          <a:p>
            <a:pPr marL="114300" lvl="0" indent="0" algn="l" rtl="0">
              <a:lnSpc>
                <a:spcPct val="115000"/>
              </a:lnSpc>
              <a:spcBef>
                <a:spcPts val="0"/>
              </a:spcBef>
              <a:spcAft>
                <a:spcPts val="0"/>
              </a:spcAft>
              <a:buSzPct val="281250"/>
              <a:buNone/>
            </a:pPr>
            <a:r>
              <a:rPr lang="zh-CN" dirty="0"/>
              <a:t>5. **多模式运输优化**：考虑不同运输方式（如公路、铁路、海运等）的成本和效率，优化运输模式的选择。</a:t>
            </a:r>
            <a:endParaRPr dirty="0"/>
          </a:p>
          <a:p>
            <a:pPr marL="114300" lvl="0" indent="0" algn="l" rtl="0">
              <a:lnSpc>
                <a:spcPct val="115000"/>
              </a:lnSpc>
              <a:spcBef>
                <a:spcPts val="0"/>
              </a:spcBef>
              <a:spcAft>
                <a:spcPts val="0"/>
              </a:spcAft>
              <a:buSzPct val="281250"/>
              <a:buNone/>
            </a:pPr>
            <a:r>
              <a:rPr lang="zh-CN" dirty="0"/>
              <a:t>   - 公式：$$\min M = \sum_{i \in S}\sum_{j \in D}\sum_{k \in K} c_{ijk}x_{ijk}$$</a:t>
            </a:r>
            <a:endParaRPr dirty="0"/>
          </a:p>
          <a:p>
            <a:pPr marL="114300" lvl="0" indent="0" algn="l" rtl="0">
              <a:lnSpc>
                <a:spcPct val="115000"/>
              </a:lnSpc>
              <a:spcBef>
                <a:spcPts val="0"/>
              </a:spcBef>
              <a:spcAft>
                <a:spcPts val="0"/>
              </a:spcAft>
              <a:buSzPct val="281250"/>
              <a:buNone/>
            </a:pPr>
            <a:r>
              <a:rPr lang="zh-CN" dirty="0"/>
              <a:t>     其中，$K$是运输模式的集合，$c_{ijk}$是使用运输模式$k$从供应点$i$到需求点$j$的单位运输成本，$x_{ijk}$是通过运输模式$k$从$i$到$j$的物资量。</a:t>
            </a:r>
            <a:endParaRPr dirty="0"/>
          </a:p>
          <a:p>
            <a:pPr marL="114300" lvl="0" indent="0" algn="l" rtl="0">
              <a:lnSpc>
                <a:spcPct val="115000"/>
              </a:lnSpc>
              <a:spcBef>
                <a:spcPts val="0"/>
              </a:spcBef>
              <a:spcAft>
                <a:spcPts val="0"/>
              </a:spcAft>
              <a:buSzPct val="281250"/>
              <a:buNone/>
            </a:pPr>
            <a:endParaRPr dirty="0"/>
          </a:p>
          <a:p>
            <a:pPr marL="114300" lvl="0" indent="0" algn="l" rtl="0">
              <a:lnSpc>
                <a:spcPct val="115000"/>
              </a:lnSpc>
              <a:spcBef>
                <a:spcPts val="0"/>
              </a:spcBef>
              <a:spcAft>
                <a:spcPts val="0"/>
              </a:spcAft>
              <a:buSzPct val="281250"/>
              <a:buNone/>
            </a:pPr>
            <a:r>
              <a:rPr lang="zh-CN" b="1" dirty="0"/>
              <a:t>#### 模型约束</a:t>
            </a:r>
            <a:endParaRPr dirty="0"/>
          </a:p>
          <a:p>
            <a:pPr marL="114300" lvl="0" indent="0" algn="l" rtl="0">
              <a:lnSpc>
                <a:spcPct val="115000"/>
              </a:lnSpc>
              <a:spcBef>
                <a:spcPts val="0"/>
              </a:spcBef>
              <a:spcAft>
                <a:spcPts val="0"/>
              </a:spcAft>
              <a:buSzPct val="281250"/>
              <a:buNone/>
            </a:pPr>
            <a:r>
              <a:rPr lang="zh-CN" dirty="0"/>
              <a:t>1. **供应约束**：从每个供应点发出的物资总量不能超过该点的供应能力。</a:t>
            </a:r>
            <a:endParaRPr dirty="0"/>
          </a:p>
          <a:p>
            <a:pPr marL="114300" lvl="0" indent="0" algn="l" rtl="0">
              <a:lnSpc>
                <a:spcPct val="115000"/>
              </a:lnSpc>
              <a:spcBef>
                <a:spcPts val="0"/>
              </a:spcBef>
              <a:spcAft>
                <a:spcPts val="0"/>
              </a:spcAft>
              <a:buSzPct val="281250"/>
              <a:buNone/>
            </a:pPr>
            <a:r>
              <a:rPr lang="zh-CN" dirty="0"/>
              <a:t>   - 公式：$$\sum_{j \in D} x_{ij} \leq a_i, \quad \forall i \in S$$</a:t>
            </a:r>
            <a:endParaRPr dirty="0"/>
          </a:p>
          <a:p>
            <a:pPr marL="114300" lvl="0" indent="0" algn="l" rtl="0">
              <a:lnSpc>
                <a:spcPct val="115000"/>
              </a:lnSpc>
              <a:spcBef>
                <a:spcPts val="0"/>
              </a:spcBef>
              <a:spcAft>
                <a:spcPts val="0"/>
              </a:spcAft>
              <a:buSzPct val="281250"/>
              <a:buNone/>
            </a:pPr>
            <a:r>
              <a:rPr lang="zh-CN" dirty="0"/>
              <a:t>2. **需求约束**：每个需求点接收的物资总量必须满足该点的需求量。</a:t>
            </a:r>
            <a:endParaRPr dirty="0"/>
          </a:p>
          <a:p>
            <a:pPr marL="114300" lvl="0" indent="0" algn="l" rtl="0">
              <a:lnSpc>
                <a:spcPct val="115000"/>
              </a:lnSpc>
              <a:spcBef>
                <a:spcPts val="0"/>
              </a:spcBef>
              <a:spcAft>
                <a:spcPts val="0"/>
              </a:spcAft>
              <a:buSzPct val="281250"/>
              <a:buNone/>
            </a:pPr>
            <a:r>
              <a:rPr lang="zh-CN" dirty="0"/>
              <a:t>   - 公式：$$\sum_{i \in S} x_{ij} = b_j, \quad \forall j \in D$$</a:t>
            </a:r>
            <a:endParaRPr dirty="0"/>
          </a:p>
          <a:p>
            <a:pPr marL="114300" lvl="0" indent="0" algn="l" rtl="0">
              <a:lnSpc>
                <a:spcPct val="115000"/>
              </a:lnSpc>
              <a:spcBef>
                <a:spcPts val="0"/>
              </a:spcBef>
              <a:spcAft>
                <a:spcPts val="0"/>
              </a:spcAft>
              <a:buSzPct val="281250"/>
              <a:buNone/>
            </a:pPr>
            <a:r>
              <a:rPr lang="zh-CN" dirty="0"/>
              <a:t>3. **非负约束**：调拨的物资量不能为负。</a:t>
            </a:r>
            <a:endParaRPr dirty="0"/>
          </a:p>
          <a:p>
            <a:pPr marL="114300" lvl="0" indent="0" algn="l" rtl="0">
              <a:lnSpc>
                <a:spcPct val="115000"/>
              </a:lnSpc>
              <a:spcBef>
                <a:spcPts val="0"/>
              </a:spcBef>
              <a:spcAft>
                <a:spcPts val="0"/>
              </a:spcAft>
              <a:buSzPct val="281250"/>
              <a:buNone/>
            </a:pPr>
            <a:r>
              <a:rPr lang="zh-CN" dirty="0"/>
              <a:t>   - 公式：$$x_{ij} \geq 0, \quad \forall i \in S, \forall j \in D$$</a:t>
            </a:r>
            <a:endParaRPr dirty="0"/>
          </a:p>
          <a:p>
            <a:pPr marL="114300" lvl="0" indent="0" algn="l" rtl="0">
              <a:lnSpc>
                <a:spcPct val="115000"/>
              </a:lnSpc>
              <a:spcBef>
                <a:spcPts val="0"/>
              </a:spcBef>
              <a:spcAft>
                <a:spcPts val="0"/>
              </a:spcAft>
              <a:buSzPct val="281250"/>
              <a:buNone/>
            </a:pPr>
            <a:r>
              <a:rPr lang="zh-CN" dirty="0"/>
              <a:t>4. **可选的库存水平优化约束**：对于有库存管理需求的场景，可能需要考虑库存水平的约束，确保库存水平在安全库存和最大库存水平之间。</a:t>
            </a:r>
            <a:endParaRPr dirty="0"/>
          </a:p>
          <a:p>
            <a:pPr marL="114300" lvl="0" indent="0" algn="l" rtl="0">
              <a:lnSpc>
                <a:spcPct val="115000"/>
              </a:lnSpc>
              <a:spcBef>
                <a:spcPts val="0"/>
              </a:spcBef>
              <a:spcAft>
                <a:spcPts val="0"/>
              </a:spcAft>
              <a:buSzPct val="281250"/>
              <a:buNone/>
            </a:pPr>
            <a:r>
              <a:rPr lang="zh-CN" dirty="0"/>
              <a:t>   - 示意公式：$$L_i \leq \text{库存水平}_i \leq U_i, \quad \forall i \in S$$</a:t>
            </a:r>
            <a:endParaRPr dirty="0"/>
          </a:p>
          <a:p>
            <a:pPr marL="114300" lvl="0" indent="0" algn="l" rtl="0">
              <a:lnSpc>
                <a:spcPct val="115000"/>
              </a:lnSpc>
              <a:spcBef>
                <a:spcPts val="0"/>
              </a:spcBef>
              <a:spcAft>
                <a:spcPts val="0"/>
              </a:spcAft>
              <a:buSzPct val="281250"/>
              <a:buNone/>
            </a:pPr>
            <a:r>
              <a:rPr lang="zh-CN" dirty="0"/>
              <a:t>   其中，$L_i$和$U_i$分别表示供应点$i$的安全库存水平和最大库存水平。</a:t>
            </a:r>
            <a:endParaRPr dirty="0"/>
          </a:p>
          <a:p>
            <a:pPr marL="114300" lvl="0" indent="0" algn="l" rtl="0">
              <a:lnSpc>
                <a:spcPct val="115000"/>
              </a:lnSpc>
              <a:spcBef>
                <a:spcPts val="0"/>
              </a:spcBef>
              <a:spcAft>
                <a:spcPts val="0"/>
              </a:spcAft>
              <a:buSzPct val="281250"/>
              <a:buNone/>
            </a:pPr>
            <a:r>
              <a:rPr lang="zh-CN" dirty="0"/>
              <a:t>5. **运输模式选择约束**：确保每条运输线路只选择一种运输模式。</a:t>
            </a:r>
            <a:endParaRPr dirty="0"/>
          </a:p>
          <a:p>
            <a:pPr marL="114300" lvl="0" indent="0" algn="l" rtl="0">
              <a:lnSpc>
                <a:spcPct val="115000"/>
              </a:lnSpc>
              <a:spcBef>
                <a:spcPts val="0"/>
              </a:spcBef>
              <a:spcAft>
                <a:spcPts val="0"/>
              </a:spcAft>
              <a:buSzPct val="281250"/>
              <a:buNone/>
            </a:pPr>
            <a:r>
              <a:rPr lang="zh-CN" dirty="0"/>
              <a:t>   - 公式：$$\sum_{k \in K} x_{ijk} = x_{ij}, \quad \forall i \in S, \forall j \in D$$</a:t>
            </a:r>
            <a:endParaRPr dirty="0"/>
          </a:p>
          <a:p>
            <a:pPr marL="114300" lvl="0" indent="0" algn="l" rtl="0">
              <a:lnSpc>
                <a:spcPct val="115000"/>
              </a:lnSpc>
              <a:spcBef>
                <a:spcPts val="0"/>
              </a:spcBef>
              <a:spcAft>
                <a:spcPts val="0"/>
              </a:spcAft>
              <a:buSzPct val="281250"/>
              <a:buNone/>
            </a:pPr>
            <a:r>
              <a:rPr lang="zh-CN" dirty="0"/>
              <a:t>     这确保了从供应点$i$到需求点$j$的物资量$x_{ij}$通过某一种运输模式$k$进行调拨。</a:t>
            </a:r>
            <a:endParaRPr dirty="0"/>
          </a:p>
          <a:p>
            <a:pPr marL="114300" lvl="0" indent="0" algn="l" rtl="0">
              <a:lnSpc>
                <a:spcPct val="115000"/>
              </a:lnSpc>
              <a:spcBef>
                <a:spcPts val="0"/>
              </a:spcBef>
              <a:spcAft>
                <a:spcPts val="0"/>
              </a:spcAft>
              <a:buSzPct val="281250"/>
              <a:buNone/>
            </a:pPr>
            <a:r>
              <a:rPr lang="zh-CN" dirty="0"/>
              <a:t>6. **时间窗约束**：满足需求点的特定配送时间窗要求。</a:t>
            </a:r>
            <a:endParaRPr dirty="0"/>
          </a:p>
          <a:p>
            <a:pPr marL="114300" lvl="0" indent="0" algn="l" rtl="0">
              <a:lnSpc>
                <a:spcPct val="115000"/>
              </a:lnSpc>
              <a:spcBef>
                <a:spcPts val="0"/>
              </a:spcBef>
              <a:spcAft>
                <a:spcPts val="0"/>
              </a:spcAft>
              <a:buSzPct val="281250"/>
              <a:buNone/>
            </a:pPr>
            <a:r>
              <a:rPr lang="zh-CN" dirty="0"/>
              <a:t>   - 公式：$$t_{ij}^{start} \leq t_{ij} \leq t_{ij}^{end}, \quad \forall i \in S, \forall j \in D$$</a:t>
            </a:r>
            <a:endParaRPr dirty="0"/>
          </a:p>
          <a:p>
            <a:pPr marL="114300" lvl="0" indent="0" algn="l" rtl="0">
              <a:lnSpc>
                <a:spcPct val="115000"/>
              </a:lnSpc>
              <a:spcBef>
                <a:spcPts val="0"/>
              </a:spcBef>
              <a:spcAft>
                <a:spcPts val="0"/>
              </a:spcAft>
              <a:buSzPct val="281250"/>
              <a:buNone/>
            </a:pPr>
            <a:r>
              <a:rPr lang="zh-CN" dirty="0"/>
              <a:t>     其中，$t_{ij}^{start}$和$t_{ij}^{end}$分别表示从供应点$i$到需求点$j$的配送允许的最早开始时间和最晚结束时间，$t_{ij}$是实际配送时间。</a:t>
            </a:r>
            <a:endParaRPr dirty="0"/>
          </a:p>
          <a:p>
            <a:pPr marL="114300" lvl="0" indent="0" algn="l" rtl="0">
              <a:lnSpc>
                <a:spcPct val="115000"/>
              </a:lnSpc>
              <a:spcBef>
                <a:spcPts val="0"/>
              </a:spcBef>
              <a:spcAft>
                <a:spcPts val="0"/>
              </a:spcAft>
              <a:buSzPct val="281250"/>
              <a:buNone/>
            </a:pPr>
            <a:endParaRPr sz="1800" dirty="0">
              <a:solidFill>
                <a:srgbClr val="000000"/>
              </a:solidFill>
              <a:latin typeface="Arial"/>
              <a:cs typeface="Arial"/>
              <a:sym typeface="Arial"/>
            </a:endParaRPr>
          </a:p>
        </p:txBody>
      </p:sp>
      <p:sp>
        <p:nvSpPr>
          <p:cNvPr id="2" name="Rectangle 1">
            <a:extLst>
              <a:ext uri="{FF2B5EF4-FFF2-40B4-BE49-F238E27FC236}">
                <a16:creationId xmlns:a16="http://schemas.microsoft.com/office/drawing/2014/main" id="{CBFECF6B-82D3-4D73-8132-FD495381BB60}"/>
              </a:ext>
            </a:extLst>
          </p:cNvPr>
          <p:cNvSpPr/>
          <p:nvPr/>
        </p:nvSpPr>
        <p:spPr>
          <a:xfrm>
            <a:off x="-37609" y="4798648"/>
            <a:ext cx="9753600" cy="307777"/>
          </a:xfrm>
          <a:prstGeom prst="rect">
            <a:avLst/>
          </a:prstGeom>
        </p:spPr>
        <p:txBody>
          <a:bodyPr wrap="square">
            <a:spAutoFit/>
          </a:bodyPr>
          <a:lstStyle/>
          <a:p>
            <a:r>
              <a:rPr lang="en-US" altLang="zh-CN" sz="700" dirty="0"/>
              <a:t>Xuhan Huang, </a:t>
            </a:r>
            <a:r>
              <a:rPr lang="en-US" altLang="zh-CN" sz="700" dirty="0" err="1"/>
              <a:t>Qingning</a:t>
            </a:r>
            <a:r>
              <a:rPr lang="en-US" altLang="zh-CN" sz="700" dirty="0"/>
              <a:t> Shen, Yan Hu, </a:t>
            </a:r>
            <a:r>
              <a:rPr lang="en-US" altLang="zh-CN" sz="700" dirty="0" err="1"/>
              <a:t>Anningzhe</a:t>
            </a:r>
            <a:r>
              <a:rPr lang="en-US" altLang="zh-CN" sz="700" dirty="0"/>
              <a:t> Gao, </a:t>
            </a:r>
            <a:r>
              <a:rPr lang="en-US" altLang="zh-CN" sz="700" b="1" dirty="0"/>
              <a:t>Benyou Wang</a:t>
            </a:r>
            <a:r>
              <a:rPr lang="en-US" altLang="zh-CN" sz="700" dirty="0"/>
              <a:t>. Mamo: a Mathematical Modeling Benchmark with Solvers. </a:t>
            </a:r>
            <a:r>
              <a:rPr lang="en-US" altLang="zh-CN" sz="700" dirty="0">
                <a:hlinkClick r:id="rId3"/>
              </a:rPr>
              <a:t>https://arxiv.org/abs/2405.13144v1</a:t>
            </a:r>
            <a:r>
              <a:rPr lang="en-US" altLang="zh-CN" sz="700" dirty="0"/>
              <a:t> Findings of ACL 2024</a:t>
            </a:r>
          </a:p>
          <a:p>
            <a:r>
              <a:rPr lang="en-US" altLang="zh-CN" sz="700" dirty="0"/>
              <a:t>Zhengyang Tang, </a:t>
            </a:r>
            <a:r>
              <a:rPr lang="en-US" altLang="zh-CN" sz="700" dirty="0" err="1"/>
              <a:t>Chenyu</a:t>
            </a:r>
            <a:r>
              <a:rPr lang="en-US" altLang="zh-CN" sz="700" dirty="0"/>
              <a:t> Huang, Xin Zheng, </a:t>
            </a:r>
            <a:r>
              <a:rPr lang="en-US" altLang="zh-CN" sz="700" dirty="0" err="1"/>
              <a:t>Shixi</a:t>
            </a:r>
            <a:r>
              <a:rPr lang="en-US" altLang="zh-CN" sz="700" dirty="0"/>
              <a:t> Hu, Zizhuo Wang, </a:t>
            </a:r>
            <a:r>
              <a:rPr lang="en-US" altLang="zh-CN" sz="700" dirty="0" err="1"/>
              <a:t>Dongdong</a:t>
            </a:r>
            <a:r>
              <a:rPr lang="en-US" altLang="zh-CN" sz="700" dirty="0"/>
              <a:t> Ge, </a:t>
            </a:r>
            <a:r>
              <a:rPr lang="en-US" altLang="zh-CN" sz="700" b="1" dirty="0"/>
              <a:t>Benyou Wang</a:t>
            </a:r>
            <a:r>
              <a:rPr lang="en-US" altLang="zh-CN" sz="700" dirty="0"/>
              <a:t>. ORLM: Training Large Language Models for Optimization Modeling. </a:t>
            </a:r>
            <a:r>
              <a:rPr lang="en-US" altLang="zh-CN" sz="700" dirty="0">
                <a:hlinkClick r:id="rId4"/>
              </a:rPr>
              <a:t>https://arxiv.org/abs/2405.17743</a:t>
            </a:r>
            <a:r>
              <a:rPr lang="en-US" altLang="zh-CN" sz="700" dirty="0"/>
              <a:t> </a:t>
            </a:r>
            <a:r>
              <a:rPr lang="en-US" altLang="zh-CN" sz="700" b="1" dirty="0"/>
              <a:t>Operations Research </a:t>
            </a:r>
            <a:endParaRPr lang="zh-CN" alt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rmAutofit fontScale="90000"/>
          </a:bodyPr>
          <a:lstStyle/>
          <a:p>
            <a:pPr lvl="0">
              <a:buSzPct val="97222"/>
            </a:pPr>
            <a:r>
              <a:rPr lang="en-US" altLang="zh-CN" dirty="0"/>
              <a:t>Interesting task: </a:t>
            </a:r>
            <a:r>
              <a:rPr lang="zh-CN" dirty="0"/>
              <a:t>Automatic theorem proving</a:t>
            </a:r>
            <a:br>
              <a:rPr lang="zh-CN" dirty="0"/>
            </a:br>
            <a:br>
              <a:rPr lang="zh-CN" dirty="0"/>
            </a:br>
            <a:endParaRPr dirty="0"/>
          </a:p>
        </p:txBody>
      </p:sp>
      <p:sp>
        <p:nvSpPr>
          <p:cNvPr id="289" name="Google Shape;289;p41"/>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rmAutofit/>
          </a:bodyPr>
          <a:lstStyle/>
          <a:p>
            <a:pPr marL="114300" lvl="0" indent="0" algn="l" rtl="0">
              <a:lnSpc>
                <a:spcPct val="115000"/>
              </a:lnSpc>
              <a:spcBef>
                <a:spcPts val="0"/>
              </a:spcBef>
              <a:spcAft>
                <a:spcPts val="0"/>
              </a:spcAft>
              <a:buSzPts val="1800"/>
              <a:buNone/>
            </a:pPr>
            <a:endParaRPr/>
          </a:p>
        </p:txBody>
      </p:sp>
      <p:sp>
        <p:nvSpPr>
          <p:cNvPr id="290" name="Google Shape;290;p41" descr="https://internal-api-drive-stream.feishu.cn/space/api/box/stream/download/preview/Us0KbI2KxoTvZjx7oWvc3aBknbd/?preview_type=16"/>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 name="Google Shape;291;p41" descr="https://internal-api-drive-stream.feishu.cn/space/api/box/stream/download/preview/Us0KbI2KxoTvZjx7oWvc3aBknbd/?preview_type=16"/>
          <p:cNvSpPr/>
          <p:nvPr/>
        </p:nvSpPr>
        <p:spPr>
          <a:xfrm>
            <a:off x="4572000" y="25717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2" name="Google Shape;292;p41"/>
          <p:cNvPicPr preferRelativeResize="0"/>
          <p:nvPr/>
        </p:nvPicPr>
        <p:blipFill rotWithShape="1">
          <a:blip r:embed="rId3">
            <a:alphaModFix/>
          </a:blip>
          <a:srcRect/>
          <a:stretch/>
        </p:blipFill>
        <p:spPr>
          <a:xfrm>
            <a:off x="1812668" y="1593131"/>
            <a:ext cx="5024040" cy="323457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zh-CN" b="1">
                <a:latin typeface="Times New Roman"/>
                <a:ea typeface="Times New Roman"/>
                <a:cs typeface="Times New Roman"/>
                <a:sym typeface="Times New Roman"/>
              </a:rPr>
              <a:t>Today’s Lecture</a:t>
            </a:r>
            <a:endParaRPr b="1">
              <a:latin typeface="Times New Roman"/>
              <a:ea typeface="Times New Roman"/>
              <a:cs typeface="Times New Roman"/>
              <a:sym typeface="Times New Roman"/>
            </a:endParaRPr>
          </a:p>
        </p:txBody>
      </p:sp>
      <p:sp>
        <p:nvSpPr>
          <p:cNvPr id="319" name="Google Shape;319;p44"/>
          <p:cNvSpPr txBox="1">
            <a:spLocks noGrp="1"/>
          </p:cNvSpPr>
          <p:nvPr>
            <p:ph type="body" idx="1"/>
          </p:nvPr>
        </p:nvSpPr>
        <p:spPr>
          <a:xfrm>
            <a:off x="628650" y="1070369"/>
            <a:ext cx="7886700" cy="3263400"/>
          </a:xfrm>
          <a:prstGeom prst="rect">
            <a:avLst/>
          </a:prstGeom>
          <a:noFill/>
          <a:ln>
            <a:noFill/>
          </a:ln>
        </p:spPr>
        <p:txBody>
          <a:bodyPr spcFirstLastPara="1" wrap="square" lIns="0" tIns="0" rIns="0" bIns="0" anchor="t" anchorCtr="0">
            <a:normAutofit/>
          </a:bodyPr>
          <a:lstStyle/>
          <a:p>
            <a:pPr marL="457200" lvl="0" indent="-457200" algn="l" rtl="0">
              <a:lnSpc>
                <a:spcPct val="100000"/>
              </a:lnSpc>
              <a:spcBef>
                <a:spcPts val="0"/>
              </a:spcBef>
              <a:spcAft>
                <a:spcPts val="0"/>
              </a:spcAft>
              <a:buClr>
                <a:srgbClr val="E1D3CB"/>
              </a:buClr>
              <a:buSzPts val="2700"/>
              <a:buFont typeface="Arial"/>
              <a:buChar char="•"/>
            </a:pPr>
            <a:r>
              <a:rPr lang="zh-CN" sz="2700" b="1">
                <a:solidFill>
                  <a:srgbClr val="E1D3CB"/>
                </a:solidFill>
                <a:latin typeface="Times New Roman"/>
                <a:ea typeface="Times New Roman"/>
                <a:cs typeface="Times New Roman"/>
                <a:sym typeface="Times New Roman"/>
              </a:rPr>
              <a:t>Knowledge</a:t>
            </a:r>
            <a:r>
              <a:rPr lang="zh-CN" sz="2700">
                <a:solidFill>
                  <a:srgbClr val="E1D3CB"/>
                </a:solidFill>
                <a:latin typeface="Times New Roman"/>
                <a:ea typeface="Times New Roman"/>
                <a:cs typeface="Times New Roman"/>
                <a:sym typeface="Times New Roman"/>
              </a:rPr>
              <a:t> in LLMs</a:t>
            </a:r>
            <a:endParaRPr>
              <a:solidFill>
                <a:srgbClr val="E1D3CB"/>
              </a:solidFill>
            </a:endParaRPr>
          </a:p>
          <a:p>
            <a:pPr marL="800100" lvl="1" indent="-342900" algn="l" rtl="0">
              <a:lnSpc>
                <a:spcPct val="100000"/>
              </a:lnSpc>
              <a:spcBef>
                <a:spcPts val="0"/>
              </a:spcBef>
              <a:spcAft>
                <a:spcPts val="0"/>
              </a:spcAft>
              <a:buClr>
                <a:srgbClr val="CBCBCD"/>
              </a:buClr>
              <a:buSzPts val="2100"/>
              <a:buFont typeface="Arial"/>
              <a:buChar char="•"/>
            </a:pPr>
            <a:r>
              <a:rPr lang="zh-CN" sz="2100">
                <a:solidFill>
                  <a:srgbClr val="CBCBCD"/>
                </a:solidFill>
                <a:latin typeface="Times New Roman"/>
                <a:ea typeface="Times New Roman"/>
                <a:cs typeface="Times New Roman"/>
                <a:sym typeface="Times New Roman"/>
              </a:rPr>
              <a:t>LLMs as knowledge bases</a:t>
            </a:r>
            <a:endParaRPr>
              <a:solidFill>
                <a:srgbClr val="CBCBCD"/>
              </a:solidFill>
            </a:endParaRPr>
          </a:p>
          <a:p>
            <a:pPr marL="800100" lvl="1" indent="-342900" algn="l" rtl="0">
              <a:lnSpc>
                <a:spcPct val="100000"/>
              </a:lnSpc>
              <a:spcBef>
                <a:spcPts val="0"/>
              </a:spcBef>
              <a:spcAft>
                <a:spcPts val="0"/>
              </a:spcAft>
              <a:buClr>
                <a:srgbClr val="E1D3CB"/>
              </a:buClr>
              <a:buSzPts val="2100"/>
              <a:buFont typeface="Arial"/>
              <a:buChar char="•"/>
            </a:pPr>
            <a:r>
              <a:rPr lang="zh-CN" sz="2100">
                <a:solidFill>
                  <a:srgbClr val="E1D3CB"/>
                </a:solidFill>
                <a:latin typeface="Times New Roman"/>
                <a:ea typeface="Times New Roman"/>
                <a:cs typeface="Times New Roman"/>
                <a:sym typeface="Times New Roman"/>
              </a:rPr>
              <a:t>Facts updating for LLMs</a:t>
            </a:r>
            <a:endParaRPr>
              <a:solidFill>
                <a:srgbClr val="E1D3CB"/>
              </a:solidFill>
            </a:endParaRPr>
          </a:p>
          <a:p>
            <a:pPr marL="457200" lvl="0" indent="-457200" algn="l" rtl="0">
              <a:lnSpc>
                <a:spcPct val="100000"/>
              </a:lnSpc>
              <a:spcBef>
                <a:spcPts val="0"/>
              </a:spcBef>
              <a:spcAft>
                <a:spcPts val="0"/>
              </a:spcAft>
              <a:buClr>
                <a:srgbClr val="CBCBCD"/>
              </a:buClr>
              <a:buSzPts val="2700"/>
              <a:buFont typeface="Arial"/>
              <a:buChar char="•"/>
            </a:pPr>
            <a:r>
              <a:rPr lang="zh-CN" sz="2700" b="1">
                <a:solidFill>
                  <a:srgbClr val="CBCBCD"/>
                </a:solidFill>
                <a:latin typeface="Times New Roman"/>
                <a:ea typeface="Times New Roman"/>
                <a:cs typeface="Times New Roman"/>
                <a:sym typeface="Times New Roman"/>
              </a:rPr>
              <a:t>Reasoning</a:t>
            </a:r>
            <a:r>
              <a:rPr lang="zh-CN" sz="2700">
                <a:solidFill>
                  <a:srgbClr val="CBCBCD"/>
                </a:solidFill>
                <a:latin typeface="Times New Roman"/>
                <a:ea typeface="Times New Roman"/>
                <a:cs typeface="Times New Roman"/>
                <a:sym typeface="Times New Roman"/>
              </a:rPr>
              <a:t> in LLMs</a:t>
            </a:r>
            <a:endParaRPr>
              <a:solidFill>
                <a:srgbClr val="CBCBCD"/>
              </a:solidFill>
            </a:endParaRPr>
          </a:p>
          <a:p>
            <a:pPr marL="800100" lvl="1" indent="-342900" algn="l" rtl="0">
              <a:lnSpc>
                <a:spcPct val="100000"/>
              </a:lnSpc>
              <a:spcBef>
                <a:spcPts val="0"/>
              </a:spcBef>
              <a:spcAft>
                <a:spcPts val="0"/>
              </a:spcAft>
              <a:buClr>
                <a:srgbClr val="CBCBCD"/>
              </a:buClr>
              <a:buSzPts val="2100"/>
              <a:buFont typeface="Arial"/>
              <a:buChar char="•"/>
            </a:pPr>
            <a:r>
              <a:rPr lang="zh-CN" sz="2100">
                <a:solidFill>
                  <a:srgbClr val="CBCBCD"/>
                </a:solidFill>
                <a:latin typeface="Times New Roman"/>
                <a:ea typeface="Times New Roman"/>
                <a:cs typeface="Times New Roman"/>
                <a:sym typeface="Times New Roman"/>
              </a:rPr>
              <a:t>Why reasoning is special in LLMs</a:t>
            </a:r>
            <a:endParaRPr>
              <a:solidFill>
                <a:srgbClr val="CBCBCD"/>
              </a:solidFill>
            </a:endParaRPr>
          </a:p>
          <a:p>
            <a:pPr marL="457200" lvl="0" indent="-457200" algn="l" rtl="0">
              <a:lnSpc>
                <a:spcPct val="100000"/>
              </a:lnSpc>
              <a:spcBef>
                <a:spcPts val="0"/>
              </a:spcBef>
              <a:spcAft>
                <a:spcPts val="0"/>
              </a:spcAft>
              <a:buClr>
                <a:schemeClr val="dk1"/>
              </a:buClr>
              <a:buSzPts val="2700"/>
              <a:buChar char="•"/>
            </a:pPr>
            <a:r>
              <a:rPr lang="zh-CN" sz="2700" b="1"/>
              <a:t>Prompt </a:t>
            </a:r>
            <a:r>
              <a:rPr lang="zh-CN" sz="2100"/>
              <a:t>Techniques for better reasoning</a:t>
            </a:r>
            <a:endParaRPr>
              <a:latin typeface="Calibri"/>
              <a:ea typeface="Calibri"/>
              <a:cs typeface="Calibri"/>
              <a:sym typeface="Calibri"/>
            </a:endParaRPr>
          </a:p>
          <a:p>
            <a:pPr marL="0" lvl="0" indent="0" algn="l" rtl="0">
              <a:lnSpc>
                <a:spcPct val="100000"/>
              </a:lnSpc>
              <a:spcBef>
                <a:spcPts val="0"/>
              </a:spcBef>
              <a:spcAft>
                <a:spcPts val="0"/>
              </a:spcAft>
              <a:buSzPts val="1400"/>
              <a:buNone/>
            </a:pPr>
            <a:endParaRPr sz="2400">
              <a:solidFill>
                <a:schemeClr val="dk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5"/>
          <p:cNvSpPr txBox="1">
            <a:spLocks noGrp="1"/>
          </p:cNvSpPr>
          <p:nvPr>
            <p:ph type="title"/>
          </p:nvPr>
        </p:nvSpPr>
        <p:spPr>
          <a:xfrm>
            <a:off x="442374" y="502787"/>
            <a:ext cx="6358800" cy="369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What is In-Context Learning?</a:t>
            </a:r>
            <a:endParaRPr/>
          </a:p>
        </p:txBody>
      </p:sp>
      <p:sp>
        <p:nvSpPr>
          <p:cNvPr id="325" name="Google Shape;325;p45"/>
          <p:cNvSpPr txBox="1"/>
          <p:nvPr/>
        </p:nvSpPr>
        <p:spPr>
          <a:xfrm>
            <a:off x="8940448" y="4882664"/>
            <a:ext cx="75000" cy="1206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700"/>
              <a:buFont typeface="Arial"/>
              <a:buNone/>
            </a:pPr>
            <a:r>
              <a:rPr lang="zh-CN" sz="700" b="0" i="0" u="none" strike="noStrike" cap="none">
                <a:solidFill>
                  <a:schemeClr val="dk1"/>
                </a:solidFill>
                <a:latin typeface="Arial"/>
                <a:ea typeface="Arial"/>
                <a:cs typeface="Arial"/>
                <a:sym typeface="Arial"/>
              </a:rPr>
              <a:t>2</a:t>
            </a:r>
            <a:endParaRPr sz="700" b="0" i="0" u="none" strike="noStrike" cap="none">
              <a:solidFill>
                <a:schemeClr val="dk1"/>
              </a:solidFill>
              <a:latin typeface="Arial"/>
              <a:ea typeface="Arial"/>
              <a:cs typeface="Arial"/>
              <a:sym typeface="Arial"/>
            </a:endParaRPr>
          </a:p>
        </p:txBody>
      </p:sp>
      <p:sp>
        <p:nvSpPr>
          <p:cNvPr id="326" name="Google Shape;326;p45"/>
          <p:cNvSpPr/>
          <p:nvPr/>
        </p:nvSpPr>
        <p:spPr>
          <a:xfrm>
            <a:off x="1305251" y="1410963"/>
            <a:ext cx="6522900" cy="26157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7" name="Google Shape;327;p45"/>
          <p:cNvSpPr txBox="1"/>
          <p:nvPr/>
        </p:nvSpPr>
        <p:spPr>
          <a:xfrm>
            <a:off x="73024" y="4781550"/>
            <a:ext cx="57183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Arial"/>
                <a:ea typeface="Arial"/>
                <a:cs typeface="Arial"/>
                <a:sym typeface="Arial"/>
                <a:hlinkClick r:id="rId4"/>
              </a:rPr>
              <a:t>https://ai.stanford.edu/blog/understanding-incontext/</a:t>
            </a:r>
            <a:endParaRPr sz="1200" b="0" i="0" u="none" strike="noStrike" cap="none">
              <a:solidFill>
                <a:srgbClr val="0070C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6"/>
          <p:cNvSpPr txBox="1">
            <a:spLocks noGrp="1"/>
          </p:cNvSpPr>
          <p:nvPr>
            <p:ph type="title"/>
          </p:nvPr>
        </p:nvSpPr>
        <p:spPr>
          <a:xfrm>
            <a:off x="442374" y="502787"/>
            <a:ext cx="7575600" cy="369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a:t>What Can In-Context Learning Do?</a:t>
            </a:r>
            <a:endParaRPr/>
          </a:p>
        </p:txBody>
      </p:sp>
      <p:sp>
        <p:nvSpPr>
          <p:cNvPr id="334" name="Google Shape;334;p46"/>
          <p:cNvSpPr/>
          <p:nvPr/>
        </p:nvSpPr>
        <p:spPr>
          <a:xfrm>
            <a:off x="3908284" y="1411369"/>
            <a:ext cx="4051200" cy="26016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5" name="Google Shape;335;p46"/>
          <p:cNvSpPr txBox="1"/>
          <p:nvPr/>
        </p:nvSpPr>
        <p:spPr>
          <a:xfrm>
            <a:off x="736174" y="1380331"/>
            <a:ext cx="2472600" cy="2783400"/>
          </a:xfrm>
          <a:prstGeom prst="rect">
            <a:avLst/>
          </a:prstGeom>
          <a:noFill/>
          <a:ln>
            <a:noFill/>
          </a:ln>
        </p:spPr>
        <p:txBody>
          <a:bodyPr spcFirstLastPara="1" wrap="square" lIns="0" tIns="12700" rIns="0" bIns="0" anchor="t" anchorCtr="0">
            <a:spAutoFit/>
          </a:bodyPr>
          <a:lstStyle/>
          <a:p>
            <a:pPr marL="379095" marR="5080" lvl="0" indent="-366395" algn="l" rtl="0">
              <a:lnSpc>
                <a:spcPct val="100000"/>
              </a:lnSpc>
              <a:spcBef>
                <a:spcPts val="0"/>
              </a:spcBef>
              <a:spcAft>
                <a:spcPts val="0"/>
              </a:spcAft>
              <a:buClr>
                <a:schemeClr val="dk1"/>
              </a:buClr>
              <a:buSzPts val="1800"/>
              <a:buFont typeface="Arial"/>
              <a:buChar char="●"/>
            </a:pPr>
            <a:r>
              <a:rPr lang="zh-CN" sz="1800" b="0" i="0" u="none" strike="noStrike" cap="none">
                <a:solidFill>
                  <a:schemeClr val="dk1"/>
                </a:solidFill>
                <a:latin typeface="Arial"/>
                <a:ea typeface="Arial"/>
                <a:cs typeface="Arial"/>
                <a:sym typeface="Arial"/>
              </a:rPr>
              <a:t>No parameter tuning  need</a:t>
            </a:r>
            <a:endParaRPr sz="1800" b="0" i="0" u="none" strike="noStrike" cap="none">
              <a:solidFill>
                <a:schemeClr val="dk1"/>
              </a:solidFill>
              <a:latin typeface="Arial"/>
              <a:ea typeface="Arial"/>
              <a:cs typeface="Arial"/>
              <a:sym typeface="Arial"/>
            </a:endParaRPr>
          </a:p>
          <a:p>
            <a:pPr marL="379095" marR="245108" lvl="0" indent="-366395" algn="l" rtl="0">
              <a:lnSpc>
                <a:spcPct val="100000"/>
              </a:lnSpc>
              <a:spcBef>
                <a:spcPts val="0"/>
              </a:spcBef>
              <a:spcAft>
                <a:spcPts val="0"/>
              </a:spcAft>
              <a:buClr>
                <a:schemeClr val="dk1"/>
              </a:buClr>
              <a:buSzPts val="1800"/>
              <a:buFont typeface="Arial"/>
              <a:buChar char="●"/>
            </a:pPr>
            <a:r>
              <a:rPr lang="zh-CN" sz="1800" b="0" i="0" u="none" strike="noStrike" cap="none">
                <a:solidFill>
                  <a:schemeClr val="dk1"/>
                </a:solidFill>
                <a:latin typeface="Arial"/>
                <a:ea typeface="Arial"/>
                <a:cs typeface="Arial"/>
                <a:sym typeface="Arial"/>
              </a:rPr>
              <a:t>Only need few  examples for  downstream tasks</a:t>
            </a:r>
            <a:endParaRPr sz="1800" b="0" i="0" u="none" strike="noStrike" cap="none">
              <a:solidFill>
                <a:schemeClr val="dk1"/>
              </a:solidFill>
              <a:latin typeface="Arial"/>
              <a:ea typeface="Arial"/>
              <a:cs typeface="Arial"/>
              <a:sym typeface="Arial"/>
            </a:endParaRPr>
          </a:p>
          <a:p>
            <a:pPr marL="379095" marR="20320" lvl="0" indent="-366395" algn="l" rtl="0">
              <a:lnSpc>
                <a:spcPct val="100000"/>
              </a:lnSpc>
              <a:spcBef>
                <a:spcPts val="0"/>
              </a:spcBef>
              <a:spcAft>
                <a:spcPts val="0"/>
              </a:spcAft>
              <a:buClr>
                <a:schemeClr val="dk1"/>
              </a:buClr>
              <a:buSzPts val="1800"/>
              <a:buFont typeface="Arial"/>
              <a:buChar char="●"/>
            </a:pPr>
            <a:r>
              <a:rPr lang="zh-CN" sz="1800" b="0" i="0" u="none" strike="noStrike" cap="none">
                <a:solidFill>
                  <a:schemeClr val="dk1"/>
                </a:solidFill>
                <a:latin typeface="Arial"/>
                <a:ea typeface="Arial"/>
                <a:cs typeface="Arial"/>
                <a:sym typeface="Arial"/>
              </a:rPr>
              <a:t>GPT-3 improved  SOTA on LAMBADA(last word prediction task)  by 18%!</a:t>
            </a:r>
            <a:endParaRPr sz="1800" b="0" i="0" u="none" strike="noStrike" cap="none">
              <a:solidFill>
                <a:schemeClr val="dk1"/>
              </a:solidFill>
              <a:latin typeface="Arial"/>
              <a:ea typeface="Arial"/>
              <a:cs typeface="Arial"/>
              <a:sym typeface="Arial"/>
            </a:endParaRPr>
          </a:p>
        </p:txBody>
      </p:sp>
      <p:sp>
        <p:nvSpPr>
          <p:cNvPr id="336" name="Google Shape;336;p46"/>
          <p:cNvSpPr txBox="1">
            <a:spLocks noGrp="1"/>
          </p:cNvSpPr>
          <p:nvPr>
            <p:ph type="sldNum" idx="12"/>
          </p:nvPr>
        </p:nvSpPr>
        <p:spPr>
          <a:xfrm>
            <a:off x="6583680" y="4783455"/>
            <a:ext cx="2103000" cy="280800"/>
          </a:xfrm>
          <a:prstGeom prst="rect">
            <a:avLst/>
          </a:prstGeom>
          <a:noFill/>
          <a:ln>
            <a:noFill/>
          </a:ln>
        </p:spPr>
        <p:txBody>
          <a:bodyPr spcFirstLastPara="1" wrap="square" lIns="0" tIns="3800" rIns="0" bIns="0" anchor="t" anchorCtr="0">
            <a:spAutoFit/>
          </a:bodyPr>
          <a:lstStyle/>
          <a:p>
            <a:pPr marL="74295" lvl="0" indent="0" algn="r" rtl="0">
              <a:lnSpc>
                <a:spcPct val="100000"/>
              </a:lnSpc>
              <a:spcBef>
                <a:spcPts val="0"/>
              </a:spcBef>
              <a:spcAft>
                <a:spcPts val="0"/>
              </a:spcAft>
              <a:buSzPts val="1800"/>
              <a:buNone/>
            </a:pPr>
            <a:fld id="{00000000-1234-1234-1234-123412341234}" type="slidenum">
              <a:rPr lang="en-US" altLang="zh-CN"/>
              <a:t>88</a:t>
            </a:fld>
            <a:endParaRPr/>
          </a:p>
        </p:txBody>
      </p:sp>
      <p:sp>
        <p:nvSpPr>
          <p:cNvPr id="337" name="Google Shape;337;p46"/>
          <p:cNvSpPr txBox="1"/>
          <p:nvPr/>
        </p:nvSpPr>
        <p:spPr>
          <a:xfrm>
            <a:off x="945628" y="4275830"/>
            <a:ext cx="3657600" cy="443700"/>
          </a:xfrm>
          <a:prstGeom prst="rect">
            <a:avLst/>
          </a:prstGeom>
          <a:noFill/>
          <a:ln w="9525" cap="flat" cmpd="sng">
            <a:solidFill>
              <a:srgbClr val="000000"/>
            </a:solidFill>
            <a:prstDash val="solid"/>
            <a:round/>
            <a:headEnd type="none" w="sm" len="sm"/>
            <a:tailEnd type="none" w="sm" len="sm"/>
          </a:ln>
        </p:spPr>
        <p:txBody>
          <a:bodyPr spcFirstLastPara="1" wrap="square" lIns="0" tIns="73650" rIns="0" bIns="0" anchor="t" anchorCtr="0">
            <a:spAutoFit/>
          </a:bodyPr>
          <a:lstStyle/>
          <a:p>
            <a:pPr marL="813435" marR="556260" lvl="0" indent="-251460" algn="l" rtl="0">
              <a:lnSpc>
                <a:spcPct val="100000"/>
              </a:lnSpc>
              <a:spcBef>
                <a:spcPts val="0"/>
              </a:spcBef>
              <a:spcAft>
                <a:spcPts val="0"/>
              </a:spcAft>
              <a:buClr>
                <a:srgbClr val="000000"/>
              </a:buClr>
              <a:buSzPts val="2400"/>
              <a:buFont typeface="Arial"/>
              <a:buNone/>
            </a:pPr>
            <a:r>
              <a:rPr lang="zh-CN" sz="2400" b="0" i="0" u="none" strike="noStrike" cap="none">
                <a:solidFill>
                  <a:schemeClr val="dk1"/>
                </a:solidFill>
                <a:latin typeface="Arial"/>
                <a:ea typeface="Arial"/>
                <a:cs typeface="Arial"/>
                <a:sym typeface="Arial"/>
              </a:rPr>
              <a:t>Works like  magic!</a:t>
            </a: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CN"/>
              <a:t>89</a:t>
            </a:fld>
            <a:endParaRPr/>
          </a:p>
        </p:txBody>
      </p:sp>
      <p:pic>
        <p:nvPicPr>
          <p:cNvPr id="449" name="Google Shape;449;p55"/>
          <p:cNvPicPr preferRelativeResize="0"/>
          <p:nvPr/>
        </p:nvPicPr>
        <p:blipFill rotWithShape="1">
          <a:blip r:embed="rId3">
            <a:alphaModFix/>
          </a:blip>
          <a:srcRect/>
          <a:stretch/>
        </p:blipFill>
        <p:spPr>
          <a:xfrm>
            <a:off x="1580531" y="1216334"/>
            <a:ext cx="5838648" cy="3728951"/>
          </a:xfrm>
          <a:prstGeom prst="rect">
            <a:avLst/>
          </a:prstGeom>
          <a:noFill/>
          <a:ln>
            <a:noFill/>
          </a:ln>
        </p:spPr>
      </p:pic>
      <p:sp>
        <p:nvSpPr>
          <p:cNvPr id="2" name="TextBox 1">
            <a:extLst>
              <a:ext uri="{FF2B5EF4-FFF2-40B4-BE49-F238E27FC236}">
                <a16:creationId xmlns:a16="http://schemas.microsoft.com/office/drawing/2014/main" id="{7365B61E-F0AC-46CD-84F6-8BB83DCAB4F0}"/>
              </a:ext>
            </a:extLst>
          </p:cNvPr>
          <p:cNvSpPr txBox="1"/>
          <p:nvPr/>
        </p:nvSpPr>
        <p:spPr>
          <a:xfrm>
            <a:off x="457200" y="198215"/>
            <a:ext cx="5838648" cy="461665"/>
          </a:xfrm>
          <a:prstGeom prst="rect">
            <a:avLst/>
          </a:prstGeom>
          <a:noFill/>
        </p:spPr>
        <p:txBody>
          <a:bodyPr wrap="square" rtlCol="0">
            <a:spAutoFit/>
          </a:bodyPr>
          <a:lstStyle/>
          <a:p>
            <a:r>
              <a:rPr lang="en-US" altLang="zh-CN" sz="2400" dirty="0"/>
              <a:t>LLMs with </a:t>
            </a:r>
            <a:r>
              <a:rPr lang="en-US" altLang="zh-CN" sz="2400" dirty="0" err="1"/>
              <a:t>CoT</a:t>
            </a:r>
            <a:r>
              <a:rPr lang="en-US" altLang="zh-CN" sz="2400" dirty="0"/>
              <a:t> could do reason !</a:t>
            </a:r>
            <a:endParaRPr lang="zh-CN" altLang="en-US" sz="2400" dirty="0"/>
          </a:p>
        </p:txBody>
      </p:sp>
    </p:spTree>
    <p:extLst>
      <p:ext uri="{BB962C8B-B14F-4D97-AF65-F5344CB8AC3E}">
        <p14:creationId xmlns:p14="http://schemas.microsoft.com/office/powerpoint/2010/main" val="4653113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7"/>
          <p:cNvSpPr txBox="1">
            <a:spLocks noGrp="1"/>
          </p:cNvSpPr>
          <p:nvPr>
            <p:ph type="sldNum" idx="12"/>
          </p:nvPr>
        </p:nvSpPr>
        <p:spPr>
          <a:xfrm>
            <a:off x="8472458" y="4663217"/>
            <a:ext cx="548700" cy="154500"/>
          </a:xfrm>
          <a:prstGeom prst="rect">
            <a:avLst/>
          </a:prstGeom>
          <a:noFill/>
          <a:ln>
            <a:noFill/>
          </a:ln>
        </p:spPr>
        <p:txBody>
          <a:bodyPr spcFirstLastPara="1" wrap="square" lIns="0" tIns="625" rIns="0" bIns="0" anchor="ctr" anchorCtr="0">
            <a:spAutoFit/>
          </a:bodyPr>
          <a:lstStyle/>
          <a:p>
            <a:pPr marL="25400" lvl="0" indent="0" algn="r" rtl="0">
              <a:lnSpc>
                <a:spcPct val="100000"/>
              </a:lnSpc>
              <a:spcBef>
                <a:spcPts val="5"/>
              </a:spcBef>
              <a:spcAft>
                <a:spcPts val="0"/>
              </a:spcAft>
              <a:buClr>
                <a:srgbClr val="595959"/>
              </a:buClr>
              <a:buSzPts val="1000"/>
              <a:buFont typeface="Arial"/>
              <a:buNone/>
            </a:pPr>
            <a:fld id="{00000000-1234-1234-1234-123412341234}" type="slidenum">
              <a:rPr lang="en-US" altLang="zh-CN"/>
              <a:t>90</a:t>
            </a:fld>
            <a:endParaRPr/>
          </a:p>
        </p:txBody>
      </p:sp>
      <p:sp>
        <p:nvSpPr>
          <p:cNvPr id="343" name="Google Shape;343;p47"/>
          <p:cNvSpPr txBox="1">
            <a:spLocks noGrp="1"/>
          </p:cNvSpPr>
          <p:nvPr>
            <p:ph type="title"/>
          </p:nvPr>
        </p:nvSpPr>
        <p:spPr>
          <a:xfrm>
            <a:off x="384725" y="212690"/>
            <a:ext cx="8302200" cy="48731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100"/>
              </a:spcBef>
              <a:spcAft>
                <a:spcPts val="0"/>
              </a:spcAft>
              <a:buSzPts val="2800"/>
              <a:buNone/>
            </a:pPr>
            <a:r>
              <a:rPr lang="en-US" altLang="zh-CN" sz="3000" dirty="0"/>
              <a:t>What is </a:t>
            </a:r>
            <a:r>
              <a:rPr lang="zh-CN" sz="3000" dirty="0"/>
              <a:t>Chain of Thought prompting (CoT)</a:t>
            </a:r>
            <a:r>
              <a:rPr lang="en-US" altLang="zh-CN" sz="3000" dirty="0"/>
              <a:t>?</a:t>
            </a:r>
            <a:endParaRPr sz="3000" dirty="0">
              <a:latin typeface="Times New Roman"/>
              <a:ea typeface="Times New Roman"/>
              <a:cs typeface="Times New Roman"/>
              <a:sym typeface="Times New Roman"/>
            </a:endParaRPr>
          </a:p>
        </p:txBody>
      </p:sp>
      <p:pic>
        <p:nvPicPr>
          <p:cNvPr id="344" name="Google Shape;344;p47"/>
          <p:cNvPicPr preferRelativeResize="0"/>
          <p:nvPr/>
        </p:nvPicPr>
        <p:blipFill rotWithShape="1">
          <a:blip r:embed="rId3">
            <a:alphaModFix/>
          </a:blip>
          <a:srcRect/>
          <a:stretch/>
        </p:blipFill>
        <p:spPr>
          <a:xfrm>
            <a:off x="5715000" y="1416909"/>
            <a:ext cx="3124200" cy="2991066"/>
          </a:xfrm>
          <a:prstGeom prst="rect">
            <a:avLst/>
          </a:prstGeom>
          <a:noFill/>
          <a:ln>
            <a:noFill/>
          </a:ln>
        </p:spPr>
      </p:pic>
      <p:pic>
        <p:nvPicPr>
          <p:cNvPr id="345" name="Google Shape;345;p47"/>
          <p:cNvPicPr preferRelativeResize="0"/>
          <p:nvPr/>
        </p:nvPicPr>
        <p:blipFill rotWithShape="1">
          <a:blip r:embed="rId4">
            <a:alphaModFix/>
          </a:blip>
          <a:srcRect/>
          <a:stretch/>
        </p:blipFill>
        <p:spPr>
          <a:xfrm>
            <a:off x="55402" y="1416909"/>
            <a:ext cx="5635017" cy="2806903"/>
          </a:xfrm>
          <a:prstGeom prst="rect">
            <a:avLst/>
          </a:prstGeom>
          <a:noFill/>
          <a:ln>
            <a:noFill/>
          </a:ln>
        </p:spPr>
      </p:pic>
      <p:sp>
        <p:nvSpPr>
          <p:cNvPr id="346" name="Google Shape;346;p47"/>
          <p:cNvSpPr txBox="1"/>
          <p:nvPr/>
        </p:nvSpPr>
        <p:spPr>
          <a:xfrm>
            <a:off x="3067242" y="4144123"/>
            <a:ext cx="2591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1" i="0" u="none" strike="noStrike" cap="none">
                <a:solidFill>
                  <a:schemeClr val="dk1"/>
                </a:solidFill>
                <a:latin typeface="Times New Roman"/>
                <a:ea typeface="Times New Roman"/>
                <a:cs typeface="Times New Roman"/>
                <a:sym typeface="Times New Roman"/>
              </a:rPr>
              <a:t>&lt;input, </a:t>
            </a:r>
            <a:r>
              <a:rPr lang="zh-CN" sz="1200" b="1" i="0" u="none" strike="noStrike" cap="none">
                <a:solidFill>
                  <a:srgbClr val="FF0000"/>
                </a:solidFill>
                <a:latin typeface="Times New Roman"/>
                <a:ea typeface="Times New Roman"/>
                <a:cs typeface="Times New Roman"/>
                <a:sym typeface="Times New Roman"/>
              </a:rPr>
              <a:t>intermediate results</a:t>
            </a:r>
            <a:r>
              <a:rPr lang="zh-CN" sz="1200" b="1" i="0" u="none" strike="noStrike" cap="none">
                <a:solidFill>
                  <a:schemeClr val="dk1"/>
                </a:solidFill>
                <a:latin typeface="Times New Roman"/>
                <a:ea typeface="Times New Roman"/>
                <a:cs typeface="Times New Roman"/>
                <a:sym typeface="Times New Roman"/>
              </a:rPr>
              <a:t>, output&gt;</a:t>
            </a:r>
            <a:endParaRPr sz="1200" b="0" i="0" u="none" strike="noStrike" cap="none">
              <a:solidFill>
                <a:schemeClr val="dk1"/>
              </a:solidFill>
              <a:latin typeface="Times New Roman"/>
              <a:ea typeface="Times New Roman"/>
              <a:cs typeface="Times New Roman"/>
              <a:sym typeface="Times New Roman"/>
            </a:endParaRPr>
          </a:p>
        </p:txBody>
      </p:sp>
      <p:sp>
        <p:nvSpPr>
          <p:cNvPr id="347" name="Google Shape;347;p47"/>
          <p:cNvSpPr txBox="1"/>
          <p:nvPr/>
        </p:nvSpPr>
        <p:spPr>
          <a:xfrm>
            <a:off x="1114736" y="4508158"/>
            <a:ext cx="3516300" cy="523200"/>
          </a:xfrm>
          <a:prstGeom prst="rect">
            <a:avLst/>
          </a:prstGeom>
          <a:noFill/>
          <a:ln>
            <a:noFill/>
          </a:ln>
        </p:spPr>
        <p:txBody>
          <a:bodyPr spcFirstLastPara="1" wrap="square" lIns="91425" tIns="45700" rIns="91425" bIns="45700" anchor="t" anchorCtr="0">
            <a:spAutoFit/>
          </a:bodyPr>
          <a:lstStyle/>
          <a:p>
            <a:pPr marL="403860" marR="0" lvl="0" indent="-285750" algn="l" rtl="0">
              <a:lnSpc>
                <a:spcPct val="100000"/>
              </a:lnSpc>
              <a:spcBef>
                <a:spcPts val="0"/>
              </a:spcBef>
              <a:spcAft>
                <a:spcPts val="0"/>
              </a:spcAft>
              <a:buClr>
                <a:srgbClr val="FF0000"/>
              </a:buClr>
              <a:buSzPts val="1400"/>
              <a:buFont typeface="Arial"/>
              <a:buChar char="•"/>
            </a:pPr>
            <a:r>
              <a:rPr lang="zh-CN" sz="1400" b="0" i="0" u="none" strike="noStrike" cap="none">
                <a:solidFill>
                  <a:srgbClr val="FF0000"/>
                </a:solidFill>
                <a:latin typeface="Times New Roman"/>
                <a:ea typeface="Times New Roman"/>
                <a:cs typeface="Times New Roman"/>
                <a:sym typeface="Times New Roman"/>
              </a:rPr>
              <a:t>decompose into easier intermediate steps</a:t>
            </a:r>
            <a:endParaRPr sz="1400" b="0" i="0" u="none" strike="noStrike" cap="none">
              <a:solidFill>
                <a:srgbClr val="000000"/>
              </a:solidFill>
              <a:latin typeface="Arial"/>
              <a:ea typeface="Arial"/>
              <a:cs typeface="Arial"/>
              <a:sym typeface="Arial"/>
            </a:endParaRPr>
          </a:p>
          <a:p>
            <a:pPr marL="403860" marR="0" lvl="0" indent="-285750" algn="l" rtl="0">
              <a:lnSpc>
                <a:spcPct val="100000"/>
              </a:lnSpc>
              <a:spcBef>
                <a:spcPts val="0"/>
              </a:spcBef>
              <a:spcAft>
                <a:spcPts val="0"/>
              </a:spcAft>
              <a:buClr>
                <a:srgbClr val="FF0000"/>
              </a:buClr>
              <a:buSzPts val="1400"/>
              <a:buFont typeface="Arial"/>
              <a:buChar char="•"/>
            </a:pPr>
            <a:r>
              <a:rPr lang="zh-CN" sz="1400" b="0" i="0" u="none" strike="noStrike" cap="none">
                <a:solidFill>
                  <a:srgbClr val="FF0000"/>
                </a:solidFill>
                <a:latin typeface="Times New Roman"/>
                <a:ea typeface="Times New Roman"/>
                <a:cs typeface="Times New Roman"/>
                <a:sym typeface="Times New Roman"/>
              </a:rPr>
              <a:t>interpretable</a:t>
            </a:r>
            <a:endParaRPr sz="1400" b="0"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8"/>
          <p:cNvSpPr txBox="1">
            <a:spLocks noGrp="1"/>
          </p:cNvSpPr>
          <p:nvPr>
            <p:ph type="title"/>
          </p:nvPr>
        </p:nvSpPr>
        <p:spPr>
          <a:xfrm>
            <a:off x="384724" y="212690"/>
            <a:ext cx="6778200" cy="474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zh-CN" sz="3000"/>
              <a:t>Zero-Shot CoT – Let’s think step by step</a:t>
            </a:r>
            <a:endParaRPr sz="3000"/>
          </a:p>
        </p:txBody>
      </p:sp>
      <p:sp>
        <p:nvSpPr>
          <p:cNvPr id="354" name="Google Shape;354;p48"/>
          <p:cNvSpPr/>
          <p:nvPr/>
        </p:nvSpPr>
        <p:spPr>
          <a:xfrm>
            <a:off x="1036467" y="867802"/>
            <a:ext cx="3298200" cy="2089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5" name="Google Shape;355;p48"/>
          <p:cNvSpPr/>
          <p:nvPr/>
        </p:nvSpPr>
        <p:spPr>
          <a:xfrm>
            <a:off x="4377575" y="838094"/>
            <a:ext cx="3423900" cy="2073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6" name="Google Shape;356;p48"/>
          <p:cNvSpPr/>
          <p:nvPr/>
        </p:nvSpPr>
        <p:spPr>
          <a:xfrm>
            <a:off x="4453992" y="3147734"/>
            <a:ext cx="3362400" cy="12897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7" name="Google Shape;357;p48"/>
          <p:cNvSpPr/>
          <p:nvPr/>
        </p:nvSpPr>
        <p:spPr>
          <a:xfrm>
            <a:off x="1070139" y="3121140"/>
            <a:ext cx="3255900" cy="12948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8" name="Google Shape;358;p48"/>
          <p:cNvSpPr txBox="1"/>
          <p:nvPr/>
        </p:nvSpPr>
        <p:spPr>
          <a:xfrm>
            <a:off x="238975" y="1295453"/>
            <a:ext cx="6597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1" i="0" u="none" strike="noStrike" cap="none">
                <a:solidFill>
                  <a:srgbClr val="37761C"/>
                </a:solidFill>
                <a:latin typeface="Times New Roman"/>
                <a:ea typeface="Times New Roman"/>
                <a:cs typeface="Times New Roman"/>
                <a:sym typeface="Times New Roman"/>
              </a:rPr>
              <a:t>Examples</a:t>
            </a:r>
            <a:endParaRPr sz="1200" b="0" i="0" u="none" strike="noStrike" cap="none">
              <a:solidFill>
                <a:schemeClr val="dk1"/>
              </a:solidFill>
              <a:latin typeface="Times New Roman"/>
              <a:ea typeface="Times New Roman"/>
              <a:cs typeface="Times New Roman"/>
              <a:sym typeface="Times New Roman"/>
            </a:endParaRPr>
          </a:p>
        </p:txBody>
      </p:sp>
      <p:sp>
        <p:nvSpPr>
          <p:cNvPr id="359" name="Google Shape;359;p48"/>
          <p:cNvSpPr txBox="1"/>
          <p:nvPr/>
        </p:nvSpPr>
        <p:spPr>
          <a:xfrm>
            <a:off x="7784350" y="2403279"/>
            <a:ext cx="13671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1" i="0" u="none" strike="noStrike" cap="none">
                <a:solidFill>
                  <a:srgbClr val="3C78D8"/>
                </a:solidFill>
                <a:latin typeface="Times New Roman"/>
                <a:ea typeface="Times New Roman"/>
                <a:cs typeface="Times New Roman"/>
                <a:sym typeface="Times New Roman"/>
              </a:rPr>
              <a:t>Step-by-step Answer</a:t>
            </a:r>
            <a:endParaRPr sz="1200" b="0" i="0" u="none" strike="noStrike" cap="none">
              <a:solidFill>
                <a:schemeClr val="dk1"/>
              </a:solidFill>
              <a:latin typeface="Times New Roman"/>
              <a:ea typeface="Times New Roman"/>
              <a:cs typeface="Times New Roman"/>
              <a:sym typeface="Times New Roman"/>
            </a:endParaRPr>
          </a:p>
        </p:txBody>
      </p:sp>
      <p:sp>
        <p:nvSpPr>
          <p:cNvPr id="360" name="Google Shape;360;p48"/>
          <p:cNvSpPr/>
          <p:nvPr/>
        </p:nvSpPr>
        <p:spPr>
          <a:xfrm>
            <a:off x="6470924" y="3056750"/>
            <a:ext cx="652779" cy="208279"/>
          </a:xfrm>
          <a:custGeom>
            <a:avLst/>
            <a:gdLst/>
            <a:ahLst/>
            <a:cxnLst/>
            <a:rect l="l" t="t" r="r" b="b"/>
            <a:pathLst>
              <a:path w="652779" h="208279" extrusionOk="0">
                <a:moveTo>
                  <a:pt x="0" y="0"/>
                </a:moveTo>
                <a:lnTo>
                  <a:pt x="652499" y="0"/>
                </a:lnTo>
                <a:lnTo>
                  <a:pt x="652499" y="208199"/>
                </a:lnTo>
                <a:lnTo>
                  <a:pt x="0" y="208199"/>
                </a:lnTo>
                <a:lnTo>
                  <a:pt x="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1" name="Google Shape;361;p48"/>
          <p:cNvSpPr/>
          <p:nvPr/>
        </p:nvSpPr>
        <p:spPr>
          <a:xfrm>
            <a:off x="6470924" y="3056750"/>
            <a:ext cx="652779" cy="208279"/>
          </a:xfrm>
          <a:custGeom>
            <a:avLst/>
            <a:gdLst/>
            <a:ahLst/>
            <a:cxnLst/>
            <a:rect l="l" t="t" r="r" b="b"/>
            <a:pathLst>
              <a:path w="652779" h="208279" extrusionOk="0">
                <a:moveTo>
                  <a:pt x="0" y="0"/>
                </a:moveTo>
                <a:lnTo>
                  <a:pt x="652499" y="0"/>
                </a:lnTo>
                <a:lnTo>
                  <a:pt x="652499" y="208199"/>
                </a:lnTo>
                <a:lnTo>
                  <a:pt x="0" y="20819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2" name="Google Shape;362;p48"/>
          <p:cNvSpPr txBox="1"/>
          <p:nvPr/>
        </p:nvSpPr>
        <p:spPr>
          <a:xfrm>
            <a:off x="7750610" y="4113447"/>
            <a:ext cx="1420500" cy="1974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200"/>
              <a:buFont typeface="Arial"/>
              <a:buNone/>
            </a:pPr>
            <a:r>
              <a:rPr lang="zh-CN" sz="1200" b="1" i="0" u="none" strike="noStrike" cap="none">
                <a:solidFill>
                  <a:srgbClr val="3C78D8"/>
                </a:solidFill>
                <a:latin typeface="Times New Roman"/>
                <a:ea typeface="Times New Roman"/>
                <a:cs typeface="Times New Roman"/>
                <a:sym typeface="Times New Roman"/>
              </a:rPr>
              <a:t>Step-by-step Answer</a:t>
            </a:r>
            <a:endParaRPr sz="1200" b="0" i="0" u="none" strike="noStrike" cap="none">
              <a:solidFill>
                <a:schemeClr val="dk1"/>
              </a:solidFill>
              <a:latin typeface="Times New Roman"/>
              <a:ea typeface="Times New Roman"/>
              <a:cs typeface="Times New Roman"/>
              <a:sym typeface="Times New Roman"/>
            </a:endParaRPr>
          </a:p>
        </p:txBody>
      </p:sp>
      <p:sp>
        <p:nvSpPr>
          <p:cNvPr id="363" name="Google Shape;363;p48"/>
          <p:cNvSpPr/>
          <p:nvPr/>
        </p:nvSpPr>
        <p:spPr>
          <a:xfrm>
            <a:off x="5533825" y="755575"/>
            <a:ext cx="1152525" cy="262890"/>
          </a:xfrm>
          <a:custGeom>
            <a:avLst/>
            <a:gdLst/>
            <a:ahLst/>
            <a:cxnLst/>
            <a:rect l="l" t="t" r="r" b="b"/>
            <a:pathLst>
              <a:path w="1152525" h="262890" extrusionOk="0">
                <a:moveTo>
                  <a:pt x="0" y="0"/>
                </a:moveTo>
                <a:lnTo>
                  <a:pt x="1152299" y="0"/>
                </a:lnTo>
                <a:lnTo>
                  <a:pt x="1152299" y="262799"/>
                </a:lnTo>
                <a:lnTo>
                  <a:pt x="0" y="262799"/>
                </a:lnTo>
                <a:lnTo>
                  <a:pt x="0" y="0"/>
                </a:lnTo>
                <a:close/>
              </a:path>
            </a:pathLst>
          </a:custGeom>
          <a:noFill/>
          <a:ln w="3807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4" name="Google Shape;364;p48"/>
          <p:cNvSpPr/>
          <p:nvPr/>
        </p:nvSpPr>
        <p:spPr>
          <a:xfrm>
            <a:off x="5346524" y="3029449"/>
            <a:ext cx="1124585" cy="262889"/>
          </a:xfrm>
          <a:custGeom>
            <a:avLst/>
            <a:gdLst/>
            <a:ahLst/>
            <a:cxnLst/>
            <a:rect l="l" t="t" r="r" b="b"/>
            <a:pathLst>
              <a:path w="1124585" h="262889" extrusionOk="0">
                <a:moveTo>
                  <a:pt x="0" y="0"/>
                </a:moveTo>
                <a:lnTo>
                  <a:pt x="1124399" y="0"/>
                </a:lnTo>
                <a:lnTo>
                  <a:pt x="1124399" y="262799"/>
                </a:lnTo>
                <a:lnTo>
                  <a:pt x="0" y="262799"/>
                </a:lnTo>
                <a:lnTo>
                  <a:pt x="0" y="0"/>
                </a:lnTo>
                <a:close/>
              </a:path>
            </a:pathLst>
          </a:custGeom>
          <a:noFill/>
          <a:ln w="3807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5" name="Google Shape;365;p48"/>
          <p:cNvSpPr txBox="1"/>
          <p:nvPr/>
        </p:nvSpPr>
        <p:spPr>
          <a:xfrm>
            <a:off x="6658799" y="769254"/>
            <a:ext cx="2198400" cy="817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t>
            </a:r>
            <a:r>
              <a:rPr lang="zh-CN" sz="1200" b="0" i="0" u="none" strike="noStrike" cap="none">
                <a:solidFill>
                  <a:schemeClr val="dk1"/>
                </a:solidFill>
                <a:latin typeface="Times New Roman"/>
                <a:ea typeface="Times New Roman"/>
                <a:cs typeface="Times New Roman"/>
                <a:sym typeface="Times New Roman"/>
              </a:rPr>
              <a:t>Wei et al., 2022</a:t>
            </a:r>
            <a:r>
              <a:rPr lang="zh-CN"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35"/>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1228090" marR="0" lvl="0" indent="0" algn="l" rtl="0">
              <a:lnSpc>
                <a:spcPct val="100000"/>
              </a:lnSpc>
              <a:spcBef>
                <a:spcPts val="0"/>
              </a:spcBef>
              <a:spcAft>
                <a:spcPts val="0"/>
              </a:spcAft>
              <a:buClr>
                <a:srgbClr val="000000"/>
              </a:buClr>
              <a:buSzPts val="1200"/>
              <a:buFont typeface="Arial"/>
              <a:buNone/>
            </a:pPr>
            <a:r>
              <a:rPr lang="zh-CN" sz="1200" b="1" i="0" u="none" strike="noStrike" cap="none">
                <a:solidFill>
                  <a:srgbClr val="37761C"/>
                </a:solidFill>
                <a:latin typeface="Times New Roman"/>
                <a:ea typeface="Times New Roman"/>
                <a:cs typeface="Times New Roman"/>
                <a:sym typeface="Times New Roman"/>
              </a:rPr>
              <a:t>CoT Examples</a:t>
            </a:r>
            <a:endParaRPr sz="1200" b="0" i="0" u="none" strike="noStrike" cap="none">
              <a:solidFill>
                <a:schemeClr val="dk1"/>
              </a:solidFill>
              <a:latin typeface="Times New Roman"/>
              <a:ea typeface="Times New Roman"/>
              <a:cs typeface="Times New Roman"/>
              <a:sym typeface="Times New Roman"/>
            </a:endParaRPr>
          </a:p>
        </p:txBody>
      </p:sp>
      <p:sp>
        <p:nvSpPr>
          <p:cNvPr id="366" name="Google Shape;366;p48"/>
          <p:cNvSpPr txBox="1"/>
          <p:nvPr/>
        </p:nvSpPr>
        <p:spPr>
          <a:xfrm>
            <a:off x="6453725" y="3096379"/>
            <a:ext cx="13677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Arial"/>
                <a:ea typeface="Arial"/>
                <a:cs typeface="Arial"/>
                <a:sym typeface="Arial"/>
              </a:rPr>
              <a:t>（</a:t>
            </a:r>
            <a:r>
              <a:rPr lang="zh-CN" sz="1200" b="0" i="0" u="none" strike="noStrike" cap="none">
                <a:solidFill>
                  <a:schemeClr val="dk1"/>
                </a:solidFill>
                <a:latin typeface="Times New Roman"/>
                <a:ea typeface="Times New Roman"/>
                <a:cs typeface="Times New Roman"/>
                <a:sym typeface="Times New Roman"/>
              </a:rPr>
              <a:t>KoJima et al., 2022</a:t>
            </a:r>
            <a:r>
              <a:rPr lang="zh-CN"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p:txBody>
      </p:sp>
      <p:sp>
        <p:nvSpPr>
          <p:cNvPr id="367" name="Google Shape;367;p48"/>
          <p:cNvSpPr/>
          <p:nvPr/>
        </p:nvSpPr>
        <p:spPr>
          <a:xfrm>
            <a:off x="4470000" y="1491675"/>
            <a:ext cx="3218179" cy="262889"/>
          </a:xfrm>
          <a:custGeom>
            <a:avLst/>
            <a:gdLst/>
            <a:ahLst/>
            <a:cxnLst/>
            <a:rect l="l" t="t" r="r" b="b"/>
            <a:pathLst>
              <a:path w="3218179" h="262889" extrusionOk="0">
                <a:moveTo>
                  <a:pt x="0" y="0"/>
                </a:moveTo>
                <a:lnTo>
                  <a:pt x="3217799" y="0"/>
                </a:lnTo>
                <a:lnTo>
                  <a:pt x="3217799" y="262799"/>
                </a:lnTo>
                <a:lnTo>
                  <a:pt x="0" y="262799"/>
                </a:lnTo>
                <a:lnTo>
                  <a:pt x="0" y="0"/>
                </a:lnTo>
                <a:close/>
              </a:path>
            </a:pathLst>
          </a:custGeom>
          <a:solidFill>
            <a:srgbClr val="FF0000">
              <a:alpha val="1137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8" name="Google Shape;368;p48"/>
          <p:cNvSpPr txBox="1">
            <a:spLocks noGrp="1"/>
          </p:cNvSpPr>
          <p:nvPr>
            <p:ph type="sldNum" idx="12"/>
          </p:nvPr>
        </p:nvSpPr>
        <p:spPr>
          <a:xfrm>
            <a:off x="8706908" y="4776451"/>
            <a:ext cx="266700" cy="154500"/>
          </a:xfrm>
          <a:prstGeom prst="rect">
            <a:avLst/>
          </a:prstGeom>
          <a:noFill/>
          <a:ln>
            <a:noFill/>
          </a:ln>
        </p:spPr>
        <p:txBody>
          <a:bodyPr spcFirstLastPara="1" wrap="square" lIns="0" tIns="625" rIns="0" bIns="0" anchor="t" anchorCtr="0">
            <a:spAutoFit/>
          </a:bodyPr>
          <a:lstStyle/>
          <a:p>
            <a:pPr marL="25400" lvl="0" indent="0" algn="l" rtl="0">
              <a:lnSpc>
                <a:spcPct val="100000"/>
              </a:lnSpc>
              <a:spcBef>
                <a:spcPts val="0"/>
              </a:spcBef>
              <a:spcAft>
                <a:spcPts val="0"/>
              </a:spcAft>
              <a:buSzPts val="1000"/>
              <a:buNone/>
            </a:pPr>
            <a:fld id="{00000000-1234-1234-1234-123412341234}" type="slidenum">
              <a:rPr lang="en-US" altLang="zh-CN"/>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9"/>
          <p:cNvSpPr txBox="1">
            <a:spLocks noGrp="1"/>
          </p:cNvSpPr>
          <p:nvPr>
            <p:ph type="title"/>
          </p:nvPr>
        </p:nvSpPr>
        <p:spPr>
          <a:xfrm>
            <a:off x="387900" y="5212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CoT on BIG-Bench: Benchmark </a:t>
            </a:r>
            <a:endParaRPr>
              <a:latin typeface="Arial"/>
              <a:ea typeface="Arial"/>
              <a:cs typeface="Arial"/>
              <a:sym typeface="Arial"/>
            </a:endParaRPr>
          </a:p>
        </p:txBody>
      </p:sp>
      <p:sp>
        <p:nvSpPr>
          <p:cNvPr id="374" name="Google Shape;374;p49"/>
          <p:cNvSpPr txBox="1">
            <a:spLocks noGrp="1"/>
          </p:cNvSpPr>
          <p:nvPr>
            <p:ph type="body" idx="1"/>
          </p:nvPr>
        </p:nvSpPr>
        <p:spPr>
          <a:xfrm>
            <a:off x="377025" y="1301850"/>
            <a:ext cx="2216400" cy="1559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800"/>
              <a:buFont typeface="Arial"/>
              <a:buNone/>
            </a:pPr>
            <a:r>
              <a:rPr lang="zh-CN" sz="1200" b="1" u="sng">
                <a:latin typeface="Arial"/>
                <a:ea typeface="Arial"/>
                <a:cs typeface="Arial"/>
                <a:sym typeface="Arial"/>
              </a:rPr>
              <a:t>BIG-Bench Hard (BBH):</a:t>
            </a:r>
            <a:endParaRPr sz="1200" b="1" u="sng">
              <a:latin typeface="Arial"/>
              <a:ea typeface="Arial"/>
              <a:cs typeface="Arial"/>
              <a:sym typeface="Arial"/>
            </a:endParaRPr>
          </a:p>
          <a:p>
            <a:pPr marL="146304" lvl="0" indent="-146304" algn="l" rtl="0">
              <a:lnSpc>
                <a:spcPct val="115000"/>
              </a:lnSpc>
              <a:spcBef>
                <a:spcPts val="0"/>
              </a:spcBef>
              <a:spcAft>
                <a:spcPts val="0"/>
              </a:spcAft>
              <a:buClr>
                <a:schemeClr val="dk1"/>
              </a:buClr>
              <a:buSzPts val="1200"/>
              <a:buFont typeface="Arial"/>
              <a:buChar char="●"/>
            </a:pPr>
            <a:r>
              <a:rPr lang="zh-CN" sz="1200">
                <a:latin typeface="Arial"/>
                <a:ea typeface="Arial"/>
                <a:cs typeface="Arial"/>
                <a:sym typeface="Arial"/>
              </a:rPr>
              <a:t>23 challenging tasks from BIG-Bench benchmark where no model beats avg. human rater</a:t>
            </a:r>
            <a:endParaRPr sz="1200">
              <a:latin typeface="Arial"/>
              <a:ea typeface="Arial"/>
              <a:cs typeface="Arial"/>
              <a:sym typeface="Arial"/>
            </a:endParaRPr>
          </a:p>
        </p:txBody>
      </p:sp>
      <p:pic>
        <p:nvPicPr>
          <p:cNvPr id="375" name="Google Shape;375;p49"/>
          <p:cNvPicPr preferRelativeResize="0"/>
          <p:nvPr/>
        </p:nvPicPr>
        <p:blipFill rotWithShape="1">
          <a:blip r:embed="rId3">
            <a:alphaModFix/>
          </a:blip>
          <a:srcRect/>
          <a:stretch/>
        </p:blipFill>
        <p:spPr>
          <a:xfrm>
            <a:off x="2593425" y="1054799"/>
            <a:ext cx="4075749" cy="3794975"/>
          </a:xfrm>
          <a:prstGeom prst="rect">
            <a:avLst/>
          </a:prstGeom>
          <a:noFill/>
          <a:ln w="19050" cap="flat" cmpd="sng">
            <a:solidFill>
              <a:schemeClr val="dk2"/>
            </a:solidFill>
            <a:prstDash val="solid"/>
            <a:round/>
            <a:headEnd type="none" w="sm" len="sm"/>
            <a:tailEnd type="none" w="sm" len="sm"/>
          </a:ln>
        </p:spPr>
      </p:pic>
      <p:pic>
        <p:nvPicPr>
          <p:cNvPr id="376" name="Google Shape;376;p49"/>
          <p:cNvPicPr preferRelativeResize="0"/>
          <p:nvPr/>
        </p:nvPicPr>
        <p:blipFill rotWithShape="1">
          <a:blip r:embed="rId4">
            <a:alphaModFix/>
          </a:blip>
          <a:srcRect/>
          <a:stretch/>
        </p:blipFill>
        <p:spPr>
          <a:xfrm>
            <a:off x="3012000" y="1089800"/>
            <a:ext cx="3702624" cy="3986451"/>
          </a:xfrm>
          <a:prstGeom prst="rect">
            <a:avLst/>
          </a:prstGeom>
          <a:noFill/>
          <a:ln w="19050" cap="flat" cmpd="sng">
            <a:solidFill>
              <a:schemeClr val="dk2"/>
            </a:solidFill>
            <a:prstDash val="solid"/>
            <a:round/>
            <a:headEnd type="none" w="sm" len="sm"/>
            <a:tailEnd type="none" w="sm" len="sm"/>
          </a:ln>
        </p:spPr>
      </p:pic>
      <p:pic>
        <p:nvPicPr>
          <p:cNvPr id="377" name="Google Shape;377;p49"/>
          <p:cNvPicPr preferRelativeResize="0"/>
          <p:nvPr/>
        </p:nvPicPr>
        <p:blipFill rotWithShape="1">
          <a:blip r:embed="rId5">
            <a:alphaModFix/>
          </a:blip>
          <a:srcRect/>
          <a:stretch/>
        </p:blipFill>
        <p:spPr>
          <a:xfrm>
            <a:off x="3442026" y="1131000"/>
            <a:ext cx="3702625" cy="3938508"/>
          </a:xfrm>
          <a:prstGeom prst="rect">
            <a:avLst/>
          </a:prstGeom>
          <a:noFill/>
          <a:ln w="19050" cap="flat" cmpd="sng">
            <a:solidFill>
              <a:schemeClr val="dk2"/>
            </a:solidFill>
            <a:prstDash val="solid"/>
            <a:round/>
            <a:headEnd type="none" w="sm" len="sm"/>
            <a:tailEnd type="none" w="sm" len="sm"/>
          </a:ln>
        </p:spPr>
      </p:pic>
      <p:sp>
        <p:nvSpPr>
          <p:cNvPr id="378" name="Google Shape;378;p49"/>
          <p:cNvSpPr txBox="1"/>
          <p:nvPr/>
        </p:nvSpPr>
        <p:spPr>
          <a:xfrm>
            <a:off x="377025" y="2531400"/>
            <a:ext cx="2069100" cy="416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hlink"/>
              </a:buClr>
              <a:buSzPts val="700"/>
              <a:buFont typeface="Arial"/>
              <a:buNone/>
            </a:pPr>
            <a:r>
              <a:rPr lang="zh-CN" sz="700" b="0" i="0" u="sng" strike="noStrike" cap="none">
                <a:solidFill>
                  <a:schemeClr val="hlink"/>
                </a:solidFill>
                <a:latin typeface="Arial"/>
                <a:ea typeface="Arial"/>
                <a:cs typeface="Arial"/>
                <a:sym typeface="Arial"/>
                <a:hlinkClick r:id="rId6"/>
              </a:rPr>
              <a:t>Challenging BIG-Bench tasks and whether chain-of-thought can solve them (2022).</a:t>
            </a:r>
            <a:endParaRPr sz="7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1000"/>
                                        <p:tgtEl>
                                          <p:spTgt spid="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7"/>
                                        </p:tgtEl>
                                        <p:attrNameLst>
                                          <p:attrName>style.visibility</p:attrName>
                                        </p:attrNameLst>
                                      </p:cBhvr>
                                      <p:to>
                                        <p:strVal val="visible"/>
                                      </p:to>
                                    </p:set>
                                    <p:animEffect transition="in" filter="fade">
                                      <p:cBhvr>
                                        <p:cTn id="12" dur="10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0"/>
          <p:cNvSpPr txBox="1">
            <a:spLocks noGrp="1"/>
          </p:cNvSpPr>
          <p:nvPr>
            <p:ph type="title"/>
          </p:nvPr>
        </p:nvSpPr>
        <p:spPr>
          <a:xfrm>
            <a:off x="387900" y="5212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5071"/>
              <a:buFont typeface="Arial"/>
              <a:buNone/>
            </a:pPr>
            <a:r>
              <a:rPr lang="zh-CN">
                <a:latin typeface="Arial"/>
                <a:ea typeface="Arial"/>
                <a:cs typeface="Arial"/>
                <a:sym typeface="Arial"/>
              </a:rPr>
              <a:t>CoT on BIG-Bench: Result summary</a:t>
            </a:r>
            <a:endParaRPr>
              <a:latin typeface="Arial"/>
              <a:ea typeface="Arial"/>
              <a:cs typeface="Arial"/>
              <a:sym typeface="Arial"/>
            </a:endParaRPr>
          </a:p>
          <a:p>
            <a:pPr marL="0" lvl="0" indent="0" algn="l" rtl="0">
              <a:lnSpc>
                <a:spcPct val="100000"/>
              </a:lnSpc>
              <a:spcBef>
                <a:spcPts val="0"/>
              </a:spcBef>
              <a:spcAft>
                <a:spcPts val="0"/>
              </a:spcAft>
              <a:buClr>
                <a:schemeClr val="dk1"/>
              </a:buClr>
              <a:buSzPct val="100000"/>
              <a:buFont typeface="Times New Roman"/>
              <a:buNone/>
            </a:pPr>
            <a:endParaRPr>
              <a:latin typeface="Arial"/>
              <a:ea typeface="Arial"/>
              <a:cs typeface="Arial"/>
              <a:sym typeface="Arial"/>
            </a:endParaRPr>
          </a:p>
        </p:txBody>
      </p:sp>
      <p:grpSp>
        <p:nvGrpSpPr>
          <p:cNvPr id="384" name="Google Shape;384;p50"/>
          <p:cNvGrpSpPr/>
          <p:nvPr/>
        </p:nvGrpSpPr>
        <p:grpSpPr>
          <a:xfrm>
            <a:off x="874429" y="1137021"/>
            <a:ext cx="3876693" cy="1909921"/>
            <a:chOff x="4942125" y="1613625"/>
            <a:chExt cx="3272576" cy="1563075"/>
          </a:xfrm>
        </p:grpSpPr>
        <p:pic>
          <p:nvPicPr>
            <p:cNvPr id="385" name="Google Shape;385;p50"/>
            <p:cNvPicPr preferRelativeResize="0"/>
            <p:nvPr/>
          </p:nvPicPr>
          <p:blipFill rotWithShape="1">
            <a:blip r:embed="rId3">
              <a:alphaModFix/>
            </a:blip>
            <a:srcRect l="78563" b="60727"/>
            <a:stretch/>
          </p:blipFill>
          <p:spPr>
            <a:xfrm>
              <a:off x="7218525" y="1613625"/>
              <a:ext cx="996176" cy="977400"/>
            </a:xfrm>
            <a:prstGeom prst="rect">
              <a:avLst/>
            </a:prstGeom>
            <a:noFill/>
            <a:ln>
              <a:noFill/>
            </a:ln>
          </p:spPr>
        </p:pic>
        <p:pic>
          <p:nvPicPr>
            <p:cNvPr id="386" name="Google Shape;386;p50"/>
            <p:cNvPicPr preferRelativeResize="0"/>
            <p:nvPr/>
          </p:nvPicPr>
          <p:blipFill rotWithShape="1">
            <a:blip r:embed="rId3">
              <a:alphaModFix/>
            </a:blip>
            <a:srcRect r="51016" b="61501"/>
            <a:stretch/>
          </p:blipFill>
          <p:spPr>
            <a:xfrm>
              <a:off x="4942125" y="1613625"/>
              <a:ext cx="2276400" cy="958125"/>
            </a:xfrm>
            <a:prstGeom prst="rect">
              <a:avLst/>
            </a:prstGeom>
            <a:noFill/>
            <a:ln>
              <a:noFill/>
            </a:ln>
          </p:spPr>
        </p:pic>
        <p:pic>
          <p:nvPicPr>
            <p:cNvPr id="387" name="Google Shape;387;p50"/>
            <p:cNvPicPr preferRelativeResize="0"/>
            <p:nvPr/>
          </p:nvPicPr>
          <p:blipFill rotWithShape="1">
            <a:blip r:embed="rId3">
              <a:alphaModFix/>
            </a:blip>
            <a:srcRect t="76988" r="51016"/>
            <a:stretch/>
          </p:blipFill>
          <p:spPr>
            <a:xfrm>
              <a:off x="4942125" y="2604000"/>
              <a:ext cx="2276400" cy="572699"/>
            </a:xfrm>
            <a:prstGeom prst="rect">
              <a:avLst/>
            </a:prstGeom>
            <a:noFill/>
            <a:ln>
              <a:noFill/>
            </a:ln>
          </p:spPr>
        </p:pic>
        <p:pic>
          <p:nvPicPr>
            <p:cNvPr id="388" name="Google Shape;388;p50"/>
            <p:cNvPicPr preferRelativeResize="0"/>
            <p:nvPr/>
          </p:nvPicPr>
          <p:blipFill rotWithShape="1">
            <a:blip r:embed="rId3">
              <a:alphaModFix/>
            </a:blip>
            <a:srcRect l="78563" t="80520"/>
            <a:stretch/>
          </p:blipFill>
          <p:spPr>
            <a:xfrm>
              <a:off x="7218525" y="2691900"/>
              <a:ext cx="996176" cy="484800"/>
            </a:xfrm>
            <a:prstGeom prst="rect">
              <a:avLst/>
            </a:prstGeom>
            <a:noFill/>
            <a:ln>
              <a:noFill/>
            </a:ln>
          </p:spPr>
        </p:pic>
      </p:grpSp>
      <p:sp>
        <p:nvSpPr>
          <p:cNvPr id="389" name="Google Shape;389;p50"/>
          <p:cNvSpPr txBox="1">
            <a:spLocks noGrp="1"/>
          </p:cNvSpPr>
          <p:nvPr>
            <p:ph type="body" idx="1"/>
          </p:nvPr>
        </p:nvSpPr>
        <p:spPr>
          <a:xfrm>
            <a:off x="5487650" y="2359950"/>
            <a:ext cx="3292800" cy="663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rgbClr val="1155CC"/>
              </a:buClr>
              <a:buSzPts val="1800"/>
              <a:buFont typeface="Arial"/>
              <a:buNone/>
            </a:pPr>
            <a:r>
              <a:rPr lang="zh-CN" sz="1200">
                <a:solidFill>
                  <a:srgbClr val="1155CC"/>
                </a:solidFill>
                <a:latin typeface="Arial"/>
                <a:ea typeface="Arial"/>
                <a:cs typeface="Arial"/>
                <a:sym typeface="Arial"/>
              </a:rPr>
              <a:t>Detail: better formatting (options, task description) already beats prior best</a:t>
            </a:r>
            <a:endParaRPr sz="1200">
              <a:solidFill>
                <a:srgbClr val="1155CC"/>
              </a:solidFill>
              <a:latin typeface="Arial"/>
              <a:ea typeface="Arial"/>
              <a:cs typeface="Arial"/>
              <a:sym typeface="Arial"/>
            </a:endParaRPr>
          </a:p>
        </p:txBody>
      </p:sp>
      <p:sp>
        <p:nvSpPr>
          <p:cNvPr id="390" name="Google Shape;390;p50"/>
          <p:cNvSpPr txBox="1"/>
          <p:nvPr/>
        </p:nvSpPr>
        <p:spPr>
          <a:xfrm>
            <a:off x="5459925" y="3288625"/>
            <a:ext cx="3000000" cy="79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1155CC"/>
              </a:buClr>
              <a:buSzPts val="1200"/>
              <a:buFont typeface="Arial"/>
              <a:buNone/>
            </a:pPr>
            <a:r>
              <a:rPr lang="zh-CN" sz="1200" b="0" i="0" u="none" strike="noStrike" cap="none">
                <a:solidFill>
                  <a:srgbClr val="1155CC"/>
                </a:solidFill>
                <a:latin typeface="Arial"/>
                <a:ea typeface="Arial"/>
                <a:cs typeface="Arial"/>
                <a:sym typeface="Arial"/>
              </a:rPr>
              <a:t>CoT prompting improves by performance by +16.7%, passes avg. human on majority of tasks</a:t>
            </a:r>
            <a:endParaRPr sz="1800" b="0" i="0" u="none" strike="noStrike" cap="none">
              <a:solidFill>
                <a:srgbClr val="1155CC"/>
              </a:solidFill>
              <a:latin typeface="Calibri"/>
              <a:ea typeface="Calibri"/>
              <a:cs typeface="Calibri"/>
              <a:sym typeface="Calibri"/>
            </a:endParaRPr>
          </a:p>
        </p:txBody>
      </p:sp>
      <p:sp>
        <p:nvSpPr>
          <p:cNvPr id="391" name="Google Shape;391;p50"/>
          <p:cNvSpPr txBox="1">
            <a:spLocks noGrp="1"/>
          </p:cNvSpPr>
          <p:nvPr>
            <p:ph type="body" idx="1"/>
          </p:nvPr>
        </p:nvSpPr>
        <p:spPr>
          <a:xfrm>
            <a:off x="5487650" y="1964400"/>
            <a:ext cx="3714300" cy="397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rgbClr val="1155CC"/>
              </a:buClr>
              <a:buSzPts val="1800"/>
              <a:buFont typeface="Arial"/>
              <a:buNone/>
            </a:pPr>
            <a:r>
              <a:rPr lang="zh-CN" sz="1200">
                <a:solidFill>
                  <a:srgbClr val="1155CC"/>
                </a:solidFill>
                <a:latin typeface="Arial"/>
                <a:ea typeface="Arial"/>
                <a:cs typeface="Arial"/>
                <a:sym typeface="Arial"/>
              </a:rPr>
              <a:t>Model much lower than average human rater</a:t>
            </a:r>
            <a:endParaRPr sz="1200">
              <a:solidFill>
                <a:srgbClr val="1155CC"/>
              </a:solidFill>
              <a:latin typeface="Arial"/>
              <a:ea typeface="Arial"/>
              <a:cs typeface="Arial"/>
              <a:sym typeface="Arial"/>
            </a:endParaRPr>
          </a:p>
        </p:txBody>
      </p:sp>
      <p:cxnSp>
        <p:nvCxnSpPr>
          <p:cNvPr id="392" name="Google Shape;392;p50"/>
          <p:cNvCxnSpPr>
            <a:stCxn id="391" idx="1"/>
          </p:cNvCxnSpPr>
          <p:nvPr/>
        </p:nvCxnSpPr>
        <p:spPr>
          <a:xfrm flipH="1">
            <a:off x="4458050" y="2163300"/>
            <a:ext cx="1029600" cy="2400"/>
          </a:xfrm>
          <a:prstGeom prst="straightConnector1">
            <a:avLst/>
          </a:prstGeom>
          <a:noFill/>
          <a:ln w="9525" cap="flat" cmpd="sng">
            <a:solidFill>
              <a:srgbClr val="1155CC"/>
            </a:solidFill>
            <a:prstDash val="solid"/>
            <a:round/>
            <a:headEnd type="none" w="sm" len="sm"/>
            <a:tailEnd type="triangle" w="med" len="med"/>
          </a:ln>
        </p:spPr>
      </p:cxnSp>
      <p:cxnSp>
        <p:nvCxnSpPr>
          <p:cNvPr id="393" name="Google Shape;393;p50"/>
          <p:cNvCxnSpPr>
            <a:stCxn id="389" idx="1"/>
          </p:cNvCxnSpPr>
          <p:nvPr/>
        </p:nvCxnSpPr>
        <p:spPr>
          <a:xfrm rot="10800000">
            <a:off x="4458050" y="2687700"/>
            <a:ext cx="1029600" cy="3900"/>
          </a:xfrm>
          <a:prstGeom prst="straightConnector1">
            <a:avLst/>
          </a:prstGeom>
          <a:noFill/>
          <a:ln w="9525" cap="flat" cmpd="sng">
            <a:solidFill>
              <a:srgbClr val="1155CC"/>
            </a:solidFill>
            <a:prstDash val="solid"/>
            <a:round/>
            <a:headEnd type="none" w="sm" len="sm"/>
            <a:tailEnd type="triangle" w="med" len="med"/>
          </a:ln>
        </p:spPr>
      </p:cxnSp>
      <p:cxnSp>
        <p:nvCxnSpPr>
          <p:cNvPr id="394" name="Google Shape;394;p50"/>
          <p:cNvCxnSpPr>
            <a:stCxn id="390" idx="1"/>
          </p:cNvCxnSpPr>
          <p:nvPr/>
        </p:nvCxnSpPr>
        <p:spPr>
          <a:xfrm rot="10800000">
            <a:off x="3491325" y="2963575"/>
            <a:ext cx="1968600" cy="722100"/>
          </a:xfrm>
          <a:prstGeom prst="straightConnector1">
            <a:avLst/>
          </a:prstGeom>
          <a:noFill/>
          <a:ln w="9525" cap="flat" cmpd="sng">
            <a:solidFill>
              <a:srgbClr val="1155CC"/>
            </a:solidFill>
            <a:prstDash val="solid"/>
            <a:round/>
            <a:headEnd type="none" w="sm" len="sm"/>
            <a:tailEnd type="triangle" w="med" len="med"/>
          </a:ln>
        </p:spPr>
      </p:cxnSp>
      <p:cxnSp>
        <p:nvCxnSpPr>
          <p:cNvPr id="395" name="Google Shape;395;p50"/>
          <p:cNvCxnSpPr>
            <a:stCxn id="390" idx="1"/>
          </p:cNvCxnSpPr>
          <p:nvPr/>
        </p:nvCxnSpPr>
        <p:spPr>
          <a:xfrm rot="10800000">
            <a:off x="4333425" y="2924575"/>
            <a:ext cx="1126500" cy="761100"/>
          </a:xfrm>
          <a:prstGeom prst="straightConnector1">
            <a:avLst/>
          </a:prstGeom>
          <a:noFill/>
          <a:ln w="9525" cap="flat" cmpd="sng">
            <a:solidFill>
              <a:srgbClr val="1155CC"/>
            </a:solidFill>
            <a:prstDash val="solid"/>
            <a:round/>
            <a:headEnd type="none" w="sm" len="sm"/>
            <a:tailEnd type="triangle" w="med" len="med"/>
          </a:ln>
        </p:spPr>
      </p:cxnSp>
      <p:sp>
        <p:nvSpPr>
          <p:cNvPr id="396" name="Google Shape;396;p50"/>
          <p:cNvSpPr/>
          <p:nvPr/>
        </p:nvSpPr>
        <p:spPr>
          <a:xfrm>
            <a:off x="952350" y="2756350"/>
            <a:ext cx="3561600" cy="219900"/>
          </a:xfrm>
          <a:prstGeom prst="rect">
            <a:avLst/>
          </a:prstGeom>
          <a:no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97" name="Google Shape;397;p50"/>
          <p:cNvSpPr txBox="1"/>
          <p:nvPr/>
        </p:nvSpPr>
        <p:spPr>
          <a:xfrm>
            <a:off x="952350" y="2970750"/>
            <a:ext cx="2967900" cy="416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hlink"/>
              </a:buClr>
              <a:buSzPts val="700"/>
              <a:buFont typeface="Arial"/>
              <a:buNone/>
            </a:pPr>
            <a:r>
              <a:rPr lang="zh-CN" sz="700" b="0" i="0" u="sng" strike="noStrike" cap="none">
                <a:solidFill>
                  <a:schemeClr val="hlink"/>
                </a:solidFill>
                <a:latin typeface="Arial"/>
                <a:ea typeface="Arial"/>
                <a:cs typeface="Arial"/>
                <a:sym typeface="Arial"/>
                <a:hlinkClick r:id="rId4"/>
              </a:rPr>
              <a:t>Challenging BIG-Bench tasks and whether chain-of-thought can solve them (2023).</a:t>
            </a:r>
            <a:endParaRPr sz="7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animEffect transition="in" filter="fade">
                                      <p:cBhvr>
                                        <p:cTn id="7" dur="1000"/>
                                        <p:tgtEl>
                                          <p:spTgt spid="391"/>
                                        </p:tgtEl>
                                      </p:cBhvr>
                                    </p:animEffect>
                                  </p:childTnLst>
                                </p:cTn>
                              </p:par>
                              <p:par>
                                <p:cTn id="8" presetID="10" presetClass="entr" presetSubtype="0" fill="hold" nodeType="withEffect">
                                  <p:stCondLst>
                                    <p:cond delay="0"/>
                                  </p:stCondLst>
                                  <p:childTnLst>
                                    <p:set>
                                      <p:cBhvr>
                                        <p:cTn id="9" dur="1" fill="hold">
                                          <p:stCondLst>
                                            <p:cond delay="0"/>
                                          </p:stCondLst>
                                        </p:cTn>
                                        <p:tgtEl>
                                          <p:spTgt spid="392"/>
                                        </p:tgtEl>
                                        <p:attrNameLst>
                                          <p:attrName>style.visibility</p:attrName>
                                        </p:attrNameLst>
                                      </p:cBhvr>
                                      <p:to>
                                        <p:strVal val="visible"/>
                                      </p:to>
                                    </p:set>
                                    <p:animEffect transition="in" filter="fade">
                                      <p:cBhvr>
                                        <p:cTn id="10" dur="1000"/>
                                        <p:tgtEl>
                                          <p:spTgt spid="39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89"/>
                                        </p:tgtEl>
                                        <p:attrNameLst>
                                          <p:attrName>style.visibility</p:attrName>
                                        </p:attrNameLst>
                                      </p:cBhvr>
                                      <p:to>
                                        <p:strVal val="visible"/>
                                      </p:to>
                                    </p:set>
                                    <p:animEffect transition="in" filter="fade">
                                      <p:cBhvr>
                                        <p:cTn id="15" dur="1000"/>
                                        <p:tgtEl>
                                          <p:spTgt spid="389"/>
                                        </p:tgtEl>
                                      </p:cBhvr>
                                    </p:animEffect>
                                  </p:childTnLst>
                                </p:cTn>
                              </p:par>
                              <p:par>
                                <p:cTn id="16" presetID="10" presetClass="entr" presetSubtype="0" fill="hold" nodeType="withEffect">
                                  <p:stCondLst>
                                    <p:cond delay="0"/>
                                  </p:stCondLst>
                                  <p:childTnLst>
                                    <p:set>
                                      <p:cBhvr>
                                        <p:cTn id="17" dur="1" fill="hold">
                                          <p:stCondLst>
                                            <p:cond delay="0"/>
                                          </p:stCondLst>
                                        </p:cTn>
                                        <p:tgtEl>
                                          <p:spTgt spid="393"/>
                                        </p:tgtEl>
                                        <p:attrNameLst>
                                          <p:attrName>style.visibility</p:attrName>
                                        </p:attrNameLst>
                                      </p:cBhvr>
                                      <p:to>
                                        <p:strVal val="visible"/>
                                      </p:to>
                                    </p:set>
                                    <p:animEffect transition="in" filter="fade">
                                      <p:cBhvr>
                                        <p:cTn id="18" dur="1000"/>
                                        <p:tgtEl>
                                          <p:spTgt spid="39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4"/>
                                        </p:tgtEl>
                                        <p:attrNameLst>
                                          <p:attrName>style.visibility</p:attrName>
                                        </p:attrNameLst>
                                      </p:cBhvr>
                                      <p:to>
                                        <p:strVal val="visible"/>
                                      </p:to>
                                    </p:set>
                                    <p:animEffect transition="in" filter="fade">
                                      <p:cBhvr>
                                        <p:cTn id="23" dur="1000"/>
                                        <p:tgtEl>
                                          <p:spTgt spid="394"/>
                                        </p:tgtEl>
                                      </p:cBhvr>
                                    </p:animEffect>
                                  </p:childTnLst>
                                </p:cTn>
                              </p:par>
                              <p:par>
                                <p:cTn id="24" presetID="10" presetClass="entr" presetSubtype="0" fill="hold" nodeType="withEffect">
                                  <p:stCondLst>
                                    <p:cond delay="0"/>
                                  </p:stCondLst>
                                  <p:childTnLst>
                                    <p:set>
                                      <p:cBhvr>
                                        <p:cTn id="25" dur="1" fill="hold">
                                          <p:stCondLst>
                                            <p:cond delay="0"/>
                                          </p:stCondLst>
                                        </p:cTn>
                                        <p:tgtEl>
                                          <p:spTgt spid="395"/>
                                        </p:tgtEl>
                                        <p:attrNameLst>
                                          <p:attrName>style.visibility</p:attrName>
                                        </p:attrNameLst>
                                      </p:cBhvr>
                                      <p:to>
                                        <p:strVal val="visible"/>
                                      </p:to>
                                    </p:set>
                                    <p:animEffect transition="in" filter="fade">
                                      <p:cBhvr>
                                        <p:cTn id="26" dur="1000"/>
                                        <p:tgtEl>
                                          <p:spTgt spid="395"/>
                                        </p:tgtEl>
                                      </p:cBhvr>
                                    </p:animEffect>
                                  </p:childTnLst>
                                </p:cTn>
                              </p:par>
                              <p:par>
                                <p:cTn id="27" presetID="10" presetClass="entr" presetSubtype="0" fill="hold" nodeType="withEffect">
                                  <p:stCondLst>
                                    <p:cond delay="0"/>
                                  </p:stCondLst>
                                  <p:childTnLst>
                                    <p:set>
                                      <p:cBhvr>
                                        <p:cTn id="28" dur="1" fill="hold">
                                          <p:stCondLst>
                                            <p:cond delay="0"/>
                                          </p:stCondLst>
                                        </p:cTn>
                                        <p:tgtEl>
                                          <p:spTgt spid="396"/>
                                        </p:tgtEl>
                                        <p:attrNameLst>
                                          <p:attrName>style.visibility</p:attrName>
                                        </p:attrNameLst>
                                      </p:cBhvr>
                                      <p:to>
                                        <p:strVal val="visible"/>
                                      </p:to>
                                    </p:set>
                                    <p:animEffect transition="in" filter="fade">
                                      <p:cBhvr>
                                        <p:cTn id="29" dur="1000"/>
                                        <p:tgtEl>
                                          <p:spTgt spid="396"/>
                                        </p:tgtEl>
                                      </p:cBhvr>
                                    </p:animEffect>
                                  </p:childTnLst>
                                </p:cTn>
                              </p:par>
                              <p:par>
                                <p:cTn id="30" presetID="10" presetClass="entr" presetSubtype="0" fill="hold" nodeType="withEffect">
                                  <p:stCondLst>
                                    <p:cond delay="0"/>
                                  </p:stCondLst>
                                  <p:childTnLst>
                                    <p:set>
                                      <p:cBhvr>
                                        <p:cTn id="31" dur="1" fill="hold">
                                          <p:stCondLst>
                                            <p:cond delay="0"/>
                                          </p:stCondLst>
                                        </p:cTn>
                                        <p:tgtEl>
                                          <p:spTgt spid="390"/>
                                        </p:tgtEl>
                                        <p:attrNameLst>
                                          <p:attrName>style.visibility</p:attrName>
                                        </p:attrNameLst>
                                      </p:cBhvr>
                                      <p:to>
                                        <p:strVal val="visible"/>
                                      </p:to>
                                    </p:set>
                                    <p:animEffect transition="in" filter="fade">
                                      <p:cBhvr>
                                        <p:cTn id="32" dur="1000"/>
                                        <p:tgtEl>
                                          <p:spTgt spid="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51"/>
          <p:cNvPicPr preferRelativeResize="0"/>
          <p:nvPr/>
        </p:nvPicPr>
        <p:blipFill rotWithShape="1">
          <a:blip r:embed="rId3">
            <a:alphaModFix/>
          </a:blip>
          <a:srcRect r="67185"/>
          <a:stretch/>
        </p:blipFill>
        <p:spPr>
          <a:xfrm>
            <a:off x="503175" y="1818925"/>
            <a:ext cx="2157574" cy="2561125"/>
          </a:xfrm>
          <a:prstGeom prst="rect">
            <a:avLst/>
          </a:prstGeom>
          <a:noFill/>
          <a:ln>
            <a:noFill/>
          </a:ln>
        </p:spPr>
      </p:pic>
      <p:sp>
        <p:nvSpPr>
          <p:cNvPr id="403" name="Google Shape;403;p51"/>
          <p:cNvSpPr txBox="1">
            <a:spLocks noGrp="1"/>
          </p:cNvSpPr>
          <p:nvPr>
            <p:ph type="body" idx="1"/>
          </p:nvPr>
        </p:nvSpPr>
        <p:spPr>
          <a:xfrm>
            <a:off x="714775" y="1150375"/>
            <a:ext cx="4522500" cy="734400"/>
          </a:xfrm>
          <a:prstGeom prst="rect">
            <a:avLst/>
          </a:prstGeom>
          <a:noFill/>
          <a:ln>
            <a:noFill/>
          </a:ln>
        </p:spPr>
        <p:txBody>
          <a:bodyPr spcFirstLastPara="1" wrap="square" lIns="91425" tIns="91425" rIns="91425" bIns="91425" anchor="t" anchorCtr="0">
            <a:normAutofit/>
          </a:bodyPr>
          <a:lstStyle/>
          <a:p>
            <a:pPr marL="146304" lvl="0" indent="-146304" algn="l" rtl="0">
              <a:lnSpc>
                <a:spcPct val="115000"/>
              </a:lnSpc>
              <a:spcBef>
                <a:spcPts val="0"/>
              </a:spcBef>
              <a:spcAft>
                <a:spcPts val="0"/>
              </a:spcAft>
              <a:buClr>
                <a:schemeClr val="dk1"/>
              </a:buClr>
              <a:buSzPts val="1200"/>
              <a:buFont typeface="Arial"/>
              <a:buChar char="●"/>
            </a:pPr>
            <a:r>
              <a:rPr lang="zh-CN" sz="1200">
                <a:latin typeface="Arial"/>
                <a:ea typeface="Arial"/>
                <a:cs typeface="Arial"/>
                <a:sym typeface="Arial"/>
              </a:rPr>
              <a:t>CoT requires sufficient model scale for positive delta</a:t>
            </a:r>
            <a:endParaRPr sz="1200">
              <a:latin typeface="Arial"/>
              <a:ea typeface="Arial"/>
              <a:cs typeface="Arial"/>
              <a:sym typeface="Arial"/>
            </a:endParaRPr>
          </a:p>
        </p:txBody>
      </p:sp>
      <p:sp>
        <p:nvSpPr>
          <p:cNvPr id="404" name="Google Shape;404;p51"/>
          <p:cNvSpPr txBox="1">
            <a:spLocks noGrp="1"/>
          </p:cNvSpPr>
          <p:nvPr>
            <p:ph type="title"/>
          </p:nvPr>
        </p:nvSpPr>
        <p:spPr>
          <a:xfrm>
            <a:off x="387900" y="5212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CoT on BIG-Bench: Scaling</a:t>
            </a:r>
            <a:endParaRPr>
              <a:latin typeface="Arial"/>
              <a:ea typeface="Arial"/>
              <a:cs typeface="Arial"/>
              <a:sym typeface="Arial"/>
            </a:endParaRPr>
          </a:p>
          <a:p>
            <a:pPr marL="0" lvl="0" indent="0" algn="l" rtl="0">
              <a:lnSpc>
                <a:spcPct val="100000"/>
              </a:lnSpc>
              <a:spcBef>
                <a:spcPts val="0"/>
              </a:spcBef>
              <a:spcAft>
                <a:spcPts val="0"/>
              </a:spcAft>
              <a:buClr>
                <a:schemeClr val="dk1"/>
              </a:buClr>
              <a:buSzPct val="100000"/>
              <a:buFont typeface="Times New Roman"/>
              <a:buNone/>
            </a:pPr>
            <a:endParaRPr>
              <a:latin typeface="Arial"/>
              <a:ea typeface="Arial"/>
              <a:cs typeface="Arial"/>
              <a:sym typeface="Arial"/>
            </a:endParaRPr>
          </a:p>
        </p:txBody>
      </p:sp>
      <p:sp>
        <p:nvSpPr>
          <p:cNvPr id="405" name="Google Shape;405;p51"/>
          <p:cNvSpPr txBox="1"/>
          <p:nvPr/>
        </p:nvSpPr>
        <p:spPr>
          <a:xfrm>
            <a:off x="815425" y="1525075"/>
            <a:ext cx="2967900" cy="416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hlink"/>
              </a:buClr>
              <a:buSzPts val="700"/>
              <a:buFont typeface="Arial"/>
              <a:buNone/>
            </a:pPr>
            <a:r>
              <a:rPr lang="zh-CN" sz="700" b="0" i="0" u="sng" strike="noStrike" cap="none">
                <a:solidFill>
                  <a:schemeClr val="hlink"/>
                </a:solidFill>
                <a:latin typeface="Arial"/>
                <a:ea typeface="Arial"/>
                <a:cs typeface="Arial"/>
                <a:sym typeface="Arial"/>
                <a:hlinkClick r:id="rId4"/>
              </a:rPr>
              <a:t>Challenging BIG-Bench tasks and whether chain-of-thought can solve them (2023).</a:t>
            </a:r>
            <a:endParaRPr sz="700" b="0" i="0" u="none" strike="noStrike" cap="none">
              <a:solidFill>
                <a:schemeClr val="dk1"/>
              </a:solidFill>
              <a:latin typeface="Calibri"/>
              <a:ea typeface="Calibri"/>
              <a:cs typeface="Calibri"/>
              <a:sym typeface="Calibri"/>
            </a:endParaRPr>
          </a:p>
        </p:txBody>
      </p:sp>
      <p:pic>
        <p:nvPicPr>
          <p:cNvPr id="406" name="Google Shape;406;p51"/>
          <p:cNvPicPr preferRelativeResize="0"/>
          <p:nvPr/>
        </p:nvPicPr>
        <p:blipFill rotWithShape="1">
          <a:blip r:embed="rId3">
            <a:alphaModFix/>
          </a:blip>
          <a:srcRect l="33342"/>
          <a:stretch/>
        </p:blipFill>
        <p:spPr>
          <a:xfrm>
            <a:off x="2806775" y="1818925"/>
            <a:ext cx="3790075" cy="2214800"/>
          </a:xfrm>
          <a:prstGeom prst="rect">
            <a:avLst/>
          </a:prstGeom>
          <a:noFill/>
          <a:ln>
            <a:noFill/>
          </a:ln>
        </p:spPr>
      </p:pic>
      <p:sp>
        <p:nvSpPr>
          <p:cNvPr id="407" name="Google Shape;407;p51"/>
          <p:cNvSpPr/>
          <p:nvPr/>
        </p:nvSpPr>
        <p:spPr>
          <a:xfrm rot="-5400000">
            <a:off x="1317200" y="3392800"/>
            <a:ext cx="240900" cy="592800"/>
          </a:xfrm>
          <a:prstGeom prst="leftBrace">
            <a:avLst>
              <a:gd name="adj1" fmla="val 50000"/>
              <a:gd name="adj2" fmla="val 50000"/>
            </a:avLst>
          </a:prstGeom>
          <a:noFill/>
          <a:ln w="2857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08" name="Google Shape;408;p51"/>
          <p:cNvSpPr txBox="1">
            <a:spLocks noGrp="1"/>
          </p:cNvSpPr>
          <p:nvPr>
            <p:ph type="title"/>
          </p:nvPr>
        </p:nvSpPr>
        <p:spPr>
          <a:xfrm>
            <a:off x="926900" y="3834325"/>
            <a:ext cx="763800" cy="377100"/>
          </a:xfrm>
          <a:prstGeom prst="rect">
            <a:avLst/>
          </a:prstGeom>
          <a:solidFill>
            <a:schemeClr val="lt2"/>
          </a:solidFill>
          <a:ln w="19050"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FF9900"/>
              </a:buClr>
              <a:buSzPts val="990"/>
              <a:buFont typeface="Arial"/>
              <a:buNone/>
            </a:pPr>
            <a:r>
              <a:rPr lang="zh-CN" sz="700" b="1">
                <a:solidFill>
                  <a:srgbClr val="FF9900"/>
                </a:solidFill>
                <a:latin typeface="Arial"/>
                <a:ea typeface="Arial"/>
                <a:cs typeface="Arial"/>
                <a:sym typeface="Arial"/>
              </a:rPr>
              <a:t>CoT hurts performance</a:t>
            </a:r>
            <a:endParaRPr sz="700" b="1">
              <a:solidFill>
                <a:srgbClr val="FF9900"/>
              </a:solidFill>
              <a:latin typeface="Arial"/>
              <a:ea typeface="Arial"/>
              <a:cs typeface="Arial"/>
              <a:sym typeface="Arial"/>
            </a:endParaRPr>
          </a:p>
        </p:txBody>
      </p:sp>
      <p:sp>
        <p:nvSpPr>
          <p:cNvPr id="409" name="Google Shape;409;p51"/>
          <p:cNvSpPr/>
          <p:nvPr/>
        </p:nvSpPr>
        <p:spPr>
          <a:xfrm rot="-5400000">
            <a:off x="1935500" y="3367300"/>
            <a:ext cx="240900" cy="643800"/>
          </a:xfrm>
          <a:prstGeom prst="leftBrace">
            <a:avLst>
              <a:gd name="adj1" fmla="val 50000"/>
              <a:gd name="adj2" fmla="val 50000"/>
            </a:avLst>
          </a:prstGeom>
          <a:noFill/>
          <a:ln w="28575" cap="flat" cmpd="sng">
            <a:solidFill>
              <a:srgbClr val="34A8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10" name="Google Shape;410;p51"/>
          <p:cNvSpPr txBox="1">
            <a:spLocks noGrp="1"/>
          </p:cNvSpPr>
          <p:nvPr>
            <p:ph type="title"/>
          </p:nvPr>
        </p:nvSpPr>
        <p:spPr>
          <a:xfrm>
            <a:off x="1734050" y="3834325"/>
            <a:ext cx="763800" cy="377100"/>
          </a:xfrm>
          <a:prstGeom prst="rect">
            <a:avLst/>
          </a:prstGeom>
          <a:solidFill>
            <a:schemeClr val="lt2"/>
          </a:solidFill>
          <a:ln w="19050" cap="flat" cmpd="sng">
            <a:solidFill>
              <a:srgbClr val="34A853"/>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38761D"/>
              </a:buClr>
              <a:buSzPts val="990"/>
              <a:buFont typeface="Arial"/>
              <a:buNone/>
            </a:pPr>
            <a:r>
              <a:rPr lang="zh-CN" sz="700" b="1">
                <a:solidFill>
                  <a:srgbClr val="38761D"/>
                </a:solidFill>
                <a:latin typeface="Arial"/>
                <a:ea typeface="Arial"/>
                <a:cs typeface="Arial"/>
                <a:sym typeface="Arial"/>
              </a:rPr>
              <a:t>CoT helps performance</a:t>
            </a:r>
            <a:endParaRPr sz="700" b="1">
              <a:solidFill>
                <a:srgbClr val="38761D"/>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10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7"/>
                                        </p:tgtEl>
                                        <p:attrNameLst>
                                          <p:attrName>style.visibility</p:attrName>
                                        </p:attrNameLst>
                                      </p:cBhvr>
                                      <p:to>
                                        <p:strVal val="visible"/>
                                      </p:to>
                                    </p:set>
                                    <p:animEffect transition="in" filter="fade">
                                      <p:cBhvr>
                                        <p:cTn id="12" dur="1000"/>
                                        <p:tgtEl>
                                          <p:spTgt spid="407"/>
                                        </p:tgtEl>
                                      </p:cBhvr>
                                    </p:animEffect>
                                  </p:childTnLst>
                                </p:cTn>
                              </p:par>
                              <p:par>
                                <p:cTn id="13" presetID="10" presetClass="entr" presetSubtype="0" fill="hold" nodeType="withEffect">
                                  <p:stCondLst>
                                    <p:cond delay="0"/>
                                  </p:stCondLst>
                                  <p:childTnLst>
                                    <p:set>
                                      <p:cBhvr>
                                        <p:cTn id="14" dur="1" fill="hold">
                                          <p:stCondLst>
                                            <p:cond delay="0"/>
                                          </p:stCondLst>
                                        </p:cTn>
                                        <p:tgtEl>
                                          <p:spTgt spid="408"/>
                                        </p:tgtEl>
                                        <p:attrNameLst>
                                          <p:attrName>style.visibility</p:attrName>
                                        </p:attrNameLst>
                                      </p:cBhvr>
                                      <p:to>
                                        <p:strVal val="visible"/>
                                      </p:to>
                                    </p:set>
                                    <p:animEffect transition="in" filter="fade">
                                      <p:cBhvr>
                                        <p:cTn id="15" dur="1000"/>
                                        <p:tgtEl>
                                          <p:spTgt spid="40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10"/>
                                        </p:tgtEl>
                                        <p:attrNameLst>
                                          <p:attrName>style.visibility</p:attrName>
                                        </p:attrNameLst>
                                      </p:cBhvr>
                                      <p:to>
                                        <p:strVal val="visible"/>
                                      </p:to>
                                    </p:set>
                                    <p:animEffect transition="in" filter="fade">
                                      <p:cBhvr>
                                        <p:cTn id="20" dur="1000"/>
                                        <p:tgtEl>
                                          <p:spTgt spid="410"/>
                                        </p:tgtEl>
                                      </p:cBhvr>
                                    </p:animEffect>
                                  </p:childTnLst>
                                </p:cTn>
                              </p:par>
                              <p:par>
                                <p:cTn id="21" presetID="10" presetClass="entr" presetSubtype="0" fill="hold" nodeType="withEffect">
                                  <p:stCondLst>
                                    <p:cond delay="0"/>
                                  </p:stCondLst>
                                  <p:childTnLst>
                                    <p:set>
                                      <p:cBhvr>
                                        <p:cTn id="22" dur="1" fill="hold">
                                          <p:stCondLst>
                                            <p:cond delay="0"/>
                                          </p:stCondLst>
                                        </p:cTn>
                                        <p:tgtEl>
                                          <p:spTgt spid="409"/>
                                        </p:tgtEl>
                                        <p:attrNameLst>
                                          <p:attrName>style.visibility</p:attrName>
                                        </p:attrNameLst>
                                      </p:cBhvr>
                                      <p:to>
                                        <p:strVal val="visible"/>
                                      </p:to>
                                    </p:set>
                                    <p:animEffect transition="in" filter="fade">
                                      <p:cBhvr>
                                        <p:cTn id="23" dur="1000"/>
                                        <p:tgtEl>
                                          <p:spTgt spid="40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06"/>
                                        </p:tgtEl>
                                        <p:attrNameLst>
                                          <p:attrName>style.visibility</p:attrName>
                                        </p:attrNameLst>
                                      </p:cBhvr>
                                      <p:to>
                                        <p:strVal val="visible"/>
                                      </p:to>
                                    </p:set>
                                    <p:animEffect transition="in" filter="fade">
                                      <p:cBhvr>
                                        <p:cTn id="28" dur="10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2"/>
          <p:cNvSpPr txBox="1">
            <a:spLocks noGrp="1"/>
          </p:cNvSpPr>
          <p:nvPr>
            <p:ph type="body" idx="1"/>
          </p:nvPr>
        </p:nvSpPr>
        <p:spPr>
          <a:xfrm>
            <a:off x="714775" y="1226575"/>
            <a:ext cx="5326500" cy="650400"/>
          </a:xfrm>
          <a:prstGeom prst="rect">
            <a:avLst/>
          </a:prstGeom>
          <a:noFill/>
          <a:ln>
            <a:noFill/>
          </a:ln>
        </p:spPr>
        <p:txBody>
          <a:bodyPr spcFirstLastPara="1" wrap="square" lIns="91425" tIns="91425" rIns="91425" bIns="91425" anchor="t" anchorCtr="0">
            <a:normAutofit/>
          </a:bodyPr>
          <a:lstStyle/>
          <a:p>
            <a:pPr marL="146304" lvl="0" indent="-146304" algn="l" rtl="0">
              <a:lnSpc>
                <a:spcPct val="115000"/>
              </a:lnSpc>
              <a:spcBef>
                <a:spcPts val="0"/>
              </a:spcBef>
              <a:spcAft>
                <a:spcPts val="0"/>
              </a:spcAft>
              <a:buClr>
                <a:schemeClr val="dk1"/>
              </a:buClr>
              <a:buSzPts val="1297"/>
              <a:buFont typeface="Arial"/>
              <a:buChar char="●"/>
            </a:pPr>
            <a:r>
              <a:rPr lang="zh-CN" sz="1200">
                <a:latin typeface="Arial"/>
                <a:ea typeface="Arial"/>
                <a:cs typeface="Arial"/>
                <a:sym typeface="Arial"/>
              </a:rPr>
              <a:t>No-CoT performance is flat, i.e., hasn’t unlocked emergence (yet :))</a:t>
            </a:r>
            <a:endParaRPr sz="1200">
              <a:latin typeface="Arial"/>
              <a:ea typeface="Arial"/>
              <a:cs typeface="Arial"/>
              <a:sym typeface="Arial"/>
            </a:endParaRPr>
          </a:p>
          <a:p>
            <a:pPr marL="146304" lvl="0" indent="-146304" algn="l" rtl="0">
              <a:lnSpc>
                <a:spcPct val="115000"/>
              </a:lnSpc>
              <a:spcBef>
                <a:spcPts val="0"/>
              </a:spcBef>
              <a:spcAft>
                <a:spcPts val="0"/>
              </a:spcAft>
              <a:buClr>
                <a:schemeClr val="dk1"/>
              </a:buClr>
              <a:buSzPts val="1297"/>
              <a:buFont typeface="Arial"/>
              <a:buChar char="●"/>
            </a:pPr>
            <a:r>
              <a:rPr lang="zh-CN" sz="1200">
                <a:latin typeface="Arial"/>
                <a:ea typeface="Arial"/>
                <a:cs typeface="Arial"/>
                <a:sym typeface="Arial"/>
              </a:rPr>
              <a:t>CoT unlocks emergent performance</a:t>
            </a:r>
            <a:endParaRPr sz="1200">
              <a:latin typeface="Arial"/>
              <a:ea typeface="Arial"/>
              <a:cs typeface="Arial"/>
              <a:sym typeface="Arial"/>
            </a:endParaRPr>
          </a:p>
        </p:txBody>
      </p:sp>
      <p:sp>
        <p:nvSpPr>
          <p:cNvPr id="416" name="Google Shape;416;p52"/>
          <p:cNvSpPr txBox="1">
            <a:spLocks noGrp="1"/>
          </p:cNvSpPr>
          <p:nvPr>
            <p:ph type="title"/>
          </p:nvPr>
        </p:nvSpPr>
        <p:spPr>
          <a:xfrm>
            <a:off x="387900" y="5212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CoT on BIG-Bench: Emergence</a:t>
            </a:r>
            <a:endParaRPr>
              <a:latin typeface="Arial"/>
              <a:ea typeface="Arial"/>
              <a:cs typeface="Arial"/>
              <a:sym typeface="Arial"/>
            </a:endParaRPr>
          </a:p>
          <a:p>
            <a:pPr marL="0" lvl="0" indent="0" algn="l" rtl="0">
              <a:lnSpc>
                <a:spcPct val="100000"/>
              </a:lnSpc>
              <a:spcBef>
                <a:spcPts val="0"/>
              </a:spcBef>
              <a:spcAft>
                <a:spcPts val="0"/>
              </a:spcAft>
              <a:buClr>
                <a:schemeClr val="dk1"/>
              </a:buClr>
              <a:buSzPct val="100000"/>
              <a:buFont typeface="Times New Roman"/>
              <a:buNone/>
            </a:pPr>
            <a:endParaRPr>
              <a:latin typeface="Arial"/>
              <a:ea typeface="Arial"/>
              <a:cs typeface="Arial"/>
              <a:sym typeface="Arial"/>
            </a:endParaRPr>
          </a:p>
        </p:txBody>
      </p:sp>
      <p:pic>
        <p:nvPicPr>
          <p:cNvPr id="417" name="Google Shape;417;p52"/>
          <p:cNvPicPr preferRelativeResize="0"/>
          <p:nvPr/>
        </p:nvPicPr>
        <p:blipFill rotWithShape="1">
          <a:blip r:embed="rId3">
            <a:alphaModFix/>
          </a:blip>
          <a:srcRect r="68215"/>
          <a:stretch/>
        </p:blipFill>
        <p:spPr>
          <a:xfrm>
            <a:off x="2860550" y="1876975"/>
            <a:ext cx="1980725" cy="2284275"/>
          </a:xfrm>
          <a:prstGeom prst="rect">
            <a:avLst/>
          </a:prstGeom>
          <a:noFill/>
          <a:ln>
            <a:noFill/>
          </a:ln>
        </p:spPr>
      </p:pic>
      <p:pic>
        <p:nvPicPr>
          <p:cNvPr id="418" name="Google Shape;418;p52"/>
          <p:cNvPicPr preferRelativeResize="0"/>
          <p:nvPr/>
        </p:nvPicPr>
        <p:blipFill rotWithShape="1">
          <a:blip r:embed="rId4">
            <a:alphaModFix/>
          </a:blip>
          <a:srcRect/>
          <a:stretch/>
        </p:blipFill>
        <p:spPr>
          <a:xfrm>
            <a:off x="5006325" y="1620674"/>
            <a:ext cx="2437350" cy="3203162"/>
          </a:xfrm>
          <a:prstGeom prst="rect">
            <a:avLst/>
          </a:prstGeom>
          <a:noFill/>
          <a:ln w="9525" cap="flat" cmpd="sng">
            <a:solidFill>
              <a:schemeClr val="dk2"/>
            </a:solidFill>
            <a:prstDash val="solid"/>
            <a:round/>
            <a:headEnd type="none" w="sm" len="sm"/>
            <a:tailEnd type="none" w="sm" len="sm"/>
          </a:ln>
        </p:spPr>
      </p:pic>
      <p:pic>
        <p:nvPicPr>
          <p:cNvPr id="419" name="Google Shape;419;p52"/>
          <p:cNvPicPr preferRelativeResize="0"/>
          <p:nvPr/>
        </p:nvPicPr>
        <p:blipFill rotWithShape="1">
          <a:blip r:embed="rId3">
            <a:alphaModFix/>
          </a:blip>
          <a:srcRect l="68215"/>
          <a:stretch/>
        </p:blipFill>
        <p:spPr>
          <a:xfrm>
            <a:off x="714774" y="1876975"/>
            <a:ext cx="1980725" cy="2284275"/>
          </a:xfrm>
          <a:prstGeom prst="rect">
            <a:avLst/>
          </a:prstGeom>
          <a:noFill/>
          <a:ln>
            <a:noFill/>
          </a:ln>
        </p:spPr>
      </p:pic>
      <p:sp>
        <p:nvSpPr>
          <p:cNvPr id="420" name="Google Shape;420;p52"/>
          <p:cNvSpPr txBox="1"/>
          <p:nvPr/>
        </p:nvSpPr>
        <p:spPr>
          <a:xfrm>
            <a:off x="815425" y="4115875"/>
            <a:ext cx="2967900" cy="416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hlink"/>
              </a:buClr>
              <a:buSzPts val="700"/>
              <a:buFont typeface="Arial"/>
              <a:buNone/>
            </a:pPr>
            <a:r>
              <a:rPr lang="zh-CN" sz="700" b="0" i="0" u="sng" strike="noStrike" cap="none">
                <a:solidFill>
                  <a:schemeClr val="hlink"/>
                </a:solidFill>
                <a:latin typeface="Arial"/>
                <a:ea typeface="Arial"/>
                <a:cs typeface="Arial"/>
                <a:sym typeface="Arial"/>
                <a:hlinkClick r:id="rId5"/>
              </a:rPr>
              <a:t>Challenging BIG-Bench tasks and whether chain-of-thought can solve them (2023).</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grpSp>
        <p:nvGrpSpPr>
          <p:cNvPr id="435" name="Google Shape;435;p54"/>
          <p:cNvGrpSpPr/>
          <p:nvPr/>
        </p:nvGrpSpPr>
        <p:grpSpPr>
          <a:xfrm>
            <a:off x="5084174" y="1031775"/>
            <a:ext cx="3403076" cy="3287750"/>
            <a:chOff x="5084174" y="1031775"/>
            <a:chExt cx="3403076" cy="3287750"/>
          </a:xfrm>
        </p:grpSpPr>
        <p:pic>
          <p:nvPicPr>
            <p:cNvPr id="436" name="Google Shape;436;p54"/>
            <p:cNvPicPr preferRelativeResize="0"/>
            <p:nvPr/>
          </p:nvPicPr>
          <p:blipFill rotWithShape="1">
            <a:blip r:embed="rId3">
              <a:alphaModFix/>
            </a:blip>
            <a:srcRect/>
            <a:stretch/>
          </p:blipFill>
          <p:spPr>
            <a:xfrm>
              <a:off x="5084174" y="1177325"/>
              <a:ext cx="3377474" cy="2299974"/>
            </a:xfrm>
            <a:prstGeom prst="rect">
              <a:avLst/>
            </a:prstGeom>
            <a:noFill/>
            <a:ln>
              <a:noFill/>
            </a:ln>
          </p:spPr>
        </p:pic>
        <p:sp>
          <p:nvSpPr>
            <p:cNvPr id="437" name="Google Shape;437;p54"/>
            <p:cNvSpPr txBox="1"/>
            <p:nvPr/>
          </p:nvSpPr>
          <p:spPr>
            <a:xfrm>
              <a:off x="5187625" y="1031775"/>
              <a:ext cx="2967900" cy="292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hlink"/>
                </a:buClr>
                <a:buSzPts val="700"/>
                <a:buFont typeface="Arial"/>
                <a:buNone/>
              </a:pPr>
              <a:r>
                <a:rPr lang="zh-CN" sz="700" b="0" i="0" u="sng" strike="noStrike" cap="none">
                  <a:solidFill>
                    <a:schemeClr val="hlink"/>
                  </a:solidFill>
                  <a:latin typeface="Arial"/>
                  <a:ea typeface="Arial"/>
                  <a:cs typeface="Arial"/>
                  <a:sym typeface="Arial"/>
                  <a:hlinkClick r:id="rId4"/>
                </a:rPr>
                <a:t>Language models are multilingual chain-of-thought reasoners (2022).</a:t>
              </a:r>
              <a:endParaRPr sz="700" b="0" i="0" u="none" strike="noStrike" cap="none">
                <a:solidFill>
                  <a:schemeClr val="dk1"/>
                </a:solidFill>
                <a:latin typeface="Calibri"/>
                <a:ea typeface="Calibri"/>
                <a:cs typeface="Calibri"/>
                <a:sym typeface="Calibri"/>
              </a:endParaRPr>
            </a:p>
          </p:txBody>
        </p:sp>
        <p:sp>
          <p:nvSpPr>
            <p:cNvPr id="438" name="Google Shape;438;p54"/>
            <p:cNvSpPr txBox="1"/>
            <p:nvPr/>
          </p:nvSpPr>
          <p:spPr>
            <a:xfrm>
              <a:off x="5228050" y="3442325"/>
              <a:ext cx="32592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Underrepresented languages did surprisingly well, demonstrating the compositionality of the model</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900"/>
                <a:buFont typeface="Arial"/>
                <a:buNone/>
              </a:pPr>
              <a:r>
                <a:rPr lang="zh-CN" sz="900" b="0" i="0" u="none" strike="noStrike" cap="none">
                  <a:solidFill>
                    <a:schemeClr val="dk2"/>
                  </a:solidFill>
                  <a:latin typeface="Arial"/>
                  <a:ea typeface="Arial"/>
                  <a:cs typeface="Arial"/>
                  <a:sym typeface="Arial"/>
                </a:rPr>
                <a:t>(model is neither multilingual nor trained to do reasoning)</a:t>
              </a:r>
              <a:endParaRPr sz="900" b="0" i="0" u="none" strike="noStrike" cap="none">
                <a:solidFill>
                  <a:schemeClr val="dk2"/>
                </a:solidFill>
                <a:latin typeface="Arial"/>
                <a:ea typeface="Arial"/>
                <a:cs typeface="Arial"/>
                <a:sym typeface="Arial"/>
              </a:endParaRPr>
            </a:p>
          </p:txBody>
        </p:sp>
      </p:grpSp>
      <p:sp>
        <p:nvSpPr>
          <p:cNvPr id="439" name="Google Shape;439;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Multilingual chain-of-thought prompting</a:t>
            </a:r>
            <a:endParaRPr>
              <a:latin typeface="Arial"/>
              <a:ea typeface="Arial"/>
              <a:cs typeface="Arial"/>
              <a:sym typeface="Arial"/>
            </a:endParaRPr>
          </a:p>
        </p:txBody>
      </p:sp>
      <p:pic>
        <p:nvPicPr>
          <p:cNvPr id="440" name="Google Shape;440;p54"/>
          <p:cNvPicPr preferRelativeResize="0"/>
          <p:nvPr/>
        </p:nvPicPr>
        <p:blipFill rotWithShape="1">
          <a:blip r:embed="rId5">
            <a:alphaModFix/>
          </a:blip>
          <a:srcRect l="38340"/>
          <a:stretch/>
        </p:blipFill>
        <p:spPr>
          <a:xfrm>
            <a:off x="1676337" y="1101124"/>
            <a:ext cx="3053376" cy="2358275"/>
          </a:xfrm>
          <a:prstGeom prst="rect">
            <a:avLst/>
          </a:prstGeom>
          <a:noFill/>
          <a:ln>
            <a:noFill/>
          </a:ln>
        </p:spPr>
      </p:pic>
      <p:sp>
        <p:nvSpPr>
          <p:cNvPr id="441" name="Google Shape;441;p54"/>
          <p:cNvSpPr txBox="1">
            <a:spLocks noGrp="1"/>
          </p:cNvSpPr>
          <p:nvPr>
            <p:ph type="body" idx="1"/>
          </p:nvPr>
        </p:nvSpPr>
        <p:spPr>
          <a:xfrm>
            <a:off x="360600" y="2042250"/>
            <a:ext cx="1378200" cy="529500"/>
          </a:xfrm>
          <a:prstGeom prst="rect">
            <a:avLst/>
          </a:prstGeom>
          <a:solidFill>
            <a:schemeClr val="lt2"/>
          </a:solid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Arial"/>
              <a:buNone/>
            </a:pPr>
            <a:r>
              <a:rPr lang="zh-CN" sz="800">
                <a:latin typeface="Arial"/>
                <a:ea typeface="Arial"/>
                <a:cs typeface="Arial"/>
                <a:sym typeface="Arial"/>
              </a:rPr>
              <a:t>Input is highly improbable (Bengali is 0.01% of pre-training data)</a:t>
            </a:r>
            <a:endParaRPr sz="800">
              <a:latin typeface="Arial"/>
              <a:ea typeface="Arial"/>
              <a:cs typeface="Arial"/>
              <a:sym typeface="Arial"/>
            </a:endParaRPr>
          </a:p>
        </p:txBody>
      </p:sp>
      <p:sp>
        <p:nvSpPr>
          <p:cNvPr id="442" name="Google Shape;442;p54"/>
          <p:cNvSpPr txBox="1"/>
          <p:nvPr/>
        </p:nvSpPr>
        <p:spPr>
          <a:xfrm>
            <a:off x="429000" y="1318975"/>
            <a:ext cx="1309800" cy="554100"/>
          </a:xfrm>
          <a:prstGeom prst="rect">
            <a:avLst/>
          </a:prstGeom>
          <a:solidFill>
            <a:schemeClr val="lt2"/>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2"/>
              </a:buClr>
              <a:buSzPts val="800"/>
              <a:buFont typeface="Arial"/>
              <a:buNone/>
            </a:pPr>
            <a:r>
              <a:rPr lang="zh-CN" sz="800" b="0" i="0" u="none" strike="noStrike" cap="none">
                <a:solidFill>
                  <a:schemeClr val="dk2"/>
                </a:solidFill>
                <a:latin typeface="Arial"/>
                <a:ea typeface="Arial"/>
                <a:cs typeface="Arial"/>
                <a:sym typeface="Arial"/>
              </a:rPr>
              <a:t>Prompt the model with Bengali math problems and Bengali reasoning</a:t>
            </a:r>
            <a:endParaRPr sz="800" b="0" i="0" u="none" strike="noStrike" cap="none">
              <a:solidFill>
                <a:schemeClr val="dk1"/>
              </a:solidFill>
              <a:latin typeface="Calibri"/>
              <a:ea typeface="Calibri"/>
              <a:cs typeface="Calibri"/>
              <a:sym typeface="Calibri"/>
            </a:endParaRPr>
          </a:p>
        </p:txBody>
      </p:sp>
      <p:sp>
        <p:nvSpPr>
          <p:cNvPr id="443" name="Google Shape;443;p54"/>
          <p:cNvSpPr/>
          <p:nvPr/>
        </p:nvSpPr>
        <p:spPr>
          <a:xfrm>
            <a:off x="5758988" y="1878775"/>
            <a:ext cx="810600" cy="654900"/>
          </a:xfrm>
          <a:prstGeom prst="ellipse">
            <a:avLst/>
          </a:prstGeom>
          <a:noFill/>
          <a:ln w="2857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animEffect transition="in" filter="fade">
                                      <p:cBhvr>
                                        <p:cTn id="7" dur="1000"/>
                                        <p:tgtEl>
                                          <p:spTgt spid="443"/>
                                        </p:tgtEl>
                                      </p:cBhvr>
                                    </p:animEffect>
                                  </p:childTnLst>
                                </p:cTn>
                              </p:par>
                              <p:par>
                                <p:cTn id="8" presetID="10" presetClass="entr" presetSubtype="0" fill="hold" nodeType="withEffect">
                                  <p:stCondLst>
                                    <p:cond delay="0"/>
                                  </p:stCondLst>
                                  <p:childTnLst>
                                    <p:set>
                                      <p:cBhvr>
                                        <p:cTn id="9" dur="1" fill="hold">
                                          <p:stCondLst>
                                            <p:cond delay="0"/>
                                          </p:stCondLst>
                                        </p:cTn>
                                        <p:tgtEl>
                                          <p:spTgt spid="435"/>
                                        </p:tgtEl>
                                        <p:attrNameLst>
                                          <p:attrName>style.visibility</p:attrName>
                                        </p:attrNameLst>
                                      </p:cBhvr>
                                      <p:to>
                                        <p:strVal val="visible"/>
                                      </p:to>
                                    </p:set>
                                    <p:animEffect transition="in" filter="fade">
                                      <p:cBhvr>
                                        <p:cTn id="10" dur="1000"/>
                                        <p:tgtEl>
                                          <p:spTgt spid="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Chain-of-thought analysis</a:t>
            </a:r>
            <a:endParaRPr>
              <a:latin typeface="Arial"/>
              <a:ea typeface="Arial"/>
              <a:cs typeface="Arial"/>
              <a:sym typeface="Arial"/>
            </a:endParaRPr>
          </a:p>
        </p:txBody>
      </p:sp>
      <p:sp>
        <p:nvSpPr>
          <p:cNvPr id="482" name="Google Shape;482;p59"/>
          <p:cNvSpPr txBox="1"/>
          <p:nvPr/>
        </p:nvSpPr>
        <p:spPr>
          <a:xfrm>
            <a:off x="403325" y="1122800"/>
            <a:ext cx="40125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800"/>
              <a:buFont typeface="Arial"/>
              <a:buNone/>
            </a:pPr>
            <a:r>
              <a:rPr lang="zh-CN" sz="1800" b="1" i="0" u="sng" strike="noStrike" cap="none">
                <a:solidFill>
                  <a:schemeClr val="dk1"/>
                </a:solidFill>
                <a:latin typeface="Arial"/>
                <a:ea typeface="Arial"/>
                <a:cs typeface="Arial"/>
                <a:sym typeface="Arial"/>
              </a:rPr>
              <a:t>Benefits</a:t>
            </a:r>
            <a:endParaRPr sz="1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Arial"/>
              <a:ea typeface="Arial"/>
              <a:cs typeface="Arial"/>
              <a:sym typeface="Arial"/>
            </a:endParaRPr>
          </a:p>
        </p:txBody>
      </p:sp>
      <p:sp>
        <p:nvSpPr>
          <p:cNvPr id="483" name="Google Shape;483;p59"/>
          <p:cNvSpPr txBox="1"/>
          <p:nvPr/>
        </p:nvSpPr>
        <p:spPr>
          <a:xfrm>
            <a:off x="403325" y="2337475"/>
            <a:ext cx="37956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No fine-tuning needed.</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Single model, many tasks</a:t>
            </a:r>
            <a:endParaRPr sz="1200" b="0" i="0" u="none" strike="noStrike" cap="none">
              <a:solidFill>
                <a:schemeClr val="dk2"/>
              </a:solidFill>
              <a:latin typeface="Calibri"/>
              <a:ea typeface="Calibri"/>
              <a:cs typeface="Calibri"/>
              <a:sym typeface="Calibri"/>
            </a:endParaRPr>
          </a:p>
        </p:txBody>
      </p:sp>
      <p:sp>
        <p:nvSpPr>
          <p:cNvPr id="484" name="Google Shape;484;p59"/>
          <p:cNvSpPr txBox="1"/>
          <p:nvPr/>
        </p:nvSpPr>
        <p:spPr>
          <a:xfrm>
            <a:off x="403325" y="2802975"/>
            <a:ext cx="39291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Some interpretability (can read chain-of-thought)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Though it’s not necessarily how the model reasons</a:t>
            </a:r>
            <a:endParaRPr sz="1200" b="0" i="0" u="none" strike="noStrike" cap="none">
              <a:solidFill>
                <a:schemeClr val="dk2"/>
              </a:solidFill>
              <a:latin typeface="Calibri"/>
              <a:ea typeface="Calibri"/>
              <a:cs typeface="Calibri"/>
              <a:sym typeface="Calibri"/>
            </a:endParaRPr>
          </a:p>
        </p:txBody>
      </p:sp>
      <p:sp>
        <p:nvSpPr>
          <p:cNvPr id="485" name="Google Shape;485;p59"/>
          <p:cNvSpPr txBox="1"/>
          <p:nvPr/>
        </p:nvSpPr>
        <p:spPr>
          <a:xfrm>
            <a:off x="403325" y="1861275"/>
            <a:ext cx="38289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Works for any text (and image?) task</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Every task has a chain-of-thought.</a:t>
            </a:r>
            <a:endParaRPr sz="1800" b="0" i="0" u="none" strike="noStrike" cap="none">
              <a:solidFill>
                <a:schemeClr val="dk1"/>
              </a:solidFill>
              <a:latin typeface="Calibri"/>
              <a:ea typeface="Calibri"/>
              <a:cs typeface="Calibri"/>
              <a:sym typeface="Calibri"/>
            </a:endParaRPr>
          </a:p>
        </p:txBody>
      </p:sp>
      <p:sp>
        <p:nvSpPr>
          <p:cNvPr id="486" name="Google Shape;486;p59"/>
          <p:cNvSpPr txBox="1"/>
          <p:nvPr/>
        </p:nvSpPr>
        <p:spPr>
          <a:xfrm>
            <a:off x="403325" y="1404075"/>
            <a:ext cx="38289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Expands the range of abilities for language models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Multi-step reasoning can now be solved!</a:t>
            </a:r>
            <a:endParaRPr sz="1800" b="0" i="0" u="none" strike="noStrike" cap="none">
              <a:solidFill>
                <a:schemeClr val="dk1"/>
              </a:solidFill>
              <a:latin typeface="Calibri"/>
              <a:ea typeface="Calibri"/>
              <a:cs typeface="Calibri"/>
              <a:sym typeface="Calibri"/>
            </a:endParaRPr>
          </a:p>
        </p:txBody>
      </p:sp>
      <p:sp>
        <p:nvSpPr>
          <p:cNvPr id="487" name="Google Shape;487;p59"/>
          <p:cNvSpPr txBox="1"/>
          <p:nvPr/>
        </p:nvSpPr>
        <p:spPr>
          <a:xfrm>
            <a:off x="4441925" y="1122800"/>
            <a:ext cx="4012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800"/>
              <a:buFont typeface="Arial"/>
              <a:buNone/>
            </a:pPr>
            <a:r>
              <a:rPr lang="zh-CN" sz="1800" b="1" i="0" u="sng" strike="noStrike" cap="none">
                <a:solidFill>
                  <a:schemeClr val="dk1"/>
                </a:solidFill>
                <a:latin typeface="Arial"/>
                <a:ea typeface="Arial"/>
                <a:cs typeface="Arial"/>
                <a:sym typeface="Arial"/>
              </a:rPr>
              <a:t>Drawbacks</a:t>
            </a:r>
            <a:endParaRPr sz="1200" b="0" i="0" u="none" strike="noStrike" cap="none">
              <a:solidFill>
                <a:schemeClr val="dk1"/>
              </a:solidFill>
              <a:latin typeface="Arial"/>
              <a:ea typeface="Arial"/>
              <a:cs typeface="Arial"/>
              <a:sym typeface="Arial"/>
            </a:endParaRPr>
          </a:p>
        </p:txBody>
      </p:sp>
      <p:sp>
        <p:nvSpPr>
          <p:cNvPr id="488" name="Google Shape;488;p59"/>
          <p:cNvSpPr txBox="1"/>
          <p:nvPr/>
        </p:nvSpPr>
        <p:spPr>
          <a:xfrm>
            <a:off x="4441925" y="2337475"/>
            <a:ext cx="37956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Requires manually writing chains-of-thought in the prompts via exemplars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(Some zero-shot that works for common multi-step reasoning problems)</a:t>
            </a:r>
            <a:endParaRPr sz="1200" b="0" i="0" u="none" strike="noStrike" cap="none">
              <a:solidFill>
                <a:schemeClr val="dk2"/>
              </a:solidFill>
              <a:latin typeface="Calibri"/>
              <a:ea typeface="Calibri"/>
              <a:cs typeface="Calibri"/>
              <a:sym typeface="Calibri"/>
            </a:endParaRPr>
          </a:p>
        </p:txBody>
      </p:sp>
      <p:sp>
        <p:nvSpPr>
          <p:cNvPr id="489" name="Google Shape;489;p59"/>
          <p:cNvSpPr txBox="1"/>
          <p:nvPr/>
        </p:nvSpPr>
        <p:spPr>
          <a:xfrm>
            <a:off x="4441925" y="1861275"/>
            <a:ext cx="38289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Higher inference cost than directly answering</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CoT can be hundreds of tokens</a:t>
            </a:r>
            <a:endParaRPr sz="1800" b="0" i="0" u="none" strike="noStrike" cap="none">
              <a:solidFill>
                <a:schemeClr val="dk1"/>
              </a:solidFill>
              <a:latin typeface="Calibri"/>
              <a:ea typeface="Calibri"/>
              <a:cs typeface="Calibri"/>
              <a:sym typeface="Calibri"/>
            </a:endParaRPr>
          </a:p>
        </p:txBody>
      </p:sp>
      <p:sp>
        <p:nvSpPr>
          <p:cNvPr id="490" name="Google Shape;490;p59"/>
          <p:cNvSpPr txBox="1"/>
          <p:nvPr/>
        </p:nvSpPr>
        <p:spPr>
          <a:xfrm>
            <a:off x="4441925" y="1404075"/>
            <a:ext cx="38289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zh-CN" sz="1200" b="0" i="0" u="none" strike="noStrike" cap="none">
                <a:solidFill>
                  <a:schemeClr val="dk1"/>
                </a:solidFill>
                <a:latin typeface="Arial"/>
                <a:ea typeface="Arial"/>
                <a:cs typeface="Arial"/>
                <a:sym typeface="Arial"/>
              </a:rPr>
              <a:t>Requires a large language model</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000"/>
              <a:buFont typeface="Arial"/>
              <a:buNone/>
            </a:pPr>
            <a:r>
              <a:rPr lang="zh-CN" sz="1000" b="0" i="0" u="none" strike="noStrike" cap="none">
                <a:solidFill>
                  <a:schemeClr val="dk2"/>
                </a:solidFill>
                <a:latin typeface="Arial"/>
                <a:ea typeface="Arial"/>
                <a:cs typeface="Arial"/>
                <a:sym typeface="Arial"/>
              </a:rPr>
              <a:t>Emergent ability</a:t>
            </a:r>
            <a:endParaRPr sz="1800" b="0" i="0" u="none" strike="noStrike" cap="none">
              <a:solidFill>
                <a:schemeClr val="dk1"/>
              </a:solidFill>
              <a:latin typeface="Calibri"/>
              <a:ea typeface="Calibri"/>
              <a:cs typeface="Calibri"/>
              <a:sym typeface="Calibri"/>
            </a:endParaRPr>
          </a:p>
        </p:txBody>
      </p:sp>
      <p:sp>
        <p:nvSpPr>
          <p:cNvPr id="491" name="Google Shape;491;p59"/>
          <p:cNvSpPr txBox="1"/>
          <p:nvPr/>
        </p:nvSpPr>
        <p:spPr>
          <a:xfrm>
            <a:off x="6378625" y="4507500"/>
            <a:ext cx="2765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800"/>
              <a:buFont typeface="Arial"/>
              <a:buNone/>
            </a:pPr>
            <a:r>
              <a:rPr lang="zh-CN" sz="800" b="0" i="0" u="sng" strike="noStrike" cap="none">
                <a:solidFill>
                  <a:schemeClr val="dk1"/>
                </a:solidFill>
                <a:latin typeface="Arial"/>
                <a:ea typeface="Arial"/>
                <a:cs typeface="Arial"/>
                <a:sym typeface="Arial"/>
              </a:rPr>
              <a:t>Suggested further reading: </a:t>
            </a:r>
            <a:endParaRPr sz="800" b="0"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hlink"/>
              </a:buClr>
              <a:buSzPts val="800"/>
              <a:buFont typeface="Arial"/>
              <a:buNone/>
            </a:pPr>
            <a:r>
              <a:rPr lang="zh-CN" sz="800" b="0" i="0" u="sng" strike="noStrike" cap="none">
                <a:solidFill>
                  <a:schemeClr val="hlink"/>
                </a:solidFill>
                <a:latin typeface="Arial"/>
                <a:ea typeface="Arial"/>
                <a:cs typeface="Arial"/>
                <a:sym typeface="Arial"/>
                <a:hlinkClick r:id="rId3"/>
              </a:rPr>
              <a:t>Large language models are zero-shot reasoners.</a:t>
            </a:r>
            <a:endParaRPr sz="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1000"/>
                                        <p:tgtEl>
                                          <p:spTgt spid="4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5"/>
                                        </p:tgtEl>
                                        <p:attrNameLst>
                                          <p:attrName>style.visibility</p:attrName>
                                        </p:attrNameLst>
                                      </p:cBhvr>
                                      <p:to>
                                        <p:strVal val="visible"/>
                                      </p:to>
                                    </p:set>
                                    <p:animEffect transition="in" filter="fade">
                                      <p:cBhvr>
                                        <p:cTn id="12" dur="1000"/>
                                        <p:tgtEl>
                                          <p:spTgt spid="4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3"/>
                                        </p:tgtEl>
                                        <p:attrNameLst>
                                          <p:attrName>style.visibility</p:attrName>
                                        </p:attrNameLst>
                                      </p:cBhvr>
                                      <p:to>
                                        <p:strVal val="visible"/>
                                      </p:to>
                                    </p:set>
                                    <p:animEffect transition="in" filter="fade">
                                      <p:cBhvr>
                                        <p:cTn id="17" dur="1000"/>
                                        <p:tgtEl>
                                          <p:spTgt spid="4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4"/>
                                        </p:tgtEl>
                                        <p:attrNameLst>
                                          <p:attrName>style.visibility</p:attrName>
                                        </p:attrNameLst>
                                      </p:cBhvr>
                                      <p:to>
                                        <p:strVal val="visible"/>
                                      </p:to>
                                    </p:set>
                                    <p:animEffect transition="in" filter="fade">
                                      <p:cBhvr>
                                        <p:cTn id="22" dur="1000"/>
                                        <p:tgtEl>
                                          <p:spTgt spid="48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0"/>
                                        </p:tgtEl>
                                        <p:attrNameLst>
                                          <p:attrName>style.visibility</p:attrName>
                                        </p:attrNameLst>
                                      </p:cBhvr>
                                      <p:to>
                                        <p:strVal val="visible"/>
                                      </p:to>
                                    </p:set>
                                    <p:animEffect transition="in" filter="fade">
                                      <p:cBhvr>
                                        <p:cTn id="27" dur="1000"/>
                                        <p:tgtEl>
                                          <p:spTgt spid="49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9"/>
                                        </p:tgtEl>
                                        <p:attrNameLst>
                                          <p:attrName>style.visibility</p:attrName>
                                        </p:attrNameLst>
                                      </p:cBhvr>
                                      <p:to>
                                        <p:strVal val="visible"/>
                                      </p:to>
                                    </p:set>
                                    <p:animEffect transition="in" filter="fade">
                                      <p:cBhvr>
                                        <p:cTn id="32" dur="1000"/>
                                        <p:tgtEl>
                                          <p:spTgt spid="48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88"/>
                                        </p:tgtEl>
                                        <p:attrNameLst>
                                          <p:attrName>style.visibility</p:attrName>
                                        </p:attrNameLst>
                                      </p:cBhvr>
                                      <p:to>
                                        <p:strVal val="visible"/>
                                      </p:to>
                                    </p:set>
                                    <p:animEffect transition="in" filter="fade">
                                      <p:cBhvr>
                                        <p:cTn id="37" dur="1000"/>
                                        <p:tgtEl>
                                          <p:spTgt spid="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
          <p:cNvSpPr txBox="1">
            <a:spLocks noGrp="1"/>
          </p:cNvSpPr>
          <p:nvPr>
            <p:ph type="title"/>
          </p:nvPr>
        </p:nvSpPr>
        <p:spPr>
          <a:xfrm>
            <a:off x="3532281" y="2256184"/>
            <a:ext cx="2846100" cy="514607"/>
          </a:xfrm>
          <a:prstGeom prst="rect">
            <a:avLst/>
          </a:prstGeom>
          <a:noFill/>
          <a:ln>
            <a:noFill/>
          </a:ln>
        </p:spPr>
        <p:txBody>
          <a:bodyPr spcFirstLastPara="1" vert="horz" wrap="square" lIns="0" tIns="9250" rIns="0" bIns="0" rtlCol="0" anchor="ctr" anchorCtr="0">
            <a:spAutoFit/>
          </a:bodyPr>
          <a:lstStyle/>
          <a:p>
            <a:pPr marL="12700">
              <a:spcBef>
                <a:spcPts val="100"/>
              </a:spcBef>
            </a:pPr>
            <a:r>
              <a:rPr lang="en-GB" dirty="0">
                <a:solidFill>
                  <a:srgbClr val="FF0000"/>
                </a:solidFill>
                <a:latin typeface="Times New Roman"/>
                <a:ea typeface="Times New Roman"/>
                <a:cs typeface="Times New Roman"/>
                <a:sym typeface="Times New Roman"/>
              </a:rPr>
              <a:t>More on </a:t>
            </a:r>
            <a:r>
              <a:rPr lang="en-GB" dirty="0" err="1">
                <a:solidFill>
                  <a:srgbClr val="FF0000"/>
                </a:solidFill>
                <a:latin typeface="Times New Roman"/>
                <a:ea typeface="Times New Roman"/>
                <a:cs typeface="Times New Roman"/>
                <a:sym typeface="Times New Roman"/>
              </a:rPr>
              <a:t>CoT</a:t>
            </a:r>
            <a:endParaRPr dirty="0">
              <a:solidFill>
                <a:srgbClr val="FF0000"/>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0"/>
          <p:cNvSpPr txBox="1">
            <a:spLocks noGrp="1"/>
          </p:cNvSpPr>
          <p:nvPr>
            <p:ph type="title"/>
          </p:nvPr>
        </p:nvSpPr>
        <p:spPr>
          <a:xfrm>
            <a:off x="2743200" y="514350"/>
            <a:ext cx="53349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CoT is not enough</a:t>
            </a:r>
            <a:endParaRPr/>
          </a:p>
        </p:txBody>
      </p:sp>
      <p:sp>
        <p:nvSpPr>
          <p:cNvPr id="498" name="Google Shape;498;p60"/>
          <p:cNvSpPr txBox="1">
            <a:spLocks noGrp="1"/>
          </p:cNvSpPr>
          <p:nvPr>
            <p:ph type="body" idx="1"/>
          </p:nvPr>
        </p:nvSpPr>
        <p:spPr>
          <a:xfrm>
            <a:off x="743748" y="1180605"/>
            <a:ext cx="7657500" cy="831300"/>
          </a:xfrm>
          <a:prstGeom prst="rect">
            <a:avLst/>
          </a:prstGeom>
          <a:noFill/>
          <a:ln>
            <a:noFill/>
          </a:ln>
        </p:spPr>
        <p:txBody>
          <a:bodyPr spcFirstLastPara="1" wrap="square" lIns="0" tIns="0" rIns="0" bIns="0" anchor="t" anchorCtr="0">
            <a:spAutoFit/>
          </a:bodyPr>
          <a:lstStyle/>
          <a:p>
            <a:pPr marL="285750" lvl="0" indent="-285750" algn="l" rtl="0">
              <a:lnSpc>
                <a:spcPct val="100000"/>
              </a:lnSpc>
              <a:spcBef>
                <a:spcPts val="0"/>
              </a:spcBef>
              <a:spcAft>
                <a:spcPts val="0"/>
              </a:spcAft>
              <a:buClr>
                <a:schemeClr val="dk1"/>
              </a:buClr>
              <a:buSzPts val="1800"/>
              <a:buFont typeface="Arial"/>
              <a:buChar char="•"/>
            </a:pPr>
            <a:r>
              <a:rPr lang="zh-CN"/>
              <a:t>Error propagation: one incorrect step leads to cumulative errors</a:t>
            </a:r>
            <a:endParaRPr/>
          </a:p>
          <a:p>
            <a:pPr marL="285750" lvl="0" indent="-285750" algn="l" rtl="0">
              <a:lnSpc>
                <a:spcPct val="100000"/>
              </a:lnSpc>
              <a:spcBef>
                <a:spcPts val="0"/>
              </a:spcBef>
              <a:spcAft>
                <a:spcPts val="0"/>
              </a:spcAft>
              <a:buClr>
                <a:schemeClr val="dk1"/>
              </a:buClr>
              <a:buSzPts val="1800"/>
              <a:buFont typeface="Arial"/>
              <a:buChar char="•"/>
            </a:pPr>
            <a:r>
              <a:rPr lang="zh-CN"/>
              <a:t>Chain structure limitation: the scope of exploration is limited</a:t>
            </a:r>
            <a:endParaRPr/>
          </a:p>
          <a:p>
            <a:pPr marL="285750" lvl="0" indent="-285750" algn="l" rtl="0">
              <a:lnSpc>
                <a:spcPct val="100000"/>
              </a:lnSpc>
              <a:spcBef>
                <a:spcPts val="0"/>
              </a:spcBef>
              <a:spcAft>
                <a:spcPts val="0"/>
              </a:spcAft>
              <a:buClr>
                <a:schemeClr val="dk1"/>
              </a:buClr>
              <a:buSzPts val="1800"/>
              <a:buFont typeface="Arial"/>
              <a:buChar char="•"/>
            </a:pPr>
            <a:r>
              <a:rPr lang="zh-CN"/>
              <a:t>Uncertainty: greedy decoding may not lead to a great reasoning path</a:t>
            </a:r>
            <a:endParaRPr/>
          </a:p>
        </p:txBody>
      </p:sp>
      <p:sp>
        <p:nvSpPr>
          <p:cNvPr id="499" name="Google Shape;499;p60"/>
          <p:cNvSpPr txBox="1"/>
          <p:nvPr/>
        </p:nvSpPr>
        <p:spPr>
          <a:xfrm>
            <a:off x="2743200" y="2222046"/>
            <a:ext cx="2971800" cy="2586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Q: Can 1, 2, 3, 4 get 24 in game 24?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A: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1+2 = 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3*3 = 9</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9+4 = 13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13 != 24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So 1,2,3,4 cannot get 24 in game 24.</a:t>
            </a:r>
            <a:endParaRPr sz="1400" b="0" i="0" u="none" strike="noStrike" cap="none" dirty="0">
              <a:solidFill>
                <a:srgbClr val="000000"/>
              </a:solidFill>
              <a:latin typeface="Arial"/>
              <a:ea typeface="Arial"/>
              <a:cs typeface="Arial"/>
              <a:sym typeface="Arial"/>
            </a:endParaRPr>
          </a:p>
        </p:txBody>
      </p:sp>
      <p:sp>
        <p:nvSpPr>
          <p:cNvPr id="500" name="Google Shape;500;p60"/>
          <p:cNvSpPr txBox="1"/>
          <p:nvPr/>
        </p:nvSpPr>
        <p:spPr>
          <a:xfrm>
            <a:off x="76200" y="2222046"/>
            <a:ext cx="3810000" cy="147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Q: Calculate (2+3)*5</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Calculate 2+3, </a:t>
            </a:r>
            <a:r>
              <a:rPr lang="zh-CN" sz="1800" b="0" i="0" u="none" strike="noStrike" cap="none" dirty="0">
                <a:solidFill>
                  <a:srgbClr val="FF0000"/>
                </a:solidFill>
                <a:latin typeface="Calibri"/>
                <a:ea typeface="Calibri"/>
                <a:cs typeface="Calibri"/>
                <a:sym typeface="Calibri"/>
              </a:rPr>
              <a:t>we get 6</a:t>
            </a:r>
            <a:endParaRPr sz="1400" b="0" i="0" u="none" strike="noStrike" cap="none" dirty="0">
              <a:solidFill>
                <a:srgbClr val="FF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6*5 = 30</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chemeClr val="dk1"/>
                </a:solidFill>
                <a:latin typeface="Calibri"/>
                <a:ea typeface="Calibri"/>
                <a:cs typeface="Calibri"/>
                <a:sym typeface="Calibri"/>
              </a:rPr>
              <a:t>The final answer is 30</a:t>
            </a:r>
            <a:endParaRPr sz="1800" b="0" i="0" u="none" strike="noStrike" cap="none" dirty="0">
              <a:solidFill>
                <a:schemeClr val="dk1"/>
              </a:solidFill>
              <a:latin typeface="Calibri"/>
              <a:ea typeface="Calibri"/>
              <a:cs typeface="Calibri"/>
              <a:sym typeface="Calibri"/>
            </a:endParaRPr>
          </a:p>
        </p:txBody>
      </p:sp>
      <p:sp>
        <p:nvSpPr>
          <p:cNvPr id="501" name="Google Shape;501;p60"/>
          <p:cNvSpPr txBox="1"/>
          <p:nvPr/>
        </p:nvSpPr>
        <p:spPr>
          <a:xfrm>
            <a:off x="5638800" y="2196978"/>
            <a:ext cx="3581400" cy="230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Q: What is 1+2+3+…+6?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1+2 =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3+3 = 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6+4 = 10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10+5 = 15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15+6 = 21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So 1+2+3+4+5+6=21.</a:t>
            </a:r>
            <a:endParaRPr sz="1400" b="0" i="0" u="none" strike="noStrike" cap="none">
              <a:solidFill>
                <a:srgbClr val="000000"/>
              </a:solidFill>
              <a:latin typeface="Arial"/>
              <a:ea typeface="Arial"/>
              <a:cs typeface="Arial"/>
              <a:sym typeface="Arial"/>
            </a:endParaRPr>
          </a:p>
        </p:txBody>
      </p:sp>
      <p:sp>
        <p:nvSpPr>
          <p:cNvPr id="502" name="Google Shape;502;p60"/>
          <p:cNvSpPr txBox="1"/>
          <p:nvPr/>
        </p:nvSpPr>
        <p:spPr>
          <a:xfrm>
            <a:off x="2743200" y="4804623"/>
            <a:ext cx="2514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rgbClr val="FF0000"/>
                </a:solidFill>
                <a:latin typeface="Calibri"/>
                <a:ea typeface="Calibri"/>
                <a:cs typeface="Calibri"/>
                <a:sym typeface="Calibri"/>
              </a:rPr>
              <a:t>Limited exploration</a:t>
            </a:r>
            <a:endParaRPr sz="1800" b="0" i="0" u="none" strike="noStrike" cap="none" dirty="0">
              <a:solidFill>
                <a:srgbClr val="FF0000"/>
              </a:solidFill>
              <a:latin typeface="Calibri"/>
              <a:ea typeface="Calibri"/>
              <a:cs typeface="Calibri"/>
              <a:sym typeface="Calibri"/>
            </a:endParaRPr>
          </a:p>
        </p:txBody>
      </p:sp>
      <p:sp>
        <p:nvSpPr>
          <p:cNvPr id="503" name="Google Shape;503;p60"/>
          <p:cNvSpPr txBox="1"/>
          <p:nvPr/>
        </p:nvSpPr>
        <p:spPr>
          <a:xfrm>
            <a:off x="5646800" y="4774168"/>
            <a:ext cx="2547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rgbClr val="FF0000"/>
                </a:solidFill>
                <a:latin typeface="Calibri"/>
                <a:ea typeface="Calibri"/>
                <a:cs typeface="Calibri"/>
                <a:sym typeface="Calibri"/>
              </a:rPr>
              <a:t>Correct yet not good</a:t>
            </a:r>
            <a:endParaRPr sz="1800" b="0" i="0" u="none" strike="noStrike" cap="none" dirty="0">
              <a:solidFill>
                <a:srgbClr val="FF0000"/>
              </a:solidFill>
              <a:latin typeface="Calibri"/>
              <a:ea typeface="Calibri"/>
              <a:cs typeface="Calibri"/>
              <a:sym typeface="Calibri"/>
            </a:endParaRPr>
          </a:p>
        </p:txBody>
      </p:sp>
      <p:sp>
        <p:nvSpPr>
          <p:cNvPr id="504" name="Google Shape;504;p60"/>
          <p:cNvSpPr txBox="1"/>
          <p:nvPr/>
        </p:nvSpPr>
        <p:spPr>
          <a:xfrm>
            <a:off x="152400" y="4774200"/>
            <a:ext cx="2133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dirty="0">
                <a:solidFill>
                  <a:srgbClr val="FF0000"/>
                </a:solidFill>
                <a:latin typeface="Calibri"/>
                <a:ea typeface="Calibri"/>
                <a:cs typeface="Calibri"/>
                <a:sym typeface="Calibri"/>
              </a:rPr>
              <a:t>Cumulative error</a:t>
            </a:r>
            <a:endParaRPr sz="1800" b="0" i="0" u="none" strike="noStrike" cap="none" dirty="0">
              <a:solidFill>
                <a:srgbClr val="FF0000"/>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1"/>
          <p:cNvSpPr txBox="1">
            <a:spLocks noGrp="1"/>
          </p:cNvSpPr>
          <p:nvPr>
            <p:ph type="title"/>
          </p:nvPr>
        </p:nvSpPr>
        <p:spPr>
          <a:xfrm>
            <a:off x="1981200" y="590550"/>
            <a:ext cx="66294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Improve CoT in different phases of reasoning</a:t>
            </a:r>
            <a:endParaRPr/>
          </a:p>
        </p:txBody>
      </p:sp>
      <p:sp>
        <p:nvSpPr>
          <p:cNvPr id="511" name="Google Shape;511;p61"/>
          <p:cNvSpPr txBox="1">
            <a:spLocks noGrp="1"/>
          </p:cNvSpPr>
          <p:nvPr>
            <p:ph type="body" idx="1"/>
          </p:nvPr>
        </p:nvSpPr>
        <p:spPr>
          <a:xfrm>
            <a:off x="609600" y="1200150"/>
            <a:ext cx="8500200" cy="2770500"/>
          </a:xfrm>
          <a:prstGeom prst="rect">
            <a:avLst/>
          </a:prstGeom>
          <a:noFill/>
          <a:ln>
            <a:noFill/>
          </a:ln>
        </p:spPr>
        <p:txBody>
          <a:bodyPr spcFirstLastPara="1" wrap="square" lIns="0" tIns="0" rIns="0" bIns="0" anchor="t" anchorCtr="0">
            <a:spAutoFit/>
          </a:bodyPr>
          <a:lstStyle/>
          <a:p>
            <a:pPr marL="285750" lvl="0" indent="-285750" algn="l" rtl="0">
              <a:lnSpc>
                <a:spcPct val="100000"/>
              </a:lnSpc>
              <a:spcBef>
                <a:spcPts val="0"/>
              </a:spcBef>
              <a:spcAft>
                <a:spcPts val="0"/>
              </a:spcAft>
              <a:buClr>
                <a:schemeClr val="dk1"/>
              </a:buClr>
              <a:buSzPts val="1800"/>
              <a:buFont typeface="Arial"/>
              <a:buChar char="•"/>
            </a:pPr>
            <a:r>
              <a:rPr lang="zh-CN" dirty="0">
                <a:latin typeface="Times New Roman"/>
                <a:ea typeface="Times New Roman"/>
                <a:cs typeface="Times New Roman"/>
                <a:sym typeface="Times New Roman"/>
              </a:rPr>
              <a:t>Pre-process of the reasoning task:</a:t>
            </a:r>
            <a:endParaRPr dirty="0"/>
          </a:p>
          <a:p>
            <a:pPr marL="742950" lvl="1" indent="-285750" algn="l" rtl="0">
              <a:lnSpc>
                <a:spcPct val="100000"/>
              </a:lnSpc>
              <a:spcBef>
                <a:spcPts val="0"/>
              </a:spcBef>
              <a:spcAft>
                <a:spcPts val="0"/>
              </a:spcAft>
              <a:buSzPts val="1800"/>
              <a:buFont typeface="Arial"/>
              <a:buChar char="•"/>
            </a:pPr>
            <a:r>
              <a:rPr lang="zh-CN" dirty="0">
                <a:latin typeface="Times New Roman"/>
                <a:ea typeface="Times New Roman"/>
                <a:cs typeface="Times New Roman"/>
                <a:sym typeface="Times New Roman"/>
              </a:rPr>
              <a:t>Decomposition: e.g. Least-to-most prompting</a:t>
            </a:r>
            <a:endParaRPr dirty="0"/>
          </a:p>
          <a:p>
            <a:pPr marL="285750" lvl="0" indent="-285750" algn="l" rtl="0">
              <a:lnSpc>
                <a:spcPct val="100000"/>
              </a:lnSpc>
              <a:spcBef>
                <a:spcPts val="0"/>
              </a:spcBef>
              <a:spcAft>
                <a:spcPts val="0"/>
              </a:spcAft>
              <a:buClr>
                <a:schemeClr val="dk1"/>
              </a:buClr>
              <a:buSzPts val="1800"/>
              <a:buFont typeface="Arial"/>
              <a:buChar char="•"/>
            </a:pPr>
            <a:r>
              <a:rPr lang="zh-CN" dirty="0">
                <a:latin typeface="Times New Roman"/>
                <a:ea typeface="Times New Roman"/>
                <a:cs typeface="Times New Roman"/>
                <a:sym typeface="Times New Roman"/>
              </a:rPr>
              <a:t>Improvement in the reasoning phase: </a:t>
            </a:r>
            <a:endParaRPr dirty="0"/>
          </a:p>
          <a:p>
            <a:pPr marL="742950" lvl="1" indent="-285750" algn="l" rtl="0">
              <a:lnSpc>
                <a:spcPct val="100000"/>
              </a:lnSpc>
              <a:spcBef>
                <a:spcPts val="0"/>
              </a:spcBef>
              <a:spcAft>
                <a:spcPts val="0"/>
              </a:spcAft>
              <a:buSzPts val="1800"/>
              <a:buFont typeface="Arial"/>
              <a:buChar char="•"/>
            </a:pPr>
            <a:r>
              <a:rPr lang="zh-CN" dirty="0">
                <a:latin typeface="Times New Roman"/>
                <a:ea typeface="Times New Roman"/>
                <a:cs typeface="Times New Roman"/>
                <a:sym typeface="Times New Roman"/>
              </a:rPr>
              <a:t>Tool using: e.g. PoT</a:t>
            </a:r>
            <a:endParaRPr dirty="0">
              <a:latin typeface="Times New Roman"/>
              <a:ea typeface="Times New Roman"/>
              <a:cs typeface="Times New Roman"/>
              <a:sym typeface="Times New Roman"/>
            </a:endParaRPr>
          </a:p>
          <a:p>
            <a:pPr marL="742950" lvl="1" indent="-285750" algn="l" rtl="0">
              <a:lnSpc>
                <a:spcPct val="100000"/>
              </a:lnSpc>
              <a:spcBef>
                <a:spcPts val="0"/>
              </a:spcBef>
              <a:spcAft>
                <a:spcPts val="0"/>
              </a:spcAft>
              <a:buSzPts val="1800"/>
              <a:buFont typeface="Arial"/>
              <a:buChar char="•"/>
            </a:pPr>
            <a:r>
              <a:rPr lang="zh-CN" dirty="0">
                <a:latin typeface="Times New Roman"/>
                <a:ea typeface="Times New Roman"/>
                <a:cs typeface="Times New Roman"/>
                <a:sym typeface="Times New Roman"/>
              </a:rPr>
              <a:t>Planning: e.g. ToT</a:t>
            </a:r>
            <a:endParaRPr dirty="0">
              <a:latin typeface="Times New Roman"/>
              <a:ea typeface="Times New Roman"/>
              <a:cs typeface="Times New Roman"/>
              <a:sym typeface="Times New Roman"/>
            </a:endParaRPr>
          </a:p>
          <a:p>
            <a:pPr marL="285750" lvl="0" indent="-285750" algn="l" rtl="0">
              <a:lnSpc>
                <a:spcPct val="100000"/>
              </a:lnSpc>
              <a:spcBef>
                <a:spcPts val="0"/>
              </a:spcBef>
              <a:spcAft>
                <a:spcPts val="0"/>
              </a:spcAft>
              <a:buClr>
                <a:schemeClr val="dk1"/>
              </a:buClr>
              <a:buSzPts val="1800"/>
              <a:buFont typeface="Arial"/>
              <a:buChar char="•"/>
            </a:pPr>
            <a:r>
              <a:rPr lang="zh-CN" dirty="0">
                <a:latin typeface="Times New Roman"/>
                <a:ea typeface="Times New Roman"/>
                <a:cs typeface="Times New Roman"/>
                <a:sym typeface="Times New Roman"/>
              </a:rPr>
              <a:t>Utilization of the reasoning result: </a:t>
            </a:r>
            <a:endParaRPr dirty="0"/>
          </a:p>
          <a:p>
            <a:pPr marL="742950" lvl="1" indent="-285750" algn="l" rtl="0">
              <a:lnSpc>
                <a:spcPct val="100000"/>
              </a:lnSpc>
              <a:spcBef>
                <a:spcPts val="0"/>
              </a:spcBef>
              <a:spcAft>
                <a:spcPts val="0"/>
              </a:spcAft>
              <a:buSzPts val="1800"/>
              <a:buFont typeface="Arial"/>
              <a:buChar char="•"/>
            </a:pPr>
            <a:r>
              <a:rPr lang="zh-CN" dirty="0">
                <a:latin typeface="Times New Roman"/>
                <a:ea typeface="Times New Roman"/>
                <a:cs typeface="Times New Roman"/>
                <a:sym typeface="Times New Roman"/>
              </a:rPr>
              <a:t>Major voting: e.g.  Self-consistency</a:t>
            </a:r>
            <a:endParaRPr dirty="0"/>
          </a:p>
          <a:p>
            <a:pPr marL="742950" lvl="1" indent="-285750" algn="l" rtl="0">
              <a:lnSpc>
                <a:spcPct val="100000"/>
              </a:lnSpc>
              <a:spcBef>
                <a:spcPts val="0"/>
              </a:spcBef>
              <a:spcAft>
                <a:spcPts val="0"/>
              </a:spcAft>
              <a:buSzPts val="1800"/>
              <a:buFont typeface="Arial"/>
              <a:buChar char="•"/>
            </a:pPr>
            <a:r>
              <a:rPr lang="zh-CN" dirty="0">
                <a:latin typeface="Times New Roman"/>
                <a:ea typeface="Times New Roman"/>
                <a:cs typeface="Times New Roman"/>
                <a:sym typeface="Times New Roman"/>
              </a:rPr>
              <a:t>Verify: e.g. Verifier</a:t>
            </a:r>
            <a:endParaRPr dirty="0"/>
          </a:p>
          <a:p>
            <a:pPr marL="742950" lvl="1" indent="-285750" algn="l" rtl="0">
              <a:lnSpc>
                <a:spcPct val="100000"/>
              </a:lnSpc>
              <a:spcBef>
                <a:spcPts val="0"/>
              </a:spcBef>
              <a:spcAft>
                <a:spcPts val="0"/>
              </a:spcAft>
              <a:buClr>
                <a:srgbClr val="000000"/>
              </a:buClr>
              <a:buSzPts val="1800"/>
              <a:buFont typeface="Arial"/>
              <a:buChar char="•"/>
            </a:pPr>
            <a:r>
              <a:rPr lang="zh-CN" b="0" i="0" dirty="0">
                <a:solidFill>
                  <a:srgbClr val="000000"/>
                </a:solidFill>
                <a:latin typeface="Times New Roman"/>
                <a:ea typeface="Times New Roman"/>
                <a:cs typeface="Times New Roman"/>
                <a:sym typeface="Times New Roman"/>
              </a:rPr>
              <a:t>Refine: </a:t>
            </a:r>
            <a:r>
              <a:rPr lang="zh-CN" dirty="0">
                <a:latin typeface="Times New Roman"/>
                <a:ea typeface="Times New Roman"/>
                <a:cs typeface="Times New Roman"/>
                <a:sym typeface="Times New Roman"/>
              </a:rPr>
              <a:t>e.g. Self-refine</a:t>
            </a:r>
            <a:endParaRPr dirty="0"/>
          </a:p>
          <a:p>
            <a:pPr marL="285750" lvl="0" indent="-171450" algn="l" rtl="0">
              <a:lnSpc>
                <a:spcPct val="100000"/>
              </a:lnSpc>
              <a:spcBef>
                <a:spcPts val="0"/>
              </a:spcBef>
              <a:spcAft>
                <a:spcPts val="0"/>
              </a:spcAft>
              <a:buClr>
                <a:schemeClr val="dk1"/>
              </a:buClr>
              <a:buSzPts val="1800"/>
              <a:buFont typeface="Arial"/>
              <a:buNone/>
            </a:pPr>
            <a:endParaRPr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2"/>
          <p:cNvSpPr txBox="1">
            <a:spLocks noGrp="1"/>
          </p:cNvSpPr>
          <p:nvPr>
            <p:ph type="title"/>
          </p:nvPr>
        </p:nvSpPr>
        <p:spPr>
          <a:xfrm>
            <a:off x="2618243" y="133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Least-to-most prompting</a:t>
            </a:r>
            <a:endParaRPr/>
          </a:p>
        </p:txBody>
      </p:sp>
      <p:pic>
        <p:nvPicPr>
          <p:cNvPr id="517" name="Google Shape;517;p62"/>
          <p:cNvPicPr preferRelativeResize="0"/>
          <p:nvPr/>
        </p:nvPicPr>
        <p:blipFill rotWithShape="1">
          <a:blip r:embed="rId3">
            <a:alphaModFix/>
          </a:blip>
          <a:srcRect/>
          <a:stretch/>
        </p:blipFill>
        <p:spPr>
          <a:xfrm>
            <a:off x="1905000" y="762000"/>
            <a:ext cx="5223649" cy="4095751"/>
          </a:xfrm>
          <a:prstGeom prst="rect">
            <a:avLst/>
          </a:prstGeom>
          <a:noFill/>
          <a:ln>
            <a:noFill/>
          </a:ln>
        </p:spPr>
      </p:pic>
      <p:sp>
        <p:nvSpPr>
          <p:cNvPr id="518" name="Google Shape;518;p62"/>
          <p:cNvSpPr txBox="1"/>
          <p:nvPr/>
        </p:nvSpPr>
        <p:spPr>
          <a:xfrm>
            <a:off x="-24493" y="4705350"/>
            <a:ext cx="8153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Calibri"/>
                <a:ea typeface="Calibri"/>
                <a:cs typeface="Calibri"/>
                <a:sym typeface="Calibri"/>
                <a:hlinkClick r:id="rId4"/>
              </a:rPr>
              <a:t>Wei, Jason, et al. "Chain-of-thought prompting elicits reasoning in large language models." Advances in Neural Information Processing Systems 35 (2022): 24824-24837.</a:t>
            </a:r>
            <a:endParaRPr sz="1200" b="0" i="0" u="none" strike="noStrike" cap="none">
              <a:solidFill>
                <a:schemeClr val="dk1"/>
              </a:solidFill>
              <a:latin typeface="Calibri"/>
              <a:ea typeface="Calibri"/>
              <a:cs typeface="Calibri"/>
              <a:sym typeface="Calibri"/>
            </a:endParaRPr>
          </a:p>
        </p:txBody>
      </p:sp>
      <p:sp>
        <p:nvSpPr>
          <p:cNvPr id="519" name="Google Shape;519;p62"/>
          <p:cNvSpPr txBox="1"/>
          <p:nvPr/>
        </p:nvSpPr>
        <p:spPr>
          <a:xfrm>
            <a:off x="381000" y="545068"/>
            <a:ext cx="792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Explicitly decompose into subquestions</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64"/>
          <p:cNvSpPr txBox="1">
            <a:spLocks noGrp="1"/>
          </p:cNvSpPr>
          <p:nvPr>
            <p:ph type="title"/>
          </p:nvPr>
        </p:nvSpPr>
        <p:spPr>
          <a:xfrm>
            <a:off x="2667000" y="158547"/>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dirty="0"/>
              <a:t>Tree of Thoughts</a:t>
            </a:r>
            <a:r>
              <a:rPr lang="en-US" altLang="zh-CN" dirty="0"/>
              <a:t> </a:t>
            </a:r>
            <a:r>
              <a:rPr lang="zh-CN" dirty="0"/>
              <a:t>(ToT)</a:t>
            </a:r>
            <a:endParaRPr dirty="0"/>
          </a:p>
        </p:txBody>
      </p:sp>
      <p:sp>
        <p:nvSpPr>
          <p:cNvPr id="533" name="Google Shape;533;p64"/>
          <p:cNvSpPr txBox="1"/>
          <p:nvPr/>
        </p:nvSpPr>
        <p:spPr>
          <a:xfrm>
            <a:off x="457200" y="725143"/>
            <a:ext cx="792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Arial"/>
                <a:ea typeface="Arial"/>
                <a:cs typeface="Arial"/>
                <a:sym typeface="Arial"/>
              </a:rPr>
              <a:t>Explore over units of text that serve as intermediate steps </a:t>
            </a:r>
            <a:endParaRPr sz="1800" b="0" i="0" u="none" strike="noStrike" cap="none">
              <a:solidFill>
                <a:schemeClr val="dk1"/>
              </a:solidFill>
              <a:latin typeface="Calibri"/>
              <a:ea typeface="Calibri"/>
              <a:cs typeface="Calibri"/>
              <a:sym typeface="Calibri"/>
            </a:endParaRPr>
          </a:p>
        </p:txBody>
      </p:sp>
      <p:pic>
        <p:nvPicPr>
          <p:cNvPr id="534" name="Google Shape;534;p64"/>
          <p:cNvPicPr preferRelativeResize="0"/>
          <p:nvPr/>
        </p:nvPicPr>
        <p:blipFill rotWithShape="1">
          <a:blip r:embed="rId3">
            <a:alphaModFix/>
          </a:blip>
          <a:srcRect/>
          <a:stretch/>
        </p:blipFill>
        <p:spPr>
          <a:xfrm>
            <a:off x="990600" y="1276350"/>
            <a:ext cx="6707364" cy="3590262"/>
          </a:xfrm>
          <a:prstGeom prst="rect">
            <a:avLst/>
          </a:prstGeom>
          <a:noFill/>
          <a:ln>
            <a:noFill/>
          </a:ln>
        </p:spPr>
      </p:pic>
      <p:sp>
        <p:nvSpPr>
          <p:cNvPr id="535" name="Google Shape;535;p64"/>
          <p:cNvSpPr txBox="1"/>
          <p:nvPr/>
        </p:nvSpPr>
        <p:spPr>
          <a:xfrm>
            <a:off x="31296" y="4866501"/>
            <a:ext cx="9482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Calibri"/>
                <a:ea typeface="Calibri"/>
                <a:cs typeface="Calibri"/>
                <a:sym typeface="Calibri"/>
                <a:hlinkClick r:id="rId4"/>
              </a:rPr>
              <a:t>Yao, Shunyu, et al. "Tree of thoughts: Deliberate problem solving with large language models." arXiv preprint arXiv:2305.10601 (2023).</a:t>
            </a:r>
            <a:endParaRPr sz="1200" b="0" i="0" u="none" strike="noStrike" cap="none">
              <a:solidFill>
                <a:schemeClr val="dk1"/>
              </a:solidFill>
              <a:latin typeface="Calibri"/>
              <a:ea typeface="Calibri"/>
              <a:cs typeface="Calibri"/>
              <a:sym typeface="Calibri"/>
            </a:endParaRPr>
          </a:p>
        </p:txBody>
      </p:sp>
      <p:sp>
        <p:nvSpPr>
          <p:cNvPr id="536" name="Google Shape;536;p64"/>
          <p:cNvSpPr txBox="1"/>
          <p:nvPr/>
        </p:nvSpPr>
        <p:spPr>
          <a:xfrm>
            <a:off x="7240992" y="2439550"/>
            <a:ext cx="15930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CN" sz="1400" b="0" i="0" u="none" strike="noStrike" cap="none">
                <a:solidFill>
                  <a:schemeClr val="dk1"/>
                </a:solidFill>
                <a:latin typeface="Calibri"/>
                <a:ea typeface="Calibri"/>
                <a:cs typeface="Calibri"/>
                <a:sym typeface="Calibri"/>
              </a:rPr>
              <a:t>evaluate and select</a:t>
            </a:r>
            <a:endParaRPr sz="1400" b="0" i="0" u="none" strike="noStrike" cap="none">
              <a:solidFill>
                <a:schemeClr val="dk1"/>
              </a:solidFill>
              <a:latin typeface="Calibri"/>
              <a:ea typeface="Calibri"/>
              <a:cs typeface="Calibri"/>
              <a:sym typeface="Calibri"/>
            </a:endParaRPr>
          </a:p>
        </p:txBody>
      </p:sp>
      <p:cxnSp>
        <p:nvCxnSpPr>
          <p:cNvPr id="537" name="Google Shape;537;p64"/>
          <p:cNvCxnSpPr>
            <a:stCxn id="536" idx="1"/>
          </p:cNvCxnSpPr>
          <p:nvPr/>
        </p:nvCxnSpPr>
        <p:spPr>
          <a:xfrm rot="10800000">
            <a:off x="6857892" y="2701150"/>
            <a:ext cx="383100" cy="0"/>
          </a:xfrm>
          <a:prstGeom prst="straightConnector1">
            <a:avLst/>
          </a:prstGeom>
          <a:noFill/>
          <a:ln w="9525" cap="flat" cmpd="sng">
            <a:solidFill>
              <a:schemeClr val="dk1"/>
            </a:solidFill>
            <a:prstDash val="solid"/>
            <a:round/>
            <a:headEnd type="none" w="sm" len="sm"/>
            <a:tailEnd type="triangle" w="med" len="med"/>
          </a:ln>
        </p:spPr>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3"/>
          <p:cNvSpPr txBox="1">
            <a:spLocks noGrp="1"/>
          </p:cNvSpPr>
          <p:nvPr>
            <p:ph type="title"/>
          </p:nvPr>
        </p:nvSpPr>
        <p:spPr>
          <a:xfrm>
            <a:off x="2667000" y="158547"/>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dirty="0"/>
              <a:t>Program of Thoughts</a:t>
            </a:r>
            <a:r>
              <a:rPr lang="en-US" altLang="zh-CN" dirty="0"/>
              <a:t> </a:t>
            </a:r>
            <a:r>
              <a:rPr lang="zh-CN" dirty="0"/>
              <a:t>(PoT)</a:t>
            </a:r>
            <a:endParaRPr dirty="0"/>
          </a:p>
        </p:txBody>
      </p:sp>
      <p:sp>
        <p:nvSpPr>
          <p:cNvPr id="525" name="Google Shape;525;p63"/>
          <p:cNvSpPr txBox="1"/>
          <p:nvPr/>
        </p:nvSpPr>
        <p:spPr>
          <a:xfrm>
            <a:off x="457200" y="671743"/>
            <a:ext cx="792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Output Python programs and call Python interpreter to calculate the answers</a:t>
            </a:r>
            <a:endParaRPr sz="1800" b="0" i="0" u="none" strike="noStrike" cap="none">
              <a:solidFill>
                <a:schemeClr val="dk1"/>
              </a:solidFill>
              <a:latin typeface="Calibri"/>
              <a:ea typeface="Calibri"/>
              <a:cs typeface="Calibri"/>
              <a:sym typeface="Calibri"/>
            </a:endParaRPr>
          </a:p>
        </p:txBody>
      </p:sp>
      <p:pic>
        <p:nvPicPr>
          <p:cNvPr id="526" name="Google Shape;526;p63"/>
          <p:cNvPicPr preferRelativeResize="0"/>
          <p:nvPr/>
        </p:nvPicPr>
        <p:blipFill rotWithShape="1">
          <a:blip r:embed="rId3">
            <a:alphaModFix/>
          </a:blip>
          <a:srcRect/>
          <a:stretch/>
        </p:blipFill>
        <p:spPr>
          <a:xfrm>
            <a:off x="1524000" y="978989"/>
            <a:ext cx="5977944" cy="3846574"/>
          </a:xfrm>
          <a:prstGeom prst="rect">
            <a:avLst/>
          </a:prstGeom>
          <a:noFill/>
          <a:ln>
            <a:noFill/>
          </a:ln>
        </p:spPr>
      </p:pic>
      <p:sp>
        <p:nvSpPr>
          <p:cNvPr id="527" name="Google Shape;527;p63"/>
          <p:cNvSpPr txBox="1"/>
          <p:nvPr/>
        </p:nvSpPr>
        <p:spPr>
          <a:xfrm>
            <a:off x="-36739" y="4754120"/>
            <a:ext cx="8686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Calibri"/>
                <a:ea typeface="Calibri"/>
                <a:cs typeface="Calibri"/>
                <a:sym typeface="Calibri"/>
                <a:hlinkClick r:id="rId4"/>
              </a:rPr>
              <a:t>Chen, Wenhu, et al. "Program of thoughts prompting: Disentangling computation from reasoning for numerical reasoning tasks." arXiv preprint arXiv:2211.12588 (2022).</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6"/>
          <p:cNvSpPr txBox="1">
            <a:spLocks noGrp="1"/>
          </p:cNvSpPr>
          <p:nvPr>
            <p:ph type="title"/>
          </p:nvPr>
        </p:nvSpPr>
        <p:spPr>
          <a:xfrm>
            <a:off x="2514600" y="2095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A trick for COT: Self-consistency</a:t>
            </a:r>
            <a:endParaRPr/>
          </a:p>
        </p:txBody>
      </p:sp>
      <p:pic>
        <p:nvPicPr>
          <p:cNvPr id="456" name="Google Shape;456;p56"/>
          <p:cNvPicPr preferRelativeResize="0"/>
          <p:nvPr/>
        </p:nvPicPr>
        <p:blipFill rotWithShape="1">
          <a:blip r:embed="rId3">
            <a:alphaModFix/>
          </a:blip>
          <a:srcRect/>
          <a:stretch/>
        </p:blipFill>
        <p:spPr>
          <a:xfrm>
            <a:off x="228600" y="594271"/>
            <a:ext cx="7912052" cy="4404483"/>
          </a:xfrm>
          <a:prstGeom prst="rect">
            <a:avLst/>
          </a:prstGeom>
          <a:noFill/>
          <a:ln>
            <a:noFill/>
          </a:ln>
        </p:spPr>
      </p:pic>
      <p:sp>
        <p:nvSpPr>
          <p:cNvPr id="457" name="Google Shape;457;p56"/>
          <p:cNvSpPr txBox="1"/>
          <p:nvPr/>
        </p:nvSpPr>
        <p:spPr>
          <a:xfrm>
            <a:off x="0" y="4860254"/>
            <a:ext cx="902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Calibri"/>
                <a:ea typeface="Calibri"/>
                <a:cs typeface="Calibri"/>
                <a:sym typeface="Calibri"/>
                <a:hlinkClick r:id="rId4"/>
              </a:rPr>
              <a:t>Wang, Xuezhi, et al. "Self-consistency improves chain of thought reasoning in language models." arXiv preprint arXiv:2203.11171 (2022).</a:t>
            </a: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95938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zh-CN">
                <a:latin typeface="Arial"/>
                <a:ea typeface="Arial"/>
                <a:cs typeface="Arial"/>
                <a:sym typeface="Arial"/>
              </a:rPr>
              <a:t>Self-consistency works really well</a:t>
            </a:r>
            <a:endParaRPr>
              <a:latin typeface="Arial"/>
              <a:ea typeface="Arial"/>
              <a:cs typeface="Arial"/>
              <a:sym typeface="Arial"/>
            </a:endParaRPr>
          </a:p>
        </p:txBody>
      </p:sp>
      <p:pic>
        <p:nvPicPr>
          <p:cNvPr id="463" name="Google Shape;463;p57"/>
          <p:cNvPicPr preferRelativeResize="0"/>
          <p:nvPr/>
        </p:nvPicPr>
        <p:blipFill rotWithShape="1">
          <a:blip r:embed="rId3">
            <a:alphaModFix/>
          </a:blip>
          <a:srcRect l="48945"/>
          <a:stretch/>
        </p:blipFill>
        <p:spPr>
          <a:xfrm>
            <a:off x="2179809" y="1626938"/>
            <a:ext cx="4512776" cy="2470175"/>
          </a:xfrm>
          <a:prstGeom prst="rect">
            <a:avLst/>
          </a:prstGeom>
          <a:noFill/>
          <a:ln>
            <a:noFill/>
          </a:ln>
        </p:spPr>
      </p:pic>
      <p:pic>
        <p:nvPicPr>
          <p:cNvPr id="464" name="Google Shape;464;p57"/>
          <p:cNvPicPr preferRelativeResize="0"/>
          <p:nvPr/>
        </p:nvPicPr>
        <p:blipFill rotWithShape="1">
          <a:blip r:embed="rId3">
            <a:alphaModFix/>
          </a:blip>
          <a:srcRect l="11331" t="19479" r="67220" b="60187"/>
          <a:stretch/>
        </p:blipFill>
        <p:spPr>
          <a:xfrm>
            <a:off x="4250760" y="1250150"/>
            <a:ext cx="1895727" cy="502200"/>
          </a:xfrm>
          <a:prstGeom prst="rect">
            <a:avLst/>
          </a:prstGeom>
          <a:noFill/>
          <a:ln>
            <a:noFill/>
          </a:ln>
        </p:spPr>
      </p:pic>
      <p:sp>
        <p:nvSpPr>
          <p:cNvPr id="465" name="Google Shape;465;p57"/>
          <p:cNvSpPr/>
          <p:nvPr/>
        </p:nvSpPr>
        <p:spPr>
          <a:xfrm rot="10800000">
            <a:off x="3489935" y="2460025"/>
            <a:ext cx="160800" cy="305100"/>
          </a:xfrm>
          <a:prstGeom prst="leftBrace">
            <a:avLst>
              <a:gd name="adj1" fmla="val 50000"/>
              <a:gd name="adj2" fmla="val 50000"/>
            </a:avLst>
          </a:prstGeom>
          <a:noFill/>
          <a:ln w="28575" cap="flat" cmpd="sng">
            <a:solidFill>
              <a:srgbClr val="34A8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66" name="Google Shape;466;p57"/>
          <p:cNvSpPr txBox="1">
            <a:spLocks noGrp="1"/>
          </p:cNvSpPr>
          <p:nvPr>
            <p:ph type="title"/>
          </p:nvPr>
        </p:nvSpPr>
        <p:spPr>
          <a:xfrm>
            <a:off x="3679260" y="2476675"/>
            <a:ext cx="616200" cy="264300"/>
          </a:xfrm>
          <a:prstGeom prst="rect">
            <a:avLst/>
          </a:prstGeom>
          <a:solidFill>
            <a:schemeClr val="lt2"/>
          </a:solidFill>
          <a:ln w="19050" cap="flat" cmpd="sng">
            <a:solidFill>
              <a:srgbClr val="34A853"/>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38761D"/>
              </a:buClr>
              <a:buSzPts val="990"/>
              <a:buFont typeface="Arial"/>
              <a:buNone/>
            </a:pPr>
            <a:r>
              <a:rPr lang="zh-CN" sz="700" b="1">
                <a:solidFill>
                  <a:srgbClr val="38761D"/>
                </a:solidFill>
                <a:latin typeface="Arial"/>
                <a:ea typeface="Arial"/>
                <a:cs typeface="Arial"/>
                <a:sym typeface="Arial"/>
              </a:rPr>
              <a:t>Big delta!</a:t>
            </a:r>
            <a:endParaRPr sz="700" b="1">
              <a:solidFill>
                <a:srgbClr val="38761D"/>
              </a:solidFill>
              <a:latin typeface="Arial"/>
              <a:ea typeface="Arial"/>
              <a:cs typeface="Arial"/>
              <a:sym typeface="Arial"/>
            </a:endParaRPr>
          </a:p>
        </p:txBody>
      </p:sp>
    </p:spTree>
    <p:extLst>
      <p:ext uri="{BB962C8B-B14F-4D97-AF65-F5344CB8AC3E}">
        <p14:creationId xmlns:p14="http://schemas.microsoft.com/office/powerpoint/2010/main" val="19383579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5"/>
          <p:cNvSpPr txBox="1">
            <a:spLocks noGrp="1"/>
          </p:cNvSpPr>
          <p:nvPr>
            <p:ph type="title"/>
          </p:nvPr>
        </p:nvSpPr>
        <p:spPr>
          <a:xfrm>
            <a:off x="3297623" y="445482"/>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Verifier in COT</a:t>
            </a:r>
            <a:endParaRPr/>
          </a:p>
        </p:txBody>
      </p:sp>
      <p:sp>
        <p:nvSpPr>
          <p:cNvPr id="544" name="Google Shape;544;p65"/>
          <p:cNvSpPr/>
          <p:nvPr/>
        </p:nvSpPr>
        <p:spPr>
          <a:xfrm>
            <a:off x="4419600" y="1246186"/>
            <a:ext cx="1876200" cy="13257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sz="1800" b="1" i="0" u="none" strike="noStrike" cap="none">
                <a:solidFill>
                  <a:schemeClr val="lt1"/>
                </a:solidFill>
                <a:latin typeface="Calibri"/>
                <a:ea typeface="Calibri"/>
                <a:cs typeface="Calibri"/>
                <a:sym typeface="Calibri"/>
              </a:rPr>
              <a:t>Verifier</a:t>
            </a:r>
            <a:endParaRPr sz="1800" b="1" i="0" u="none" strike="noStrike" cap="none">
              <a:solidFill>
                <a:schemeClr val="lt1"/>
              </a:solidFill>
              <a:latin typeface="Calibri"/>
              <a:ea typeface="Calibri"/>
              <a:cs typeface="Calibri"/>
              <a:sym typeface="Calibri"/>
            </a:endParaRPr>
          </a:p>
        </p:txBody>
      </p:sp>
      <p:sp>
        <p:nvSpPr>
          <p:cNvPr id="545" name="Google Shape;545;p65"/>
          <p:cNvSpPr/>
          <p:nvPr/>
        </p:nvSpPr>
        <p:spPr>
          <a:xfrm>
            <a:off x="484570" y="1246186"/>
            <a:ext cx="1347900" cy="4551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46" name="Google Shape;546;p65"/>
          <p:cNvSpPr/>
          <p:nvPr/>
        </p:nvSpPr>
        <p:spPr>
          <a:xfrm>
            <a:off x="2554548" y="2032524"/>
            <a:ext cx="1347900" cy="4380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47" name="Google Shape;547;p65"/>
          <p:cNvSpPr/>
          <p:nvPr/>
        </p:nvSpPr>
        <p:spPr>
          <a:xfrm>
            <a:off x="279645" y="1931448"/>
            <a:ext cx="1757700" cy="640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sz="1800" b="1" i="0" u="none" strike="noStrike" cap="none">
                <a:solidFill>
                  <a:schemeClr val="lt1"/>
                </a:solidFill>
                <a:latin typeface="Calibri"/>
                <a:ea typeface="Calibri"/>
                <a:cs typeface="Calibri"/>
                <a:sym typeface="Calibri"/>
              </a:rPr>
              <a:t>Generator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zh-CN" sz="1800" b="1" i="0" u="none" strike="noStrike" cap="none">
                <a:solidFill>
                  <a:schemeClr val="lt1"/>
                </a:solidFill>
                <a:latin typeface="Calibri"/>
                <a:ea typeface="Calibri"/>
                <a:cs typeface="Calibri"/>
                <a:sym typeface="Calibri"/>
              </a:rPr>
              <a:t>(e.g. GPT)</a:t>
            </a:r>
            <a:endParaRPr sz="1800" b="1" i="0" u="none" strike="noStrike" cap="none">
              <a:solidFill>
                <a:schemeClr val="lt1"/>
              </a:solidFill>
              <a:latin typeface="Calibri"/>
              <a:ea typeface="Calibri"/>
              <a:cs typeface="Calibri"/>
              <a:sym typeface="Calibri"/>
            </a:endParaRPr>
          </a:p>
        </p:txBody>
      </p:sp>
      <p:sp>
        <p:nvSpPr>
          <p:cNvPr id="548" name="Google Shape;548;p65"/>
          <p:cNvSpPr/>
          <p:nvPr/>
        </p:nvSpPr>
        <p:spPr>
          <a:xfrm>
            <a:off x="6974147" y="1647816"/>
            <a:ext cx="1425600" cy="522300"/>
          </a:xfrm>
          <a:prstGeom prst="rect">
            <a:avLst/>
          </a:prstGeom>
          <a:blipFill rotWithShape="1">
            <a:blip r:embed="rId5">
              <a:alphaModFix/>
            </a:blip>
            <a:stretch>
              <a:fillRect b="-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49" name="Google Shape;549;p65"/>
          <p:cNvCxnSpPr>
            <a:stCxn id="545" idx="2"/>
            <a:endCxn id="547" idx="0"/>
          </p:cNvCxnSpPr>
          <p:nvPr/>
        </p:nvCxnSpPr>
        <p:spPr>
          <a:xfrm rot="-5400000" flipH="1">
            <a:off x="1043770" y="1816036"/>
            <a:ext cx="230100" cy="600"/>
          </a:xfrm>
          <a:prstGeom prst="bentConnector3">
            <a:avLst>
              <a:gd name="adj1" fmla="val 50000"/>
            </a:avLst>
          </a:prstGeom>
          <a:noFill/>
          <a:ln w="9525" cap="flat" cmpd="sng">
            <a:solidFill>
              <a:schemeClr val="dk1"/>
            </a:solidFill>
            <a:prstDash val="solid"/>
            <a:round/>
            <a:headEnd type="none" w="sm" len="sm"/>
            <a:tailEnd type="triangle" w="med" len="med"/>
          </a:ln>
        </p:spPr>
      </p:cxnSp>
      <p:cxnSp>
        <p:nvCxnSpPr>
          <p:cNvPr id="550" name="Google Shape;550;p65"/>
          <p:cNvCxnSpPr>
            <a:stCxn id="547" idx="3"/>
            <a:endCxn id="546" idx="1"/>
          </p:cNvCxnSpPr>
          <p:nvPr/>
        </p:nvCxnSpPr>
        <p:spPr>
          <a:xfrm>
            <a:off x="2037345" y="2251548"/>
            <a:ext cx="517200" cy="0"/>
          </a:xfrm>
          <a:prstGeom prst="straightConnector1">
            <a:avLst/>
          </a:prstGeom>
          <a:noFill/>
          <a:ln w="9525" cap="flat" cmpd="sng">
            <a:solidFill>
              <a:schemeClr val="dk1"/>
            </a:solidFill>
            <a:prstDash val="solid"/>
            <a:round/>
            <a:headEnd type="none" w="sm" len="sm"/>
            <a:tailEnd type="triangle" w="med" len="med"/>
          </a:ln>
        </p:spPr>
      </p:cxnSp>
      <p:cxnSp>
        <p:nvCxnSpPr>
          <p:cNvPr id="551" name="Google Shape;551;p65"/>
          <p:cNvCxnSpPr>
            <a:stCxn id="546" idx="3"/>
          </p:cNvCxnSpPr>
          <p:nvPr/>
        </p:nvCxnSpPr>
        <p:spPr>
          <a:xfrm>
            <a:off x="3902448" y="2251524"/>
            <a:ext cx="517200" cy="0"/>
          </a:xfrm>
          <a:prstGeom prst="straightConnector1">
            <a:avLst/>
          </a:prstGeom>
          <a:noFill/>
          <a:ln w="9525" cap="flat" cmpd="sng">
            <a:solidFill>
              <a:schemeClr val="dk1"/>
            </a:solidFill>
            <a:prstDash val="solid"/>
            <a:round/>
            <a:headEnd type="none" w="sm" len="sm"/>
            <a:tailEnd type="triangle" w="med" len="med"/>
          </a:ln>
        </p:spPr>
      </p:cxnSp>
      <p:cxnSp>
        <p:nvCxnSpPr>
          <p:cNvPr id="552" name="Google Shape;552;p65"/>
          <p:cNvCxnSpPr>
            <a:stCxn id="545" idx="3"/>
          </p:cNvCxnSpPr>
          <p:nvPr/>
        </p:nvCxnSpPr>
        <p:spPr>
          <a:xfrm>
            <a:off x="1832470" y="1473736"/>
            <a:ext cx="2587200" cy="0"/>
          </a:xfrm>
          <a:prstGeom prst="straightConnector1">
            <a:avLst/>
          </a:prstGeom>
          <a:noFill/>
          <a:ln w="9525" cap="flat" cmpd="sng">
            <a:solidFill>
              <a:schemeClr val="dk1"/>
            </a:solidFill>
            <a:prstDash val="solid"/>
            <a:round/>
            <a:headEnd type="none" w="sm" len="sm"/>
            <a:tailEnd type="triangle" w="med" len="med"/>
          </a:ln>
        </p:spPr>
      </p:cxnSp>
      <p:cxnSp>
        <p:nvCxnSpPr>
          <p:cNvPr id="553" name="Google Shape;553;p65"/>
          <p:cNvCxnSpPr>
            <a:stCxn id="544" idx="3"/>
            <a:endCxn id="548" idx="1"/>
          </p:cNvCxnSpPr>
          <p:nvPr/>
        </p:nvCxnSpPr>
        <p:spPr>
          <a:xfrm>
            <a:off x="6295800" y="1909036"/>
            <a:ext cx="678300" cy="0"/>
          </a:xfrm>
          <a:prstGeom prst="straightConnector1">
            <a:avLst/>
          </a:prstGeom>
          <a:noFill/>
          <a:ln w="9525" cap="flat" cmpd="sng">
            <a:solidFill>
              <a:schemeClr val="dk1"/>
            </a:solidFill>
            <a:prstDash val="solid"/>
            <a:round/>
            <a:headEnd type="none" w="sm" len="sm"/>
            <a:tailEnd type="triangle" w="med" len="med"/>
          </a:ln>
        </p:spPr>
      </p:cxnSp>
      <p:sp>
        <p:nvSpPr>
          <p:cNvPr id="554" name="Google Shape;554;p65"/>
          <p:cNvSpPr/>
          <p:nvPr/>
        </p:nvSpPr>
        <p:spPr>
          <a:xfrm>
            <a:off x="2554547" y="2930649"/>
            <a:ext cx="1347900" cy="43800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55" name="Google Shape;555;p65"/>
          <p:cNvSpPr/>
          <p:nvPr/>
        </p:nvSpPr>
        <p:spPr>
          <a:xfrm>
            <a:off x="2554547" y="4066385"/>
            <a:ext cx="1347900" cy="438000"/>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56" name="Google Shape;556;p65"/>
          <p:cNvSpPr/>
          <p:nvPr/>
        </p:nvSpPr>
        <p:spPr>
          <a:xfrm>
            <a:off x="6974146" y="2888571"/>
            <a:ext cx="1425600" cy="522300"/>
          </a:xfrm>
          <a:prstGeom prst="rect">
            <a:avLst/>
          </a:prstGeom>
          <a:blipFill rotWithShape="1">
            <a:blip r:embed="rId8">
              <a:alphaModFix/>
            </a:blip>
            <a:stretch>
              <a:fillRect b="-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57" name="Google Shape;557;p65"/>
          <p:cNvSpPr/>
          <p:nvPr/>
        </p:nvSpPr>
        <p:spPr>
          <a:xfrm>
            <a:off x="6974146" y="4024307"/>
            <a:ext cx="1425600" cy="522300"/>
          </a:xfrm>
          <a:prstGeom prst="rect">
            <a:avLst/>
          </a:prstGeom>
          <a:blipFill rotWithShape="1">
            <a:blip r:embed="rId9">
              <a:alphaModFix/>
            </a:blip>
            <a:stretch>
              <a:fillRect b="-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58" name="Google Shape;558;p65"/>
          <p:cNvCxnSpPr>
            <a:stCxn id="554" idx="3"/>
            <a:endCxn id="556" idx="1"/>
          </p:cNvCxnSpPr>
          <p:nvPr/>
        </p:nvCxnSpPr>
        <p:spPr>
          <a:xfrm>
            <a:off x="3902447" y="3149649"/>
            <a:ext cx="3071700" cy="600"/>
          </a:xfrm>
          <a:prstGeom prst="bentConnector3">
            <a:avLst>
              <a:gd name="adj1" fmla="val 50000"/>
            </a:avLst>
          </a:prstGeom>
          <a:noFill/>
          <a:ln w="9525" cap="flat" cmpd="sng">
            <a:solidFill>
              <a:schemeClr val="dk1"/>
            </a:solidFill>
            <a:prstDash val="dash"/>
            <a:round/>
            <a:headEnd type="none" w="sm" len="sm"/>
            <a:tailEnd type="triangle" w="med" len="med"/>
          </a:ln>
        </p:spPr>
      </p:cxnSp>
      <p:cxnSp>
        <p:nvCxnSpPr>
          <p:cNvPr id="559" name="Google Shape;559;p65"/>
          <p:cNvCxnSpPr>
            <a:stCxn id="555" idx="3"/>
            <a:endCxn id="557" idx="1"/>
          </p:cNvCxnSpPr>
          <p:nvPr/>
        </p:nvCxnSpPr>
        <p:spPr>
          <a:xfrm>
            <a:off x="3902447" y="4285385"/>
            <a:ext cx="3071700" cy="0"/>
          </a:xfrm>
          <a:prstGeom prst="straightConnector1">
            <a:avLst/>
          </a:prstGeom>
          <a:noFill/>
          <a:ln w="9525" cap="flat" cmpd="sng">
            <a:solidFill>
              <a:schemeClr val="dk1"/>
            </a:solidFill>
            <a:prstDash val="dash"/>
            <a:round/>
            <a:headEnd type="none" w="sm" len="sm"/>
            <a:tailEnd type="triangle" w="med" len="med"/>
          </a:ln>
        </p:spPr>
      </p:cxnSp>
      <p:sp>
        <p:nvSpPr>
          <p:cNvPr id="560" name="Google Shape;560;p65"/>
          <p:cNvSpPr/>
          <p:nvPr/>
        </p:nvSpPr>
        <p:spPr>
          <a:xfrm>
            <a:off x="2161712" y="1110300"/>
            <a:ext cx="2082600" cy="3595200"/>
          </a:xfrm>
          <a:prstGeom prst="rect">
            <a:avLst/>
          </a:prstGeom>
          <a:noFill/>
          <a:ln w="25400" cap="flat" cmpd="sng">
            <a:solidFill>
              <a:srgbClr val="7F7F7F"/>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1" name="Google Shape;561;p65"/>
          <p:cNvSpPr/>
          <p:nvPr/>
        </p:nvSpPr>
        <p:spPr>
          <a:xfrm>
            <a:off x="6634945" y="1110298"/>
            <a:ext cx="2082600" cy="3703200"/>
          </a:xfrm>
          <a:prstGeom prst="rect">
            <a:avLst/>
          </a:prstGeom>
          <a:noFill/>
          <a:ln w="25400" cap="flat" cmpd="sng">
            <a:solidFill>
              <a:srgbClr val="7F7F7F"/>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562" name="Google Shape;562;p65"/>
          <p:cNvCxnSpPr>
            <a:stCxn id="547" idx="3"/>
            <a:endCxn id="554" idx="1"/>
          </p:cNvCxnSpPr>
          <p:nvPr/>
        </p:nvCxnSpPr>
        <p:spPr>
          <a:xfrm>
            <a:off x="2037345" y="2251548"/>
            <a:ext cx="517200" cy="898200"/>
          </a:xfrm>
          <a:prstGeom prst="straightConnector1">
            <a:avLst/>
          </a:prstGeom>
          <a:noFill/>
          <a:ln w="9525" cap="flat" cmpd="sng">
            <a:solidFill>
              <a:schemeClr val="dk1"/>
            </a:solidFill>
            <a:prstDash val="solid"/>
            <a:round/>
            <a:headEnd type="none" w="sm" len="sm"/>
            <a:tailEnd type="triangle" w="med" len="med"/>
          </a:ln>
        </p:spPr>
      </p:cxnSp>
      <p:cxnSp>
        <p:nvCxnSpPr>
          <p:cNvPr id="563" name="Google Shape;563;p65"/>
          <p:cNvCxnSpPr>
            <a:stCxn id="547" idx="3"/>
            <a:endCxn id="555" idx="1"/>
          </p:cNvCxnSpPr>
          <p:nvPr/>
        </p:nvCxnSpPr>
        <p:spPr>
          <a:xfrm>
            <a:off x="2037345" y="2251548"/>
            <a:ext cx="517200" cy="2033700"/>
          </a:xfrm>
          <a:prstGeom prst="straightConnector1">
            <a:avLst/>
          </a:prstGeom>
          <a:noFill/>
          <a:ln w="9525" cap="flat" cmpd="sng">
            <a:solidFill>
              <a:schemeClr val="dk1"/>
            </a:solidFill>
            <a:prstDash val="solid"/>
            <a:round/>
            <a:headEnd type="none" w="sm" len="sm"/>
            <a:tailEnd type="triangle" w="med" len="med"/>
          </a:ln>
        </p:spPr>
      </p:cxnSp>
      <p:sp>
        <p:nvSpPr>
          <p:cNvPr id="564" name="Google Shape;564;p65"/>
          <p:cNvSpPr txBox="1"/>
          <p:nvPr/>
        </p:nvSpPr>
        <p:spPr>
          <a:xfrm rot="5400000">
            <a:off x="2835675" y="3394356"/>
            <a:ext cx="508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565" name="Google Shape;565;p65"/>
          <p:cNvSpPr txBox="1"/>
          <p:nvPr/>
        </p:nvSpPr>
        <p:spPr>
          <a:xfrm rot="5400000">
            <a:off x="7294115" y="3394356"/>
            <a:ext cx="508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CN"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566" name="Google Shape;566;p65"/>
          <p:cNvSpPr txBox="1"/>
          <p:nvPr/>
        </p:nvSpPr>
        <p:spPr>
          <a:xfrm>
            <a:off x="1079369" y="4883084"/>
            <a:ext cx="91158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none" strike="noStrike" cap="none">
                <a:solidFill>
                  <a:schemeClr val="dk1"/>
                </a:solidFill>
                <a:latin typeface="Calibri"/>
                <a:ea typeface="Calibri"/>
                <a:cs typeface="Calibri"/>
                <a:sym typeface="Calibri"/>
              </a:rPr>
              <a:t>Fei Yu, Anningzhe Gao, Benyou Wang. Outcome-Supervised Verifier for reasoning. Submitted to NAACL 2023</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100000"/>
              <a:buFont typeface="Times New Roman"/>
              <a:buNone/>
            </a:pPr>
            <a:r>
              <a:rPr lang="zh-CN"/>
              <a:t>Exceed GPT 4 using our OVM in GSM-8K</a:t>
            </a:r>
            <a:endParaRPr/>
          </a:p>
        </p:txBody>
      </p:sp>
      <p:pic>
        <p:nvPicPr>
          <p:cNvPr id="572" name="Google Shape;572;p66"/>
          <p:cNvPicPr preferRelativeResize="0"/>
          <p:nvPr/>
        </p:nvPicPr>
        <p:blipFill rotWithShape="1">
          <a:blip r:embed="rId3">
            <a:alphaModFix/>
          </a:blip>
          <a:srcRect/>
          <a:stretch/>
        </p:blipFill>
        <p:spPr>
          <a:xfrm>
            <a:off x="2606511" y="988936"/>
            <a:ext cx="4072289" cy="3709540"/>
          </a:xfrm>
          <a:prstGeom prst="rect">
            <a:avLst/>
          </a:prstGeom>
          <a:noFill/>
          <a:ln>
            <a:noFill/>
          </a:ln>
        </p:spPr>
      </p:pic>
      <p:sp>
        <p:nvSpPr>
          <p:cNvPr id="573" name="Google Shape;573;p66"/>
          <p:cNvSpPr/>
          <p:nvPr/>
        </p:nvSpPr>
        <p:spPr>
          <a:xfrm>
            <a:off x="2535810" y="4775727"/>
            <a:ext cx="6372600" cy="261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zh-CN" sz="1100" b="0" i="0" u="none" strike="noStrike" cap="none">
                <a:solidFill>
                  <a:srgbClr val="000000"/>
                </a:solidFill>
                <a:latin typeface="Arial"/>
                <a:ea typeface="Arial"/>
                <a:cs typeface="Arial"/>
                <a:sym typeface="Arial"/>
              </a:rPr>
              <a:t>https://paperswithcode.com/sota/arithmetic-reasoning-on-gsm8k</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67"/>
          <p:cNvSpPr txBox="1">
            <a:spLocks noGrp="1"/>
          </p:cNvSpPr>
          <p:nvPr>
            <p:ph type="title"/>
          </p:nvPr>
        </p:nvSpPr>
        <p:spPr>
          <a:xfrm>
            <a:off x="3352800" y="133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Self-refine</a:t>
            </a:r>
            <a:endParaRPr/>
          </a:p>
        </p:txBody>
      </p:sp>
      <p:pic>
        <p:nvPicPr>
          <p:cNvPr id="580" name="Google Shape;580;p67"/>
          <p:cNvPicPr preferRelativeResize="0"/>
          <p:nvPr/>
        </p:nvPicPr>
        <p:blipFill rotWithShape="1">
          <a:blip r:embed="rId3">
            <a:alphaModFix/>
          </a:blip>
          <a:srcRect/>
          <a:stretch/>
        </p:blipFill>
        <p:spPr>
          <a:xfrm>
            <a:off x="-228600" y="514350"/>
            <a:ext cx="9144001" cy="3996577"/>
          </a:xfrm>
          <a:prstGeom prst="rect">
            <a:avLst/>
          </a:prstGeom>
          <a:noFill/>
          <a:ln>
            <a:noFill/>
          </a:ln>
        </p:spPr>
      </p:pic>
      <p:sp>
        <p:nvSpPr>
          <p:cNvPr id="581" name="Google Shape;581;p67"/>
          <p:cNvSpPr txBox="1"/>
          <p:nvPr/>
        </p:nvSpPr>
        <p:spPr>
          <a:xfrm>
            <a:off x="6804" y="4891927"/>
            <a:ext cx="8610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zh-CN" sz="1200" b="0" i="0" u="sng" strike="noStrike" cap="none">
                <a:solidFill>
                  <a:schemeClr val="hlink"/>
                </a:solidFill>
                <a:latin typeface="Calibri"/>
                <a:ea typeface="Calibri"/>
                <a:cs typeface="Calibri"/>
                <a:sym typeface="Calibri"/>
                <a:hlinkClick r:id="rId4"/>
              </a:rPr>
              <a:t>Madaan, Aman, et al. "Self-refine: Iterative refinement with self-feedback." arXiv preprint arXiv:2303.17651 (2023).</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8"/>
          <p:cNvSpPr txBox="1">
            <a:spLocks noGrp="1"/>
          </p:cNvSpPr>
          <p:nvPr>
            <p:ph type="title"/>
          </p:nvPr>
        </p:nvSpPr>
        <p:spPr>
          <a:xfrm>
            <a:off x="1676400" y="505350"/>
            <a:ext cx="57912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Should we employ all the techniques above?</a:t>
            </a:r>
            <a:endParaRPr/>
          </a:p>
        </p:txBody>
      </p:sp>
      <p:sp>
        <p:nvSpPr>
          <p:cNvPr id="587" name="Google Shape;587;p68"/>
          <p:cNvSpPr txBox="1">
            <a:spLocks noGrp="1"/>
          </p:cNvSpPr>
          <p:nvPr>
            <p:ph type="body" idx="1"/>
          </p:nvPr>
        </p:nvSpPr>
        <p:spPr>
          <a:xfrm>
            <a:off x="743267" y="1200150"/>
            <a:ext cx="7657500" cy="1600800"/>
          </a:xfrm>
          <a:prstGeom prst="rect">
            <a:avLst/>
          </a:prstGeom>
          <a:noFill/>
          <a:ln>
            <a:noFill/>
          </a:ln>
        </p:spPr>
        <p:txBody>
          <a:bodyPr spcFirstLastPara="1" wrap="square" lIns="0" tIns="0" rIns="0" bIns="0" anchor="t" anchorCtr="0">
            <a:spAutoFit/>
          </a:bodyPr>
          <a:lstStyle/>
          <a:p>
            <a:pPr marL="285750" lvl="0" indent="-285750" algn="l" rtl="0">
              <a:lnSpc>
                <a:spcPct val="100000"/>
              </a:lnSpc>
              <a:spcBef>
                <a:spcPts val="0"/>
              </a:spcBef>
              <a:spcAft>
                <a:spcPts val="0"/>
              </a:spcAft>
              <a:buClr>
                <a:schemeClr val="dk1"/>
              </a:buClr>
              <a:buSzPts val="1800"/>
              <a:buFont typeface="Arial"/>
              <a:buChar char="•"/>
            </a:pPr>
            <a:r>
              <a:rPr lang="zh-CN"/>
              <a:t>Usually CoT can perform well under many situations </a:t>
            </a:r>
            <a:endParaRPr/>
          </a:p>
          <a:p>
            <a:pPr marL="285750" lvl="0" indent="-285750" algn="l" rtl="0">
              <a:lnSpc>
                <a:spcPct val="100000"/>
              </a:lnSpc>
              <a:spcBef>
                <a:spcPts val="0"/>
              </a:spcBef>
              <a:spcAft>
                <a:spcPts val="0"/>
              </a:spcAft>
              <a:buClr>
                <a:schemeClr val="dk1"/>
              </a:buClr>
              <a:buSzPts val="1800"/>
              <a:buFont typeface="Arial"/>
              <a:buChar char="•"/>
            </a:pPr>
            <a:r>
              <a:rPr lang="zh-CN"/>
              <a:t>Accuracy  vs </a:t>
            </a:r>
            <a:r>
              <a:rPr lang="zh-CN" b="1"/>
              <a:t>Cost</a:t>
            </a:r>
            <a:r>
              <a:rPr lang="zh-CN"/>
              <a:t>: </a:t>
            </a:r>
            <a:endParaRPr/>
          </a:p>
          <a:p>
            <a:pPr marL="742950" lvl="1" indent="-285750" algn="l" rtl="0">
              <a:lnSpc>
                <a:spcPct val="100000"/>
              </a:lnSpc>
              <a:spcBef>
                <a:spcPts val="0"/>
              </a:spcBef>
              <a:spcAft>
                <a:spcPts val="0"/>
              </a:spcAft>
              <a:buSzPts val="1800"/>
              <a:buFont typeface="Arial"/>
              <a:buChar char="•"/>
            </a:pPr>
            <a:r>
              <a:rPr lang="zh-CN"/>
              <a:t>Additional techniques need more computational sources (self-consistency) or additional data processing(PoT) although these techniques can usually improve the performance.</a:t>
            </a:r>
            <a:endParaRPr/>
          </a:p>
          <a:p>
            <a:pPr marL="742950" lvl="1" indent="-285750" algn="l" rtl="0">
              <a:lnSpc>
                <a:spcPct val="100000"/>
              </a:lnSpc>
              <a:spcBef>
                <a:spcPts val="0"/>
              </a:spcBef>
              <a:spcAft>
                <a:spcPts val="0"/>
              </a:spcAft>
              <a:buSzPts val="1800"/>
              <a:buFont typeface="Arial"/>
              <a:buChar char="•"/>
            </a:pPr>
            <a:r>
              <a:rPr lang="zh-CN"/>
              <a:t>the trade off depends on the real application.</a:t>
            </a:r>
            <a:endParaRPr/>
          </a:p>
          <a:p>
            <a:pPr marL="285750" lvl="0" indent="-17145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71"/>
          <p:cNvSpPr txBox="1">
            <a:spLocks noGrp="1"/>
          </p:cNvSpPr>
          <p:nvPr>
            <p:ph type="title"/>
          </p:nvPr>
        </p:nvSpPr>
        <p:spPr>
          <a:xfrm>
            <a:off x="2895600" y="514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Acknowledgement</a:t>
            </a:r>
            <a:endParaRPr/>
          </a:p>
        </p:txBody>
      </p:sp>
      <p:sp>
        <p:nvSpPr>
          <p:cNvPr id="606" name="Google Shape;606;p71"/>
          <p:cNvSpPr txBox="1">
            <a:spLocks noGrp="1"/>
          </p:cNvSpPr>
          <p:nvPr>
            <p:ph type="body" idx="1"/>
          </p:nvPr>
        </p:nvSpPr>
        <p:spPr>
          <a:xfrm>
            <a:off x="743748" y="1180605"/>
            <a:ext cx="7657500" cy="3047700"/>
          </a:xfrm>
          <a:prstGeom prst="rect">
            <a:avLst/>
          </a:prstGeom>
          <a:noFill/>
          <a:ln>
            <a:noFill/>
          </a:ln>
        </p:spPr>
        <p:txBody>
          <a:bodyPr spcFirstLastPara="1" wrap="square" lIns="0" tIns="0" rIns="0" bIns="0" anchor="t" anchorCtr="0">
            <a:spAutoFit/>
          </a:bodyPr>
          <a:lstStyle/>
          <a:p>
            <a:pPr marL="285750" lvl="0" indent="-285750" algn="l" rtl="0">
              <a:lnSpc>
                <a:spcPct val="100000"/>
              </a:lnSpc>
              <a:spcBef>
                <a:spcPts val="0"/>
              </a:spcBef>
              <a:spcAft>
                <a:spcPts val="0"/>
              </a:spcAft>
              <a:buClr>
                <a:schemeClr val="dk1"/>
              </a:buClr>
              <a:buSzPts val="1800"/>
              <a:buFont typeface="Arial"/>
              <a:buChar char="•"/>
            </a:pPr>
            <a:r>
              <a:rPr lang="zh-CN"/>
              <a:t>Princeton COS 597G: </a:t>
            </a:r>
            <a:r>
              <a:rPr lang="zh-CN" u="sng">
                <a:solidFill>
                  <a:schemeClr val="hlink"/>
                </a:solidFill>
                <a:hlinkClick r:id="rId3"/>
              </a:rPr>
              <a:t>https://www.cs.princeton.edu/courses/archive/fall22/cos597G/</a:t>
            </a:r>
            <a:endParaRPr/>
          </a:p>
          <a:p>
            <a:pPr marL="285750" lvl="0" indent="-285750" algn="l" rtl="0">
              <a:lnSpc>
                <a:spcPct val="100000"/>
              </a:lnSpc>
              <a:spcBef>
                <a:spcPts val="0"/>
              </a:spcBef>
              <a:spcAft>
                <a:spcPts val="0"/>
              </a:spcAft>
              <a:buClr>
                <a:srgbClr val="000000"/>
              </a:buClr>
              <a:buSzPts val="1800"/>
              <a:buFont typeface="Arial"/>
              <a:buChar char="•"/>
            </a:pPr>
            <a:r>
              <a:rPr lang="zh-CN" b="0" i="0">
                <a:solidFill>
                  <a:srgbClr val="000000"/>
                </a:solidFill>
                <a:latin typeface="Arial"/>
                <a:ea typeface="Arial"/>
                <a:cs typeface="Arial"/>
                <a:sym typeface="Arial"/>
              </a:rPr>
              <a:t>Scaling, emergence, and reasoning (Jason Wei, NYU): </a:t>
            </a:r>
            <a:r>
              <a:rPr lang="zh-CN" b="0" i="0" u="sng">
                <a:solidFill>
                  <a:schemeClr val="hlink"/>
                </a:solidFill>
                <a:latin typeface="Arial"/>
                <a:ea typeface="Arial"/>
                <a:cs typeface="Arial"/>
                <a:sym typeface="Arial"/>
                <a:hlinkClick r:id="rId4"/>
              </a:rPr>
              <a:t>https://docs.google.com/presentation/d/1EUV7W7X_w0BDrscDhPg7lMGzJCkeaPkGCJ3bN8dluXc/edit?resourcekey=0-7Nz5A7y8JozyVrnDtcEKJA#slide=id.g16197112905_0_0</a:t>
            </a:r>
            <a:endParaRPr b="0" i="0">
              <a:solidFill>
                <a:srgbClr val="000000"/>
              </a:solidFill>
              <a:latin typeface="Arial"/>
              <a:ea typeface="Arial"/>
              <a:cs typeface="Arial"/>
              <a:sym typeface="Arial"/>
            </a:endParaRPr>
          </a:p>
          <a:p>
            <a:pPr marL="285750" lvl="0" indent="-285750" algn="l" rtl="0">
              <a:lnSpc>
                <a:spcPct val="100000"/>
              </a:lnSpc>
              <a:spcBef>
                <a:spcPts val="0"/>
              </a:spcBef>
              <a:spcAft>
                <a:spcPts val="0"/>
              </a:spcAft>
              <a:buClr>
                <a:srgbClr val="000000"/>
              </a:buClr>
              <a:buSzPts val="1800"/>
              <a:buFont typeface="Arial"/>
              <a:buChar char="•"/>
            </a:pPr>
            <a:r>
              <a:rPr lang="zh-CN">
                <a:solidFill>
                  <a:srgbClr val="000000"/>
                </a:solidFill>
                <a:latin typeface="Arial"/>
                <a:ea typeface="Arial"/>
                <a:cs typeface="Arial"/>
                <a:sym typeface="Arial"/>
              </a:rPr>
              <a:t>Prompting engineering lectures(DAIR-AI): </a:t>
            </a:r>
            <a:r>
              <a:rPr lang="zh-CN" u="sng">
                <a:solidFill>
                  <a:schemeClr val="hlink"/>
                </a:solidFill>
                <a:latin typeface="Arial"/>
                <a:ea typeface="Arial"/>
                <a:cs typeface="Arial"/>
                <a:sym typeface="Arial"/>
                <a:hlinkClick r:id="rId5"/>
              </a:rPr>
              <a:t>https://github.com/dair-ai/Prompt-Engineering-Guide/blob/main/lecture/Prompt-Engineering-Lecture-Elvis.pdf</a:t>
            </a:r>
            <a:endParaRPr>
              <a:solidFill>
                <a:srgbClr val="000000"/>
              </a:solidFill>
              <a:latin typeface="Arial"/>
              <a:ea typeface="Arial"/>
              <a:cs typeface="Arial"/>
              <a:sym typeface="Arial"/>
            </a:endParaRPr>
          </a:p>
          <a:p>
            <a:pPr marL="285750" lvl="0" indent="-285750" algn="l" rtl="0">
              <a:lnSpc>
                <a:spcPct val="100000"/>
              </a:lnSpc>
              <a:spcBef>
                <a:spcPts val="0"/>
              </a:spcBef>
              <a:spcAft>
                <a:spcPts val="0"/>
              </a:spcAft>
              <a:buClr>
                <a:srgbClr val="000000"/>
              </a:buClr>
              <a:buSzPts val="1800"/>
              <a:buFont typeface="Arial"/>
              <a:buChar char="•"/>
            </a:pPr>
            <a:r>
              <a:rPr lang="zh-CN">
                <a:solidFill>
                  <a:srgbClr val="000000"/>
                </a:solidFill>
                <a:latin typeface="Arial"/>
                <a:ea typeface="Arial"/>
                <a:cs typeface="Arial"/>
                <a:sym typeface="Arial"/>
              </a:rPr>
              <a:t>Prompt engineering guide: </a:t>
            </a:r>
            <a:r>
              <a:rPr lang="zh-CN" u="sng">
                <a:solidFill>
                  <a:schemeClr val="hlink"/>
                </a:solidFill>
                <a:latin typeface="Arial"/>
                <a:ea typeface="Arial"/>
                <a:cs typeface="Arial"/>
                <a:sym typeface="Arial"/>
                <a:hlinkClick r:id="rId6"/>
              </a:rPr>
              <a:t>https://www.promptingguide.ai/</a:t>
            </a:r>
            <a:endParaRPr>
              <a:solidFill>
                <a:srgbClr val="000000"/>
              </a:solidFill>
              <a:latin typeface="Arial"/>
              <a:ea typeface="Arial"/>
              <a:cs typeface="Arial"/>
              <a:sym typeface="Arial"/>
            </a:endParaRPr>
          </a:p>
          <a:p>
            <a:pPr marL="285750" lvl="0" indent="-17145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72"/>
          <p:cNvSpPr txBox="1">
            <a:spLocks noGrp="1"/>
          </p:cNvSpPr>
          <p:nvPr>
            <p:ph type="title"/>
          </p:nvPr>
        </p:nvSpPr>
        <p:spPr>
          <a:xfrm>
            <a:off x="2285003" y="505350"/>
            <a:ext cx="4574100" cy="384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Optional reading material</a:t>
            </a:r>
            <a:endParaRPr/>
          </a:p>
        </p:txBody>
      </p:sp>
      <p:sp>
        <p:nvSpPr>
          <p:cNvPr id="612" name="Google Shape;612;p72"/>
          <p:cNvSpPr txBox="1">
            <a:spLocks noGrp="1"/>
          </p:cNvSpPr>
          <p:nvPr>
            <p:ph type="body" idx="1"/>
          </p:nvPr>
        </p:nvSpPr>
        <p:spPr>
          <a:xfrm>
            <a:off x="743748" y="1180605"/>
            <a:ext cx="7657500" cy="3140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zh-CN"/>
              <a:t>In-context learning:</a:t>
            </a:r>
            <a:endParaRPr/>
          </a:p>
          <a:p>
            <a:pPr marL="742950" lvl="1" indent="-285750" algn="l" rtl="0">
              <a:lnSpc>
                <a:spcPct val="100000"/>
              </a:lnSpc>
              <a:spcBef>
                <a:spcPts val="0"/>
              </a:spcBef>
              <a:spcAft>
                <a:spcPts val="0"/>
              </a:spcAft>
              <a:buSzPts val="1800"/>
              <a:buFont typeface="Arial"/>
              <a:buChar char="•"/>
            </a:pPr>
            <a:r>
              <a:rPr lang="zh-CN"/>
              <a:t>An Explanation of In-context Learning as Implicit Bayesian Inference(</a:t>
            </a:r>
            <a:r>
              <a:rPr lang="zh-CN" u="sng">
                <a:solidFill>
                  <a:schemeClr val="hlink"/>
                </a:solidFill>
                <a:hlinkClick r:id="rId3"/>
              </a:rPr>
              <a:t>https://arxiv.org/abs/2111.02080</a:t>
            </a:r>
            <a:r>
              <a:rPr lang="zh-CN"/>
              <a:t>)</a:t>
            </a:r>
            <a:endParaRPr/>
          </a:p>
          <a:p>
            <a:pPr marL="742950" lvl="1" indent="-285750" algn="l" rtl="0">
              <a:lnSpc>
                <a:spcPct val="100000"/>
              </a:lnSpc>
              <a:spcBef>
                <a:spcPts val="0"/>
              </a:spcBef>
              <a:spcAft>
                <a:spcPts val="0"/>
              </a:spcAft>
              <a:buSzPts val="1800"/>
              <a:buFont typeface="Arial"/>
              <a:buChar char="•"/>
            </a:pPr>
            <a:r>
              <a:rPr lang="zh-CN"/>
              <a:t>Rethinking the Role of Demonstrations: What Makes In-Context Learning Work?(</a:t>
            </a:r>
            <a:r>
              <a:rPr lang="zh-CN" u="sng">
                <a:solidFill>
                  <a:schemeClr val="hlink"/>
                </a:solidFill>
                <a:hlinkClick r:id="rId4"/>
              </a:rPr>
              <a:t>https://arxiv.org/abs/2202.12837</a:t>
            </a:r>
            <a:r>
              <a:rPr lang="zh-CN"/>
              <a:t>)</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zh-CN"/>
              <a:t>Knowledge probing:</a:t>
            </a:r>
            <a:endParaRPr/>
          </a:p>
          <a:p>
            <a:pPr marL="742950" lvl="1" indent="-285750" algn="l" rtl="0">
              <a:lnSpc>
                <a:spcPct val="100000"/>
              </a:lnSpc>
              <a:spcBef>
                <a:spcPts val="0"/>
              </a:spcBef>
              <a:spcAft>
                <a:spcPts val="0"/>
              </a:spcAft>
              <a:buSzPts val="1800"/>
              <a:buFont typeface="Arial"/>
              <a:buChar char="•"/>
            </a:pPr>
            <a:r>
              <a:rPr lang="zh-CN"/>
              <a:t>How Much Knowledge Can You Pack Into the Parameters of a Language Model?(</a:t>
            </a:r>
            <a:r>
              <a:rPr lang="zh-CN" u="sng">
                <a:solidFill>
                  <a:schemeClr val="hlink"/>
                </a:solidFill>
                <a:hlinkClick r:id="rId5"/>
              </a:rPr>
              <a:t>https://arxiv.org/abs/2002.08910</a:t>
            </a:r>
            <a:r>
              <a:rPr lang="zh-CN"/>
              <a:t>)</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zh-CN"/>
              <a:t>Knowledge editing</a:t>
            </a:r>
            <a:endParaRPr/>
          </a:p>
          <a:p>
            <a:pPr marL="742950" lvl="1" indent="-285750" algn="l" rtl="0">
              <a:lnSpc>
                <a:spcPct val="100000"/>
              </a:lnSpc>
              <a:spcBef>
                <a:spcPts val="0"/>
              </a:spcBef>
              <a:spcAft>
                <a:spcPts val="0"/>
              </a:spcAft>
              <a:buSzPts val="1800"/>
              <a:buFont typeface="Arial"/>
              <a:buChar char="•"/>
            </a:pPr>
            <a:r>
              <a:rPr lang="zh-CN"/>
              <a:t>Fast model editing at scale(</a:t>
            </a:r>
            <a:r>
              <a:rPr lang="zh-CN" u="sng">
                <a:solidFill>
                  <a:schemeClr val="hlink"/>
                </a:solidFill>
                <a:hlinkClick r:id="rId6"/>
              </a:rPr>
              <a:t>https://arxiv.org/abs/2110.11309</a:t>
            </a:r>
            <a:r>
              <a:rPr lang="zh-CN"/>
              <a: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D85C6"/>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TotalTime>
  <Words>7799</Words>
  <Application>Microsoft Office PowerPoint</Application>
  <PresentationFormat>On-screen Show (16:9)</PresentationFormat>
  <Paragraphs>1125</Paragraphs>
  <Slides>111</Slides>
  <Notes>106</Notes>
  <HiddenSlides>1</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111</vt:i4>
      </vt:variant>
    </vt:vector>
  </HeadingPairs>
  <TitlesOfParts>
    <vt:vector size="128" baseType="lpstr">
      <vt:lpstr>-apple-system</vt:lpstr>
      <vt:lpstr>Google Sans</vt:lpstr>
      <vt:lpstr>Old Standard TT</vt:lpstr>
      <vt:lpstr>宋体</vt:lpstr>
      <vt:lpstr>微软雅黑</vt:lpstr>
      <vt:lpstr>等线</vt:lpstr>
      <vt:lpstr>Arial</vt:lpstr>
      <vt:lpstr>Calibri</vt:lpstr>
      <vt:lpstr>Cambria</vt:lpstr>
      <vt:lpstr>Courier New</vt:lpstr>
      <vt:lpstr>Georgia</vt:lpstr>
      <vt:lpstr>Tahoma</vt:lpstr>
      <vt:lpstr>Times New Roman</vt:lpstr>
      <vt:lpstr>Trebuchet MS</vt:lpstr>
      <vt:lpstr>Simple Light</vt:lpstr>
      <vt:lpstr>Office Theme</vt:lpstr>
      <vt:lpstr>1_Simple Light</vt:lpstr>
      <vt:lpstr>CSC6052/5051/4100/DDA6307/MDS5110 Natural Language Processing    Lecture 6-2: Prompt Engineering</vt:lpstr>
      <vt:lpstr>Knowledge vs. Reasoning</vt:lpstr>
      <vt:lpstr>Knowledge vs. Reasoning</vt:lpstr>
      <vt:lpstr>Difference and Connections</vt:lpstr>
      <vt:lpstr>Knowledge vs. Reasoning in Humans</vt:lpstr>
      <vt:lpstr>Knowledge vs. Reasoning in LLMs</vt:lpstr>
      <vt:lpstr>Today’s Lecture</vt:lpstr>
      <vt:lpstr>What is a knowledge base?</vt:lpstr>
      <vt:lpstr>What is a knowledge base?</vt:lpstr>
      <vt:lpstr>What is a knowledge base?</vt:lpstr>
      <vt:lpstr>What is a knowledge base?</vt:lpstr>
      <vt:lpstr>How to query?</vt:lpstr>
      <vt:lpstr>How were knowledge bases formed?</vt:lpstr>
      <vt:lpstr>How were knowledge bases formed?</vt:lpstr>
      <vt:lpstr>How were knowledge bases formed?</vt:lpstr>
      <vt:lpstr>Downsides of using knowledge bases</vt:lpstr>
      <vt:lpstr>Downsides of using knowledge bases</vt:lpstr>
      <vt:lpstr>Downsides of using knowledge bases</vt:lpstr>
      <vt:lpstr>Downsides of using knowledge bases</vt:lpstr>
      <vt:lpstr>Are there better alternatives?  Traditional knowledge bases are inflexible  and require signiﬁcant manual eﬀort. </vt:lpstr>
      <vt:lpstr>Language Models as Knowledge Bases?  (Petroni et al., 2019)</vt:lpstr>
      <vt:lpstr>Language models as knowledge bases?</vt:lpstr>
      <vt:lpstr>PowerPoint Presentation</vt:lpstr>
      <vt:lpstr> </vt:lpstr>
      <vt:lpstr>LAMA Probe</vt:lpstr>
      <vt:lpstr>LAMA Probe</vt:lpstr>
      <vt:lpstr>LAMA Probe</vt:lpstr>
      <vt:lpstr>LAMA Probe</vt:lpstr>
      <vt:lpstr>Evaluation of LM via LAMA</vt:lpstr>
      <vt:lpstr>Evaluation of LM via LAMA</vt:lpstr>
      <vt:lpstr>Evaluation of LM via LAMA</vt:lpstr>
      <vt:lpstr>Evaluation of LM via LAMA</vt:lpstr>
      <vt:lpstr>Evaluation of LM via LAMA</vt:lpstr>
      <vt:lpstr>Evaluation of LM via LAMA</vt:lpstr>
      <vt:lpstr>Evaluation of LM via LAMA</vt:lpstr>
      <vt:lpstr>Evaluation of LM via LAMA</vt:lpstr>
      <vt:lpstr>Evaluation of LM via LAMA</vt:lpstr>
      <vt:lpstr>Evaluation of LM via LAMA</vt:lpstr>
      <vt:lpstr>Evaluation of LM via LAMA</vt:lpstr>
      <vt:lpstr>Architecture of the LAMA probe </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Architecture of the LAMA probe</vt:lpstr>
      <vt:lpstr>More discussions on LAMA</vt:lpstr>
      <vt:lpstr>Any drawbacks?</vt:lpstr>
      <vt:lpstr>Data leakage: train-test overlap </vt:lpstr>
      <vt:lpstr>Train-test overlap is responsible for LMʼs ability to do  knowledge retrieval! (Lewis et al., 2020)</vt:lpstr>
      <vt:lpstr>Train-test overlap is responsible for LMʼs ability to do  knowledge retrieval! (Lewis et al., 2020)</vt:lpstr>
      <vt:lpstr>Revising LAMA – underlying mechanisms</vt:lpstr>
      <vt:lpstr>Revising LAMA – Reporting Bias</vt:lpstr>
      <vt:lpstr>Revising LAMA – Reporting Bias</vt:lpstr>
      <vt:lpstr>Today’s Lecture</vt:lpstr>
      <vt:lpstr>How to update knowledge in  pre-trained models?</vt:lpstr>
      <vt:lpstr>Edit What, Exactly? Deﬁning the problem</vt:lpstr>
      <vt:lpstr>Edit What, Exactly? Deﬁning the problem</vt:lpstr>
      <vt:lpstr>Edit What, Exactly? Deﬁning the problem</vt:lpstr>
      <vt:lpstr>Edit What, Exactly? Deﬁning the problem</vt:lpstr>
      <vt:lpstr>How to edit knowledge in  pre-trained models?</vt:lpstr>
      <vt:lpstr>Knowledge Neurons</vt:lpstr>
      <vt:lpstr>Identify knowledge neurons</vt:lpstr>
      <vt:lpstr>Knowledge neuron editing</vt:lpstr>
      <vt:lpstr>Suppressing or Amplifying Knowledge Neurons</vt:lpstr>
      <vt:lpstr>Drawback</vt:lpstr>
      <vt:lpstr>Today’s Lecture</vt:lpstr>
      <vt:lpstr>Human Intelligence vs. Traditional machine learning? (Hint: reasoning)</vt:lpstr>
      <vt:lpstr>Multi-step reasoning is hard for language models</vt:lpstr>
      <vt:lpstr>What do language models learn from next-word prediction?</vt:lpstr>
      <vt:lpstr>What can’t language models learn from next-word prediction?</vt:lpstr>
      <vt:lpstr> language models can do (with decent accuracy)  most text tasks that an average human can do in 1 minute.</vt:lpstr>
      <vt:lpstr> (2023)</vt:lpstr>
      <vt:lpstr>PowerPoint Presentation</vt:lpstr>
      <vt:lpstr>Reasoning Problems</vt:lpstr>
      <vt:lpstr>Scaling laws are worse for logical reasoning in 2022</vt:lpstr>
      <vt:lpstr>PowerPoint Presentation</vt:lpstr>
      <vt:lpstr>AIMO</vt:lpstr>
      <vt:lpstr>Interesting task: Mathematical modeling  </vt:lpstr>
      <vt:lpstr>Interesting task: Automatic theorem proving  </vt:lpstr>
      <vt:lpstr>Today’s Lecture</vt:lpstr>
      <vt:lpstr>What is In-Context Learning?</vt:lpstr>
      <vt:lpstr>What Can In-Context Learning Do?</vt:lpstr>
      <vt:lpstr>PowerPoint Presentation</vt:lpstr>
      <vt:lpstr>What is Chain of Thought prompting (CoT)?</vt:lpstr>
      <vt:lpstr>Zero-Shot CoT – Let’s think step by step</vt:lpstr>
      <vt:lpstr>CoT on BIG-Bench: Benchmark </vt:lpstr>
      <vt:lpstr>CoT on BIG-Bench: Result summary </vt:lpstr>
      <vt:lpstr>CoT on BIG-Bench: Scaling </vt:lpstr>
      <vt:lpstr>CoT on BIG-Bench: Emergence </vt:lpstr>
      <vt:lpstr>Multilingual chain-of-thought prompting</vt:lpstr>
      <vt:lpstr>Chain-of-thought analysis</vt:lpstr>
      <vt:lpstr>More on CoT</vt:lpstr>
      <vt:lpstr>CoT is not enough</vt:lpstr>
      <vt:lpstr>Improve CoT in different phases of reasoning</vt:lpstr>
      <vt:lpstr>Least-to-most prompting</vt:lpstr>
      <vt:lpstr>Tree of Thoughts (ToT)</vt:lpstr>
      <vt:lpstr>Program of Thoughts (PoT)</vt:lpstr>
      <vt:lpstr>A trick for COT: Self-consistency</vt:lpstr>
      <vt:lpstr>Self-consistency works really well</vt:lpstr>
      <vt:lpstr>Verifier in COT</vt:lpstr>
      <vt:lpstr>Exceed GPT 4 using our OVM in GSM-8K</vt:lpstr>
      <vt:lpstr>Self-refine</vt:lpstr>
      <vt:lpstr>Should we employ all the techniques above?</vt:lpstr>
      <vt:lpstr>Acknowledgement</vt:lpstr>
      <vt:lpstr>Optional reading material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CSC6052/5051/4100/DDA6307/MDS5110 Natural Language Processing    Lecture 6-2: Prompt Engineering</dc:title>
  <dc:creator>Prof. WANG Benyou (SDS)</dc:creator>
  <cp:lastModifiedBy>Prof. WANG Benyou (SDS)</cp:lastModifiedBy>
  <cp:revision>10</cp:revision>
  <dcterms:modified xsi:type="dcterms:W3CDTF">2025-03-07T02:12:08Z</dcterms:modified>
</cp:coreProperties>
</file>